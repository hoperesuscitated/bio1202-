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00" r:id="rId1"/>
    <p:sldMasterId id="2147483922" r:id="rId2"/>
    <p:sldMasterId id="2147483948" r:id="rId3"/>
    <p:sldMasterId id="2147483962" r:id="rId4"/>
    <p:sldMasterId id="2147484008" r:id="rId5"/>
    <p:sldMasterId id="2147484010" r:id="rId6"/>
    <p:sldMasterId id="2147484032" r:id="rId7"/>
  </p:sldMasterIdLst>
  <p:notesMasterIdLst>
    <p:notesMasterId r:id="rId57"/>
  </p:notesMasterIdLst>
  <p:handoutMasterIdLst>
    <p:handoutMasterId r:id="rId58"/>
  </p:handoutMasterIdLst>
  <p:sldIdLst>
    <p:sldId id="754" r:id="rId8"/>
    <p:sldId id="755" r:id="rId9"/>
    <p:sldId id="509" r:id="rId10"/>
    <p:sldId id="510" r:id="rId11"/>
    <p:sldId id="511" r:id="rId12"/>
    <p:sldId id="758" r:id="rId13"/>
    <p:sldId id="514" r:id="rId14"/>
    <p:sldId id="518" r:id="rId15"/>
    <p:sldId id="520" r:id="rId16"/>
    <p:sldId id="678" r:id="rId17"/>
    <p:sldId id="526" r:id="rId18"/>
    <p:sldId id="527" r:id="rId19"/>
    <p:sldId id="530" r:id="rId20"/>
    <p:sldId id="544" r:id="rId21"/>
    <p:sldId id="691" r:id="rId22"/>
    <p:sldId id="759" r:id="rId23"/>
    <p:sldId id="547" r:id="rId24"/>
    <p:sldId id="554" r:id="rId25"/>
    <p:sldId id="698" r:id="rId26"/>
    <p:sldId id="697" r:id="rId27"/>
    <p:sldId id="558" r:id="rId28"/>
    <p:sldId id="562" r:id="rId29"/>
    <p:sldId id="564" r:id="rId30"/>
    <p:sldId id="566" r:id="rId31"/>
    <p:sldId id="568" r:id="rId32"/>
    <p:sldId id="570" r:id="rId33"/>
    <p:sldId id="576" r:id="rId34"/>
    <p:sldId id="578" r:id="rId35"/>
    <p:sldId id="580" r:id="rId36"/>
    <p:sldId id="583" r:id="rId37"/>
    <p:sldId id="585" r:id="rId38"/>
    <p:sldId id="589" r:id="rId39"/>
    <p:sldId id="592" r:id="rId40"/>
    <p:sldId id="594" r:id="rId41"/>
    <p:sldId id="598" r:id="rId42"/>
    <p:sldId id="605" r:id="rId43"/>
    <p:sldId id="720" r:id="rId44"/>
    <p:sldId id="608" r:id="rId45"/>
    <p:sldId id="610" r:id="rId46"/>
    <p:sldId id="721" r:id="rId47"/>
    <p:sldId id="613" r:id="rId48"/>
    <p:sldId id="722" r:id="rId49"/>
    <p:sldId id="616" r:id="rId50"/>
    <p:sldId id="619" r:id="rId51"/>
    <p:sldId id="620" r:id="rId52"/>
    <p:sldId id="631" r:id="rId53"/>
    <p:sldId id="733" r:id="rId54"/>
    <p:sldId id="638" r:id="rId55"/>
    <p:sldId id="651" r:id="rId5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orient="horz" pos="2160">
          <p15:clr>
            <a:srgbClr val="A4A3A4"/>
          </p15:clr>
        </p15:guide>
        <p15:guide id="3"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leen Fitzpatrick"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D6"/>
    <a:srgbClr val="00FF00"/>
    <a:srgbClr val="00478B"/>
    <a:srgbClr val="61887E"/>
    <a:srgbClr val="D1300D"/>
    <a:srgbClr val="B9B9B9"/>
    <a:srgbClr val="AA2B15"/>
    <a:srgbClr val="AEB9B1"/>
    <a:srgbClr val="4F6F92"/>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4" autoAdjust="0"/>
    <p:restoredTop sz="87085" autoAdjust="0"/>
  </p:normalViewPr>
  <p:slideViewPr>
    <p:cSldViewPr>
      <p:cViewPr varScale="1">
        <p:scale>
          <a:sx n="75" d="100"/>
          <a:sy n="75" d="100"/>
        </p:scale>
        <p:origin x="1830" y="78"/>
      </p:cViewPr>
      <p:guideLst>
        <p:guide orient="horz" pos="1296"/>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67" d="100"/>
          <a:sy n="67" d="100"/>
        </p:scale>
        <p:origin x="-322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commentAuthors" Target="commentAuthor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notesMaster" Target="notesMasters/notesMaster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ea typeface="ヒラギノ角ゴ Pro W3" pitchFamily="123" charset="-128"/>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2FDBCFE6-7A80-4E41-8712-1C12F7B6050B}" type="datetimeFigureOut">
              <a:rPr lang="en-US" altLang="en-US"/>
              <a:pPr>
                <a:defRPr/>
              </a:pPr>
              <a:t>9/7/2026</a:t>
            </a:fld>
            <a:endParaRPr lang="en-US" alt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ea typeface="ヒラギノ角ゴ Pro W3" pitchFamily="123" charset="-128"/>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1A23EEE-2F46-4732-8626-99218F3EFA81}" type="slidenum">
              <a:rPr lang="en-US" altLang="en-US"/>
              <a:pPr/>
              <a:t>‹#›</a:t>
            </a:fld>
            <a:endParaRPr lang="en-US" altLang="en-US"/>
          </a:p>
        </p:txBody>
      </p:sp>
    </p:spTree>
    <p:extLst>
      <p:ext uri="{BB962C8B-B14F-4D97-AF65-F5344CB8AC3E}">
        <p14:creationId xmlns:p14="http://schemas.microsoft.com/office/powerpoint/2010/main" val="1435027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Arial" charset="0"/>
                <a:ea typeface="ヒラギノ角ゴ Pro W3" pitchFamily="84" charset="-128"/>
                <a:cs typeface="+mn-cs"/>
              </a:defRPr>
            </a:lvl1pPr>
          </a:lstStyle>
          <a:p>
            <a:pPr>
              <a:defRPr/>
            </a:pPr>
            <a:endParaRPr lang="en-US"/>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6D957CC8-6916-4659-8D61-C81A523E1943}" type="slidenum">
              <a:rPr lang="en-US" altLang="en-US"/>
              <a:pPr/>
              <a:t>‹#›</a:t>
            </a:fld>
            <a:endParaRPr lang="en-US" altLang="en-US"/>
          </a:p>
        </p:txBody>
      </p:sp>
    </p:spTree>
    <p:extLst>
      <p:ext uri="{BB962C8B-B14F-4D97-AF65-F5344CB8AC3E}">
        <p14:creationId xmlns:p14="http://schemas.microsoft.com/office/powerpoint/2010/main" val="195475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1pPr>
    <a:lvl2pPr marL="4572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2pPr>
    <a:lvl3pPr marL="9144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3pPr>
    <a:lvl4pPr marL="13716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4pPr>
    <a:lvl5pPr marL="18288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25.1 Would you have expected to find whale bones buried here?</a:t>
            </a:r>
          </a:p>
        </p:txBody>
      </p:sp>
      <p:sp>
        <p:nvSpPr>
          <p:cNvPr id="4" name="Slide Number Placeholder 3"/>
          <p:cNvSpPr>
            <a:spLocks noGrp="1"/>
          </p:cNvSpPr>
          <p:nvPr>
            <p:ph type="sldNum" sz="quarter" idx="10"/>
          </p:nvPr>
        </p:nvSpPr>
        <p:spPr/>
        <p:txBody>
          <a:bodyPr/>
          <a:lstStyle/>
          <a:p>
            <a:fld id="{6D957CC8-6916-4659-8D61-C81A523E1943}" type="slidenum">
              <a:rPr lang="en-US" altLang="en-US" smtClean="0"/>
              <a:pPr/>
              <a:t>1</a:t>
            </a:fld>
            <a:endParaRPr lang="en-US" altLang="en-US"/>
          </a:p>
        </p:txBody>
      </p:sp>
    </p:spTree>
    <p:extLst>
      <p:ext uri="{BB962C8B-B14F-4D97-AF65-F5344CB8AC3E}">
        <p14:creationId xmlns:p14="http://schemas.microsoft.com/office/powerpoint/2010/main" val="4076361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A9C1905E-2BEE-4882-9000-B724ABB52D47}" type="slidenum">
              <a:rPr lang="en-US" altLang="en-US">
                <a:latin typeface="Arial" pitchFamily="34" charset="0"/>
                <a:cs typeface="Arial" pitchFamily="34" charset="0"/>
              </a:rPr>
              <a:pPr/>
              <a:t>3</a:t>
            </a:fld>
            <a:endParaRPr lang="en-US" altLang="en-US">
              <a:latin typeface="Arial" pitchFamily="34" charset="0"/>
              <a:cs typeface="Arial" pitchFamily="34" charset="0"/>
            </a:endParaRPr>
          </a:p>
        </p:txBody>
      </p:sp>
      <p:sp>
        <p:nvSpPr>
          <p:cNvPr id="109571" name="Rectangle 2"/>
          <p:cNvSpPr>
            <a:spLocks noGrp="1" noRot="1" noChangeAspect="1" noChangeArrowheads="1" noTextEdit="1"/>
          </p:cNvSpPr>
          <p:nvPr>
            <p:ph type="sldImg"/>
          </p:nvPr>
        </p:nvSpPr>
        <p:spPr>
          <a:solidFill>
            <a:srgbClr val="FFFFFF"/>
          </a:solidFill>
          <a:ln/>
        </p:spPr>
      </p:sp>
      <p:sp>
        <p:nvSpPr>
          <p:cNvPr id="1095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83148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35BBC55-85F4-4309-8383-00E25529D625}" type="slidenum">
              <a:rPr lang="en-US" altLang="en-US">
                <a:latin typeface="Arial" pitchFamily="34" charset="0"/>
                <a:cs typeface="Arial" pitchFamily="34" charset="0"/>
              </a:rPr>
              <a:pPr/>
              <a:t>4</a:t>
            </a:fld>
            <a:endParaRPr lang="en-US" altLang="en-US">
              <a:latin typeface="Arial" pitchFamily="34" charset="0"/>
              <a:cs typeface="Arial" pitchFamily="34" charset="0"/>
            </a:endParaRPr>
          </a:p>
        </p:txBody>
      </p:sp>
      <p:sp>
        <p:nvSpPr>
          <p:cNvPr id="111619" name="Rectangle 2"/>
          <p:cNvSpPr>
            <a:spLocks noGrp="1" noRot="1" noChangeAspect="1" noChangeArrowheads="1" noTextEdit="1"/>
          </p:cNvSpPr>
          <p:nvPr>
            <p:ph type="sldImg"/>
          </p:nvPr>
        </p:nvSpPr>
        <p:spPr>
          <a:solidFill>
            <a:srgbClr val="FFFFFF"/>
          </a:solidFill>
          <a:ln/>
        </p:spPr>
      </p:sp>
      <p:sp>
        <p:nvSpPr>
          <p:cNvPr id="1116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721846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16F38E58-FB93-4F3D-830D-483DBA52DD88}" type="slidenum">
              <a:rPr lang="en-US" altLang="en-US">
                <a:latin typeface="Arial" pitchFamily="34" charset="0"/>
                <a:cs typeface="Arial" pitchFamily="34" charset="0"/>
              </a:rPr>
              <a:pPr/>
              <a:t>5</a:t>
            </a:fld>
            <a:endParaRPr lang="en-US" altLang="en-US">
              <a:latin typeface="Arial" pitchFamily="34" charset="0"/>
              <a:cs typeface="Arial" pitchFamily="34" charset="0"/>
            </a:endParaRPr>
          </a:p>
        </p:txBody>
      </p:sp>
      <p:sp>
        <p:nvSpPr>
          <p:cNvPr id="113667" name="Rectangle 2"/>
          <p:cNvSpPr>
            <a:spLocks noGrp="1" noRot="1" noChangeAspect="1" noChangeArrowheads="1" noTextEdit="1"/>
          </p:cNvSpPr>
          <p:nvPr>
            <p:ph type="sldImg"/>
          </p:nvPr>
        </p:nvSpPr>
        <p:spPr>
          <a:solidFill>
            <a:srgbClr val="FFFFFF"/>
          </a:solidFill>
          <a:ln/>
        </p:spPr>
      </p:sp>
      <p:sp>
        <p:nvSpPr>
          <p:cNvPr id="1136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673126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19BD2C3-18F5-4ADA-8506-B992D06ADC25}" type="slidenum">
              <a:rPr lang="en-US" altLang="en-US">
                <a:latin typeface="Arial" pitchFamily="34" charset="0"/>
                <a:cs typeface="Arial" pitchFamily="34" charset="0"/>
              </a:rPr>
              <a:pPr/>
              <a:t>7</a:t>
            </a:fld>
            <a:endParaRPr lang="en-US" altLang="en-US">
              <a:latin typeface="Arial" pitchFamily="34" charset="0"/>
              <a:cs typeface="Arial" pitchFamily="34" charset="0"/>
            </a:endParaRPr>
          </a:p>
        </p:txBody>
      </p:sp>
      <p:sp>
        <p:nvSpPr>
          <p:cNvPr id="119811" name="Rectangle 2"/>
          <p:cNvSpPr>
            <a:spLocks noGrp="1" noRot="1" noChangeAspect="1" noChangeArrowheads="1" noTextEdit="1"/>
          </p:cNvSpPr>
          <p:nvPr>
            <p:ph type="sldImg"/>
          </p:nvPr>
        </p:nvSpPr>
        <p:spPr>
          <a:solidFill>
            <a:srgbClr val="FFFFFF"/>
          </a:solidFill>
          <a:ln/>
        </p:spPr>
      </p:sp>
      <p:sp>
        <p:nvSpPr>
          <p:cNvPr id="11981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418653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B22EC0C-0C87-42A4-92F1-7F36CCDD2B99}" type="slidenum">
              <a:rPr lang="en-US" altLang="en-US">
                <a:latin typeface="Arial" pitchFamily="34" charset="0"/>
                <a:cs typeface="Arial" pitchFamily="34" charset="0"/>
              </a:rPr>
              <a:pPr/>
              <a:t>8</a:t>
            </a:fld>
            <a:endParaRPr lang="en-US" altLang="en-US">
              <a:latin typeface="Arial" pitchFamily="34" charset="0"/>
              <a:cs typeface="Arial" pitchFamily="34" charset="0"/>
            </a:endParaRPr>
          </a:p>
        </p:txBody>
      </p:sp>
      <p:sp>
        <p:nvSpPr>
          <p:cNvPr id="126979" name="Rectangle 2"/>
          <p:cNvSpPr>
            <a:spLocks noGrp="1" noRot="1" noChangeAspect="1" noChangeArrowheads="1" noTextEdit="1"/>
          </p:cNvSpPr>
          <p:nvPr>
            <p:ph type="sldImg"/>
          </p:nvPr>
        </p:nvSpPr>
        <p:spPr>
          <a:solidFill>
            <a:srgbClr val="FFFFFF"/>
          </a:solidFill>
          <a:ln/>
        </p:spPr>
      </p:sp>
      <p:sp>
        <p:nvSpPr>
          <p:cNvPr id="1269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861653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434C6FC2-A668-426B-915A-C37A6D7FCF6B}" type="slidenum">
              <a:rPr lang="en-US" altLang="en-US">
                <a:latin typeface="Arial" pitchFamily="34" charset="0"/>
                <a:cs typeface="Arial" pitchFamily="34" charset="0"/>
              </a:rPr>
              <a:pPr/>
              <a:t>9</a:t>
            </a:fld>
            <a:endParaRPr lang="en-US" altLang="en-US">
              <a:latin typeface="Arial" pitchFamily="34" charset="0"/>
              <a:cs typeface="Arial" pitchFamily="34" charset="0"/>
            </a:endParaRPr>
          </a:p>
        </p:txBody>
      </p:sp>
      <p:sp>
        <p:nvSpPr>
          <p:cNvPr id="131075" name="Rectangle 2"/>
          <p:cNvSpPr>
            <a:spLocks noGrp="1" noRot="1" noChangeAspect="1" noChangeArrowheads="1" noTextEdit="1"/>
          </p:cNvSpPr>
          <p:nvPr>
            <p:ph type="sldImg"/>
          </p:nvPr>
        </p:nvSpPr>
        <p:spPr>
          <a:solidFill>
            <a:srgbClr val="FFFFFF"/>
          </a:solidFill>
          <a:ln/>
        </p:spPr>
      </p:sp>
      <p:sp>
        <p:nvSpPr>
          <p:cNvPr id="13107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461024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rPr>
              <a:t>Figure 25.4 Features of abiotically produced vesicles</a:t>
            </a:r>
          </a:p>
          <a:p>
            <a:endParaRPr lang="en-US">
              <a:latin typeface="Arial"/>
            </a:endParaRPr>
          </a:p>
        </p:txBody>
      </p:sp>
    </p:spTree>
    <p:extLst>
      <p:ext uri="{BB962C8B-B14F-4D97-AF65-F5344CB8AC3E}">
        <p14:creationId xmlns:p14="http://schemas.microsoft.com/office/powerpoint/2010/main" val="3960432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128A72D-5624-4C62-93E1-C5D615702435}" type="slidenum">
              <a:rPr lang="en-US" altLang="en-US">
                <a:latin typeface="Arial" pitchFamily="34" charset="0"/>
                <a:cs typeface="Arial" pitchFamily="34" charset="0"/>
              </a:rPr>
              <a:pPr/>
              <a:t>11</a:t>
            </a:fld>
            <a:endParaRPr lang="en-US" altLang="en-US">
              <a:latin typeface="Arial" pitchFamily="34" charset="0"/>
              <a:cs typeface="Arial" pitchFamily="34" charset="0"/>
            </a:endParaRPr>
          </a:p>
        </p:txBody>
      </p:sp>
      <p:sp>
        <p:nvSpPr>
          <p:cNvPr id="143363" name="Rectangle 2"/>
          <p:cNvSpPr>
            <a:spLocks noGrp="1" noRot="1" noChangeAspect="1" noChangeArrowheads="1" noTextEdit="1"/>
          </p:cNvSpPr>
          <p:nvPr>
            <p:ph type="sldImg"/>
          </p:nvPr>
        </p:nvSpPr>
        <p:spPr>
          <a:solidFill>
            <a:srgbClr val="FFFFFF"/>
          </a:solidFill>
          <a:ln/>
        </p:spPr>
      </p:sp>
      <p:sp>
        <p:nvSpPr>
          <p:cNvPr id="143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4226888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271B7B6B-FA82-4A96-8601-83307CC8D863}" type="slidenum">
              <a:rPr lang="en-US" altLang="en-US">
                <a:latin typeface="Arial" pitchFamily="34" charset="0"/>
                <a:cs typeface="Arial" pitchFamily="34" charset="0"/>
              </a:rPr>
              <a:pPr/>
              <a:t>12</a:t>
            </a:fld>
            <a:endParaRPr lang="en-US" altLang="en-US">
              <a:latin typeface="Arial" pitchFamily="34" charset="0"/>
              <a:cs typeface="Arial" pitchFamily="34" charset="0"/>
            </a:endParaRPr>
          </a:p>
        </p:txBody>
      </p:sp>
      <p:sp>
        <p:nvSpPr>
          <p:cNvPr id="145411" name="Rectangle 2"/>
          <p:cNvSpPr>
            <a:spLocks noGrp="1" noRot="1" noChangeAspect="1" noChangeArrowheads="1" noTextEdit="1"/>
          </p:cNvSpPr>
          <p:nvPr>
            <p:ph type="sldImg"/>
          </p:nvPr>
        </p:nvSpPr>
        <p:spPr>
          <a:solidFill>
            <a:srgbClr val="FFFFFF"/>
          </a:solidFill>
          <a:ln/>
        </p:spPr>
      </p:sp>
      <p:sp>
        <p:nvSpPr>
          <p:cNvPr id="14541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3382704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BC7A2EE-7DD1-4F14-925A-FE677DE6E4A5}" type="slidenum">
              <a:rPr lang="en-US" altLang="en-US">
                <a:latin typeface="Arial" pitchFamily="34" charset="0"/>
                <a:cs typeface="Arial" pitchFamily="34" charset="0"/>
              </a:rPr>
              <a:pPr/>
              <a:t>13</a:t>
            </a:fld>
            <a:endParaRPr lang="en-US" altLang="en-US">
              <a:latin typeface="Arial" pitchFamily="34" charset="0"/>
              <a:cs typeface="Arial" pitchFamily="34" charset="0"/>
            </a:endParaRPr>
          </a:p>
        </p:txBody>
      </p:sp>
      <p:sp>
        <p:nvSpPr>
          <p:cNvPr id="151555" name="Rectangle 2"/>
          <p:cNvSpPr>
            <a:spLocks noGrp="1" noRot="1" noChangeAspect="1" noChangeArrowheads="1" noTextEdit="1"/>
          </p:cNvSpPr>
          <p:nvPr>
            <p:ph type="sldImg"/>
          </p:nvPr>
        </p:nvSpPr>
        <p:spPr>
          <a:solidFill>
            <a:srgbClr val="FFFFFF"/>
          </a:solidFill>
          <a:ln/>
        </p:spPr>
      </p:sp>
      <p:sp>
        <p:nvSpPr>
          <p:cNvPr id="1515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226166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2B021FA-B36D-4433-B7B0-2DCDEEAD65FB}" type="slidenum">
              <a:rPr lang="en-US" altLang="en-US">
                <a:latin typeface="Arial" pitchFamily="34" charset="0"/>
                <a:cs typeface="Arial" pitchFamily="34" charset="0"/>
              </a:rPr>
              <a:pPr/>
              <a:t>14</a:t>
            </a:fld>
            <a:endParaRPr lang="en-US" altLang="en-US">
              <a:latin typeface="Arial" pitchFamily="34" charset="0"/>
              <a:cs typeface="Arial" pitchFamily="34" charset="0"/>
            </a:endParaRPr>
          </a:p>
        </p:txBody>
      </p:sp>
      <p:sp>
        <p:nvSpPr>
          <p:cNvPr id="179203" name="Rectangle 2"/>
          <p:cNvSpPr>
            <a:spLocks noGrp="1" noRot="1" noChangeAspect="1" noChangeArrowheads="1" noTextEdit="1"/>
          </p:cNvSpPr>
          <p:nvPr>
            <p:ph type="sldImg"/>
          </p:nvPr>
        </p:nvSpPr>
        <p:spPr>
          <a:solidFill>
            <a:srgbClr val="FFFFFF"/>
          </a:solidFill>
          <a:ln/>
        </p:spPr>
      </p:sp>
      <p:sp>
        <p:nvSpPr>
          <p:cNvPr id="1792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107797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rPr>
              <a:t>Figure 25.6 Radiometric dating</a:t>
            </a:r>
          </a:p>
          <a:p>
            <a:endParaRPr lang="en-US">
              <a:latin typeface="Arial"/>
            </a:endParaRPr>
          </a:p>
        </p:txBody>
      </p:sp>
    </p:spTree>
    <p:extLst>
      <p:ext uri="{BB962C8B-B14F-4D97-AF65-F5344CB8AC3E}">
        <p14:creationId xmlns:p14="http://schemas.microsoft.com/office/powerpoint/2010/main" val="3107625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9E0501D-08A1-4DE4-B431-2854F3CE2C52}" type="slidenum">
              <a:rPr lang="en-US" altLang="en-US">
                <a:latin typeface="Arial" pitchFamily="34" charset="0"/>
                <a:cs typeface="Arial" pitchFamily="34" charset="0"/>
              </a:rPr>
              <a:pPr/>
              <a:t>17</a:t>
            </a:fld>
            <a:endParaRPr lang="en-US" altLang="en-US">
              <a:latin typeface="Arial" pitchFamily="34" charset="0"/>
              <a:cs typeface="Arial" pitchFamily="34" charset="0"/>
            </a:endParaRPr>
          </a:p>
        </p:txBody>
      </p:sp>
      <p:sp>
        <p:nvSpPr>
          <p:cNvPr id="185347" name="Rectangle 2"/>
          <p:cNvSpPr>
            <a:spLocks noGrp="1" noRot="1" noChangeAspect="1" noChangeArrowheads="1" noTextEdit="1"/>
          </p:cNvSpPr>
          <p:nvPr>
            <p:ph type="sldImg"/>
          </p:nvPr>
        </p:nvSpPr>
        <p:spPr>
          <a:solidFill>
            <a:srgbClr val="FFFFFF"/>
          </a:solidFill>
          <a:ln/>
        </p:spPr>
      </p:sp>
      <p:sp>
        <p:nvSpPr>
          <p:cNvPr id="18534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757512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A4213AE-39F3-456A-9481-7CA684BF67B1}" type="slidenum">
              <a:rPr lang="en-US" altLang="en-US">
                <a:latin typeface="Arial" pitchFamily="34" charset="0"/>
                <a:cs typeface="Arial" pitchFamily="34" charset="0"/>
              </a:rPr>
              <a:pPr/>
              <a:t>18</a:t>
            </a:fld>
            <a:endParaRPr lang="en-US" altLang="en-US">
              <a:latin typeface="Arial" pitchFamily="34" charset="0"/>
              <a:cs typeface="Arial" pitchFamily="34" charset="0"/>
            </a:endParaRPr>
          </a:p>
        </p:txBody>
      </p:sp>
      <p:sp>
        <p:nvSpPr>
          <p:cNvPr id="199683" name="Rectangle 2"/>
          <p:cNvSpPr>
            <a:spLocks noGrp="1" noRot="1" noChangeAspect="1" noChangeArrowheads="1" noTextEdit="1"/>
          </p:cNvSpPr>
          <p:nvPr>
            <p:ph type="sldImg"/>
          </p:nvPr>
        </p:nvSpPr>
        <p:spPr>
          <a:solidFill>
            <a:srgbClr val="FFFFFF"/>
          </a:solidFill>
          <a:ln/>
        </p:spPr>
      </p:sp>
      <p:sp>
        <p:nvSpPr>
          <p:cNvPr id="1996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594346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Table 25.1b The geologic record (part 2: Mesozoic era and Cenozoic era)</a:t>
            </a:r>
          </a:p>
          <a:p>
            <a:endParaRPr lang="en-US" dirty="0">
              <a:latin typeface="Arial"/>
            </a:endParaRPr>
          </a:p>
        </p:txBody>
      </p:sp>
    </p:spTree>
    <p:extLst>
      <p:ext uri="{BB962C8B-B14F-4D97-AF65-F5344CB8AC3E}">
        <p14:creationId xmlns:p14="http://schemas.microsoft.com/office/powerpoint/2010/main" val="2591702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Table 25.1a The geologic record (part 1: Hadean eon through Paleozoic era)</a:t>
            </a:r>
          </a:p>
          <a:p>
            <a:endParaRPr lang="en-US" dirty="0">
              <a:latin typeface="Arial"/>
            </a:endParaRPr>
          </a:p>
        </p:txBody>
      </p:sp>
    </p:spTree>
    <p:extLst>
      <p:ext uri="{BB962C8B-B14F-4D97-AF65-F5344CB8AC3E}">
        <p14:creationId xmlns:p14="http://schemas.microsoft.com/office/powerpoint/2010/main" val="3150307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6FD0974-94AC-437E-8F16-E8E342FDA438}" type="slidenum">
              <a:rPr lang="en-US" altLang="en-US">
                <a:latin typeface="Arial" pitchFamily="34" charset="0"/>
                <a:cs typeface="Arial" pitchFamily="34" charset="0"/>
              </a:rPr>
              <a:pPr/>
              <a:t>21</a:t>
            </a:fld>
            <a:endParaRPr lang="en-US" altLang="en-US">
              <a:latin typeface="Arial" pitchFamily="34" charset="0"/>
              <a:cs typeface="Arial" pitchFamily="34" charset="0"/>
            </a:endParaRPr>
          </a:p>
        </p:txBody>
      </p:sp>
      <p:sp>
        <p:nvSpPr>
          <p:cNvPr id="207875" name="Rectangle 2"/>
          <p:cNvSpPr>
            <a:spLocks noGrp="1" noRot="1" noChangeAspect="1" noChangeArrowheads="1" noTextEdit="1"/>
          </p:cNvSpPr>
          <p:nvPr>
            <p:ph type="sldImg"/>
          </p:nvPr>
        </p:nvSpPr>
        <p:spPr>
          <a:solidFill>
            <a:srgbClr val="FFFFFF"/>
          </a:solidFill>
          <a:ln/>
        </p:spPr>
      </p:sp>
      <p:sp>
        <p:nvSpPr>
          <p:cNvPr id="20787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25.8a Visualizing the scale of geologic time (part 1: timer)</a:t>
            </a:r>
          </a:p>
          <a:p>
            <a:pPr eaLnBrk="1" hangingPunct="1"/>
            <a:endParaRPr lang="en-US" altLang="en-US" dirty="0">
              <a:ea typeface="ヒラギノ角ゴ Pro W3" charset="-128"/>
            </a:endParaRPr>
          </a:p>
        </p:txBody>
      </p:sp>
    </p:spTree>
    <p:extLst>
      <p:ext uri="{BB962C8B-B14F-4D97-AF65-F5344CB8AC3E}">
        <p14:creationId xmlns:p14="http://schemas.microsoft.com/office/powerpoint/2010/main" val="2435863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4E41F38-F19F-4D65-B594-F84F8CB23A17}" type="slidenum">
              <a:rPr lang="en-US" altLang="en-US">
                <a:latin typeface="Arial" pitchFamily="34" charset="0"/>
                <a:cs typeface="Arial" pitchFamily="34" charset="0"/>
              </a:rPr>
              <a:pPr/>
              <a:t>22</a:t>
            </a:fld>
            <a:endParaRPr lang="en-US" altLang="en-US">
              <a:latin typeface="Arial" pitchFamily="34" charset="0"/>
              <a:cs typeface="Arial" pitchFamily="34" charset="0"/>
            </a:endParaRPr>
          </a:p>
        </p:txBody>
      </p:sp>
      <p:sp>
        <p:nvSpPr>
          <p:cNvPr id="216067" name="Rectangle 2"/>
          <p:cNvSpPr>
            <a:spLocks noGrp="1" noRot="1" noChangeAspect="1" noChangeArrowheads="1" noTextEdit="1"/>
          </p:cNvSpPr>
          <p:nvPr>
            <p:ph type="sldImg"/>
          </p:nvPr>
        </p:nvSpPr>
        <p:spPr>
          <a:solidFill>
            <a:srgbClr val="FFFFFF"/>
          </a:solidFill>
          <a:ln/>
        </p:spPr>
      </p:sp>
      <p:sp>
        <p:nvSpPr>
          <p:cNvPr id="2160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25.UN01 In-text figure, prokaryotes clock, p. 532</a:t>
            </a:r>
          </a:p>
        </p:txBody>
      </p:sp>
    </p:spTree>
    <p:extLst>
      <p:ext uri="{BB962C8B-B14F-4D97-AF65-F5344CB8AC3E}">
        <p14:creationId xmlns:p14="http://schemas.microsoft.com/office/powerpoint/2010/main" val="1263448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4B5E670-22D7-4284-8218-265A78BE7E15}" type="slidenum">
              <a:rPr lang="en-US" altLang="en-US">
                <a:latin typeface="Arial" pitchFamily="34" charset="0"/>
                <a:cs typeface="Arial" pitchFamily="34" charset="0"/>
              </a:rPr>
              <a:pPr/>
              <a:t>23</a:t>
            </a:fld>
            <a:endParaRPr lang="en-US" altLang="en-US">
              <a:latin typeface="Arial" pitchFamily="34" charset="0"/>
              <a:cs typeface="Arial" pitchFamily="34" charset="0"/>
            </a:endParaRPr>
          </a:p>
        </p:txBody>
      </p:sp>
      <p:sp>
        <p:nvSpPr>
          <p:cNvPr id="220163" name="Rectangle 2"/>
          <p:cNvSpPr>
            <a:spLocks noGrp="1" noRot="1" noChangeAspect="1" noChangeArrowheads="1" noTextEdit="1"/>
          </p:cNvSpPr>
          <p:nvPr>
            <p:ph type="sldImg"/>
          </p:nvPr>
        </p:nvSpPr>
        <p:spPr>
          <a:solidFill>
            <a:srgbClr val="FFFFFF"/>
          </a:solidFill>
          <a:ln/>
        </p:spPr>
      </p:sp>
      <p:sp>
        <p:nvSpPr>
          <p:cNvPr id="2201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25.UN02 In-text figure, atmospheric oxygen clock, p. 532</a:t>
            </a:r>
          </a:p>
        </p:txBody>
      </p:sp>
    </p:spTree>
    <p:extLst>
      <p:ext uri="{BB962C8B-B14F-4D97-AF65-F5344CB8AC3E}">
        <p14:creationId xmlns:p14="http://schemas.microsoft.com/office/powerpoint/2010/main" val="2498536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32CBD76-5DDC-4A78-BE49-6F715E125492}" type="slidenum">
              <a:rPr lang="en-US" altLang="en-US">
                <a:latin typeface="Arial" pitchFamily="34" charset="0"/>
                <a:cs typeface="Arial" pitchFamily="34" charset="0"/>
              </a:rPr>
              <a:pPr/>
              <a:t>24</a:t>
            </a:fld>
            <a:endParaRPr lang="en-US" altLang="en-US">
              <a:latin typeface="Arial" pitchFamily="34" charset="0"/>
              <a:cs typeface="Arial" pitchFamily="34" charset="0"/>
            </a:endParaRPr>
          </a:p>
        </p:txBody>
      </p:sp>
      <p:sp>
        <p:nvSpPr>
          <p:cNvPr id="224259" name="Rectangle 2"/>
          <p:cNvSpPr>
            <a:spLocks noGrp="1" noRot="1" noChangeAspect="1" noChangeArrowheads="1" noTextEdit="1"/>
          </p:cNvSpPr>
          <p:nvPr>
            <p:ph type="sldImg"/>
          </p:nvPr>
        </p:nvSpPr>
        <p:spPr>
          <a:solidFill>
            <a:srgbClr val="FFFFFF"/>
          </a:solidFill>
          <a:ln/>
        </p:spPr>
      </p:sp>
      <p:sp>
        <p:nvSpPr>
          <p:cNvPr id="22426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547794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F93C4B72-8114-43FA-A30A-400A4173E158}" type="slidenum">
              <a:rPr lang="en-US" altLang="en-US">
                <a:latin typeface="Arial" pitchFamily="34" charset="0"/>
                <a:cs typeface="Arial" pitchFamily="34" charset="0"/>
              </a:rPr>
              <a:pPr/>
              <a:t>25</a:t>
            </a:fld>
            <a:endParaRPr lang="en-US" altLang="en-US">
              <a:latin typeface="Arial" pitchFamily="34" charset="0"/>
              <a:cs typeface="Arial" pitchFamily="34" charset="0"/>
            </a:endParaRPr>
          </a:p>
        </p:txBody>
      </p:sp>
      <p:sp>
        <p:nvSpPr>
          <p:cNvPr id="228355" name="Rectangle 2"/>
          <p:cNvSpPr>
            <a:spLocks noGrp="1" noRot="1" noChangeAspect="1" noChangeArrowheads="1" noTextEdit="1"/>
          </p:cNvSpPr>
          <p:nvPr>
            <p:ph type="sldImg"/>
          </p:nvPr>
        </p:nvSpPr>
        <p:spPr>
          <a:solidFill>
            <a:srgbClr val="FFFFFF"/>
          </a:solidFill>
          <a:ln/>
        </p:spPr>
      </p:sp>
      <p:sp>
        <p:nvSpPr>
          <p:cNvPr id="2283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644760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F433EA80-A543-4875-A545-877D6F6302A0}" type="slidenum">
              <a:rPr lang="en-US" altLang="en-US">
                <a:latin typeface="Arial" pitchFamily="34" charset="0"/>
                <a:cs typeface="Arial" pitchFamily="34" charset="0"/>
              </a:rPr>
              <a:pPr/>
              <a:t>26</a:t>
            </a:fld>
            <a:endParaRPr lang="en-US" altLang="en-US">
              <a:latin typeface="Arial" pitchFamily="34" charset="0"/>
              <a:cs typeface="Arial" pitchFamily="34" charset="0"/>
            </a:endParaRPr>
          </a:p>
        </p:txBody>
      </p:sp>
      <p:sp>
        <p:nvSpPr>
          <p:cNvPr id="232451" name="Rectangle 2"/>
          <p:cNvSpPr>
            <a:spLocks noGrp="1" noRot="1" noChangeAspect="1" noChangeArrowheads="1" noTextEdit="1"/>
          </p:cNvSpPr>
          <p:nvPr>
            <p:ph type="sldImg"/>
          </p:nvPr>
        </p:nvSpPr>
        <p:spPr>
          <a:solidFill>
            <a:srgbClr val="FFFFFF"/>
          </a:solidFill>
          <a:ln/>
        </p:spPr>
      </p:sp>
      <p:sp>
        <p:nvSpPr>
          <p:cNvPr id="2324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692611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CD7A286-876B-4DF5-B255-1E8EC9475223}" type="slidenum">
              <a:rPr lang="en-US" altLang="en-US">
                <a:latin typeface="Arial" pitchFamily="34" charset="0"/>
                <a:cs typeface="Arial" pitchFamily="34" charset="0"/>
              </a:rPr>
              <a:pPr/>
              <a:t>27</a:t>
            </a:fld>
            <a:endParaRPr lang="en-US" altLang="en-US">
              <a:latin typeface="Arial" pitchFamily="34" charset="0"/>
              <a:cs typeface="Arial" pitchFamily="34" charset="0"/>
            </a:endParaRPr>
          </a:p>
        </p:txBody>
      </p:sp>
      <p:sp>
        <p:nvSpPr>
          <p:cNvPr id="244739" name="Rectangle 2"/>
          <p:cNvSpPr>
            <a:spLocks noGrp="1" noRot="1" noChangeAspect="1" noChangeArrowheads="1" noTextEdit="1"/>
          </p:cNvSpPr>
          <p:nvPr>
            <p:ph type="sldImg"/>
          </p:nvPr>
        </p:nvSpPr>
        <p:spPr>
          <a:solidFill>
            <a:srgbClr val="FFFFFF"/>
          </a:solidFill>
          <a:ln/>
        </p:spPr>
      </p:sp>
      <p:sp>
        <p:nvSpPr>
          <p:cNvPr id="24474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9690671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24DAAD86-EB8C-4E52-912D-6EEB4867EF0B}" type="slidenum">
              <a:rPr lang="en-US" altLang="en-US">
                <a:latin typeface="Arial" pitchFamily="34" charset="0"/>
                <a:cs typeface="Arial" pitchFamily="34" charset="0"/>
              </a:rPr>
              <a:pPr/>
              <a:t>28</a:t>
            </a:fld>
            <a:endParaRPr lang="en-US" altLang="en-US">
              <a:latin typeface="Arial" pitchFamily="34" charset="0"/>
              <a:cs typeface="Arial" pitchFamily="34" charset="0"/>
            </a:endParaRPr>
          </a:p>
        </p:txBody>
      </p:sp>
      <p:sp>
        <p:nvSpPr>
          <p:cNvPr id="248835" name="Rectangle 2"/>
          <p:cNvSpPr>
            <a:spLocks noGrp="1" noRot="1" noChangeAspect="1" noChangeArrowheads="1" noTextEdit="1"/>
          </p:cNvSpPr>
          <p:nvPr>
            <p:ph type="sldImg"/>
          </p:nvPr>
        </p:nvSpPr>
        <p:spPr>
          <a:solidFill>
            <a:srgbClr val="FFFFFF"/>
          </a:solidFill>
          <a:ln/>
        </p:spPr>
      </p:sp>
      <p:sp>
        <p:nvSpPr>
          <p:cNvPr id="24883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5296387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A32C8B2-5750-4BB6-A8C7-D108F9E03A38}" type="slidenum">
              <a:rPr lang="en-US" altLang="en-US">
                <a:latin typeface="Arial" pitchFamily="34" charset="0"/>
                <a:cs typeface="Arial" pitchFamily="34" charset="0"/>
              </a:rPr>
              <a:pPr/>
              <a:t>29</a:t>
            </a:fld>
            <a:endParaRPr lang="en-US" altLang="en-US">
              <a:latin typeface="Arial" pitchFamily="34" charset="0"/>
              <a:cs typeface="Arial" pitchFamily="34" charset="0"/>
            </a:endParaRPr>
          </a:p>
        </p:txBody>
      </p:sp>
      <p:sp>
        <p:nvSpPr>
          <p:cNvPr id="252931" name="Rectangle 2"/>
          <p:cNvSpPr>
            <a:spLocks noGrp="1" noRot="1" noChangeAspect="1" noChangeArrowheads="1" noTextEdit="1"/>
          </p:cNvSpPr>
          <p:nvPr>
            <p:ph type="sldImg"/>
          </p:nvPr>
        </p:nvSpPr>
        <p:spPr>
          <a:solidFill>
            <a:srgbClr val="FFFFFF"/>
          </a:solidFill>
          <a:ln/>
        </p:spPr>
      </p:sp>
      <p:sp>
        <p:nvSpPr>
          <p:cNvPr id="2529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25.UN05 In-text figure, animals clock, p. 534</a:t>
            </a:r>
          </a:p>
        </p:txBody>
      </p:sp>
    </p:spTree>
    <p:extLst>
      <p:ext uri="{BB962C8B-B14F-4D97-AF65-F5344CB8AC3E}">
        <p14:creationId xmlns:p14="http://schemas.microsoft.com/office/powerpoint/2010/main" val="2017097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ADB9A7ED-F7CE-4AC9-B1CC-000C553F9F0B}" type="slidenum">
              <a:rPr lang="en-US" altLang="en-US">
                <a:solidFill>
                  <a:srgbClr val="000000"/>
                </a:solidFill>
                <a:latin typeface="Arial" pitchFamily="34" charset="0"/>
                <a:cs typeface="Arial" pitchFamily="34" charset="0"/>
              </a:rPr>
              <a:pPr/>
              <a:t>30</a:t>
            </a:fld>
            <a:endParaRPr lang="en-US" altLang="en-US">
              <a:solidFill>
                <a:srgbClr val="000000"/>
              </a:solidFill>
              <a:latin typeface="Arial" pitchFamily="34" charset="0"/>
              <a:cs typeface="Arial" pitchFamily="34" charset="0"/>
            </a:endParaRPr>
          </a:p>
        </p:txBody>
      </p:sp>
      <p:sp>
        <p:nvSpPr>
          <p:cNvPr id="259075" name="Rectangle 2"/>
          <p:cNvSpPr>
            <a:spLocks noGrp="1" noRot="1" noChangeAspect="1" noChangeArrowheads="1" noTextEdit="1"/>
          </p:cNvSpPr>
          <p:nvPr>
            <p:ph type="sldImg"/>
          </p:nvPr>
        </p:nvSpPr>
        <p:spPr>
          <a:solidFill>
            <a:srgbClr val="FFFFFF"/>
          </a:solidFill>
          <a:ln/>
        </p:spPr>
      </p:sp>
      <p:sp>
        <p:nvSpPr>
          <p:cNvPr id="25907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6187476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D6FCBFC-8222-417D-8E15-F6A4E8671DA9}" type="slidenum">
              <a:rPr lang="en-US" altLang="en-US">
                <a:latin typeface="Arial" pitchFamily="34" charset="0"/>
                <a:cs typeface="Arial" pitchFamily="34" charset="0"/>
              </a:rPr>
              <a:pPr/>
              <a:t>31</a:t>
            </a:fld>
            <a:endParaRPr lang="en-US" altLang="en-US">
              <a:latin typeface="Arial" pitchFamily="34" charset="0"/>
              <a:cs typeface="Arial" pitchFamily="34" charset="0"/>
            </a:endParaRPr>
          </a:p>
        </p:txBody>
      </p:sp>
      <p:sp>
        <p:nvSpPr>
          <p:cNvPr id="263171" name="Rectangle 2"/>
          <p:cNvSpPr>
            <a:spLocks noGrp="1" noRot="1" noChangeAspect="1" noChangeArrowheads="1" noTextEdit="1"/>
          </p:cNvSpPr>
          <p:nvPr>
            <p:ph type="sldImg"/>
          </p:nvPr>
        </p:nvSpPr>
        <p:spPr>
          <a:solidFill>
            <a:srgbClr val="FFFFFF"/>
          </a:solidFill>
          <a:ln/>
        </p:spPr>
      </p:sp>
      <p:sp>
        <p:nvSpPr>
          <p:cNvPr id="2631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25.UN06 In-text figure, colonization of land clock, p. 534</a:t>
            </a:r>
          </a:p>
        </p:txBody>
      </p:sp>
    </p:spTree>
    <p:extLst>
      <p:ext uri="{BB962C8B-B14F-4D97-AF65-F5344CB8AC3E}">
        <p14:creationId xmlns:p14="http://schemas.microsoft.com/office/powerpoint/2010/main" val="3121395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8D4BA5D3-DA16-4C9A-8F16-FD7708247F04}" type="slidenum">
              <a:rPr lang="en-US" altLang="en-US">
                <a:latin typeface="Arial" pitchFamily="34" charset="0"/>
                <a:cs typeface="Arial" pitchFamily="34" charset="0"/>
              </a:rPr>
              <a:pPr/>
              <a:t>32</a:t>
            </a:fld>
            <a:endParaRPr lang="en-US" altLang="en-US">
              <a:latin typeface="Arial" pitchFamily="34" charset="0"/>
              <a:cs typeface="Arial" pitchFamily="34" charset="0"/>
            </a:endParaRPr>
          </a:p>
        </p:txBody>
      </p:sp>
      <p:sp>
        <p:nvSpPr>
          <p:cNvPr id="271363" name="Rectangle 2"/>
          <p:cNvSpPr>
            <a:spLocks noGrp="1" noRot="1" noChangeAspect="1" noChangeArrowheads="1" noTextEdit="1"/>
          </p:cNvSpPr>
          <p:nvPr>
            <p:ph type="sldImg"/>
          </p:nvPr>
        </p:nvSpPr>
        <p:spPr>
          <a:solidFill>
            <a:srgbClr val="FFFFFF"/>
          </a:solidFill>
          <a:ln/>
        </p:spPr>
      </p:sp>
      <p:sp>
        <p:nvSpPr>
          <p:cNvPr id="271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771860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14CE1CC2-A895-4B27-BF10-D9401A24D1AB}" type="slidenum">
              <a:rPr lang="en-US" altLang="en-US">
                <a:latin typeface="Arial" pitchFamily="34" charset="0"/>
                <a:cs typeface="Arial" pitchFamily="34" charset="0"/>
              </a:rPr>
              <a:pPr/>
              <a:t>33</a:t>
            </a:fld>
            <a:endParaRPr lang="en-US" altLang="en-US">
              <a:latin typeface="Arial" pitchFamily="34" charset="0"/>
              <a:cs typeface="Arial" pitchFamily="34" charset="0"/>
            </a:endParaRPr>
          </a:p>
        </p:txBody>
      </p:sp>
      <p:sp>
        <p:nvSpPr>
          <p:cNvPr id="277507" name="Rectangle 2"/>
          <p:cNvSpPr>
            <a:spLocks noGrp="1" noRot="1" noChangeAspect="1" noChangeArrowheads="1" noTextEdit="1"/>
          </p:cNvSpPr>
          <p:nvPr>
            <p:ph type="sldImg"/>
          </p:nvPr>
        </p:nvSpPr>
        <p:spPr>
          <a:solidFill>
            <a:srgbClr val="FFFFFF"/>
          </a:solidFill>
          <a:ln/>
        </p:spPr>
      </p:sp>
      <p:sp>
        <p:nvSpPr>
          <p:cNvPr id="27750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25.14 Cutaway view of Earth</a:t>
            </a:r>
          </a:p>
        </p:txBody>
      </p:sp>
    </p:spTree>
    <p:extLst>
      <p:ext uri="{BB962C8B-B14F-4D97-AF65-F5344CB8AC3E}">
        <p14:creationId xmlns:p14="http://schemas.microsoft.com/office/powerpoint/2010/main" val="21537397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84393957-8098-460B-80BD-28CBC23F0079}" type="slidenum">
              <a:rPr lang="en-US" altLang="en-US">
                <a:latin typeface="Arial" pitchFamily="34" charset="0"/>
                <a:cs typeface="Arial" pitchFamily="34" charset="0"/>
              </a:rPr>
              <a:pPr/>
              <a:t>34</a:t>
            </a:fld>
            <a:endParaRPr lang="en-US" altLang="en-US">
              <a:latin typeface="Arial" pitchFamily="34" charset="0"/>
              <a:cs typeface="Arial" pitchFamily="34" charset="0"/>
            </a:endParaRPr>
          </a:p>
        </p:txBody>
      </p:sp>
      <p:sp>
        <p:nvSpPr>
          <p:cNvPr id="281603" name="Rectangle 2"/>
          <p:cNvSpPr>
            <a:spLocks noGrp="1" noRot="1" noChangeAspect="1" noChangeArrowheads="1" noTextEdit="1"/>
          </p:cNvSpPr>
          <p:nvPr>
            <p:ph type="sldImg"/>
          </p:nvPr>
        </p:nvSpPr>
        <p:spPr>
          <a:solidFill>
            <a:srgbClr val="FFFFFF"/>
          </a:solidFill>
          <a:ln/>
        </p:spPr>
      </p:sp>
      <p:sp>
        <p:nvSpPr>
          <p:cNvPr id="2816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25.15 Earth’s major tectonic plates</a:t>
            </a:r>
          </a:p>
        </p:txBody>
      </p:sp>
    </p:spTree>
    <p:extLst>
      <p:ext uri="{BB962C8B-B14F-4D97-AF65-F5344CB8AC3E}">
        <p14:creationId xmlns:p14="http://schemas.microsoft.com/office/powerpoint/2010/main" val="30940814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2A4C4C47-67D8-4866-BB64-91FD9EB724EF}" type="slidenum">
              <a:rPr lang="en-US" altLang="en-US">
                <a:latin typeface="Arial" pitchFamily="34" charset="0"/>
                <a:cs typeface="Arial" pitchFamily="34" charset="0"/>
              </a:rPr>
              <a:pPr/>
              <a:t>35</a:t>
            </a:fld>
            <a:endParaRPr lang="en-US" altLang="en-US">
              <a:latin typeface="Arial" pitchFamily="34" charset="0"/>
              <a:cs typeface="Arial" pitchFamily="34" charset="0"/>
            </a:endParaRPr>
          </a:p>
        </p:txBody>
      </p:sp>
      <p:sp>
        <p:nvSpPr>
          <p:cNvPr id="287747" name="Rectangle 2"/>
          <p:cNvSpPr>
            <a:spLocks noGrp="1" noRot="1" noChangeAspect="1" noChangeArrowheads="1" noTextEdit="1"/>
          </p:cNvSpPr>
          <p:nvPr>
            <p:ph type="sldImg"/>
          </p:nvPr>
        </p:nvSpPr>
        <p:spPr>
          <a:solidFill>
            <a:srgbClr val="FFFFFF"/>
          </a:solidFill>
          <a:ln/>
        </p:spPr>
      </p:sp>
      <p:sp>
        <p:nvSpPr>
          <p:cNvPr id="28774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25.16 The history of continental drift during the Phanerozoic eon</a:t>
            </a:r>
          </a:p>
        </p:txBody>
      </p:sp>
    </p:spTree>
    <p:extLst>
      <p:ext uri="{BB962C8B-B14F-4D97-AF65-F5344CB8AC3E}">
        <p14:creationId xmlns:p14="http://schemas.microsoft.com/office/powerpoint/2010/main" val="6163646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3D6FF7A-F758-4515-A946-C5824B4835FA}" type="slidenum">
              <a:rPr lang="en-US" altLang="en-US">
                <a:latin typeface="Arial" pitchFamily="34" charset="0"/>
                <a:cs typeface="Arial" pitchFamily="34" charset="0"/>
              </a:rPr>
              <a:pPr/>
              <a:t>36</a:t>
            </a:fld>
            <a:endParaRPr lang="en-US" altLang="en-US">
              <a:latin typeface="Arial" pitchFamily="34" charset="0"/>
              <a:cs typeface="Arial" pitchFamily="34" charset="0"/>
            </a:endParaRPr>
          </a:p>
        </p:txBody>
      </p:sp>
      <p:sp>
        <p:nvSpPr>
          <p:cNvPr id="301059" name="Rectangle 2"/>
          <p:cNvSpPr>
            <a:spLocks noGrp="1" noRot="1" noChangeAspect="1" noChangeArrowheads="1" noTextEdit="1"/>
          </p:cNvSpPr>
          <p:nvPr>
            <p:ph type="sldImg"/>
          </p:nvPr>
        </p:nvSpPr>
        <p:spPr>
          <a:solidFill>
            <a:srgbClr val="FFFFFF"/>
          </a:solidFill>
          <a:ln/>
        </p:spPr>
      </p:sp>
      <p:sp>
        <p:nvSpPr>
          <p:cNvPr id="30106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724021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rPr>
              <a:t>Figure 25.17 Mass extinction and the diversity of life</a:t>
            </a:r>
          </a:p>
          <a:p>
            <a:endParaRPr lang="en-US">
              <a:latin typeface="Arial"/>
            </a:endParaRPr>
          </a:p>
        </p:txBody>
      </p:sp>
    </p:spTree>
    <p:extLst>
      <p:ext uri="{BB962C8B-B14F-4D97-AF65-F5344CB8AC3E}">
        <p14:creationId xmlns:p14="http://schemas.microsoft.com/office/powerpoint/2010/main" val="9995486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929E009-3D68-4BF9-BC06-0EF7E93EC5E4}" type="slidenum">
              <a:rPr lang="en-US" altLang="en-US">
                <a:latin typeface="Arial" pitchFamily="34" charset="0"/>
                <a:cs typeface="Arial" pitchFamily="34" charset="0"/>
              </a:rPr>
              <a:pPr/>
              <a:t>38</a:t>
            </a:fld>
            <a:endParaRPr lang="en-US" altLang="en-US">
              <a:latin typeface="Arial" pitchFamily="34" charset="0"/>
              <a:cs typeface="Arial" pitchFamily="34" charset="0"/>
            </a:endParaRPr>
          </a:p>
        </p:txBody>
      </p:sp>
      <p:sp>
        <p:nvSpPr>
          <p:cNvPr id="307203" name="Rectangle 2"/>
          <p:cNvSpPr>
            <a:spLocks noGrp="1" noRot="1" noChangeAspect="1" noChangeArrowheads="1" noTextEdit="1"/>
          </p:cNvSpPr>
          <p:nvPr>
            <p:ph type="sldImg"/>
          </p:nvPr>
        </p:nvSpPr>
        <p:spPr>
          <a:solidFill>
            <a:srgbClr val="FFFFFF"/>
          </a:solidFill>
          <a:ln/>
        </p:spPr>
      </p:sp>
      <p:sp>
        <p:nvSpPr>
          <p:cNvPr id="3072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11428350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48A2FE6D-3FF2-41E2-9132-FCD314942A43}" type="slidenum">
              <a:rPr lang="en-US" altLang="en-US">
                <a:latin typeface="Arial" pitchFamily="34" charset="0"/>
                <a:cs typeface="Arial" pitchFamily="34" charset="0"/>
              </a:rPr>
              <a:pPr/>
              <a:t>39</a:t>
            </a:fld>
            <a:endParaRPr lang="en-US" altLang="en-US">
              <a:latin typeface="Arial" pitchFamily="34" charset="0"/>
              <a:cs typeface="Arial" pitchFamily="34" charset="0"/>
            </a:endParaRPr>
          </a:p>
        </p:txBody>
      </p:sp>
      <p:sp>
        <p:nvSpPr>
          <p:cNvPr id="311299" name="Rectangle 2"/>
          <p:cNvSpPr>
            <a:spLocks noGrp="1" noRot="1" noChangeAspect="1" noChangeArrowheads="1" noTextEdit="1"/>
          </p:cNvSpPr>
          <p:nvPr>
            <p:ph type="sldImg"/>
          </p:nvPr>
        </p:nvSpPr>
        <p:spPr>
          <a:solidFill>
            <a:srgbClr val="FFFFFF"/>
          </a:solidFill>
          <a:ln/>
        </p:spPr>
      </p:sp>
      <p:sp>
        <p:nvSpPr>
          <p:cNvPr id="31130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7734665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rPr>
              <a:t>Figure 25.18 A trauma for Cretaceous life</a:t>
            </a:r>
          </a:p>
          <a:p>
            <a:endParaRPr lang="en-US">
              <a:latin typeface="Arial"/>
            </a:endParaRPr>
          </a:p>
        </p:txBody>
      </p:sp>
    </p:spTree>
    <p:extLst>
      <p:ext uri="{BB962C8B-B14F-4D97-AF65-F5344CB8AC3E}">
        <p14:creationId xmlns:p14="http://schemas.microsoft.com/office/powerpoint/2010/main" val="6292664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6E992CE-3E23-4EB3-BEA3-A95D11D4089B}" type="slidenum">
              <a:rPr lang="en-US" altLang="en-US">
                <a:latin typeface="Arial" pitchFamily="34" charset="0"/>
                <a:cs typeface="Arial" pitchFamily="34" charset="0"/>
              </a:rPr>
              <a:pPr/>
              <a:t>41</a:t>
            </a:fld>
            <a:endParaRPr lang="en-US" altLang="en-US">
              <a:latin typeface="Arial" pitchFamily="34" charset="0"/>
              <a:cs typeface="Arial" pitchFamily="34" charset="0"/>
            </a:endParaRPr>
          </a:p>
        </p:txBody>
      </p:sp>
      <p:sp>
        <p:nvSpPr>
          <p:cNvPr id="317443" name="Rectangle 2"/>
          <p:cNvSpPr>
            <a:spLocks noGrp="1" noRot="1" noChangeAspect="1" noChangeArrowheads="1" noTextEdit="1"/>
          </p:cNvSpPr>
          <p:nvPr>
            <p:ph type="sldImg"/>
          </p:nvPr>
        </p:nvSpPr>
        <p:spPr>
          <a:solidFill>
            <a:srgbClr val="FFFFFF"/>
          </a:solidFill>
          <a:ln/>
        </p:spPr>
      </p:sp>
      <p:sp>
        <p:nvSpPr>
          <p:cNvPr id="3174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7309096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25.19 Fossil extinctions and temperature</a:t>
            </a:r>
          </a:p>
          <a:p>
            <a:endParaRPr lang="en-US" dirty="0">
              <a:latin typeface="Arial"/>
            </a:endParaRPr>
          </a:p>
        </p:txBody>
      </p:sp>
    </p:spTree>
    <p:extLst>
      <p:ext uri="{BB962C8B-B14F-4D97-AF65-F5344CB8AC3E}">
        <p14:creationId xmlns:p14="http://schemas.microsoft.com/office/powerpoint/2010/main" val="22220496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7449ADE-7B93-40EF-89C6-040FF5088FBB}" type="slidenum">
              <a:rPr lang="en-US" altLang="en-US">
                <a:latin typeface="Arial" pitchFamily="34" charset="0"/>
                <a:cs typeface="Arial" pitchFamily="34" charset="0"/>
              </a:rPr>
              <a:pPr/>
              <a:t>43</a:t>
            </a:fld>
            <a:endParaRPr lang="en-US" altLang="en-US">
              <a:latin typeface="Arial" pitchFamily="34" charset="0"/>
              <a:cs typeface="Arial" pitchFamily="34" charset="0"/>
            </a:endParaRPr>
          </a:p>
        </p:txBody>
      </p:sp>
      <p:sp>
        <p:nvSpPr>
          <p:cNvPr id="323587" name="Rectangle 2"/>
          <p:cNvSpPr>
            <a:spLocks noGrp="1" noRot="1" noChangeAspect="1" noChangeArrowheads="1" noTextEdit="1"/>
          </p:cNvSpPr>
          <p:nvPr>
            <p:ph type="sldImg"/>
          </p:nvPr>
        </p:nvSpPr>
        <p:spPr>
          <a:solidFill>
            <a:srgbClr val="FFFFFF"/>
          </a:solidFill>
          <a:ln/>
        </p:spPr>
      </p:sp>
      <p:sp>
        <p:nvSpPr>
          <p:cNvPr id="32358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20058066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1785C8C-413C-4F7C-9E15-9DF06E824173}" type="slidenum">
              <a:rPr lang="en-US" altLang="en-US">
                <a:latin typeface="Arial" pitchFamily="34" charset="0"/>
                <a:cs typeface="Arial" pitchFamily="34" charset="0"/>
              </a:rPr>
              <a:pPr/>
              <a:t>44</a:t>
            </a:fld>
            <a:endParaRPr lang="en-US" altLang="en-US">
              <a:latin typeface="Arial" pitchFamily="34" charset="0"/>
              <a:cs typeface="Arial" pitchFamily="34" charset="0"/>
            </a:endParaRPr>
          </a:p>
        </p:txBody>
      </p:sp>
      <p:sp>
        <p:nvSpPr>
          <p:cNvPr id="329731" name="Rectangle 2"/>
          <p:cNvSpPr>
            <a:spLocks noGrp="1" noRot="1" noChangeAspect="1" noChangeArrowheads="1" noTextEdit="1"/>
          </p:cNvSpPr>
          <p:nvPr>
            <p:ph type="sldImg"/>
          </p:nvPr>
        </p:nvSpPr>
        <p:spPr>
          <a:solidFill>
            <a:srgbClr val="FFFFFF"/>
          </a:solidFill>
          <a:ln/>
        </p:spPr>
      </p:sp>
      <p:sp>
        <p:nvSpPr>
          <p:cNvPr id="3297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5445139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6666F7D-ABDF-415B-8C8B-98D983876D46}" type="slidenum">
              <a:rPr lang="en-US" altLang="en-US">
                <a:latin typeface="Arial" pitchFamily="34" charset="0"/>
                <a:cs typeface="Arial" pitchFamily="34" charset="0"/>
              </a:rPr>
              <a:pPr/>
              <a:t>45</a:t>
            </a:fld>
            <a:endParaRPr lang="en-US" altLang="en-US">
              <a:latin typeface="Arial" pitchFamily="34" charset="0"/>
              <a:cs typeface="Arial" pitchFamily="34" charset="0"/>
            </a:endParaRPr>
          </a:p>
        </p:txBody>
      </p:sp>
      <p:sp>
        <p:nvSpPr>
          <p:cNvPr id="331779" name="Rectangle 2"/>
          <p:cNvSpPr>
            <a:spLocks noGrp="1" noRot="1" noChangeAspect="1" noChangeArrowheads="1" noTextEdit="1"/>
          </p:cNvSpPr>
          <p:nvPr>
            <p:ph type="sldImg"/>
          </p:nvPr>
        </p:nvSpPr>
        <p:spPr>
          <a:solidFill>
            <a:srgbClr val="FFFFFF"/>
          </a:solidFill>
          <a:ln/>
        </p:spPr>
      </p:sp>
      <p:sp>
        <p:nvSpPr>
          <p:cNvPr id="3317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7937388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E16AA30A-3BC7-470D-B805-16C9C0EEE360}" type="slidenum">
              <a:rPr lang="en-US" altLang="en-US">
                <a:latin typeface="Arial" pitchFamily="34" charset="0"/>
                <a:cs typeface="Arial" pitchFamily="34" charset="0"/>
              </a:rPr>
              <a:pPr/>
              <a:t>46</a:t>
            </a:fld>
            <a:endParaRPr lang="en-US" altLang="en-US">
              <a:latin typeface="Arial" pitchFamily="34" charset="0"/>
              <a:cs typeface="Arial" pitchFamily="34" charset="0"/>
            </a:endParaRPr>
          </a:p>
        </p:txBody>
      </p:sp>
      <p:sp>
        <p:nvSpPr>
          <p:cNvPr id="354307" name="Rectangle 2"/>
          <p:cNvSpPr>
            <a:spLocks noGrp="1" noRot="1" noChangeAspect="1" noChangeArrowheads="1" noTextEdit="1"/>
          </p:cNvSpPr>
          <p:nvPr>
            <p:ph type="sldImg"/>
          </p:nvPr>
        </p:nvSpPr>
        <p:spPr>
          <a:solidFill>
            <a:srgbClr val="FFFFFF"/>
          </a:solidFill>
          <a:ln/>
        </p:spPr>
      </p:sp>
      <p:sp>
        <p:nvSpPr>
          <p:cNvPr id="35430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a:ea typeface="ヒラギノ角ゴ Pro W3" charset="-128"/>
            </a:endParaRPr>
          </a:p>
        </p:txBody>
      </p:sp>
    </p:spTree>
    <p:extLst>
      <p:ext uri="{BB962C8B-B14F-4D97-AF65-F5344CB8AC3E}">
        <p14:creationId xmlns:p14="http://schemas.microsoft.com/office/powerpoint/2010/main" val="37813277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25.23 Relative skull growth rates</a:t>
            </a:r>
          </a:p>
          <a:p>
            <a:endParaRPr lang="en-US" dirty="0">
              <a:latin typeface="Arial"/>
            </a:endParaRPr>
          </a:p>
        </p:txBody>
      </p:sp>
    </p:spTree>
    <p:extLst>
      <p:ext uri="{BB962C8B-B14F-4D97-AF65-F5344CB8AC3E}">
        <p14:creationId xmlns:p14="http://schemas.microsoft.com/office/powerpoint/2010/main" val="28498989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1D9B1000-A426-4953-914B-96B39F8BA562}" type="slidenum">
              <a:rPr lang="en-US" altLang="en-US">
                <a:latin typeface="Arial" pitchFamily="34" charset="0"/>
                <a:cs typeface="Arial" pitchFamily="34" charset="0"/>
              </a:rPr>
              <a:pPr/>
              <a:t>48</a:t>
            </a:fld>
            <a:endParaRPr lang="en-US" altLang="en-US">
              <a:latin typeface="Arial" pitchFamily="34" charset="0"/>
              <a:cs typeface="Arial" pitchFamily="34" charset="0"/>
            </a:endParaRPr>
          </a:p>
        </p:txBody>
      </p:sp>
      <p:sp>
        <p:nvSpPr>
          <p:cNvPr id="367619" name="Rectangle 2"/>
          <p:cNvSpPr>
            <a:spLocks noGrp="1" noRot="1" noChangeAspect="1" noChangeArrowheads="1" noTextEdit="1"/>
          </p:cNvSpPr>
          <p:nvPr>
            <p:ph type="sldImg"/>
          </p:nvPr>
        </p:nvSpPr>
        <p:spPr>
          <a:solidFill>
            <a:srgbClr val="FFFFFF"/>
          </a:solidFill>
          <a:ln/>
        </p:spPr>
      </p:sp>
      <p:sp>
        <p:nvSpPr>
          <p:cNvPr id="3676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25.24 </a:t>
            </a:r>
            <a:r>
              <a:rPr lang="en-US" dirty="0" err="1">
                <a:latin typeface="Arial"/>
              </a:rPr>
              <a:t>Paedomorphosis</a:t>
            </a:r>
            <a:endParaRPr lang="en-US" dirty="0">
              <a:latin typeface="Arial"/>
            </a:endParaRPr>
          </a:p>
        </p:txBody>
      </p:sp>
    </p:spTree>
    <p:extLst>
      <p:ext uri="{BB962C8B-B14F-4D97-AF65-F5344CB8AC3E}">
        <p14:creationId xmlns:p14="http://schemas.microsoft.com/office/powerpoint/2010/main" val="17123559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F5ABFC64-D024-46DB-90F5-194C3EAF27A9}" type="slidenum">
              <a:rPr lang="en-US" altLang="en-US">
                <a:latin typeface="Arial" pitchFamily="34" charset="0"/>
                <a:cs typeface="Arial" pitchFamily="34" charset="0"/>
              </a:rPr>
              <a:pPr/>
              <a:t>49</a:t>
            </a:fld>
            <a:endParaRPr lang="en-US" altLang="en-US">
              <a:latin typeface="Arial" pitchFamily="34" charset="0"/>
              <a:cs typeface="Arial" pitchFamily="34" charset="0"/>
            </a:endParaRPr>
          </a:p>
        </p:txBody>
      </p:sp>
      <p:sp>
        <p:nvSpPr>
          <p:cNvPr id="394243" name="Rectangle 2"/>
          <p:cNvSpPr>
            <a:spLocks noGrp="1" noRot="1" noChangeAspect="1" noChangeArrowheads="1" noTextEdit="1"/>
          </p:cNvSpPr>
          <p:nvPr>
            <p:ph type="sldImg"/>
          </p:nvPr>
        </p:nvSpPr>
        <p:spPr>
          <a:solidFill>
            <a:srgbClr val="FFFFFF"/>
          </a:solidFill>
          <a:ln/>
        </p:spPr>
      </p:sp>
      <p:sp>
        <p:nvSpPr>
          <p:cNvPr id="394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ea typeface="ヒラギノ角ゴ Pro W3" charset="-128"/>
            </a:endParaRPr>
          </a:p>
        </p:txBody>
      </p:sp>
    </p:spTree>
    <p:extLst>
      <p:ext uri="{BB962C8B-B14F-4D97-AF65-F5344CB8AC3E}">
        <p14:creationId xmlns:p14="http://schemas.microsoft.com/office/powerpoint/2010/main" val="41808281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F2B30C"/>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591" t="-1" b="-1"/>
          <a:stretch/>
        </p:blipFill>
        <p:spPr>
          <a:xfrm>
            <a:off x="152400" y="152400"/>
            <a:ext cx="4495800" cy="6356360"/>
          </a:xfrm>
          <a:prstGeom prst="rect">
            <a:avLst/>
          </a:prstGeom>
        </p:spPr>
      </p:pic>
      <p:sp>
        <p:nvSpPr>
          <p:cNvPr id="7" name="Footer Placeholder 2"/>
          <p:cNvSpPr>
            <a:spLocks noGrp="1"/>
          </p:cNvSpPr>
          <p:nvPr>
            <p:ph type="ftr" sz="quarter" idx="3"/>
          </p:nvPr>
        </p:nvSpPr>
        <p:spPr>
          <a:xfrm>
            <a:off x="0" y="6490096"/>
            <a:ext cx="30861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Rectangle 5"/>
          <p:cNvSpPr/>
          <p:nvPr userDrawn="1"/>
        </p:nvSpPr>
        <p:spPr>
          <a:xfrm>
            <a:off x="4876800" y="152400"/>
            <a:ext cx="4114800" cy="5791200"/>
          </a:xfrm>
          <a:prstGeom prst="rect">
            <a:avLst/>
          </a:prstGeom>
        </p:spPr>
        <p:txBody>
          <a:bodyPr wrap="square" anchor="ctr">
            <a:noAutofit/>
          </a:bodyPr>
          <a:lstStyle/>
          <a:p>
            <a:pPr marL="0" marR="0" indent="0" algn="ctr" defTabSz="914400" rtl="0" eaLnBrk="0" fontAlgn="base" latinLnBrk="0" hangingPunct="0">
              <a:lnSpc>
                <a:spcPct val="100000"/>
              </a:lnSpc>
              <a:spcBef>
                <a:spcPct val="0"/>
              </a:spcBef>
              <a:spcAft>
                <a:spcPct val="0"/>
              </a:spcAft>
              <a:buClrTx/>
              <a:buSzTx/>
              <a:buFontTx/>
              <a:buNone/>
              <a:tabLst/>
              <a:defRPr/>
            </a:pPr>
            <a:r>
              <a:rPr lang="en-US" sz="4000" b="1" dirty="0">
                <a:solidFill>
                  <a:srgbClr val="DF4A20"/>
                </a:solidFill>
                <a:effectLst>
                  <a:outerShdw blurRad="38100" dist="38100" dir="2700000" algn="tl">
                    <a:srgbClr val="000000">
                      <a:alpha val="43137"/>
                    </a:srgbClr>
                  </a:outerShdw>
                </a:effectLst>
              </a:rPr>
              <a:t>Chapter 25</a:t>
            </a:r>
            <a:r>
              <a:rPr lang="en-US" sz="3200" b="1" dirty="0">
                <a:solidFill>
                  <a:srgbClr val="DF4A20"/>
                </a:solidFill>
              </a:rPr>
              <a:t/>
            </a:r>
            <a:br>
              <a:rPr lang="en-US" sz="3200" b="1" dirty="0">
                <a:solidFill>
                  <a:srgbClr val="DF4A20"/>
                </a:solidFill>
              </a:rPr>
            </a:br>
            <a:r>
              <a:rPr lang="en-US" sz="3600" dirty="0"/>
              <a:t/>
            </a:r>
            <a:br>
              <a:rPr lang="en-US" sz="3600" dirty="0"/>
            </a:br>
            <a:r>
              <a:rPr lang="en-US" sz="4000" b="1" kern="120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The History of Life on Earth</a:t>
            </a:r>
            <a:endParaRPr lang="en-US"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08287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2910807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152400" y="1752600"/>
            <a:ext cx="8839199" cy="4737496"/>
          </a:xfrm>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105032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85123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61810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403173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633410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368498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128236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411315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1364794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733775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4202448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60641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8"/>
          <p:cNvSpPr>
            <a:spLocks noGrp="1" noChangeArrowheads="1"/>
          </p:cNvSpPr>
          <p:nvPr>
            <p:ph type="body" idx="1"/>
          </p:nvPr>
        </p:nvSpPr>
        <p:spPr bwMode="auto">
          <a:xfrm>
            <a:off x="152400" y="1272910"/>
            <a:ext cx="8839199" cy="5217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13716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6" name="Rectangle 7"/>
          <p:cNvSpPr>
            <a:spLocks noGrp="1" noChangeArrowheads="1"/>
          </p:cNvSpPr>
          <p:nvPr>
            <p:ph type="title"/>
          </p:nvPr>
        </p:nvSpPr>
        <p:spPr bwMode="auto">
          <a:xfrm>
            <a:off x="0" y="0"/>
            <a:ext cx="9144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182880" tIns="91440" rIns="228600" bIns="91440" numCol="1" anchor="t" anchorCtr="0" compatLnSpc="1">
            <a:prstTxWarp prst="textNoShape">
              <a:avLst/>
            </a:prstTxWarp>
            <a:spAutoFit/>
          </a:bodyPr>
          <a:lstStyle/>
          <a:p>
            <a:pPr lvl="0"/>
            <a:r>
              <a:rPr lang="en-US"/>
              <a:t>Click to edit Master title style</a:t>
            </a:r>
            <a:endParaRPr lang="en-US" dirty="0"/>
          </a:p>
        </p:txBody>
      </p:sp>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93321882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8" r:id="rId3"/>
    <p:sldLayoutId id="2147483907" r:id="rId4"/>
    <p:sldLayoutId id="2147483903" r:id="rId5"/>
    <p:sldLayoutId id="2147483904" r:id="rId6"/>
    <p:sldLayoutId id="2147483909" r:id="rId7"/>
  </p:sldLayoutIdLst>
  <p:hf sldNum="0" hdr="0" ftr="0" dt="0"/>
  <p:txStyles>
    <p:title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422858533"/>
      </p:ext>
    </p:extLst>
  </p:cSld>
  <p:clrMap bg1="lt1" tx1="dk1" bg2="lt2" tx2="dk2" accent1="accent1" accent2="accent2" accent3="accent3" accent4="accent4" accent5="accent5" accent6="accent6" hlink="hlink" folHlink="folHlink"/>
  <p:sldLayoutIdLst>
    <p:sldLayoutId id="214748392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435593696"/>
      </p:ext>
    </p:extLst>
  </p:cSld>
  <p:clrMap bg1="lt1" tx1="dk1" bg2="lt2" tx2="dk2" accent1="accent1" accent2="accent2" accent3="accent3" accent4="accent4" accent5="accent5" accent6="accent6" hlink="hlink" folHlink="folHlink"/>
  <p:sldLayoutIdLst>
    <p:sldLayoutId id="2147483949" r:id="rId1"/>
    <p:sldLayoutId id="2147484034" r:id="rId2"/>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89239650"/>
      </p:ext>
    </p:extLst>
  </p:cSld>
  <p:clrMap bg1="lt1" tx1="dk1" bg2="lt2" tx2="dk2" accent1="accent1" accent2="accent2" accent3="accent3" accent4="accent4" accent5="accent5" accent6="accent6" hlink="hlink" folHlink="folHlink"/>
  <p:sldLayoutIdLst>
    <p:sldLayoutId id="214748396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1255172657"/>
      </p:ext>
    </p:extLst>
  </p:cSld>
  <p:clrMap bg1="lt1" tx1="dk1" bg2="lt2" tx2="dk2" accent1="accent1" accent2="accent2" accent3="accent3" accent4="accent4" accent5="accent5" accent6="accent6" hlink="hlink" folHlink="folHlink"/>
  <p:sldLayoutIdLst>
    <p:sldLayoutId id="2147484009"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1042279428"/>
      </p:ext>
    </p:extLst>
  </p:cSld>
  <p:clrMap bg1="lt1" tx1="dk1" bg2="lt2" tx2="dk2" accent1="accent1" accent2="accent2" accent3="accent3" accent4="accent4" accent5="accent5" accent6="accent6" hlink="hlink" folHlink="folHlink"/>
  <p:sldLayoutIdLst>
    <p:sldLayoutId id="2147484011"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440665009"/>
      </p:ext>
    </p:extLst>
  </p:cSld>
  <p:clrMap bg1="lt1" tx1="dk1" bg2="lt2" tx2="dk2" accent1="accent1" accent2="accent2" accent3="accent3" accent4="accent4" accent5="accent5" accent6="accent6" hlink="hlink" folHlink="folHlink"/>
  <p:sldLayoutIdLst>
    <p:sldLayoutId id="214748403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youtu.be/NNijmxsKGbc"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file:///C:\Documents%20and%20Settings\rajesh.ACEPRO\Desktop\25-Oct\Chapter%2025\Unlabeled\25_T01bGeologicRecord-U.jpg"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file:///C:\Documents%20and%20Settings\rajesh.ACEPRO\Desktop\25-Oct\Chapter%2025\Unlabeled\25_T01aGeologicRecord-U.jp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5OvgdCKcjQc#action=share" TargetMode="External"/><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file:///C:\Documents%20and%20Settings\rajesh.ACEPRO\Desktop\25-Oct\Chapter%2025\Unlabeled\25_17MassExtinctionDiv-U.jpg"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14.xml"/><Relationship Id="rId4" Type="http://schemas.openxmlformats.org/officeDocument/2006/relationships/image" Target="file:///C:\Documents%20and%20Settings\rajesh.ACEPRO\Desktop\25-Oct\Chapter%2025\Unlabeled\25_23_RelativeGrowth-U.jpg"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CH 25</a:t>
            </a:r>
          </a:p>
        </p:txBody>
      </p:sp>
      <p:sp>
        <p:nvSpPr>
          <p:cNvPr id="6" name="TextBox 5">
            <a:extLst>
              <a:ext uri="{FF2B5EF4-FFF2-40B4-BE49-F238E27FC236}">
                <a16:creationId xmlns:a16="http://schemas.microsoft.com/office/drawing/2014/main" id="{F7451D56-4B25-42E5-96E6-1EA8A658E9D5}"/>
              </a:ext>
            </a:extLst>
          </p:cNvPr>
          <p:cNvSpPr txBox="1"/>
          <p:nvPr/>
        </p:nvSpPr>
        <p:spPr>
          <a:xfrm>
            <a:off x="0" y="0"/>
            <a:ext cx="9144000" cy="6740307"/>
          </a:xfrm>
          <a:prstGeom prst="rect">
            <a:avLst/>
          </a:prstGeom>
          <a:noFill/>
        </p:spPr>
        <p:txBody>
          <a:bodyPr wrap="square" rtlCol="0">
            <a:spAutoFit/>
          </a:bodyPr>
          <a:lstStyle/>
          <a:p>
            <a:pPr algn="ctr"/>
            <a:r>
              <a:rPr lang="en-US" sz="3600" b="1" dirty="0">
                <a:solidFill>
                  <a:srgbClr val="FF0000"/>
                </a:solidFill>
                <a:cs typeface="Arial" panose="020B0604020202020204" pitchFamily="34" charset="0"/>
              </a:rPr>
              <a:t>LSU BIOL 1202</a:t>
            </a:r>
          </a:p>
          <a:p>
            <a:pPr algn="ctr"/>
            <a:r>
              <a:rPr lang="en-US" sz="3600" b="1" dirty="0">
                <a:cs typeface="Arial" panose="020B0604020202020204" pitchFamily="34" charset="0"/>
              </a:rPr>
              <a:t>General </a:t>
            </a:r>
            <a:r>
              <a:rPr lang="en-US" sz="3600" b="1" dirty="0" smtClean="0">
                <a:cs typeface="Arial" panose="020B0604020202020204" pitchFamily="34" charset="0"/>
              </a:rPr>
              <a:t>Biology </a:t>
            </a:r>
            <a:r>
              <a:rPr lang="en-US" sz="3600" b="1" dirty="0">
                <a:cs typeface="Arial" panose="020B0604020202020204" pitchFamily="34" charset="0"/>
              </a:rPr>
              <a:t>II Lecture</a:t>
            </a: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r>
              <a:rPr lang="en-US" sz="3000" b="1" dirty="0">
                <a:cs typeface="Arial" panose="020B0604020202020204" pitchFamily="34" charset="0"/>
              </a:rPr>
              <a:t>CHAPTER 25</a:t>
            </a:r>
          </a:p>
          <a:p>
            <a:pPr algn="ctr"/>
            <a:r>
              <a:rPr lang="en-US" sz="3000" b="1" i="1" dirty="0">
                <a:cs typeface="Arial" panose="020B0604020202020204" pitchFamily="34" charset="0"/>
              </a:rPr>
              <a:t>The History of Life on Earth</a:t>
            </a:r>
          </a:p>
          <a:p>
            <a:pPr algn="ctr"/>
            <a:r>
              <a:rPr lang="en-US" sz="3000" b="1" dirty="0">
                <a:cs typeface="Arial" panose="020B0604020202020204" pitchFamily="34" charset="0"/>
              </a:rPr>
              <a:t>Dr. Adam Hrincevich</a:t>
            </a:r>
          </a:p>
        </p:txBody>
      </p:sp>
      <p:pic>
        <p:nvPicPr>
          <p:cNvPr id="5" name="Picture 4" descr="Figure 25.1 Chapter opener.  Would you have expected to find whale bones buried here?&#10;">
            <a:extLst>
              <a:ext uri="{FF2B5EF4-FFF2-40B4-BE49-F238E27FC236}">
                <a16:creationId xmlns:a16="http://schemas.microsoft.com/office/drawing/2014/main" id="{456B1E00-80F8-4AB0-896F-22F8A7259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135" y="1447800"/>
            <a:ext cx="5039729" cy="3353828"/>
          </a:xfrm>
          <a:prstGeom prst="rect">
            <a:avLst/>
          </a:prstGeom>
        </p:spPr>
      </p:pic>
    </p:spTree>
    <p:extLst>
      <p:ext uri="{BB962C8B-B14F-4D97-AF65-F5344CB8AC3E}">
        <p14:creationId xmlns:p14="http://schemas.microsoft.com/office/powerpoint/2010/main" val="166129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F93F-1521-445C-8CC2-2099C8AD6BFA}"/>
              </a:ext>
            </a:extLst>
          </p:cNvPr>
          <p:cNvSpPr>
            <a:spLocks noGrp="1"/>
          </p:cNvSpPr>
          <p:nvPr>
            <p:ph type="title"/>
          </p:nvPr>
        </p:nvSpPr>
        <p:spPr>
          <a:xfrm>
            <a:off x="-3875" y="0"/>
            <a:ext cx="9144000" cy="800219"/>
          </a:xfrm>
        </p:spPr>
        <p:txBody>
          <a:bodyPr/>
          <a:lstStyle/>
          <a:p>
            <a:pPr algn="ctr"/>
            <a:r>
              <a:rPr lang="en-US" sz="4000" dirty="0"/>
              <a:t>CH 25 Learning Objectives</a:t>
            </a:r>
          </a:p>
        </p:txBody>
      </p:sp>
      <p:sp>
        <p:nvSpPr>
          <p:cNvPr id="4" name="TextBox 3">
            <a:extLst>
              <a:ext uri="{FF2B5EF4-FFF2-40B4-BE49-F238E27FC236}">
                <a16:creationId xmlns:a16="http://schemas.microsoft.com/office/drawing/2014/main" id="{86360591-B5D1-410A-8B8C-92FD2A2A31B5}"/>
              </a:ext>
            </a:extLst>
          </p:cNvPr>
          <p:cNvSpPr txBox="1"/>
          <p:nvPr/>
        </p:nvSpPr>
        <p:spPr>
          <a:xfrm>
            <a:off x="9041" y="748635"/>
            <a:ext cx="9140125" cy="6109365"/>
          </a:xfrm>
          <a:prstGeom prst="rect">
            <a:avLst/>
          </a:prstGeom>
          <a:noFill/>
        </p:spPr>
        <p:txBody>
          <a:bodyPr wrap="square" rtlCol="0">
            <a:spAutoFit/>
          </a:bodyPr>
          <a:lstStyle/>
          <a:p>
            <a:pPr marL="457200" indent="-457200">
              <a:buFont typeface="+mj-lt"/>
              <a:buAutoNum type="arabicPeriod"/>
            </a:pPr>
            <a:r>
              <a:rPr lang="en-US" sz="2300" dirty="0"/>
              <a:t>Describe steps by which simple cells may have originated from nonliving materials.</a:t>
            </a:r>
          </a:p>
          <a:p>
            <a:pPr marL="457200" indent="-457200">
              <a:buFont typeface="+mj-lt"/>
              <a:buAutoNum type="arabicPeriod"/>
            </a:pPr>
            <a:r>
              <a:rPr lang="en-US" sz="2300" dirty="0"/>
              <a:t>Explain what fossils are, how they are dated, and what the fossil record can reveal about life's history.</a:t>
            </a:r>
          </a:p>
          <a:p>
            <a:pPr marL="457200" indent="-457200">
              <a:buFont typeface="+mj-lt"/>
              <a:buAutoNum type="arabicPeriod"/>
            </a:pPr>
            <a:r>
              <a:rPr lang="en-US" sz="2300" dirty="0"/>
              <a:t>Identify when the origin of single and multi-celled organisms and the colonization of land occurred and explain the significance of these events.</a:t>
            </a:r>
          </a:p>
          <a:p>
            <a:pPr marL="457200" indent="-457200">
              <a:buFont typeface="+mj-lt"/>
              <a:buAutoNum type="arabicPeriod"/>
            </a:pPr>
            <a:r>
              <a:rPr lang="en-US" sz="2300" dirty="0"/>
              <a:t>Explain how plate tectonics, mass extinctions, and adaptive radiations have affected Earth's life.</a:t>
            </a:r>
          </a:p>
          <a:p>
            <a:pPr marL="457200" indent="-457200">
              <a:buFont typeface="+mj-lt"/>
              <a:buAutoNum type="arabicPeriod"/>
            </a:pPr>
            <a:r>
              <a:rPr lang="en-US" sz="2300" dirty="0"/>
              <a:t>Describe how changes in the sequence or regulation of genes can result in major changes in body form.</a:t>
            </a:r>
          </a:p>
          <a:p>
            <a:pPr marL="457200" indent="-457200">
              <a:buFont typeface="+mj-lt"/>
              <a:buAutoNum type="arabicPeriod"/>
            </a:pPr>
            <a:r>
              <a:rPr lang="en-US" sz="2300" dirty="0"/>
              <a:t>Use examples to show how novel and complex structures can arise by descent with modification.</a:t>
            </a:r>
          </a:p>
          <a:p>
            <a:pPr marL="457200" indent="-457200">
              <a:buFont typeface="+mj-lt"/>
              <a:buAutoNum type="arabicPeriod"/>
            </a:pPr>
            <a:endParaRPr lang="en-US" sz="2300" dirty="0"/>
          </a:p>
          <a:p>
            <a:r>
              <a:rPr lang="en-US" sz="2300" dirty="0"/>
              <a:t>I would suggest completing the crossword puzzle to help you understand the terminology and correlate how the terms relate to topics covered in this chapter.</a:t>
            </a:r>
          </a:p>
        </p:txBody>
      </p:sp>
    </p:spTree>
    <p:extLst>
      <p:ext uri="{BB962C8B-B14F-4D97-AF65-F5344CB8AC3E}">
        <p14:creationId xmlns:p14="http://schemas.microsoft.com/office/powerpoint/2010/main" val="4090100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25.1: Conditions on early Earth made the origin of life possible</a:t>
            </a:r>
          </a:p>
        </p:txBody>
      </p:sp>
      <p:sp>
        <p:nvSpPr>
          <p:cNvPr id="108547" name="Rectangle 3"/>
          <p:cNvSpPr>
            <a:spLocks noGrp="1" noChangeArrowheads="1"/>
          </p:cNvSpPr>
          <p:nvPr>
            <p:ph idx="1"/>
          </p:nvPr>
        </p:nvSpPr>
        <p:spPr/>
        <p:txBody>
          <a:bodyPr/>
          <a:lstStyle/>
          <a:p>
            <a:r>
              <a:rPr lang="en-US" altLang="en-US" dirty="0"/>
              <a:t>Chemical and physical processes on early Earth may have produced </a:t>
            </a:r>
          </a:p>
          <a:p>
            <a:endParaRPr lang="en-US" altLang="en-US" dirty="0"/>
          </a:p>
          <a:p>
            <a:pPr marL="971550" lvl="1" indent="-514350">
              <a:buFont typeface="+mj-lt"/>
              <a:buAutoNum type="arabicPeriod"/>
            </a:pPr>
            <a:r>
              <a:rPr lang="en-US" altLang="en-US" dirty="0"/>
              <a:t>Abiotic synthesis of </a:t>
            </a:r>
          </a:p>
          <a:p>
            <a:pPr marL="971550" lvl="1" indent="-514350">
              <a:buFont typeface="+mj-lt"/>
              <a:buAutoNum type="arabicPeriod"/>
            </a:pPr>
            <a:r>
              <a:rPr lang="en-US" altLang="en-US" dirty="0"/>
              <a:t>Joining of these small molecules into </a:t>
            </a:r>
          </a:p>
          <a:p>
            <a:pPr marL="971550" lvl="1" indent="-514350">
              <a:buFont typeface="+mj-lt"/>
              <a:buAutoNum type="arabicPeriod"/>
            </a:pPr>
            <a:endParaRPr lang="en-US" altLang="en-US" dirty="0"/>
          </a:p>
          <a:p>
            <a:pPr marL="971550" lvl="1" indent="-514350">
              <a:buFont typeface="+mj-lt"/>
              <a:buAutoNum type="arabicPeriod"/>
            </a:pPr>
            <a:r>
              <a:rPr lang="en-US" altLang="en-US" dirty="0"/>
              <a:t>Packaging of </a:t>
            </a:r>
            <a:endParaRPr lang="en-US" altLang="en-US" b="1" dirty="0"/>
          </a:p>
          <a:p>
            <a:pPr marL="971550" lvl="1" indent="-514350">
              <a:buFont typeface="+mj-lt"/>
              <a:buAutoNum type="arabicPeriod"/>
            </a:pPr>
            <a:r>
              <a:rPr lang="en-US" altLang="en-US" dirty="0"/>
              <a:t>Origin of </a:t>
            </a:r>
          </a:p>
        </p:txBody>
      </p:sp>
    </p:spTree>
    <p:extLst>
      <p:ext uri="{BB962C8B-B14F-4D97-AF65-F5344CB8AC3E}">
        <p14:creationId xmlns:p14="http://schemas.microsoft.com/office/powerpoint/2010/main" val="3530289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0" y="0"/>
            <a:ext cx="9144000" cy="1107996"/>
          </a:xfrm>
        </p:spPr>
        <p:txBody>
          <a:bodyPr/>
          <a:lstStyle/>
          <a:p>
            <a:r>
              <a:rPr lang="en-US" altLang="en-US"/>
              <a:t>Synthesis of Organic Compounds on Early Earth</a:t>
            </a:r>
          </a:p>
        </p:txBody>
      </p:sp>
      <p:sp>
        <p:nvSpPr>
          <p:cNvPr id="110595" name="Rectangle 3"/>
          <p:cNvSpPr>
            <a:spLocks noGrp="1" noChangeArrowheads="1"/>
          </p:cNvSpPr>
          <p:nvPr>
            <p:ph idx="1"/>
          </p:nvPr>
        </p:nvSpPr>
        <p:spPr/>
        <p:txBody>
          <a:bodyPr/>
          <a:lstStyle/>
          <a:p>
            <a:r>
              <a:rPr lang="en-US" altLang="en-US" dirty="0"/>
              <a:t>Earth formed about </a:t>
            </a:r>
          </a:p>
          <a:p>
            <a:r>
              <a:rPr lang="en-US" altLang="en-US" dirty="0"/>
              <a:t>Earth was bombarded by rocks and ice vaporized water which prevented </a:t>
            </a:r>
          </a:p>
          <a:p>
            <a:endParaRPr lang="en-US" altLang="en-US" dirty="0"/>
          </a:p>
          <a:p>
            <a:r>
              <a:rPr lang="en-US" altLang="en-US" dirty="0"/>
              <a:t>Earth</a:t>
            </a:r>
            <a:r>
              <a:rPr lang="ja-JP" altLang="en-US" dirty="0"/>
              <a:t>’</a:t>
            </a:r>
            <a:r>
              <a:rPr lang="en-US" altLang="ja-JP" dirty="0"/>
              <a:t>s early atmosphere had little oxygen and likely contained </a:t>
            </a:r>
          </a:p>
          <a:p>
            <a:endParaRPr lang="en-US" altLang="ja-JP" dirty="0"/>
          </a:p>
          <a:p>
            <a:pPr lvl="1"/>
            <a:r>
              <a:rPr lang="en-US" altLang="ja-JP" dirty="0"/>
              <a:t>EX: </a:t>
            </a:r>
            <a:endParaRPr lang="en-US" altLang="en-US" dirty="0"/>
          </a:p>
        </p:txBody>
      </p:sp>
    </p:spTree>
    <p:extLst>
      <p:ext uri="{BB962C8B-B14F-4D97-AF65-F5344CB8AC3E}">
        <p14:creationId xmlns:p14="http://schemas.microsoft.com/office/powerpoint/2010/main" val="236317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53" y="28074"/>
            <a:ext cx="9144000" cy="600164"/>
          </a:xfrm>
        </p:spPr>
        <p:txBody>
          <a:bodyPr/>
          <a:lstStyle/>
          <a:p>
            <a:r>
              <a:rPr lang="en-US" dirty="0">
                <a:solidFill>
                  <a:schemeClr val="bg1"/>
                </a:solidFill>
              </a:rPr>
              <a:t>5</a:t>
            </a:r>
          </a:p>
        </p:txBody>
      </p:sp>
      <p:sp>
        <p:nvSpPr>
          <p:cNvPr id="112642" name="Rectangle 2"/>
          <p:cNvSpPr>
            <a:spLocks noGrp="1" noChangeArrowheads="1"/>
          </p:cNvSpPr>
          <p:nvPr>
            <p:ph idx="4294967295"/>
          </p:nvPr>
        </p:nvSpPr>
        <p:spPr>
          <a:xfrm>
            <a:off x="152401" y="40774"/>
            <a:ext cx="8839200" cy="6753726"/>
          </a:xfrm>
        </p:spPr>
        <p:txBody>
          <a:bodyPr/>
          <a:lstStyle/>
          <a:p>
            <a:r>
              <a:rPr lang="en-US" altLang="en-US" sz="2600" dirty="0"/>
              <a:t>In the 1920s, </a:t>
            </a:r>
            <a:r>
              <a:rPr lang="en-US" altLang="en-US" sz="2600" b="1" dirty="0"/>
              <a:t>Oparin &amp; Haldane </a:t>
            </a:r>
            <a:r>
              <a:rPr lang="en-US" altLang="en-US" sz="2600" dirty="0"/>
              <a:t>independently hypothesized that </a:t>
            </a:r>
          </a:p>
          <a:p>
            <a:endParaRPr lang="en-US" altLang="en-US" sz="2600" dirty="0"/>
          </a:p>
          <a:p>
            <a:r>
              <a:rPr lang="en-US" altLang="en-US" sz="2600" dirty="0"/>
              <a:t>In 1953, the experiments of </a:t>
            </a:r>
            <a:r>
              <a:rPr lang="en-US" altLang="en-US" sz="2600" b="1" dirty="0"/>
              <a:t>Miller &amp; Urey </a:t>
            </a:r>
            <a:r>
              <a:rPr lang="en-US" altLang="en-US" sz="2600" dirty="0"/>
              <a:t>showed that the </a:t>
            </a:r>
          </a:p>
          <a:p>
            <a:endParaRPr lang="en-US" altLang="en-US" sz="2600" dirty="0"/>
          </a:p>
          <a:p>
            <a:r>
              <a:rPr lang="en-US" altLang="en-US" sz="2600" dirty="0"/>
              <a:t>However, some evidence suggests that the early atmosphere was </a:t>
            </a:r>
          </a:p>
          <a:p>
            <a:r>
              <a:rPr lang="en-US" altLang="en-US" sz="2600" dirty="0"/>
              <a:t>The first organic compounds may have formed in reducing conditions near </a:t>
            </a:r>
          </a:p>
          <a:p>
            <a:r>
              <a:rPr lang="en-US" altLang="en-US" sz="2600" dirty="0"/>
              <a:t>Reanalysis of molecules formed in Miller’s experiments found that numerous amino acids formed under</a:t>
            </a:r>
          </a:p>
          <a:p>
            <a:pPr lvl="1"/>
            <a:r>
              <a:rPr lang="en-US" altLang="en-US" dirty="0"/>
              <a:t> Summary of the Miller-Urey experiment </a:t>
            </a:r>
            <a:r>
              <a:rPr lang="en-US" altLang="en-US" dirty="0">
                <a:hlinkClick r:id="rId3"/>
              </a:rPr>
              <a:t>HERE</a:t>
            </a:r>
            <a:endParaRPr lang="en-US" altLang="en-US" dirty="0"/>
          </a:p>
        </p:txBody>
      </p:sp>
    </p:spTree>
    <p:extLst>
      <p:ext uri="{BB962C8B-B14F-4D97-AF65-F5344CB8AC3E}">
        <p14:creationId xmlns:p14="http://schemas.microsoft.com/office/powerpoint/2010/main" val="1648613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iller Urey experiment summary"/>
          <p:cNvPicPr>
            <a:picLocks noChangeAspect="1"/>
          </p:cNvPicPr>
          <p:nvPr/>
        </p:nvPicPr>
        <p:blipFill>
          <a:blip r:embed="rId2"/>
          <a:stretch>
            <a:fillRect/>
          </a:stretch>
        </p:blipFill>
        <p:spPr>
          <a:xfrm>
            <a:off x="23812" y="-33338"/>
            <a:ext cx="9096375" cy="6924675"/>
          </a:xfrm>
          <a:prstGeom prst="rect">
            <a:avLst/>
          </a:prstGeom>
        </p:spPr>
      </p:pic>
      <p:sp>
        <p:nvSpPr>
          <p:cNvPr id="6" name="Title 5"/>
          <p:cNvSpPr>
            <a:spLocks noGrp="1"/>
          </p:cNvSpPr>
          <p:nvPr>
            <p:ph type="title"/>
          </p:nvPr>
        </p:nvSpPr>
        <p:spPr>
          <a:xfrm>
            <a:off x="0" y="-33338"/>
            <a:ext cx="9144000" cy="1071062"/>
          </a:xfrm>
        </p:spPr>
        <p:txBody>
          <a:bodyPr/>
          <a:lstStyle/>
          <a:p>
            <a:r>
              <a:rPr lang="en-US" sz="3200" dirty="0"/>
              <a:t>Miller-Urey</a:t>
            </a:r>
            <a:br>
              <a:rPr lang="en-US" sz="3200" dirty="0"/>
            </a:br>
            <a:r>
              <a:rPr lang="en-US" sz="3200" dirty="0"/>
              <a:t>Experiment</a:t>
            </a:r>
          </a:p>
        </p:txBody>
      </p:sp>
    </p:spTree>
    <p:extLst>
      <p:ext uri="{BB962C8B-B14F-4D97-AF65-F5344CB8AC3E}">
        <p14:creationId xmlns:p14="http://schemas.microsoft.com/office/powerpoint/2010/main" val="223655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053" y="20053"/>
            <a:ext cx="9144000" cy="600164"/>
          </a:xfrm>
        </p:spPr>
        <p:txBody>
          <a:bodyPr/>
          <a:lstStyle/>
          <a:p>
            <a:r>
              <a:rPr lang="en-US" dirty="0">
                <a:solidFill>
                  <a:schemeClr val="bg1"/>
                </a:solidFill>
              </a:rPr>
              <a:t>7</a:t>
            </a:r>
          </a:p>
        </p:txBody>
      </p:sp>
      <p:sp>
        <p:nvSpPr>
          <p:cNvPr id="118786" name="Rectangle 2"/>
          <p:cNvSpPr>
            <a:spLocks noGrp="1" noChangeArrowheads="1"/>
          </p:cNvSpPr>
          <p:nvPr>
            <p:ph idx="4294967295"/>
          </p:nvPr>
        </p:nvSpPr>
        <p:spPr>
          <a:xfrm>
            <a:off x="152400" y="152400"/>
            <a:ext cx="8839200" cy="6553200"/>
          </a:xfrm>
        </p:spPr>
        <p:txBody>
          <a:bodyPr/>
          <a:lstStyle/>
          <a:p>
            <a:r>
              <a:rPr lang="en-US" altLang="en-US" dirty="0"/>
              <a:t>Organic compounds may have been produced in deep-sea </a:t>
            </a:r>
            <a:r>
              <a:rPr lang="en-US" altLang="en-US" b="1" dirty="0"/>
              <a:t>hydrothermal vents</a:t>
            </a:r>
            <a:r>
              <a:rPr lang="en-US" altLang="en-US" dirty="0"/>
              <a:t>, areas on the seafloor where </a:t>
            </a:r>
          </a:p>
          <a:p>
            <a:endParaRPr lang="en-US" altLang="en-US" dirty="0"/>
          </a:p>
          <a:p>
            <a:r>
              <a:rPr lang="en-US" altLang="en-US" dirty="0"/>
              <a:t>Environmental conditions produced </a:t>
            </a:r>
          </a:p>
          <a:p>
            <a:endParaRPr lang="en-US" altLang="en-US" dirty="0"/>
          </a:p>
          <a:p>
            <a:r>
              <a:rPr lang="en-US" altLang="en-US" dirty="0"/>
              <a:t>“Black smokers” release </a:t>
            </a:r>
          </a:p>
          <a:p>
            <a:r>
              <a:rPr lang="en-US" altLang="en-US" b="1" dirty="0"/>
              <a:t>Alkaline vents </a:t>
            </a:r>
            <a:r>
              <a:rPr lang="en-US" altLang="en-US" dirty="0"/>
              <a:t>release water with high </a:t>
            </a:r>
          </a:p>
          <a:p>
            <a:endParaRPr lang="en-US" altLang="en-US" dirty="0"/>
          </a:p>
          <a:p>
            <a:r>
              <a:rPr lang="en-US" altLang="en-US" dirty="0"/>
              <a:t>Conditions near alkaline vents were likely more </a:t>
            </a:r>
          </a:p>
        </p:txBody>
      </p:sp>
    </p:spTree>
    <p:extLst>
      <p:ext uri="{BB962C8B-B14F-4D97-AF65-F5344CB8AC3E}">
        <p14:creationId xmlns:p14="http://schemas.microsoft.com/office/powerpoint/2010/main" val="1994568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8</a:t>
            </a:r>
          </a:p>
        </p:txBody>
      </p:sp>
      <p:sp>
        <p:nvSpPr>
          <p:cNvPr id="125954" name="Rectangle 2"/>
          <p:cNvSpPr>
            <a:spLocks noGrp="1" noChangeArrowheads="1"/>
          </p:cNvSpPr>
          <p:nvPr>
            <p:ph idx="4294967295"/>
          </p:nvPr>
        </p:nvSpPr>
        <p:spPr>
          <a:xfrm>
            <a:off x="152400" y="87313"/>
            <a:ext cx="8991600" cy="4179887"/>
          </a:xfrm>
        </p:spPr>
        <p:txBody>
          <a:bodyPr/>
          <a:lstStyle/>
          <a:p>
            <a:r>
              <a:rPr lang="en-US" altLang="en-US" dirty="0"/>
              <a:t>Meteorites may have been </a:t>
            </a:r>
          </a:p>
          <a:p>
            <a:endParaRPr lang="en-US" altLang="en-US" dirty="0"/>
          </a:p>
          <a:p>
            <a:r>
              <a:rPr lang="en-US" altLang="en-US" dirty="0"/>
              <a:t>Murchison meteorite is </a:t>
            </a:r>
          </a:p>
          <a:p>
            <a:pPr lvl="1"/>
            <a:r>
              <a:rPr lang="en-US" altLang="en-US" dirty="0"/>
              <a:t>Fell in </a:t>
            </a:r>
            <a:endParaRPr lang="en-US" dirty="0"/>
          </a:p>
          <a:p>
            <a:pPr lvl="1"/>
            <a:r>
              <a:rPr lang="en-US" dirty="0"/>
              <a:t>It was a </a:t>
            </a:r>
          </a:p>
          <a:p>
            <a:pPr lvl="1"/>
            <a:r>
              <a:rPr lang="en-US" altLang="en-US" dirty="0"/>
              <a:t>Relatively </a:t>
            </a:r>
          </a:p>
          <a:p>
            <a:pPr lvl="1"/>
            <a:r>
              <a:rPr lang="en-US" altLang="en-US" dirty="0"/>
              <a:t>Contain 80+ amino acids, other key </a:t>
            </a:r>
          </a:p>
        </p:txBody>
      </p:sp>
      <p:pic>
        <p:nvPicPr>
          <p:cNvPr id="4" name="Picture 3" descr="Picture of the Murchison meteorite">
            <a:extLst>
              <a:ext uri="{FF2B5EF4-FFF2-40B4-BE49-F238E27FC236}">
                <a16:creationId xmlns:a16="http://schemas.microsoft.com/office/drawing/2014/main" id="{DFEAE0C1-2507-4F9F-8485-64F8BB1A99AF}"/>
              </a:ext>
            </a:extLst>
          </p:cNvPr>
          <p:cNvPicPr>
            <a:picLocks noChangeAspect="1"/>
          </p:cNvPicPr>
          <p:nvPr/>
        </p:nvPicPr>
        <p:blipFill>
          <a:blip r:embed="rId3"/>
          <a:stretch>
            <a:fillRect/>
          </a:stretch>
        </p:blipFill>
        <p:spPr>
          <a:xfrm>
            <a:off x="2971800" y="4250871"/>
            <a:ext cx="3200400" cy="2474976"/>
          </a:xfrm>
          <a:prstGeom prst="rect">
            <a:avLst/>
          </a:prstGeom>
        </p:spPr>
      </p:pic>
    </p:spTree>
    <p:extLst>
      <p:ext uri="{BB962C8B-B14F-4D97-AF65-F5344CB8AC3E}">
        <p14:creationId xmlns:p14="http://schemas.microsoft.com/office/powerpoint/2010/main" val="99716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altLang="en-US"/>
              <a:t>Protocells</a:t>
            </a:r>
          </a:p>
        </p:txBody>
      </p:sp>
      <p:sp>
        <p:nvSpPr>
          <p:cNvPr id="130051" name="Rectangle 3"/>
          <p:cNvSpPr>
            <a:spLocks noGrp="1" noChangeArrowheads="1"/>
          </p:cNvSpPr>
          <p:nvPr>
            <p:ph idx="1"/>
          </p:nvPr>
        </p:nvSpPr>
        <p:spPr>
          <a:xfrm>
            <a:off x="76200" y="685800"/>
            <a:ext cx="8991600" cy="5880496"/>
          </a:xfrm>
        </p:spPr>
        <p:txBody>
          <a:bodyPr/>
          <a:lstStyle/>
          <a:p>
            <a:r>
              <a:rPr lang="en-US" altLang="en-US" dirty="0"/>
              <a:t>Replication and metabolism are key properties of life and may </a:t>
            </a:r>
          </a:p>
          <a:p>
            <a:r>
              <a:rPr lang="en-US" altLang="en-US" dirty="0"/>
              <a:t>Protocells may have formed from </a:t>
            </a:r>
          </a:p>
          <a:p>
            <a:endParaRPr lang="en-US" altLang="en-US" dirty="0"/>
          </a:p>
          <a:p>
            <a:r>
              <a:rPr lang="en-US" altLang="en-US" dirty="0"/>
              <a:t>In water, lipids and other organic molecules can spontaneously </a:t>
            </a:r>
          </a:p>
          <a:p>
            <a:r>
              <a:rPr lang="en-US" altLang="en-US" dirty="0"/>
              <a:t>Adding </a:t>
            </a:r>
            <a:r>
              <a:rPr lang="en-US" altLang="en-US" b="1" i="1" dirty="0">
                <a:solidFill>
                  <a:srgbClr val="FF0000"/>
                </a:solidFill>
              </a:rPr>
              <a:t>montmorillonite</a:t>
            </a:r>
            <a:r>
              <a:rPr lang="en-US" altLang="en-US" dirty="0"/>
              <a:t>, a soft </a:t>
            </a:r>
          </a:p>
          <a:p>
            <a:endParaRPr lang="en-US" altLang="en-US" dirty="0"/>
          </a:p>
          <a:p>
            <a:r>
              <a:rPr lang="en-US" altLang="en-US" dirty="0"/>
              <a:t>Vesicles show simple growth, reproduction, and  metabolism and can absorb </a:t>
            </a:r>
          </a:p>
        </p:txBody>
      </p:sp>
    </p:spTree>
    <p:extLst>
      <p:ext uri="{BB962C8B-B14F-4D97-AF65-F5344CB8AC3E}">
        <p14:creationId xmlns:p14="http://schemas.microsoft.com/office/powerpoint/2010/main" val="421806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Figure 25.4</a:t>
            </a:r>
          </a:p>
        </p:txBody>
      </p:sp>
      <p:pic>
        <p:nvPicPr>
          <p:cNvPr id="4" name="Picture 3" descr="A graph is shown. On the x axis is time in minutes, from 0 to 60. The y-axis shows the relative turbidity, an index of vesicle number, from 0 to 0.4.&#10;One set of data shows the result with precursor molecules only. The data shows a slow increase over time, with the data ending at 0.06 after 60 minutes. The other data shows the result for precursor molecules plus montmorillonite clay. It quickly increases to 0.35 after 15 minutes, and then levels off to a constant value through the rest of the time scale.&#10;&#10;A micrograph shows multiple vesicles. Four are shown, ranging in size from 2 millimeters to 40 millimeters in diameter. A scale of 20 micrometers.&#10;&#10;A stained micrograph shows RNA in a vesicle, with a scale of 1 micrometers shown for reference.&#10;"/>
          <p:cNvPicPr>
            <a:picLocks noChangeAspect="1"/>
          </p:cNvPicPr>
          <p:nvPr/>
        </p:nvPicPr>
        <p:blipFill>
          <a:blip r:embed="rId3"/>
          <a:stretch>
            <a:fillRect/>
          </a:stretch>
        </p:blipFill>
        <p:spPr>
          <a:xfrm>
            <a:off x="1662112" y="114300"/>
            <a:ext cx="5819775" cy="6629400"/>
          </a:xfrm>
          <a:prstGeom prst="rect">
            <a:avLst/>
          </a:prstGeom>
        </p:spPr>
      </p:pic>
    </p:spTree>
    <p:extLst>
      <p:ext uri="{BB962C8B-B14F-4D97-AF65-F5344CB8AC3E}">
        <p14:creationId xmlns:p14="http://schemas.microsoft.com/office/powerpoint/2010/main" val="108462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en-US"/>
              <a:t>Self-Replicating RNA</a:t>
            </a:r>
          </a:p>
        </p:txBody>
      </p:sp>
      <p:sp>
        <p:nvSpPr>
          <p:cNvPr id="142339" name="Rectangle 3"/>
          <p:cNvSpPr>
            <a:spLocks noGrp="1" noChangeArrowheads="1"/>
          </p:cNvSpPr>
          <p:nvPr>
            <p:ph idx="1"/>
          </p:nvPr>
        </p:nvSpPr>
        <p:spPr>
          <a:xfrm>
            <a:off x="152400" y="838200"/>
            <a:ext cx="8839199" cy="5651896"/>
          </a:xfrm>
        </p:spPr>
        <p:txBody>
          <a:bodyPr/>
          <a:lstStyle/>
          <a:p>
            <a:r>
              <a:rPr lang="en-US" altLang="en-US" dirty="0"/>
              <a:t>The first </a:t>
            </a:r>
          </a:p>
          <a:p>
            <a:r>
              <a:rPr lang="en-US" altLang="en-US" dirty="0"/>
              <a:t>RNA plays a </a:t>
            </a:r>
          </a:p>
          <a:p>
            <a:r>
              <a:rPr lang="en-US" altLang="en-US" dirty="0"/>
              <a:t>RNA molecules called </a:t>
            </a:r>
          </a:p>
          <a:p>
            <a:endParaRPr lang="en-US" altLang="en-US" dirty="0"/>
          </a:p>
          <a:p>
            <a:pPr lvl="1"/>
            <a:r>
              <a:rPr lang="en-US" altLang="en-US" dirty="0"/>
              <a:t>EX: ribozymes can make </a:t>
            </a:r>
          </a:p>
          <a:p>
            <a:pPr lvl="1"/>
            <a:endParaRPr lang="en-US" altLang="en-US" dirty="0"/>
          </a:p>
          <a:p>
            <a:r>
              <a:rPr lang="en-US" altLang="en-US" dirty="0"/>
              <a:t>Natural selection has </a:t>
            </a:r>
          </a:p>
          <a:p>
            <a:endParaRPr lang="en-US" altLang="en-US" dirty="0"/>
          </a:p>
          <a:p>
            <a:r>
              <a:rPr lang="en-US" altLang="en-US" dirty="0"/>
              <a:t>Copying errors would have </a:t>
            </a:r>
          </a:p>
        </p:txBody>
      </p:sp>
    </p:spTree>
    <p:extLst>
      <p:ext uri="{BB962C8B-B14F-4D97-AF65-F5344CB8AC3E}">
        <p14:creationId xmlns:p14="http://schemas.microsoft.com/office/powerpoint/2010/main" val="3236404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9144000" cy="600164"/>
          </a:xfrm>
        </p:spPr>
        <p:txBody>
          <a:bodyPr/>
          <a:lstStyle/>
          <a:p>
            <a:r>
              <a:rPr lang="en-US" dirty="0">
                <a:solidFill>
                  <a:schemeClr val="bg1"/>
                </a:solidFill>
              </a:rPr>
              <a:t>12</a:t>
            </a:r>
          </a:p>
        </p:txBody>
      </p:sp>
      <p:sp>
        <p:nvSpPr>
          <p:cNvPr id="144386" name="Rectangle 2"/>
          <p:cNvSpPr>
            <a:spLocks noGrp="1" noChangeArrowheads="1"/>
          </p:cNvSpPr>
          <p:nvPr>
            <p:ph idx="4294967295"/>
          </p:nvPr>
        </p:nvSpPr>
        <p:spPr>
          <a:xfrm>
            <a:off x="136525" y="60325"/>
            <a:ext cx="9007475" cy="6797675"/>
          </a:xfrm>
        </p:spPr>
        <p:txBody>
          <a:bodyPr/>
          <a:lstStyle/>
          <a:p>
            <a:r>
              <a:rPr lang="en-US" altLang="en-US" sz="2700" dirty="0"/>
              <a:t>RNA molecules that were more stable or replicated more </a:t>
            </a:r>
          </a:p>
          <a:p>
            <a:endParaRPr lang="en-US" altLang="en-US" sz="2700" dirty="0"/>
          </a:p>
          <a:p>
            <a:r>
              <a:rPr lang="en-US" altLang="en-US" sz="2700" dirty="0"/>
              <a:t>In 2013, researchers constructed a vesicle whose RNA could </a:t>
            </a:r>
          </a:p>
          <a:p>
            <a:r>
              <a:rPr lang="en-US" altLang="en-US" sz="2700" dirty="0"/>
              <a:t>If a vesicle on early Earth could grow, split, and pass on its RNA to </a:t>
            </a:r>
          </a:p>
          <a:p>
            <a:endParaRPr lang="en-US" altLang="en-US" sz="2700" dirty="0"/>
          </a:p>
          <a:p>
            <a:r>
              <a:rPr lang="en-US" altLang="en-US" sz="2700" dirty="0"/>
              <a:t>The most successful of the early protocells could have increased </a:t>
            </a:r>
          </a:p>
          <a:p>
            <a:r>
              <a:rPr lang="en-US" altLang="en-US" sz="2700" dirty="0"/>
              <a:t>RNA could have provided the </a:t>
            </a:r>
          </a:p>
          <a:p>
            <a:endParaRPr lang="en-US" altLang="en-US" sz="2700" dirty="0"/>
          </a:p>
          <a:p>
            <a:r>
              <a:rPr lang="en-US" altLang="en-US" sz="2700" dirty="0"/>
              <a:t>Double-stranded DNA is more </a:t>
            </a:r>
          </a:p>
        </p:txBody>
      </p:sp>
    </p:spTree>
    <p:extLst>
      <p:ext uri="{BB962C8B-B14F-4D97-AF65-F5344CB8AC3E}">
        <p14:creationId xmlns:p14="http://schemas.microsoft.com/office/powerpoint/2010/main" val="248424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25.2: The fossil record documents the history of life</a:t>
            </a:r>
          </a:p>
        </p:txBody>
      </p:sp>
      <p:sp>
        <p:nvSpPr>
          <p:cNvPr id="6" name="Rectangle 2"/>
          <p:cNvSpPr>
            <a:spLocks noGrp="1" noChangeArrowheads="1"/>
          </p:cNvSpPr>
          <p:nvPr>
            <p:ph idx="1"/>
          </p:nvPr>
        </p:nvSpPr>
        <p:spPr>
          <a:xfrm>
            <a:off x="152400" y="1143000"/>
            <a:ext cx="8839199" cy="3124200"/>
          </a:xfrm>
        </p:spPr>
        <p:txBody>
          <a:bodyPr/>
          <a:lstStyle/>
          <a:p>
            <a:r>
              <a:rPr lang="en-US" altLang="en-US" dirty="0"/>
              <a:t>Few organisms have </a:t>
            </a:r>
            <a:r>
              <a:rPr lang="en-US" altLang="en-US" dirty="0" smtClean="0"/>
              <a:t>fossilized</a:t>
            </a:r>
            <a:r>
              <a:rPr lang="en-US" altLang="en-US" dirty="0"/>
              <a:t>, and even fewer of the </a:t>
            </a:r>
          </a:p>
          <a:p>
            <a:r>
              <a:rPr lang="en-US" altLang="en-US" dirty="0"/>
              <a:t>The fossil record is </a:t>
            </a:r>
          </a:p>
          <a:p>
            <a:pPr lvl="1"/>
            <a:r>
              <a:rPr lang="en-US" altLang="en-US" dirty="0"/>
              <a:t>Existed </a:t>
            </a:r>
          </a:p>
          <a:p>
            <a:pPr lvl="1"/>
            <a:r>
              <a:rPr lang="en-US" altLang="en-US" dirty="0"/>
              <a:t>Were </a:t>
            </a:r>
          </a:p>
          <a:p>
            <a:pPr lvl="1"/>
            <a:r>
              <a:rPr lang="en-US" altLang="en-US" dirty="0"/>
              <a:t>Had </a:t>
            </a:r>
          </a:p>
        </p:txBody>
      </p:sp>
      <p:pic>
        <p:nvPicPr>
          <p:cNvPr id="2" name="Picture 1" descr="Examples of 3 fossils: fish, bee, and starfish"/>
          <p:cNvPicPr>
            <a:picLocks noChangeAspect="1"/>
          </p:cNvPicPr>
          <p:nvPr/>
        </p:nvPicPr>
        <p:blipFill>
          <a:blip r:embed="rId3"/>
          <a:stretch>
            <a:fillRect/>
          </a:stretch>
        </p:blipFill>
        <p:spPr>
          <a:xfrm>
            <a:off x="57149" y="4572000"/>
            <a:ext cx="9029700" cy="1838325"/>
          </a:xfrm>
          <a:prstGeom prst="rect">
            <a:avLst/>
          </a:prstGeom>
        </p:spPr>
      </p:pic>
    </p:spTree>
    <p:extLst>
      <p:ext uri="{BB962C8B-B14F-4D97-AF65-F5344CB8AC3E}">
        <p14:creationId xmlns:p14="http://schemas.microsoft.com/office/powerpoint/2010/main" val="1643335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altLang="en-US"/>
              <a:t>How Rocks and Fossils Are Dated </a:t>
            </a:r>
          </a:p>
        </p:txBody>
      </p:sp>
      <p:sp>
        <p:nvSpPr>
          <p:cNvPr id="178179" name="Rectangle 3"/>
          <p:cNvSpPr>
            <a:spLocks noGrp="1" noChangeArrowheads="1"/>
          </p:cNvSpPr>
          <p:nvPr>
            <p:ph idx="1"/>
          </p:nvPr>
        </p:nvSpPr>
        <p:spPr>
          <a:xfrm>
            <a:off x="152400" y="762000"/>
            <a:ext cx="8839199" cy="6019800"/>
          </a:xfrm>
        </p:spPr>
        <p:txBody>
          <a:bodyPr/>
          <a:lstStyle/>
          <a:p>
            <a:r>
              <a:rPr lang="en-US" altLang="en-US" dirty="0"/>
              <a:t>The order of fossils in rock strata tells us </a:t>
            </a:r>
          </a:p>
          <a:p>
            <a:endParaRPr lang="en-US" altLang="en-US" dirty="0"/>
          </a:p>
          <a:p>
            <a:r>
              <a:rPr lang="en-US" altLang="en-US" dirty="0"/>
              <a:t>We can infer relative ages of fossils using this method, but </a:t>
            </a:r>
          </a:p>
          <a:p>
            <a:r>
              <a:rPr lang="en-US" altLang="en-US" dirty="0"/>
              <a:t>The age of a fossil can be </a:t>
            </a:r>
          </a:p>
          <a:p>
            <a:endParaRPr lang="en-US" altLang="en-US" b="1" dirty="0"/>
          </a:p>
          <a:p>
            <a:r>
              <a:rPr lang="en-US" altLang="en-US" dirty="0"/>
              <a:t>A radioactive </a:t>
            </a:r>
            <a:r>
              <a:rPr lang="ja-JP" altLang="en-US" dirty="0"/>
              <a:t>“</a:t>
            </a:r>
            <a:r>
              <a:rPr lang="en-US" altLang="ja-JP" dirty="0"/>
              <a:t>parent</a:t>
            </a:r>
            <a:r>
              <a:rPr lang="ja-JP" altLang="en-US" dirty="0"/>
              <a:t>”</a:t>
            </a:r>
            <a:r>
              <a:rPr lang="en-US" altLang="ja-JP" dirty="0"/>
              <a:t> isotope decays to a </a:t>
            </a:r>
          </a:p>
          <a:p>
            <a:endParaRPr lang="en-US" altLang="ja-JP" dirty="0"/>
          </a:p>
          <a:p>
            <a:r>
              <a:rPr lang="en-US" altLang="en-US" dirty="0"/>
              <a:t>Each isotope has a known </a:t>
            </a:r>
            <a:r>
              <a:rPr lang="en-US" altLang="en-US" b="1" dirty="0"/>
              <a:t>half-life</a:t>
            </a:r>
            <a:r>
              <a:rPr lang="en-US" altLang="en-US" dirty="0"/>
              <a:t>, the time required for </a:t>
            </a:r>
          </a:p>
          <a:p>
            <a:pPr lvl="1"/>
            <a:r>
              <a:rPr lang="en-US" altLang="en-US" dirty="0"/>
              <a:t>EX: Li</a:t>
            </a:r>
            <a:r>
              <a:rPr lang="en-US" altLang="en-US" baseline="30000" dirty="0"/>
              <a:t>8</a:t>
            </a:r>
            <a:r>
              <a:rPr lang="en-US" altLang="en-US" dirty="0"/>
              <a:t> = &lt; 1 second, Na</a:t>
            </a:r>
            <a:r>
              <a:rPr lang="en-US" altLang="en-US" baseline="30000" dirty="0"/>
              <a:t>24 </a:t>
            </a:r>
            <a:r>
              <a:rPr lang="en-US" altLang="en-US" dirty="0"/>
              <a:t>= 15 </a:t>
            </a:r>
            <a:r>
              <a:rPr lang="en-US" altLang="en-US" dirty="0" err="1"/>
              <a:t>hrs</a:t>
            </a:r>
            <a:r>
              <a:rPr lang="en-US" altLang="en-US" dirty="0"/>
              <a:t>, Ra</a:t>
            </a:r>
            <a:r>
              <a:rPr lang="en-US" altLang="en-US" baseline="30000" dirty="0"/>
              <a:t>228</a:t>
            </a:r>
            <a:r>
              <a:rPr lang="en-US" altLang="en-US" dirty="0"/>
              <a:t> = </a:t>
            </a:r>
            <a:endParaRPr lang="en-US" altLang="en-US" baseline="30000" dirty="0"/>
          </a:p>
        </p:txBody>
      </p:sp>
    </p:spTree>
    <p:extLst>
      <p:ext uri="{BB962C8B-B14F-4D97-AF65-F5344CB8AC3E}">
        <p14:creationId xmlns:p14="http://schemas.microsoft.com/office/powerpoint/2010/main" val="83514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shows the degradation of a radioactive isotope. A graph shows the amount of a parent isotope and the amount of a daughter isotope changing over time. Along the x-axis is time, in units of half-lives, with a range from 0 to 4. The y axis shows the Faction of parent isotope remaining. At time zero (shown by a clock at 12), the fraction of parent isotope is 100%. At time one half-life (shown by a clock at 1), the graph as decreased to one half. There is 50% daughter isotope and 50% parent isotope. At time two half-lives, the fraction of parent isotope has decreased to one quarter. At time three half-lives, the fraction of parent isotope has decreased to one eighth, and at 4 half-lives it has decreased to one sixteenth."/>
          <p:cNvPicPr>
            <a:picLocks noChangeAspect="1"/>
          </p:cNvPicPr>
          <p:nvPr/>
        </p:nvPicPr>
        <p:blipFill>
          <a:blip r:embed="rId3"/>
          <a:stretch>
            <a:fillRect/>
          </a:stretch>
        </p:blipFill>
        <p:spPr>
          <a:xfrm>
            <a:off x="236867" y="37057"/>
            <a:ext cx="8667750" cy="5191125"/>
          </a:xfrm>
          <a:prstGeom prst="rect">
            <a:avLst/>
          </a:prstGeom>
        </p:spPr>
      </p:pic>
      <p:sp>
        <p:nvSpPr>
          <p:cNvPr id="5" name="Title 4"/>
          <p:cNvSpPr>
            <a:spLocks noGrp="1"/>
          </p:cNvSpPr>
          <p:nvPr>
            <p:ph type="title"/>
          </p:nvPr>
        </p:nvSpPr>
        <p:spPr/>
        <p:txBody>
          <a:bodyPr/>
          <a:lstStyle/>
          <a:p>
            <a:r>
              <a:rPr lang="en-US"/>
              <a:t>Figure 25.6</a:t>
            </a:r>
          </a:p>
        </p:txBody>
      </p:sp>
      <p:sp>
        <p:nvSpPr>
          <p:cNvPr id="4" name="TextBox 3"/>
          <p:cNvSpPr txBox="1"/>
          <p:nvPr/>
        </p:nvSpPr>
        <p:spPr>
          <a:xfrm>
            <a:off x="296189" y="5212140"/>
            <a:ext cx="8549107" cy="1569660"/>
          </a:xfrm>
          <a:prstGeom prst="rect">
            <a:avLst/>
          </a:prstGeom>
          <a:noFill/>
        </p:spPr>
        <p:txBody>
          <a:bodyPr wrap="square" rtlCol="0">
            <a:spAutoFit/>
          </a:bodyPr>
          <a:lstStyle/>
          <a:p>
            <a:r>
              <a:rPr lang="en-US" dirty="0"/>
              <a:t>Carbon-14, the radioactive isotope of carbon used in carbon </a:t>
            </a:r>
            <a:r>
              <a:rPr lang="en-US" b="1" dirty="0"/>
              <a:t>dating</a:t>
            </a:r>
            <a:r>
              <a:rPr lang="en-US" dirty="0"/>
              <a:t> has a half-life of 5730 </a:t>
            </a:r>
            <a:r>
              <a:rPr lang="en-US" b="1" dirty="0"/>
              <a:t>years</a:t>
            </a:r>
            <a:r>
              <a:rPr lang="en-US" dirty="0"/>
              <a:t>, so it decays too fast. It can only be used to </a:t>
            </a:r>
            <a:r>
              <a:rPr lang="en-US" b="1" dirty="0"/>
              <a:t>date fossils</a:t>
            </a:r>
            <a:r>
              <a:rPr lang="en-US" dirty="0"/>
              <a:t> younger than about </a:t>
            </a:r>
            <a:r>
              <a:rPr lang="en-US" b="1" dirty="0"/>
              <a:t>75,000 years</a:t>
            </a:r>
            <a:r>
              <a:rPr lang="en-US" dirty="0"/>
              <a:t>.</a:t>
            </a:r>
          </a:p>
        </p:txBody>
      </p:sp>
    </p:spTree>
    <p:extLst>
      <p:ext uri="{BB962C8B-B14F-4D97-AF65-F5344CB8AC3E}">
        <p14:creationId xmlns:p14="http://schemas.microsoft.com/office/powerpoint/2010/main" val="507050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6858000" cy="6858000"/>
          </a:xfrm>
          <a:prstGeom prst="rect">
            <a:avLst/>
          </a:prstGeom>
        </p:spPr>
      </p:pic>
    </p:spTree>
    <p:extLst>
      <p:ext uri="{BB962C8B-B14F-4D97-AF65-F5344CB8AC3E}">
        <p14:creationId xmlns:p14="http://schemas.microsoft.com/office/powerpoint/2010/main" val="99600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16</a:t>
            </a:r>
          </a:p>
        </p:txBody>
      </p:sp>
      <p:sp>
        <p:nvSpPr>
          <p:cNvPr id="184322" name="Rectangle 2"/>
          <p:cNvSpPr>
            <a:spLocks noGrp="1" noChangeArrowheads="1"/>
          </p:cNvSpPr>
          <p:nvPr>
            <p:ph idx="4294967295"/>
          </p:nvPr>
        </p:nvSpPr>
        <p:spPr>
          <a:xfrm>
            <a:off x="152400" y="55563"/>
            <a:ext cx="8991600" cy="6754812"/>
          </a:xfrm>
        </p:spPr>
        <p:txBody>
          <a:bodyPr/>
          <a:lstStyle/>
          <a:p>
            <a:r>
              <a:rPr lang="en-US" altLang="en-US" dirty="0"/>
              <a:t>Fossils contain isotopes that accumulated in the organisms when </a:t>
            </a:r>
          </a:p>
          <a:p>
            <a:r>
              <a:rPr lang="en-US" altLang="en-US" dirty="0"/>
              <a:t>Ages are estimated using the ratio of C</a:t>
            </a:r>
            <a:r>
              <a:rPr lang="en-US" altLang="en-US" baseline="30000" dirty="0"/>
              <a:t>14</a:t>
            </a:r>
            <a:r>
              <a:rPr lang="en-US" altLang="en-US" dirty="0"/>
              <a:t>:C</a:t>
            </a:r>
            <a:r>
              <a:rPr lang="en-US" altLang="en-US" baseline="30000" dirty="0"/>
              <a:t>12</a:t>
            </a:r>
            <a:r>
              <a:rPr lang="en-US" altLang="en-US" dirty="0"/>
              <a:t>  radioactive </a:t>
            </a:r>
            <a:endParaRPr lang="en-US" altLang="en-US" baseline="30000" dirty="0"/>
          </a:p>
          <a:p>
            <a:r>
              <a:rPr lang="en-US" altLang="en-US" dirty="0"/>
              <a:t>Radiocarbon dates </a:t>
            </a:r>
          </a:p>
          <a:p>
            <a:r>
              <a:rPr lang="en-US" altLang="en-US" dirty="0"/>
              <a:t>Radioactive isotopes with </a:t>
            </a:r>
          </a:p>
          <a:p>
            <a:endParaRPr lang="en-US" altLang="en-US" dirty="0"/>
          </a:p>
          <a:p>
            <a:r>
              <a:rPr lang="en-US" altLang="en-US" dirty="0"/>
              <a:t>However, organisms </a:t>
            </a:r>
          </a:p>
          <a:p>
            <a:endParaRPr lang="en-US" altLang="en-US" dirty="0"/>
          </a:p>
          <a:p>
            <a:r>
              <a:rPr lang="en-US" altLang="en-US" b="1" i="1" dirty="0">
                <a:solidFill>
                  <a:srgbClr val="007AD6"/>
                </a:solidFill>
              </a:rPr>
              <a:t>How do we date fossils &gt;75,000 years old then</a:t>
            </a:r>
            <a:r>
              <a:rPr lang="en-US" altLang="en-US" dirty="0"/>
              <a:t>?</a:t>
            </a:r>
          </a:p>
          <a:p>
            <a:r>
              <a:rPr lang="en-US" altLang="en-US" dirty="0"/>
              <a:t>The age of older fossils can be estimated by using isotopes with </a:t>
            </a:r>
          </a:p>
        </p:txBody>
      </p:sp>
    </p:spTree>
    <p:extLst>
      <p:ext uri="{BB962C8B-B14F-4D97-AF65-F5344CB8AC3E}">
        <p14:creationId xmlns:p14="http://schemas.microsoft.com/office/powerpoint/2010/main" val="398381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5"/>
          <p:cNvSpPr>
            <a:spLocks noGrp="1" noChangeArrowheads="1"/>
          </p:cNvSpPr>
          <p:nvPr>
            <p:ph type="title"/>
          </p:nvPr>
        </p:nvSpPr>
        <p:spPr>
          <a:xfrm>
            <a:off x="0" y="0"/>
            <a:ext cx="9144000" cy="2031325"/>
          </a:xfrm>
        </p:spPr>
        <p:txBody>
          <a:bodyPr/>
          <a:lstStyle/>
          <a:p>
            <a:r>
              <a:rPr lang="en-US" altLang="en-US" dirty="0">
                <a:solidFill>
                  <a:srgbClr val="FF0000"/>
                </a:solidFill>
              </a:rPr>
              <a:t>Concept 25.3: Key events in life</a:t>
            </a:r>
            <a:r>
              <a:rPr lang="ja-JP" altLang="en-US" dirty="0">
                <a:solidFill>
                  <a:srgbClr val="FF0000"/>
                </a:solidFill>
              </a:rPr>
              <a:t>’</a:t>
            </a:r>
            <a:r>
              <a:rPr lang="en-US" altLang="ja-JP" dirty="0">
                <a:solidFill>
                  <a:srgbClr val="FF0000"/>
                </a:solidFill>
              </a:rPr>
              <a:t>s history include the origins of unicellular and multicellular organisms and the colonization of land</a:t>
            </a:r>
            <a:endParaRPr lang="en-US" altLang="en-US" dirty="0">
              <a:solidFill>
                <a:srgbClr val="FF0000"/>
              </a:solidFill>
            </a:endParaRPr>
          </a:p>
        </p:txBody>
      </p:sp>
      <p:sp>
        <p:nvSpPr>
          <p:cNvPr id="198659" name="Rectangle 2"/>
          <p:cNvSpPr>
            <a:spLocks noGrp="1" noChangeArrowheads="1"/>
          </p:cNvSpPr>
          <p:nvPr>
            <p:ph idx="1"/>
          </p:nvPr>
        </p:nvSpPr>
        <p:spPr>
          <a:xfrm>
            <a:off x="152400" y="2133600"/>
            <a:ext cx="8839199" cy="4356496"/>
          </a:xfrm>
        </p:spPr>
        <p:txBody>
          <a:bodyPr/>
          <a:lstStyle/>
          <a:p>
            <a:r>
              <a:rPr lang="en-US" altLang="en-US" dirty="0"/>
              <a:t>The</a:t>
            </a:r>
            <a:r>
              <a:rPr lang="en-US" altLang="en-US" b="1" dirty="0"/>
              <a:t> geologic record</a:t>
            </a:r>
            <a:r>
              <a:rPr lang="en-US" altLang="en-US" dirty="0"/>
              <a:t> is divided into the </a:t>
            </a:r>
          </a:p>
          <a:p>
            <a:endParaRPr lang="en-US" altLang="en-US" dirty="0"/>
          </a:p>
          <a:p>
            <a:r>
              <a:rPr lang="en-US" altLang="en-US" dirty="0"/>
              <a:t>The Phanerozoic eon includes the </a:t>
            </a:r>
          </a:p>
          <a:p>
            <a:endParaRPr lang="en-US" altLang="en-US" dirty="0"/>
          </a:p>
          <a:p>
            <a:r>
              <a:rPr lang="en-US" altLang="en-US" dirty="0"/>
              <a:t>The Phanerozoic is divided into 3 eras: </a:t>
            </a:r>
          </a:p>
          <a:p>
            <a:endParaRPr lang="en-US" altLang="en-US" dirty="0"/>
          </a:p>
          <a:p>
            <a:r>
              <a:rPr lang="en-US" altLang="en-US" dirty="0"/>
              <a:t>Major boundaries between eras correspond to major </a:t>
            </a:r>
          </a:p>
        </p:txBody>
      </p:sp>
    </p:spTree>
    <p:extLst>
      <p:ext uri="{BB962C8B-B14F-4D97-AF65-F5344CB8AC3E}">
        <p14:creationId xmlns:p14="http://schemas.microsoft.com/office/powerpoint/2010/main" val="261428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next era the Paleozoic, which has six Periods. The The next era is the Mesozoic. It has three periods, none of which are divided into epochs. The first period is the cretaceous, from 65.5 to 145.5 million years ago. Flowering plants (angiosperms) appear and diversify, many groups of organisms, including most dinosaurs, become extinct at the end of the period. The Jurassic (from 145.5 to 199.6 million years ago) has gymnosperms continuing as the dominant plants, dinosaurs are abundant and diverse. The Triassic (from 199.6 to 251 million years ago), and has cone bearing plants (gymnosperms) dominating the landscape. Dinosaurs evolve and radiate. The origin of mammals occurs. This is the end of the Mesozoic Era. The Proterozoic eon ends at just over 0.5 billion years ago, with the beginning of the Paleozoic. Colonization of land occurs at 0.5 billion years ago, and the Paleozoic ends at just over 0.25 billion years ago with the start of the Mesozoic. The Mesozoic ends at 0.07 billion years ago with the start of the Cenozoic. A very thin bar, shown as a small sliver that is barely seen, shows the presence of humans. The next period is the Paleogene, which has three epochs. The first is the Oligocene, from 23 to 33.9 million years ago, and has the origns of many primate groups, with a drawing of a monkey. The next epoch is the Eocene, from 33.9 to 55.8 million years ago. In this epoch, Angiosperm dominance increases, and there is a continued radiation of most present-day mammalian orders. A drawing shows a flower. The last epoch in this period is Paleocene, from 55. To 65.5 million years ago. There is a major radiation of mammals, birds, and pollinating insects. A drawing shows a large, four legged mammal. This is the end of the Cenozoic era.&#10;" title="Table 25.1b The geologic record (part 2: Mesozoic era and Cenozoic era)"/>
          <p:cNvPicPr>
            <a:picLocks noChangeAspect="1"/>
          </p:cNvPicPr>
          <p:nvPr/>
        </p:nvPicPr>
        <p:blipFill>
          <a:blip r:embed="rId3" r:link="rId4">
            <a:extLst>
              <a:ext uri="{28A0092B-C50C-407E-A947-70E740481C1C}">
                <a14:useLocalDpi xmlns:a14="http://schemas.microsoft.com/office/drawing/2010/main" val="0"/>
              </a:ext>
            </a:extLst>
          </a:blip>
          <a:srcRect b="2418"/>
          <a:stretch>
            <a:fillRect/>
          </a:stretch>
        </p:blipFill>
        <p:spPr>
          <a:xfrm>
            <a:off x="521208" y="353568"/>
            <a:ext cx="8546592" cy="6150864"/>
          </a:xfrm>
          <a:prstGeom prst="rect">
            <a:avLst/>
          </a:prstGeom>
        </p:spPr>
      </p:pic>
      <p:sp>
        <p:nvSpPr>
          <p:cNvPr id="5" name="Title 4"/>
          <p:cNvSpPr>
            <a:spLocks noGrp="1"/>
          </p:cNvSpPr>
          <p:nvPr>
            <p:ph type="title"/>
          </p:nvPr>
        </p:nvSpPr>
        <p:spPr/>
        <p:txBody>
          <a:bodyPr/>
          <a:lstStyle/>
          <a:p>
            <a:r>
              <a:rPr lang="en-US" dirty="0"/>
              <a:t>Table 25.1b</a:t>
            </a:r>
          </a:p>
        </p:txBody>
      </p:sp>
      <p:sp>
        <p:nvSpPr>
          <p:cNvPr id="3" name="TextBox 2"/>
          <p:cNvSpPr txBox="1"/>
          <p:nvPr/>
        </p:nvSpPr>
        <p:spPr>
          <a:xfrm rot="16200000">
            <a:off x="-2647176" y="3400699"/>
            <a:ext cx="5867404" cy="461665"/>
          </a:xfrm>
          <a:prstGeom prst="rect">
            <a:avLst/>
          </a:prstGeom>
          <a:noFill/>
        </p:spPr>
        <p:txBody>
          <a:bodyPr wrap="square" rtlCol="0">
            <a:spAutoFit/>
          </a:bodyPr>
          <a:lstStyle/>
          <a:p>
            <a:pPr algn="ctr"/>
            <a:r>
              <a:rPr lang="en-US" altLang="en-US" dirty="0"/>
              <a:t> &lt;&lt;&lt;&lt;&lt;&lt;&lt;&lt;&lt; </a:t>
            </a:r>
            <a:r>
              <a:rPr lang="en-US" altLang="en-US" dirty="0">
                <a:solidFill>
                  <a:srgbClr val="FF0000"/>
                </a:solidFill>
              </a:rPr>
              <a:t>Phanerozoic eon </a:t>
            </a:r>
            <a:r>
              <a:rPr lang="en-US" altLang="en-US" dirty="0"/>
              <a:t>&gt;&gt;&gt;&gt;&gt;&gt;&gt;&gt;</a:t>
            </a:r>
            <a:endParaRPr lang="en-US" dirty="0"/>
          </a:p>
        </p:txBody>
      </p:sp>
      <p:sp>
        <p:nvSpPr>
          <p:cNvPr id="4" name="TextBox 3"/>
          <p:cNvSpPr txBox="1"/>
          <p:nvPr/>
        </p:nvSpPr>
        <p:spPr>
          <a:xfrm>
            <a:off x="517359" y="381000"/>
            <a:ext cx="8398041" cy="461665"/>
          </a:xfrm>
          <a:prstGeom prst="rect">
            <a:avLst/>
          </a:prstGeom>
          <a:noFill/>
        </p:spPr>
        <p:txBody>
          <a:bodyPr wrap="square" rtlCol="0">
            <a:spAutoFit/>
          </a:bodyPr>
          <a:lstStyle/>
          <a:p>
            <a:pPr algn="ctr"/>
            <a:r>
              <a:rPr lang="en-US" b="1" dirty="0">
                <a:solidFill>
                  <a:srgbClr val="00B050"/>
                </a:solidFill>
              </a:rPr>
              <a:t>PRESENT DAY</a:t>
            </a:r>
          </a:p>
        </p:txBody>
      </p:sp>
    </p:spTree>
    <p:extLst>
      <p:ext uri="{BB962C8B-B14F-4D97-AF65-F5344CB8AC3E}">
        <p14:creationId xmlns:p14="http://schemas.microsoft.com/office/powerpoint/2010/main" val="155604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034" y="12032"/>
            <a:ext cx="9144000" cy="600164"/>
          </a:xfrm>
        </p:spPr>
        <p:txBody>
          <a:bodyPr/>
          <a:lstStyle/>
          <a:p>
            <a:r>
              <a:rPr lang="en-US" dirty="0">
                <a:solidFill>
                  <a:schemeClr val="bg1"/>
                </a:solidFill>
              </a:rPr>
              <a:t>19</a:t>
            </a:r>
          </a:p>
        </p:txBody>
      </p:sp>
      <p:pic>
        <p:nvPicPr>
          <p:cNvPr id="2" name="Picture 1" descr="The next era the Paleozoic, which has six Periods. The Permian, from 251 to 299 million years ago, has the radiation of reptiles, the origin of most present-day groups of insects, extinction of many marine and terrestrial organisms at the end of the period. In the Carboniferous, from 299 to 359 million years ago, extensive forests of vascular plants form. First seed plants appear, the origin of reptiles occurs, and amphibians dominant. The Devonian (from 359 to 416 million year ago) has the diversification of bony fishes, the first tetrapods and insects appear. The Silurian (from 416 to 444 million years ago) has the diversification of early vascular plants. The Ordovician (from 444 to 488 million years ago) has marine algae abundant, colonization of land by diverse fungi, plant and animals. The last Period is the Cambrian, from 488 to 542 million years ago. There is a sudden increase in diversity of many animal phyla (Cambrian explosion). This is the end of the Paleozoic era, and the end of the Phanerozoic Eon.&#10;" title="Table 25.1a The geologic record (part 1: Hadean eon through Paleozoic era)"/>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a:xfrm>
            <a:off x="902181" y="28876"/>
            <a:ext cx="8174736" cy="6431280"/>
          </a:xfrm>
          <a:prstGeom prst="rect">
            <a:avLst/>
          </a:prstGeom>
        </p:spPr>
      </p:pic>
      <p:sp>
        <p:nvSpPr>
          <p:cNvPr id="4" name="TextBox 3"/>
          <p:cNvSpPr txBox="1"/>
          <p:nvPr/>
        </p:nvSpPr>
        <p:spPr>
          <a:xfrm rot="16200000">
            <a:off x="-1170845" y="1796488"/>
            <a:ext cx="3717759" cy="461665"/>
          </a:xfrm>
          <a:prstGeom prst="rect">
            <a:avLst/>
          </a:prstGeom>
          <a:noFill/>
        </p:spPr>
        <p:txBody>
          <a:bodyPr wrap="square" rtlCol="0">
            <a:spAutoFit/>
          </a:bodyPr>
          <a:lstStyle/>
          <a:p>
            <a:pPr algn="r"/>
            <a:r>
              <a:rPr lang="en-US" altLang="en-US" dirty="0"/>
              <a:t>&lt;&lt;&lt; </a:t>
            </a:r>
            <a:r>
              <a:rPr lang="en-US" altLang="en-US" dirty="0">
                <a:solidFill>
                  <a:srgbClr val="FF0000"/>
                </a:solidFill>
              </a:rPr>
              <a:t>Phanerozoic eon </a:t>
            </a:r>
            <a:r>
              <a:rPr lang="en-US" altLang="en-US" dirty="0"/>
              <a:t>&gt;&gt;&gt;  </a:t>
            </a:r>
            <a:endParaRPr lang="en-US" dirty="0"/>
          </a:p>
        </p:txBody>
      </p:sp>
      <p:sp>
        <p:nvSpPr>
          <p:cNvPr id="6" name="TextBox 5"/>
          <p:cNvSpPr txBox="1"/>
          <p:nvPr/>
        </p:nvSpPr>
        <p:spPr>
          <a:xfrm>
            <a:off x="902182" y="6412377"/>
            <a:ext cx="8174736" cy="461665"/>
          </a:xfrm>
          <a:prstGeom prst="rect">
            <a:avLst/>
          </a:prstGeom>
          <a:noFill/>
        </p:spPr>
        <p:txBody>
          <a:bodyPr wrap="square" rtlCol="0">
            <a:spAutoFit/>
          </a:bodyPr>
          <a:lstStyle/>
          <a:p>
            <a:pPr algn="ctr"/>
            <a:r>
              <a:rPr lang="en-US" b="1" dirty="0">
                <a:solidFill>
                  <a:srgbClr val="00B050"/>
                </a:solidFill>
              </a:rPr>
              <a:t>ORIGIN OF EARTH</a:t>
            </a:r>
          </a:p>
        </p:txBody>
      </p:sp>
      <p:grpSp>
        <p:nvGrpSpPr>
          <p:cNvPr id="9" name="Group 8" descr="Hadean, Archaean, and Proterozoic eons"/>
          <p:cNvGrpSpPr/>
          <p:nvPr/>
        </p:nvGrpSpPr>
        <p:grpSpPr>
          <a:xfrm>
            <a:off x="30034" y="3921345"/>
            <a:ext cx="923330" cy="2621230"/>
            <a:chOff x="30034" y="3921345"/>
            <a:chExt cx="923330" cy="2621230"/>
          </a:xfrm>
        </p:grpSpPr>
        <p:sp>
          <p:nvSpPr>
            <p:cNvPr id="7" name="Rectangle 6"/>
            <p:cNvSpPr/>
            <p:nvPr/>
          </p:nvSpPr>
          <p:spPr>
            <a:xfrm rot="16200000">
              <a:off x="-719080" y="4787714"/>
              <a:ext cx="2421558" cy="923330"/>
            </a:xfrm>
            <a:prstGeom prst="rect">
              <a:avLst/>
            </a:prstGeom>
          </p:spPr>
          <p:txBody>
            <a:bodyPr wrap="square">
              <a:spAutoFit/>
            </a:bodyPr>
            <a:lstStyle/>
            <a:p>
              <a:pPr algn="ctr"/>
              <a:r>
                <a:rPr lang="en-US" altLang="en-US" sz="1800" b="1" dirty="0">
                  <a:solidFill>
                    <a:srgbClr val="FF0000"/>
                  </a:solidFill>
                </a:rPr>
                <a:t>Hadean</a:t>
              </a:r>
              <a:r>
                <a:rPr lang="en-US" altLang="en-US" sz="1800" b="1" dirty="0"/>
                <a:t>,</a:t>
              </a:r>
            </a:p>
            <a:p>
              <a:pPr algn="ctr"/>
              <a:r>
                <a:rPr lang="en-US" altLang="en-US" sz="1800" b="1" dirty="0">
                  <a:solidFill>
                    <a:srgbClr val="FF0000"/>
                  </a:solidFill>
                </a:rPr>
                <a:t>Archaean</a:t>
              </a:r>
              <a:r>
                <a:rPr lang="en-US" altLang="en-US" sz="1800" b="1" dirty="0"/>
                <a:t>,</a:t>
              </a:r>
            </a:p>
            <a:p>
              <a:pPr algn="ctr"/>
              <a:r>
                <a:rPr lang="en-US" altLang="en-US" sz="1800" b="1" dirty="0">
                  <a:solidFill>
                    <a:srgbClr val="FF0000"/>
                  </a:solidFill>
                </a:rPr>
                <a:t>Proterozoic eons</a:t>
              </a:r>
              <a:endParaRPr lang="en-US" sz="1800" b="1" dirty="0">
                <a:solidFill>
                  <a:srgbClr val="FF0000"/>
                </a:solidFill>
              </a:endParaRPr>
            </a:p>
          </p:txBody>
        </p:sp>
        <p:sp>
          <p:nvSpPr>
            <p:cNvPr id="8" name="TextBox 7"/>
            <p:cNvSpPr txBox="1"/>
            <p:nvPr/>
          </p:nvSpPr>
          <p:spPr>
            <a:xfrm rot="16200000">
              <a:off x="-807522" y="5001127"/>
              <a:ext cx="2621230" cy="461665"/>
            </a:xfrm>
            <a:prstGeom prst="rect">
              <a:avLst/>
            </a:prstGeom>
            <a:noFill/>
          </p:spPr>
          <p:txBody>
            <a:bodyPr wrap="none" rtlCol="0">
              <a:spAutoFit/>
            </a:bodyPr>
            <a:lstStyle/>
            <a:p>
              <a:r>
                <a:rPr lang="en-US" dirty="0"/>
                <a:t>&lt;&lt;&lt; </a:t>
              </a:r>
              <a:r>
                <a:rPr lang="en-US" dirty="0">
                  <a:solidFill>
                    <a:srgbClr val="FF0000"/>
                  </a:solidFill>
                </a:rPr>
                <a:t>             </a:t>
              </a:r>
              <a:r>
                <a:rPr lang="en-US" dirty="0"/>
                <a:t>  &gt;&gt;&gt;</a:t>
              </a:r>
            </a:p>
          </p:txBody>
        </p:sp>
      </p:grpSp>
    </p:spTree>
    <p:extLst>
      <p:ext uri="{BB962C8B-B14F-4D97-AF65-F5344CB8AC3E}">
        <p14:creationId xmlns:p14="http://schemas.microsoft.com/office/powerpoint/2010/main" val="2109141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20</a:t>
            </a:r>
          </a:p>
        </p:txBody>
      </p:sp>
      <p:sp>
        <p:nvSpPr>
          <p:cNvPr id="206850" name="Rectangle 2"/>
          <p:cNvSpPr>
            <a:spLocks noGrp="1" noChangeArrowheads="1"/>
          </p:cNvSpPr>
          <p:nvPr>
            <p:ph idx="4294967295"/>
          </p:nvPr>
        </p:nvSpPr>
        <p:spPr>
          <a:xfrm>
            <a:off x="152400" y="152400"/>
            <a:ext cx="8839200" cy="1371600"/>
          </a:xfrm>
        </p:spPr>
        <p:txBody>
          <a:bodyPr/>
          <a:lstStyle/>
          <a:p>
            <a:r>
              <a:rPr lang="en-US" altLang="en-US" dirty="0"/>
              <a:t>The analogy of a clock can be used to place the major events in the </a:t>
            </a:r>
          </a:p>
        </p:txBody>
      </p:sp>
      <p:pic>
        <p:nvPicPr>
          <p:cNvPr id="1026" name="Picture 2" descr="A portion of a circular chart is shown, representing the timeline of the earth’s history. The eons are labeled, as are the time (units of billions of years ago), and the changes on the planet that relate to life on the plan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00200"/>
            <a:ext cx="5923464" cy="5014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0" y="5657671"/>
            <a:ext cx="2831432" cy="1200329"/>
          </a:xfrm>
          <a:prstGeom prst="rect">
            <a:avLst/>
          </a:prstGeom>
          <a:solidFill>
            <a:srgbClr val="FFFF00"/>
          </a:solidFill>
        </p:spPr>
        <p:txBody>
          <a:bodyPr wrap="square" rtlCol="0">
            <a:spAutoFit/>
          </a:bodyPr>
          <a:lstStyle/>
          <a:p>
            <a:r>
              <a:rPr lang="en-US" sz="1800" dirty="0"/>
              <a:t>The appearance and order of </a:t>
            </a:r>
            <a:r>
              <a:rPr lang="en-US" sz="1800"/>
              <a:t>these 8 events </a:t>
            </a:r>
            <a:r>
              <a:rPr lang="en-US" sz="1800" dirty="0"/>
              <a:t>is important.  You should know these for the EXAM.</a:t>
            </a:r>
          </a:p>
        </p:txBody>
      </p:sp>
    </p:spTree>
    <p:extLst>
      <p:ext uri="{BB962C8B-B14F-4D97-AF65-F5344CB8AC3E}">
        <p14:creationId xmlns:p14="http://schemas.microsoft.com/office/powerpoint/2010/main" val="1567195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US" altLang="en-US"/>
              <a:t>The First Single-Celled Organisms</a:t>
            </a:r>
          </a:p>
        </p:txBody>
      </p:sp>
      <p:sp>
        <p:nvSpPr>
          <p:cNvPr id="215043" name="Rectangle 3"/>
          <p:cNvSpPr>
            <a:spLocks noGrp="1" noChangeArrowheads="1"/>
          </p:cNvSpPr>
          <p:nvPr>
            <p:ph idx="1"/>
          </p:nvPr>
        </p:nvSpPr>
        <p:spPr>
          <a:xfrm>
            <a:off x="152400" y="646331"/>
            <a:ext cx="8839199" cy="5843765"/>
          </a:xfrm>
        </p:spPr>
        <p:txBody>
          <a:bodyPr/>
          <a:lstStyle/>
          <a:p>
            <a:r>
              <a:rPr lang="en-US" altLang="en-US" dirty="0"/>
              <a:t>The oldest known fossils are </a:t>
            </a:r>
            <a:r>
              <a:rPr lang="en-US" altLang="en-US" b="1" dirty="0"/>
              <a:t>stromatolites</a:t>
            </a:r>
            <a:r>
              <a:rPr lang="en-US" altLang="en-US" dirty="0"/>
              <a:t>, rocks formed by the accumulation of </a:t>
            </a:r>
          </a:p>
          <a:p>
            <a:endParaRPr lang="en-US" altLang="en-US" dirty="0"/>
          </a:p>
          <a:p>
            <a:r>
              <a:rPr lang="en-US" altLang="en-US" dirty="0"/>
              <a:t> </a:t>
            </a:r>
          </a:p>
          <a:p>
            <a:r>
              <a:rPr lang="en-US" altLang="en-US" dirty="0"/>
              <a:t>Prokaryotes were Earth</a:t>
            </a:r>
            <a:r>
              <a:rPr lang="ja-JP" altLang="en-US" dirty="0"/>
              <a:t>’</a:t>
            </a:r>
            <a:r>
              <a:rPr lang="en-US" altLang="ja-JP" dirty="0"/>
              <a:t>s sole </a:t>
            </a:r>
            <a:endParaRPr lang="en-US" altLang="en-US" dirty="0"/>
          </a:p>
        </p:txBody>
      </p:sp>
      <p:pic>
        <p:nvPicPr>
          <p:cNvPr id="2" name="Picture 1" descr="A circular chart is shown, representing the timeline of the earth’s history. The time (units of billions of years ago) is shown. The portion of the chart showing the presence of prokaryotes, which extends from 3.75 billion years ago to the present.">
            <a:extLst>
              <a:ext uri="{FF2B5EF4-FFF2-40B4-BE49-F238E27FC236}">
                <a16:creationId xmlns:a16="http://schemas.microsoft.com/office/drawing/2014/main" id="{B3B3A98F-C2E5-42D3-895F-0D88B23B1611}"/>
              </a:ext>
            </a:extLst>
          </p:cNvPr>
          <p:cNvPicPr>
            <a:picLocks noChangeAspect="1"/>
          </p:cNvPicPr>
          <p:nvPr/>
        </p:nvPicPr>
        <p:blipFill>
          <a:blip r:embed="rId3"/>
          <a:stretch>
            <a:fillRect/>
          </a:stretch>
        </p:blipFill>
        <p:spPr>
          <a:xfrm>
            <a:off x="576942" y="3614058"/>
            <a:ext cx="3810000" cy="3184477"/>
          </a:xfrm>
          <a:prstGeom prst="rect">
            <a:avLst/>
          </a:prstGeom>
        </p:spPr>
      </p:pic>
      <p:pic>
        <p:nvPicPr>
          <p:cNvPr id="4" name="Picture 3" descr="Picture of a stromatolite">
            <a:extLst>
              <a:ext uri="{FF2B5EF4-FFF2-40B4-BE49-F238E27FC236}">
                <a16:creationId xmlns:a16="http://schemas.microsoft.com/office/drawing/2014/main" id="{0CB638CD-A13F-48EE-9205-8D090B332D10}"/>
              </a:ext>
            </a:extLst>
          </p:cNvPr>
          <p:cNvPicPr>
            <a:picLocks noChangeAspect="1"/>
          </p:cNvPicPr>
          <p:nvPr/>
        </p:nvPicPr>
        <p:blipFill>
          <a:blip r:embed="rId4"/>
          <a:stretch>
            <a:fillRect/>
          </a:stretch>
        </p:blipFill>
        <p:spPr>
          <a:xfrm>
            <a:off x="4909458" y="3746896"/>
            <a:ext cx="3657600" cy="2743200"/>
          </a:xfrm>
          <a:prstGeom prst="rect">
            <a:avLst/>
          </a:prstGeom>
        </p:spPr>
      </p:pic>
    </p:spTree>
    <p:extLst>
      <p:ext uri="{BB962C8B-B14F-4D97-AF65-F5344CB8AC3E}">
        <p14:creationId xmlns:p14="http://schemas.microsoft.com/office/powerpoint/2010/main" val="2096234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0" y="0"/>
            <a:ext cx="9144000" cy="646331"/>
          </a:xfrm>
        </p:spPr>
        <p:txBody>
          <a:bodyPr/>
          <a:lstStyle/>
          <a:p>
            <a:r>
              <a:rPr lang="en-US" altLang="en-US" i="1"/>
              <a:t>Photosynthesis and the Oxygen Revolution</a:t>
            </a:r>
            <a:endParaRPr lang="en-US" altLang="en-US"/>
          </a:p>
        </p:txBody>
      </p:sp>
      <p:sp>
        <p:nvSpPr>
          <p:cNvPr id="219139" name="Rectangle 3"/>
          <p:cNvSpPr>
            <a:spLocks noGrp="1" noChangeArrowheads="1"/>
          </p:cNvSpPr>
          <p:nvPr>
            <p:ph idx="1"/>
          </p:nvPr>
        </p:nvSpPr>
        <p:spPr>
          <a:xfrm>
            <a:off x="152400" y="646331"/>
            <a:ext cx="8839199" cy="5843765"/>
          </a:xfrm>
        </p:spPr>
        <p:txBody>
          <a:bodyPr/>
          <a:lstStyle/>
          <a:p>
            <a:r>
              <a:rPr lang="en-US" altLang="en-US" dirty="0"/>
              <a:t>Most atmospheric </a:t>
            </a:r>
          </a:p>
          <a:p>
            <a:r>
              <a:rPr lang="en-US" altLang="en-US" dirty="0"/>
              <a:t>O</a:t>
            </a:r>
            <a:r>
              <a:rPr lang="en-US" altLang="en-US" baseline="-25000" dirty="0"/>
              <a:t>2</a:t>
            </a:r>
            <a:r>
              <a:rPr lang="en-US" altLang="en-US" dirty="0"/>
              <a:t> produced by oxygenic photosynthesis reacted with </a:t>
            </a:r>
          </a:p>
        </p:txBody>
      </p:sp>
      <p:pic>
        <p:nvPicPr>
          <p:cNvPr id="2" name="Picture 1" descr="A circular chart is shown, representing the timeline of the earth’s history. The time (units of billions of years ago) is shown. The portion of the chart showing the presence of atmospheric oxygen, which extends from 2.75 billion years ago to the present.">
            <a:extLst>
              <a:ext uri="{FF2B5EF4-FFF2-40B4-BE49-F238E27FC236}">
                <a16:creationId xmlns:a16="http://schemas.microsoft.com/office/drawing/2014/main" id="{45591E4B-D40C-4FEE-8383-1FABBA37CF50}"/>
              </a:ext>
            </a:extLst>
          </p:cNvPr>
          <p:cNvPicPr>
            <a:picLocks noChangeAspect="1"/>
          </p:cNvPicPr>
          <p:nvPr/>
        </p:nvPicPr>
        <p:blipFill>
          <a:blip r:embed="rId3"/>
          <a:stretch>
            <a:fillRect/>
          </a:stretch>
        </p:blipFill>
        <p:spPr>
          <a:xfrm>
            <a:off x="514350" y="2590800"/>
            <a:ext cx="5276850" cy="4147419"/>
          </a:xfrm>
          <a:prstGeom prst="rect">
            <a:avLst/>
          </a:prstGeom>
        </p:spPr>
      </p:pic>
      <p:pic>
        <p:nvPicPr>
          <p:cNvPr id="4" name="Picture 3" descr="Picture of rocks with iron ore oxidation taking place">
            <a:extLst>
              <a:ext uri="{FF2B5EF4-FFF2-40B4-BE49-F238E27FC236}">
                <a16:creationId xmlns:a16="http://schemas.microsoft.com/office/drawing/2014/main" id="{5ADB7863-4546-42A3-A575-A2FE69237F57}"/>
              </a:ext>
            </a:extLst>
          </p:cNvPr>
          <p:cNvPicPr>
            <a:picLocks noChangeAspect="1"/>
          </p:cNvPicPr>
          <p:nvPr/>
        </p:nvPicPr>
        <p:blipFill>
          <a:blip r:embed="rId4"/>
          <a:stretch>
            <a:fillRect/>
          </a:stretch>
        </p:blipFill>
        <p:spPr>
          <a:xfrm>
            <a:off x="4386942" y="2590800"/>
            <a:ext cx="4572000" cy="3036570"/>
          </a:xfrm>
          <a:prstGeom prst="rect">
            <a:avLst/>
          </a:prstGeom>
        </p:spPr>
      </p:pic>
    </p:spTree>
    <p:extLst>
      <p:ext uri="{BB962C8B-B14F-4D97-AF65-F5344CB8AC3E}">
        <p14:creationId xmlns:p14="http://schemas.microsoft.com/office/powerpoint/2010/main" val="1611336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23</a:t>
            </a:r>
          </a:p>
        </p:txBody>
      </p:sp>
      <p:sp>
        <p:nvSpPr>
          <p:cNvPr id="223234" name="Rectangle 2"/>
          <p:cNvSpPr>
            <a:spLocks noGrp="1" noChangeArrowheads="1"/>
          </p:cNvSpPr>
          <p:nvPr>
            <p:ph idx="4294967295"/>
          </p:nvPr>
        </p:nvSpPr>
        <p:spPr>
          <a:xfrm>
            <a:off x="152400" y="76200"/>
            <a:ext cx="8839200" cy="5216525"/>
          </a:xfrm>
        </p:spPr>
        <p:txBody>
          <a:bodyPr/>
          <a:lstStyle/>
          <a:p>
            <a:r>
              <a:rPr lang="en-US" altLang="en-US" dirty="0"/>
              <a:t>O</a:t>
            </a:r>
            <a:r>
              <a:rPr lang="en-US" altLang="en-US" baseline="-25000" dirty="0"/>
              <a:t>2</a:t>
            </a:r>
            <a:r>
              <a:rPr lang="en-US" altLang="en-US" dirty="0"/>
              <a:t> accumulated gradually in the atmosphere from about 2.7 to 2.4 BYA, and then shot </a:t>
            </a:r>
          </a:p>
          <a:p>
            <a:endParaRPr lang="en-US" altLang="en-US" dirty="0"/>
          </a:p>
          <a:p>
            <a:r>
              <a:rPr lang="en-US" altLang="en-US" dirty="0"/>
              <a:t>This </a:t>
            </a:r>
            <a:r>
              <a:rPr lang="ja-JP" altLang="en-US" dirty="0"/>
              <a:t>“</a:t>
            </a:r>
            <a:r>
              <a:rPr lang="en-US" altLang="ja-JP" dirty="0"/>
              <a:t>oxygen revolution” caused </a:t>
            </a:r>
          </a:p>
          <a:p>
            <a:endParaRPr lang="en-US" altLang="ja-JP" dirty="0"/>
          </a:p>
          <a:p>
            <a:r>
              <a:rPr lang="en-US" altLang="en-US" dirty="0"/>
              <a:t>Some groups survived in anaerobic environments; others </a:t>
            </a:r>
          </a:p>
        </p:txBody>
      </p:sp>
      <p:pic>
        <p:nvPicPr>
          <p:cNvPr id="4" name="Picture 3" descr="A graph is shown. On the x-axis, the time is shown with the units of billions of years ago, and extends from over four billion years ago to the present. The y-axis shows the Atmospheric O subscript 2, in units of percent of present-day levels, on a log scale. The axis extends from 0.0001 to 1000. Beginning at over four billion years ago, the amount of atmospheric oxygen of between 0.0001 and 0.001 percent. This remains constant until 2.7 billion years ago, when there is a rapid increase in atmospheric oxygen which reaches 8 to 9% by 2.2 billion years ago. This period is labeled the Oxygen Revolution. The amount of atmospheric oxygen remains constant until about 0.75 billion years ago, when it increases to 100%. After this point, the amount of atmospheric oxygen oscillates around 100% until the present time.">
            <a:extLst>
              <a:ext uri="{FF2B5EF4-FFF2-40B4-BE49-F238E27FC236}">
                <a16:creationId xmlns:a16="http://schemas.microsoft.com/office/drawing/2014/main" id="{59FE590C-B23C-446D-89C5-A8540EC73C40}"/>
              </a:ext>
            </a:extLst>
          </p:cNvPr>
          <p:cNvPicPr>
            <a:picLocks noChangeAspect="1"/>
          </p:cNvPicPr>
          <p:nvPr/>
        </p:nvPicPr>
        <p:blipFill>
          <a:blip r:embed="rId3"/>
          <a:stretch>
            <a:fillRect/>
          </a:stretch>
        </p:blipFill>
        <p:spPr>
          <a:xfrm>
            <a:off x="2395450" y="3688704"/>
            <a:ext cx="4314825" cy="3169296"/>
          </a:xfrm>
          <a:prstGeom prst="rect">
            <a:avLst/>
          </a:prstGeom>
        </p:spPr>
      </p:pic>
    </p:spTree>
    <p:extLst>
      <p:ext uri="{BB962C8B-B14F-4D97-AF65-F5344CB8AC3E}">
        <p14:creationId xmlns:p14="http://schemas.microsoft.com/office/powerpoint/2010/main" val="1785142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icture of the endosymbiotic process in a step-wise fashion">
            <a:extLst>
              <a:ext uri="{FF2B5EF4-FFF2-40B4-BE49-F238E27FC236}">
                <a16:creationId xmlns:a16="http://schemas.microsoft.com/office/drawing/2014/main" id="{87D33D3F-A148-47CE-9010-0CC0B8081846}"/>
              </a:ext>
            </a:extLst>
          </p:cNvPr>
          <p:cNvPicPr>
            <a:picLocks noChangeAspect="1"/>
          </p:cNvPicPr>
          <p:nvPr/>
        </p:nvPicPr>
        <p:blipFill>
          <a:blip r:embed="rId3"/>
          <a:stretch>
            <a:fillRect/>
          </a:stretch>
        </p:blipFill>
        <p:spPr>
          <a:xfrm>
            <a:off x="0" y="4279392"/>
            <a:ext cx="9144000" cy="2578608"/>
          </a:xfrm>
          <a:prstGeom prst="rect">
            <a:avLst/>
          </a:prstGeom>
        </p:spPr>
      </p:pic>
      <p:sp>
        <p:nvSpPr>
          <p:cNvPr id="227330" name="Rectangle 2"/>
          <p:cNvSpPr>
            <a:spLocks noGrp="1" noChangeArrowheads="1"/>
          </p:cNvSpPr>
          <p:nvPr>
            <p:ph type="title"/>
          </p:nvPr>
        </p:nvSpPr>
        <p:spPr/>
        <p:txBody>
          <a:bodyPr/>
          <a:lstStyle/>
          <a:p>
            <a:r>
              <a:rPr lang="en-US" altLang="en-US" i="1"/>
              <a:t>The First Eukaryotes</a:t>
            </a:r>
            <a:endParaRPr lang="en-US" altLang="en-US"/>
          </a:p>
        </p:txBody>
      </p:sp>
      <p:sp>
        <p:nvSpPr>
          <p:cNvPr id="227331" name="Rectangle 3"/>
          <p:cNvSpPr>
            <a:spLocks noGrp="1" noChangeArrowheads="1"/>
          </p:cNvSpPr>
          <p:nvPr>
            <p:ph idx="1"/>
          </p:nvPr>
        </p:nvSpPr>
        <p:spPr>
          <a:xfrm>
            <a:off x="76200" y="596504"/>
            <a:ext cx="8991600" cy="5499496"/>
          </a:xfrm>
        </p:spPr>
        <p:txBody>
          <a:bodyPr/>
          <a:lstStyle/>
          <a:p>
            <a:r>
              <a:rPr lang="en-US" altLang="en-US" dirty="0"/>
              <a:t>The oldest fossils of </a:t>
            </a:r>
          </a:p>
          <a:p>
            <a:r>
              <a:rPr lang="en-US" altLang="en-US" dirty="0"/>
              <a:t>Eukaryotic cells have a </a:t>
            </a:r>
          </a:p>
          <a:p>
            <a:endParaRPr lang="en-US" altLang="en-US" dirty="0"/>
          </a:p>
          <a:p>
            <a:r>
              <a:rPr lang="en-US" altLang="en-US" dirty="0"/>
              <a:t>Eukaryotes originated by </a:t>
            </a:r>
            <a:r>
              <a:rPr lang="en-US" altLang="en-US" b="1" dirty="0"/>
              <a:t>endosymbiosis</a:t>
            </a:r>
            <a:r>
              <a:rPr lang="en-US" altLang="en-US" dirty="0"/>
              <a:t> when a prokaryotic cell engulfed a </a:t>
            </a:r>
          </a:p>
          <a:p>
            <a:endParaRPr lang="en-US" altLang="en-US" dirty="0"/>
          </a:p>
          <a:p>
            <a:r>
              <a:rPr lang="en-US" altLang="en-US" dirty="0"/>
              <a:t>An endosymbiont is a</a:t>
            </a:r>
          </a:p>
        </p:txBody>
      </p:sp>
    </p:spTree>
    <p:extLst>
      <p:ext uri="{BB962C8B-B14F-4D97-AF65-F5344CB8AC3E}">
        <p14:creationId xmlns:p14="http://schemas.microsoft.com/office/powerpoint/2010/main" val="3791121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2" y="0"/>
            <a:ext cx="9144000" cy="600164"/>
          </a:xfrm>
        </p:spPr>
        <p:txBody>
          <a:bodyPr/>
          <a:lstStyle/>
          <a:p>
            <a:r>
              <a:rPr lang="en-US" dirty="0">
                <a:solidFill>
                  <a:schemeClr val="bg1"/>
                </a:solidFill>
              </a:rPr>
              <a:t>25</a:t>
            </a:r>
          </a:p>
        </p:txBody>
      </p:sp>
      <p:sp>
        <p:nvSpPr>
          <p:cNvPr id="231426" name="Rectangle 2"/>
          <p:cNvSpPr>
            <a:spLocks noGrp="1" noChangeArrowheads="1"/>
          </p:cNvSpPr>
          <p:nvPr>
            <p:ph idx="4294967295"/>
          </p:nvPr>
        </p:nvSpPr>
        <p:spPr>
          <a:xfrm>
            <a:off x="152400" y="215900"/>
            <a:ext cx="8839200" cy="6489700"/>
          </a:xfrm>
        </p:spPr>
        <p:txBody>
          <a:bodyPr/>
          <a:lstStyle/>
          <a:p>
            <a:r>
              <a:rPr lang="en-US" altLang="en-US" dirty="0"/>
              <a:t>Anaerobic host cells would have benefited from endosymbionts that could </a:t>
            </a:r>
          </a:p>
          <a:p>
            <a:endParaRPr lang="en-US" altLang="en-US" dirty="0"/>
          </a:p>
          <a:p>
            <a:r>
              <a:rPr lang="en-US" altLang="en-US" dirty="0"/>
              <a:t>Over time, the host and endosymbionts would have become </a:t>
            </a:r>
          </a:p>
          <a:p>
            <a:r>
              <a:rPr lang="en-US" altLang="en-US" dirty="0"/>
              <a:t>All eukaryotes have mitochondria or remnants of mitochondria, but </a:t>
            </a:r>
          </a:p>
          <a:p>
            <a:r>
              <a:rPr lang="en-US" altLang="en-US" b="1" dirty="0"/>
              <a:t>Serial endosymbiosis </a:t>
            </a:r>
            <a:r>
              <a:rPr lang="en-US" altLang="en-US" dirty="0"/>
              <a:t>supposes that mitochondria evolved before plastids through </a:t>
            </a:r>
          </a:p>
          <a:p>
            <a:endParaRPr lang="en-US" altLang="en-US" dirty="0"/>
          </a:p>
          <a:p>
            <a:r>
              <a:rPr lang="en-US" altLang="en-US" dirty="0"/>
              <a:t>Mitochondria and plastids likely descended from bacterial cells; the original host is </a:t>
            </a:r>
          </a:p>
        </p:txBody>
      </p:sp>
    </p:spTree>
    <p:extLst>
      <p:ext uri="{BB962C8B-B14F-4D97-AF65-F5344CB8AC3E}">
        <p14:creationId xmlns:p14="http://schemas.microsoft.com/office/powerpoint/2010/main" val="2939236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26</a:t>
            </a:r>
          </a:p>
        </p:txBody>
      </p:sp>
      <p:sp>
        <p:nvSpPr>
          <p:cNvPr id="243714" name="Rectangle 2"/>
          <p:cNvSpPr>
            <a:spLocks noGrp="1" noChangeArrowheads="1"/>
          </p:cNvSpPr>
          <p:nvPr>
            <p:ph idx="4294967295"/>
          </p:nvPr>
        </p:nvSpPr>
        <p:spPr>
          <a:xfrm>
            <a:off x="152400" y="152400"/>
            <a:ext cx="8839200" cy="6337300"/>
          </a:xfrm>
        </p:spPr>
        <p:txBody>
          <a:bodyPr/>
          <a:lstStyle/>
          <a:p>
            <a:r>
              <a:rPr lang="en-US" altLang="en-US" dirty="0"/>
              <a:t>Key evidence supporting an </a:t>
            </a:r>
            <a:r>
              <a:rPr lang="en-US" altLang="en-US" dirty="0" err="1"/>
              <a:t>endosymbiotic</a:t>
            </a:r>
            <a:r>
              <a:rPr lang="en-US" altLang="en-US" dirty="0"/>
              <a:t> origin of mitochondria and plastids:</a:t>
            </a:r>
          </a:p>
          <a:p>
            <a:pPr marL="971550" lvl="1" indent="-514350">
              <a:buFont typeface="+mj-lt"/>
              <a:buAutoNum type="arabicPeriod"/>
            </a:pPr>
            <a:r>
              <a:rPr lang="en-US" altLang="en-US" dirty="0"/>
              <a:t>Inner membranes of both </a:t>
            </a:r>
          </a:p>
          <a:p>
            <a:pPr marL="971550" lvl="1" indent="-514350">
              <a:buFont typeface="+mj-lt"/>
              <a:buAutoNum type="arabicPeriod"/>
            </a:pPr>
            <a:endParaRPr lang="en-US" altLang="en-US" dirty="0"/>
          </a:p>
          <a:p>
            <a:pPr marL="971550" lvl="1" indent="-514350">
              <a:buFont typeface="+mj-lt"/>
              <a:buAutoNum type="arabicPeriod"/>
            </a:pPr>
            <a:r>
              <a:rPr lang="en-US" altLang="en-US" dirty="0"/>
              <a:t>DNA structure and cell division are </a:t>
            </a:r>
          </a:p>
          <a:p>
            <a:pPr marL="971550" lvl="1" indent="-514350">
              <a:buFont typeface="+mj-lt"/>
              <a:buAutoNum type="arabicPeriod"/>
            </a:pPr>
            <a:endParaRPr lang="en-US" altLang="en-US" dirty="0"/>
          </a:p>
          <a:p>
            <a:pPr marL="971550" lvl="1" indent="-514350">
              <a:buFont typeface="+mj-lt"/>
              <a:buAutoNum type="arabicPeriod"/>
            </a:pPr>
            <a:r>
              <a:rPr lang="en-US" altLang="en-US" dirty="0"/>
              <a:t>Both organelles </a:t>
            </a:r>
          </a:p>
          <a:p>
            <a:pPr marL="971550" lvl="1" indent="-514350">
              <a:buFont typeface="+mj-lt"/>
              <a:buAutoNum type="arabicPeriod"/>
            </a:pPr>
            <a:endParaRPr lang="en-US" altLang="en-US" dirty="0"/>
          </a:p>
          <a:p>
            <a:pPr marL="971550" lvl="1" indent="-514350">
              <a:buFont typeface="+mj-lt"/>
              <a:buAutoNum type="arabicPeriod"/>
            </a:pPr>
            <a:r>
              <a:rPr lang="en-US" altLang="en-US" dirty="0"/>
              <a:t>Ribosomes are more </a:t>
            </a:r>
          </a:p>
        </p:txBody>
      </p:sp>
    </p:spTree>
    <p:extLst>
      <p:ext uri="{BB962C8B-B14F-4D97-AF65-F5344CB8AC3E}">
        <p14:creationId xmlns:p14="http://schemas.microsoft.com/office/powerpoint/2010/main" val="614187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ltLang="en-US" i="1"/>
              <a:t>Early Multicellular Eukaryotes</a:t>
            </a:r>
            <a:endParaRPr lang="en-US" altLang="en-US"/>
          </a:p>
        </p:txBody>
      </p:sp>
      <p:sp>
        <p:nvSpPr>
          <p:cNvPr id="247811" name="Rectangle 3"/>
          <p:cNvSpPr>
            <a:spLocks noGrp="1" noChangeArrowheads="1"/>
          </p:cNvSpPr>
          <p:nvPr>
            <p:ph idx="1"/>
          </p:nvPr>
        </p:nvSpPr>
        <p:spPr>
          <a:xfrm>
            <a:off x="152400" y="838200"/>
            <a:ext cx="8839199" cy="5867400"/>
          </a:xfrm>
        </p:spPr>
        <p:txBody>
          <a:bodyPr/>
          <a:lstStyle/>
          <a:p>
            <a:r>
              <a:rPr lang="en-US" altLang="en-US" sz="2700" dirty="0"/>
              <a:t>The evolution of eukaryotic cells allowed for a </a:t>
            </a:r>
          </a:p>
          <a:p>
            <a:endParaRPr lang="en-US" altLang="en-US" sz="2700" dirty="0"/>
          </a:p>
          <a:p>
            <a:r>
              <a:rPr lang="en-US" altLang="en-US" sz="2700" dirty="0"/>
              <a:t>A second wave of diversification occurred when multicellularity evolved and </a:t>
            </a:r>
          </a:p>
          <a:p>
            <a:endParaRPr lang="en-US" altLang="en-US" sz="2700" dirty="0"/>
          </a:p>
          <a:p>
            <a:r>
              <a:rPr lang="en-US" altLang="en-US" sz="2700" dirty="0"/>
              <a:t>The oldest fossils of multicellular eukaryotes are </a:t>
            </a:r>
          </a:p>
          <a:p>
            <a:endParaRPr lang="en-US" altLang="en-US" sz="2700" dirty="0"/>
          </a:p>
          <a:p>
            <a:r>
              <a:rPr lang="en-US" altLang="en-US" sz="2700" dirty="0"/>
              <a:t>Older fossils from about 1.8 BYA may also be multicellular </a:t>
            </a:r>
          </a:p>
        </p:txBody>
      </p:sp>
    </p:spTree>
    <p:extLst>
      <p:ext uri="{BB962C8B-B14F-4D97-AF65-F5344CB8AC3E}">
        <p14:creationId xmlns:p14="http://schemas.microsoft.com/office/powerpoint/2010/main" val="978580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en-US" altLang="en-US" i="1"/>
              <a:t>The Cambrian Explosion</a:t>
            </a:r>
            <a:endParaRPr lang="en-US" altLang="en-US"/>
          </a:p>
        </p:txBody>
      </p:sp>
      <p:sp>
        <p:nvSpPr>
          <p:cNvPr id="251907" name="Rectangle 3"/>
          <p:cNvSpPr>
            <a:spLocks noGrp="1" noChangeArrowheads="1"/>
          </p:cNvSpPr>
          <p:nvPr>
            <p:ph idx="1"/>
          </p:nvPr>
        </p:nvSpPr>
        <p:spPr>
          <a:xfrm>
            <a:off x="152400" y="646331"/>
            <a:ext cx="8839199" cy="5843765"/>
          </a:xfrm>
        </p:spPr>
        <p:txBody>
          <a:bodyPr/>
          <a:lstStyle/>
          <a:p>
            <a:r>
              <a:rPr lang="en-US" altLang="en-US" dirty="0"/>
              <a:t>The </a:t>
            </a:r>
            <a:r>
              <a:rPr lang="en-US" altLang="en-US" b="1" dirty="0"/>
              <a:t>Cambrian explosion </a:t>
            </a:r>
            <a:r>
              <a:rPr lang="en-US" altLang="en-US" dirty="0"/>
              <a:t>refers to the sudden appearance of fossils resembling </a:t>
            </a:r>
          </a:p>
          <a:p>
            <a:endParaRPr lang="en-US" altLang="en-US" dirty="0"/>
          </a:p>
          <a:p>
            <a:r>
              <a:rPr lang="en-US" altLang="en-US" dirty="0"/>
              <a:t>A few animal phyla appear even earlier: </a:t>
            </a:r>
          </a:p>
        </p:txBody>
      </p:sp>
      <p:pic>
        <p:nvPicPr>
          <p:cNvPr id="2" name="Picture 1" descr="A circular chart is shown, representing the timeline of the earth’s history. The time (units of billions of years ago) is shown. The portion of the chart showing the presence of animals, which extends from 0.75 billion years ago to the present.">
            <a:extLst>
              <a:ext uri="{FF2B5EF4-FFF2-40B4-BE49-F238E27FC236}">
                <a16:creationId xmlns:a16="http://schemas.microsoft.com/office/drawing/2014/main" id="{AC67C9A2-C001-4E08-9E0B-C6E04AFB6B9E}"/>
              </a:ext>
            </a:extLst>
          </p:cNvPr>
          <p:cNvPicPr>
            <a:picLocks noChangeAspect="1"/>
          </p:cNvPicPr>
          <p:nvPr/>
        </p:nvPicPr>
        <p:blipFill>
          <a:blip r:embed="rId3"/>
          <a:stretch>
            <a:fillRect/>
          </a:stretch>
        </p:blipFill>
        <p:spPr>
          <a:xfrm>
            <a:off x="506647" y="3124200"/>
            <a:ext cx="4141553" cy="3678720"/>
          </a:xfrm>
          <a:prstGeom prst="rect">
            <a:avLst/>
          </a:prstGeom>
        </p:spPr>
      </p:pic>
      <p:pic>
        <p:nvPicPr>
          <p:cNvPr id="5" name="Picture 4" descr="Cambrian explosion on the cover of a magazine">
            <a:extLst>
              <a:ext uri="{FF2B5EF4-FFF2-40B4-BE49-F238E27FC236}">
                <a16:creationId xmlns:a16="http://schemas.microsoft.com/office/drawing/2014/main" id="{83CC9889-69CC-42C6-90AB-0BE52289F70C}"/>
              </a:ext>
            </a:extLst>
          </p:cNvPr>
          <p:cNvPicPr>
            <a:picLocks noChangeAspect="1"/>
          </p:cNvPicPr>
          <p:nvPr/>
        </p:nvPicPr>
        <p:blipFill>
          <a:blip r:embed="rId4"/>
          <a:stretch>
            <a:fillRect/>
          </a:stretch>
        </p:blipFill>
        <p:spPr>
          <a:xfrm>
            <a:off x="4928276" y="3490240"/>
            <a:ext cx="3810000" cy="2857500"/>
          </a:xfrm>
          <a:prstGeom prst="rect">
            <a:avLst/>
          </a:prstGeom>
        </p:spPr>
      </p:pic>
    </p:spTree>
    <p:extLst>
      <p:ext uri="{BB962C8B-B14F-4D97-AF65-F5344CB8AC3E}">
        <p14:creationId xmlns:p14="http://schemas.microsoft.com/office/powerpoint/2010/main" val="327962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74" y="32084"/>
            <a:ext cx="8963526" cy="600164"/>
          </a:xfrm>
        </p:spPr>
        <p:txBody>
          <a:bodyPr/>
          <a:lstStyle/>
          <a:p>
            <a:r>
              <a:rPr lang="en-US" dirty="0">
                <a:solidFill>
                  <a:schemeClr val="bg1"/>
                </a:solidFill>
              </a:rPr>
              <a:t>29</a:t>
            </a:r>
          </a:p>
        </p:txBody>
      </p:sp>
      <p:sp>
        <p:nvSpPr>
          <p:cNvPr id="258050" name="Rectangle 3"/>
          <p:cNvSpPr>
            <a:spLocks noGrp="1" noChangeArrowheads="1"/>
          </p:cNvSpPr>
          <p:nvPr>
            <p:ph idx="4294967295"/>
          </p:nvPr>
        </p:nvSpPr>
        <p:spPr>
          <a:xfrm>
            <a:off x="152400" y="76200"/>
            <a:ext cx="8839200" cy="6705600"/>
          </a:xfrm>
        </p:spPr>
        <p:txBody>
          <a:bodyPr/>
          <a:lstStyle/>
          <a:p>
            <a:r>
              <a:rPr lang="en-US" altLang="en-US" dirty="0"/>
              <a:t>The Cambrian explosion provides the </a:t>
            </a:r>
          </a:p>
          <a:p>
            <a:endParaRPr lang="en-US" altLang="en-US" dirty="0"/>
          </a:p>
          <a:p>
            <a:r>
              <a:rPr lang="en-US" altLang="en-US" dirty="0"/>
              <a:t>Large-bodied predators with </a:t>
            </a:r>
          </a:p>
          <a:p>
            <a:endParaRPr lang="en-US" altLang="en-US" dirty="0"/>
          </a:p>
          <a:p>
            <a:r>
              <a:rPr lang="en-US" altLang="en-US" dirty="0"/>
              <a:t>New defense adaptations, such as </a:t>
            </a:r>
          </a:p>
          <a:p>
            <a:endParaRPr lang="en-US" altLang="en-US" dirty="0"/>
          </a:p>
          <a:p>
            <a:r>
              <a:rPr lang="en-US" altLang="en-US" dirty="0"/>
              <a:t>DNA analyses suggest that sponges evolved 700 MYA and the common ancestor to </a:t>
            </a:r>
          </a:p>
          <a:p>
            <a:endParaRPr lang="en-US" altLang="en-US" dirty="0"/>
          </a:p>
          <a:p>
            <a:r>
              <a:rPr lang="en-US" altLang="en-US" dirty="0"/>
              <a:t>The oldest fossil assigned to </a:t>
            </a:r>
          </a:p>
          <a:p>
            <a:endParaRPr lang="en-US" altLang="en-US" dirty="0"/>
          </a:p>
          <a:p>
            <a:r>
              <a:rPr lang="en-US" altLang="en-US" dirty="0"/>
              <a:t>Molecular and fossil data suggest that</a:t>
            </a:r>
          </a:p>
        </p:txBody>
      </p:sp>
    </p:spTree>
    <p:extLst>
      <p:ext uri="{BB962C8B-B14F-4D97-AF65-F5344CB8AC3E}">
        <p14:creationId xmlns:p14="http://schemas.microsoft.com/office/powerpoint/2010/main" val="307618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r>
              <a:rPr lang="en-US" altLang="en-US"/>
              <a:t>The Colonization of Land</a:t>
            </a:r>
          </a:p>
        </p:txBody>
      </p:sp>
      <p:sp>
        <p:nvSpPr>
          <p:cNvPr id="262147" name="Rectangle 3"/>
          <p:cNvSpPr>
            <a:spLocks noGrp="1" noChangeArrowheads="1"/>
          </p:cNvSpPr>
          <p:nvPr>
            <p:ph idx="1"/>
          </p:nvPr>
        </p:nvSpPr>
        <p:spPr>
          <a:xfrm>
            <a:off x="152400" y="646332"/>
            <a:ext cx="8839199" cy="2921882"/>
          </a:xfrm>
        </p:spPr>
        <p:txBody>
          <a:bodyPr/>
          <a:lstStyle/>
          <a:p>
            <a:r>
              <a:rPr lang="en-US" altLang="en-US" dirty="0"/>
              <a:t>Fungi, plants, and animals began to colonize land about </a:t>
            </a:r>
          </a:p>
          <a:p>
            <a:r>
              <a:rPr lang="en-US" altLang="en-US" dirty="0"/>
              <a:t>Many plants evolved adaptations to reproduce on land and </a:t>
            </a:r>
          </a:p>
          <a:p>
            <a:pPr lvl="1"/>
            <a:r>
              <a:rPr lang="en-US" altLang="en-US" dirty="0"/>
              <a:t>EX: a vascular system for transporting materials appeared </a:t>
            </a:r>
          </a:p>
        </p:txBody>
      </p:sp>
      <p:pic>
        <p:nvPicPr>
          <p:cNvPr id="2" name="Picture 1" descr="A circular chart is shown, representing the timeline of the earth’s history. The time (units of billions of years ago) is shown. The portion of the chart showing the colonization land, which extends from 0.5 billion years ago to the present.">
            <a:extLst>
              <a:ext uri="{FF2B5EF4-FFF2-40B4-BE49-F238E27FC236}">
                <a16:creationId xmlns:a16="http://schemas.microsoft.com/office/drawing/2014/main" id="{6C27B203-DB6A-4E02-A801-454D58BCAFB0}"/>
              </a:ext>
            </a:extLst>
          </p:cNvPr>
          <p:cNvPicPr>
            <a:picLocks noChangeAspect="1"/>
          </p:cNvPicPr>
          <p:nvPr/>
        </p:nvPicPr>
        <p:blipFill>
          <a:blip r:embed="rId3"/>
          <a:stretch>
            <a:fillRect/>
          </a:stretch>
        </p:blipFill>
        <p:spPr>
          <a:xfrm>
            <a:off x="5410200" y="3597442"/>
            <a:ext cx="3597707" cy="3122670"/>
          </a:xfrm>
          <a:prstGeom prst="rect">
            <a:avLst/>
          </a:prstGeom>
        </p:spPr>
      </p:pic>
      <p:sp>
        <p:nvSpPr>
          <p:cNvPr id="6" name="Rectangle 3"/>
          <p:cNvSpPr txBox="1">
            <a:spLocks noChangeArrowheads="1"/>
          </p:cNvSpPr>
          <p:nvPr/>
        </p:nvSpPr>
        <p:spPr bwMode="auto">
          <a:xfrm>
            <a:off x="152401" y="3515051"/>
            <a:ext cx="5402046" cy="3175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137160" bIns="0" numCol="1" anchor="t" anchorCtr="0" compatLnSpc="1">
            <a:prstTxWarp prst="textNoShape">
              <a:avLst/>
            </a:prstTxWarp>
          </a:bodyPr>
          <a:lst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a:lstStyle>
          <a:p>
            <a:r>
              <a:rPr lang="en-US" altLang="en-US" dirty="0"/>
              <a:t>Plants and fungi likely </a:t>
            </a:r>
          </a:p>
          <a:p>
            <a:endParaRPr lang="en-US" altLang="en-US" dirty="0"/>
          </a:p>
          <a:p>
            <a:r>
              <a:rPr lang="en-US" altLang="en-US" dirty="0"/>
              <a:t>Fossilized plants show evidence of </a:t>
            </a:r>
            <a:endParaRPr lang="en-US" altLang="en-US" kern="0" dirty="0"/>
          </a:p>
        </p:txBody>
      </p:sp>
    </p:spTree>
    <p:extLst>
      <p:ext uri="{BB962C8B-B14F-4D97-AF65-F5344CB8AC3E}">
        <p14:creationId xmlns:p14="http://schemas.microsoft.com/office/powerpoint/2010/main" val="3891983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31</a:t>
            </a:r>
          </a:p>
        </p:txBody>
      </p:sp>
      <p:sp>
        <p:nvSpPr>
          <p:cNvPr id="270338" name="Rectangle 3"/>
          <p:cNvSpPr>
            <a:spLocks noGrp="1" noChangeArrowheads="1"/>
          </p:cNvSpPr>
          <p:nvPr>
            <p:ph idx="4294967295"/>
          </p:nvPr>
        </p:nvSpPr>
        <p:spPr>
          <a:xfrm>
            <a:off x="152400" y="38853"/>
            <a:ext cx="8839200" cy="6338887"/>
          </a:xfrm>
        </p:spPr>
        <p:txBody>
          <a:bodyPr/>
          <a:lstStyle/>
          <a:p>
            <a:r>
              <a:rPr lang="en-US" altLang="en-US" dirty="0"/>
              <a:t>Arthropods and </a:t>
            </a:r>
            <a:r>
              <a:rPr lang="en-US" altLang="en-US" dirty="0" err="1"/>
              <a:t>tetrapods</a:t>
            </a:r>
            <a:r>
              <a:rPr lang="en-US" altLang="en-US" dirty="0"/>
              <a:t> are the most </a:t>
            </a:r>
          </a:p>
          <a:p>
            <a:endParaRPr lang="en-US" altLang="en-US" dirty="0"/>
          </a:p>
          <a:p>
            <a:r>
              <a:rPr lang="en-US" altLang="en-US" dirty="0" err="1"/>
              <a:t>Tetrapods</a:t>
            </a:r>
            <a:r>
              <a:rPr lang="en-US" altLang="en-US" dirty="0"/>
              <a:t> evolved from </a:t>
            </a:r>
          </a:p>
          <a:p>
            <a:endParaRPr lang="en-US" altLang="en-US" dirty="0"/>
          </a:p>
          <a:p>
            <a:r>
              <a:rPr lang="en-US" altLang="en-US" dirty="0"/>
              <a:t>The human lineage of </a:t>
            </a:r>
            <a:r>
              <a:rPr lang="en-US" altLang="en-US" dirty="0" err="1"/>
              <a:t>tetrapods</a:t>
            </a:r>
            <a:r>
              <a:rPr lang="en-US" altLang="en-US" dirty="0"/>
              <a:t> evolved around 6-7 MYA, and </a:t>
            </a:r>
          </a:p>
        </p:txBody>
      </p:sp>
      <p:pic>
        <p:nvPicPr>
          <p:cNvPr id="3" name="Picture 2" descr="Examples of tetrapod and lobe finned fish">
            <a:extLst>
              <a:ext uri="{FF2B5EF4-FFF2-40B4-BE49-F238E27FC236}">
                <a16:creationId xmlns:a16="http://schemas.microsoft.com/office/drawing/2014/main" id="{6D37537B-3389-43D9-B75D-0F6E8802BD41}"/>
              </a:ext>
            </a:extLst>
          </p:cNvPr>
          <p:cNvPicPr>
            <a:picLocks noChangeAspect="1"/>
          </p:cNvPicPr>
          <p:nvPr/>
        </p:nvPicPr>
        <p:blipFill>
          <a:blip r:embed="rId3"/>
          <a:stretch>
            <a:fillRect/>
          </a:stretch>
        </p:blipFill>
        <p:spPr>
          <a:xfrm>
            <a:off x="1447799" y="3610432"/>
            <a:ext cx="6248400" cy="3202306"/>
          </a:xfrm>
          <a:prstGeom prst="rect">
            <a:avLst/>
          </a:prstGeom>
        </p:spPr>
      </p:pic>
    </p:spTree>
    <p:extLst>
      <p:ext uri="{BB962C8B-B14F-4D97-AF65-F5344CB8AC3E}">
        <p14:creationId xmlns:p14="http://schemas.microsoft.com/office/powerpoint/2010/main" val="398951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0" y="1479884"/>
            <a:ext cx="9144000" cy="646331"/>
          </a:xfrm>
        </p:spPr>
        <p:txBody>
          <a:bodyPr/>
          <a:lstStyle/>
          <a:p>
            <a:r>
              <a:rPr lang="en-US" altLang="en-US"/>
              <a:t>Plate Tectonics</a:t>
            </a:r>
          </a:p>
        </p:txBody>
      </p:sp>
      <p:sp>
        <p:nvSpPr>
          <p:cNvPr id="276483" name="Rectangle 3"/>
          <p:cNvSpPr>
            <a:spLocks noGrp="1" noChangeArrowheads="1"/>
          </p:cNvSpPr>
          <p:nvPr>
            <p:ph idx="1"/>
          </p:nvPr>
        </p:nvSpPr>
        <p:spPr>
          <a:xfrm>
            <a:off x="88232" y="2126215"/>
            <a:ext cx="4864768" cy="4731785"/>
          </a:xfrm>
        </p:spPr>
        <p:txBody>
          <a:bodyPr/>
          <a:lstStyle/>
          <a:p>
            <a:r>
              <a:rPr lang="en-US" altLang="en-US" dirty="0"/>
              <a:t>The landmasses of Earth have formed a supercontinent three times over the </a:t>
            </a:r>
          </a:p>
          <a:p>
            <a:endParaRPr lang="en-US" altLang="en-US" dirty="0"/>
          </a:p>
          <a:p>
            <a:r>
              <a:rPr lang="en-US" altLang="en-US" dirty="0"/>
              <a:t>According to the theory of </a:t>
            </a:r>
            <a:r>
              <a:rPr lang="en-US" altLang="en-US" b="1" dirty="0"/>
              <a:t>plate tectonics</a:t>
            </a:r>
            <a:r>
              <a:rPr lang="en-US" altLang="en-US" dirty="0"/>
              <a:t>, Earth</a:t>
            </a:r>
            <a:r>
              <a:rPr lang="ja-JP" altLang="en-US" dirty="0"/>
              <a:t>’</a:t>
            </a:r>
            <a:r>
              <a:rPr lang="en-US" altLang="ja-JP" dirty="0"/>
              <a:t>s crust is </a:t>
            </a:r>
            <a:endParaRPr lang="en-US" altLang="en-US" dirty="0"/>
          </a:p>
        </p:txBody>
      </p:sp>
      <p:pic>
        <p:nvPicPr>
          <p:cNvPr id="2" name="Picture 1" descr="Figure 25.14 Cutaway view of Earth&#10;" title="Figure 25.14 Cutaway view of Earth">
            <a:extLst>
              <a:ext uri="{FF2B5EF4-FFF2-40B4-BE49-F238E27FC236}">
                <a16:creationId xmlns:a16="http://schemas.microsoft.com/office/drawing/2014/main" id="{4B5EC4CE-91DD-431D-AF41-537D09F9D784}"/>
              </a:ext>
            </a:extLst>
          </p:cNvPr>
          <p:cNvPicPr>
            <a:picLocks noChangeAspect="1"/>
          </p:cNvPicPr>
          <p:nvPr/>
        </p:nvPicPr>
        <p:blipFill>
          <a:blip r:embed="rId3"/>
          <a:stretch>
            <a:fillRect/>
          </a:stretch>
        </p:blipFill>
        <p:spPr>
          <a:xfrm>
            <a:off x="5212166" y="2126215"/>
            <a:ext cx="3672668" cy="4025808"/>
          </a:xfrm>
          <a:prstGeom prst="rect">
            <a:avLst/>
          </a:prstGeom>
        </p:spPr>
      </p:pic>
      <p:sp>
        <p:nvSpPr>
          <p:cNvPr id="5" name="Rectangle 5"/>
          <p:cNvSpPr txBox="1">
            <a:spLocks noChangeArrowheads="1"/>
          </p:cNvSpPr>
          <p:nvPr/>
        </p:nvSpPr>
        <p:spPr bwMode="auto">
          <a:xfrm>
            <a:off x="0" y="0"/>
            <a:ext cx="9144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182880" tIns="91440" rIns="228600" bIns="91440" numCol="1" anchor="t" anchorCtr="0" compatLnSpc="1">
            <a:prstTxWarp prst="textNoShape">
              <a:avLst/>
            </a:prstTxWarp>
            <a:spAutoFit/>
          </a:bodyPr>
          <a:lstStyle>
            <a:lvl1pPr marL="0" indent="-450850" algn="l" rtl="0" eaLnBrk="1" fontAlgn="base" hangingPunct="1">
              <a:lnSpc>
                <a:spcPct val="10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altLang="en-US" kern="0">
                <a:solidFill>
                  <a:srgbClr val="FF0000"/>
                </a:solidFill>
              </a:rPr>
              <a:t>Concept 25.4: The rise and fall of groups of organisms reflect differences in speciation and extinction rates</a:t>
            </a:r>
            <a:endParaRPr lang="en-US" altLang="en-US" kern="0" dirty="0">
              <a:solidFill>
                <a:srgbClr val="FF0000"/>
              </a:solidFill>
            </a:endParaRPr>
          </a:p>
        </p:txBody>
      </p:sp>
    </p:spTree>
    <p:extLst>
      <p:ext uri="{BB962C8B-B14F-4D97-AF65-F5344CB8AC3E}">
        <p14:creationId xmlns:p14="http://schemas.microsoft.com/office/powerpoint/2010/main" val="66656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36095"/>
            <a:ext cx="9144000" cy="600164"/>
          </a:xfrm>
        </p:spPr>
        <p:txBody>
          <a:bodyPr/>
          <a:lstStyle/>
          <a:p>
            <a:r>
              <a:rPr lang="en-US" dirty="0">
                <a:solidFill>
                  <a:schemeClr val="bg1"/>
                </a:solidFill>
              </a:rPr>
              <a:t>33</a:t>
            </a:r>
          </a:p>
        </p:txBody>
      </p:sp>
      <p:sp>
        <p:nvSpPr>
          <p:cNvPr id="133121" name="Rectangle 3"/>
          <p:cNvSpPr>
            <a:spLocks noGrp="1" noChangeArrowheads="1"/>
          </p:cNvSpPr>
          <p:nvPr>
            <p:ph idx="4294967295"/>
          </p:nvPr>
        </p:nvSpPr>
        <p:spPr>
          <a:xfrm>
            <a:off x="152400" y="152400"/>
            <a:ext cx="8839200" cy="6337300"/>
          </a:xfrm>
        </p:spPr>
        <p:txBody>
          <a:bodyPr/>
          <a:lstStyle/>
          <a:p>
            <a:r>
              <a:rPr lang="en-US" altLang="en-US" dirty="0"/>
              <a:t>Movements in the mantle cause the plates to move over time in a </a:t>
            </a:r>
          </a:p>
          <a:p>
            <a:r>
              <a:rPr lang="en-US" altLang="en-US" dirty="0"/>
              <a:t>Oceanic and continental plates can drift apart, collide to form mountains, or slide past each other, causing earthquakes (</a:t>
            </a:r>
            <a:r>
              <a:rPr lang="en-US" altLang="en-US" dirty="0">
                <a:solidFill>
                  <a:srgbClr val="00478B"/>
                </a:solidFill>
                <a:hlinkClick r:id="rId3"/>
              </a:rPr>
              <a:t>Pangea rifting animation</a:t>
            </a:r>
            <a:r>
              <a:rPr lang="en-US" altLang="en-US" dirty="0"/>
              <a:t>)</a:t>
            </a:r>
          </a:p>
          <a:p>
            <a:endParaRPr lang="en-US" altLang="en-US" dirty="0"/>
          </a:p>
        </p:txBody>
      </p:sp>
      <p:pic>
        <p:nvPicPr>
          <p:cNvPr id="2" name="Picture 1" descr="A map shows the earth’s tectonic plates. Around North America and Central America to halfway across the Atlantic Ocean is labeled the North American Plate. A small portion in the Caribbean is labelled the Caribbean Plate. Around South America to halfway across the Atlantic Ocean is labeled the South American Plate. South of the South American Plate to the Antarctic is the Scotia Plate. Around the African continent to halfway across the Indian Ocean is labeled the African Plate. Around Europe and Asia is the Eurasian Plate. Around Arabia, in the south-central portion of Eurasia, is labeled The Arabian Plate. To the west of this, around India is the Indian Plate. Around Australia to halfway across the Indian Ocean to the east and into the Pacific Ocean in the west is the Australian Plate. South of the African and Australian Plates is the Antarctic Plate. A small portion south to the west of the Eurasian plate is the Philippine Plate. The Pacific Plate encompasses most of the Pacific Ocean. The Juan de Fuca Plate is a small plate on the west coast of North America, the Cocos Plate is on the west coast of Central America, and Nazca Plate is on the west coast of South America and extends a third of the way into the Pacific Ocean. There are dots, extending along the west coast of North, Central and South America, in the east of Africa, off the west coast of Asia, and where the Australian Plate meets the Eurasian Plate and the Pacific Plate showing the location of volcanos. Arrows show the movement of the plates. The North and South American Plates move west, the Eurasian and African Plates moves east, the Australian Plate moves north east, while the Antarctic Plate moves south east.">
            <a:extLst>
              <a:ext uri="{FF2B5EF4-FFF2-40B4-BE49-F238E27FC236}">
                <a16:creationId xmlns:a16="http://schemas.microsoft.com/office/drawing/2014/main" id="{9DD6E26F-C03C-4FDA-8080-DB63C0C293C3}"/>
              </a:ext>
            </a:extLst>
          </p:cNvPr>
          <p:cNvPicPr>
            <a:picLocks noChangeAspect="1"/>
          </p:cNvPicPr>
          <p:nvPr/>
        </p:nvPicPr>
        <p:blipFill>
          <a:blip r:embed="rId4"/>
          <a:stretch>
            <a:fillRect/>
          </a:stretch>
        </p:blipFill>
        <p:spPr>
          <a:xfrm>
            <a:off x="700834" y="2569521"/>
            <a:ext cx="7742330" cy="4136079"/>
          </a:xfrm>
          <a:prstGeom prst="rect">
            <a:avLst/>
          </a:prstGeom>
        </p:spPr>
      </p:pic>
    </p:spTree>
    <p:extLst>
      <p:ext uri="{BB962C8B-B14F-4D97-AF65-F5344CB8AC3E}">
        <p14:creationId xmlns:p14="http://schemas.microsoft.com/office/powerpoint/2010/main" val="1254049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0" y="0"/>
            <a:ext cx="9144000" cy="646331"/>
          </a:xfrm>
        </p:spPr>
        <p:txBody>
          <a:bodyPr/>
          <a:lstStyle/>
          <a:p>
            <a:r>
              <a:rPr lang="en-US" altLang="en-US" i="1"/>
              <a:t>Consequences of Continental Drift</a:t>
            </a:r>
            <a:endParaRPr lang="en-US" altLang="en-US"/>
          </a:p>
        </p:txBody>
      </p:sp>
      <p:sp>
        <p:nvSpPr>
          <p:cNvPr id="286723" name="Rectangle 3"/>
          <p:cNvSpPr>
            <a:spLocks noGrp="1" noChangeArrowheads="1"/>
          </p:cNvSpPr>
          <p:nvPr>
            <p:ph idx="1"/>
          </p:nvPr>
        </p:nvSpPr>
        <p:spPr>
          <a:xfrm>
            <a:off x="76200" y="609600"/>
            <a:ext cx="4267200" cy="6172200"/>
          </a:xfrm>
        </p:spPr>
        <p:txBody>
          <a:bodyPr/>
          <a:lstStyle/>
          <a:p>
            <a:r>
              <a:rPr lang="en-US" altLang="en-US" dirty="0"/>
              <a:t>Formation of the supercontinent </a:t>
            </a:r>
            <a:r>
              <a:rPr lang="en-US" altLang="en-US" b="1" dirty="0"/>
              <a:t>Pangaea</a:t>
            </a:r>
            <a:r>
              <a:rPr lang="en-US" altLang="en-US" dirty="0"/>
              <a:t> about 250 MYA had </a:t>
            </a:r>
          </a:p>
          <a:p>
            <a:pPr lvl="1"/>
            <a:r>
              <a:rPr lang="en-US" altLang="en-US" dirty="0"/>
              <a:t>deepening of </a:t>
            </a:r>
          </a:p>
          <a:p>
            <a:pPr lvl="1"/>
            <a:endParaRPr lang="en-US" altLang="en-US" dirty="0"/>
          </a:p>
          <a:p>
            <a:pPr lvl="1"/>
            <a:r>
              <a:rPr lang="en-US" altLang="en-US" dirty="0"/>
              <a:t>reduction in </a:t>
            </a:r>
          </a:p>
          <a:p>
            <a:pPr lvl="1"/>
            <a:endParaRPr lang="en-US" altLang="en-US" dirty="0"/>
          </a:p>
          <a:p>
            <a:pPr lvl="1"/>
            <a:r>
              <a:rPr lang="en-US" altLang="en-US" dirty="0"/>
              <a:t>colder and </a:t>
            </a:r>
          </a:p>
          <a:p>
            <a:pPr lvl="1"/>
            <a:endParaRPr lang="en-US" altLang="en-US" dirty="0"/>
          </a:p>
          <a:p>
            <a:pPr lvl="1"/>
            <a:r>
              <a:rPr lang="en-US" altLang="en-US" dirty="0"/>
              <a:t>Separation of </a:t>
            </a:r>
          </a:p>
        </p:txBody>
      </p:sp>
      <p:pic>
        <p:nvPicPr>
          <p:cNvPr id="1026" name="Picture 2" descr="A diagram shows the continental drift on Earth, from 252 million years ago to the present. At the end of the Paleozoic (252 million years ago) all continents are in one connected land mass, the Supercontinent Pangaea. Partway through the Mesozoic era, 135 million years ago, there are two landmasses, Laurasia and Gondwana. 66 million years ago, at the interface of the Mesozoic and Cenozoic eras, the landmasses divide into the present day continents, but not in the modern locations. At 45 million years ago, partway through the Cenozoic era, the continents are in their modern arrangement, and there is a collision between India and Euras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842" y="1066800"/>
            <a:ext cx="4649678" cy="534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2649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r>
              <a:rPr lang="en-US" altLang="en-US"/>
              <a:t>Mass Extinctions</a:t>
            </a:r>
          </a:p>
        </p:txBody>
      </p:sp>
      <p:sp>
        <p:nvSpPr>
          <p:cNvPr id="300035" name="Rectangle 3"/>
          <p:cNvSpPr>
            <a:spLocks noGrp="1" noChangeArrowheads="1"/>
          </p:cNvSpPr>
          <p:nvPr>
            <p:ph idx="1"/>
          </p:nvPr>
        </p:nvSpPr>
        <p:spPr>
          <a:xfrm>
            <a:off x="152400" y="762000"/>
            <a:ext cx="8839199" cy="5728096"/>
          </a:xfrm>
        </p:spPr>
        <p:txBody>
          <a:bodyPr/>
          <a:lstStyle/>
          <a:p>
            <a:r>
              <a:rPr lang="en-US" altLang="en-US" dirty="0"/>
              <a:t>The fossil record shows that </a:t>
            </a:r>
          </a:p>
          <a:p>
            <a:endParaRPr lang="en-US" altLang="en-US" dirty="0"/>
          </a:p>
          <a:p>
            <a:r>
              <a:rPr lang="en-US" altLang="en-US" dirty="0"/>
              <a:t>Extinction can be caused by </a:t>
            </a:r>
          </a:p>
          <a:p>
            <a:endParaRPr lang="en-US" altLang="ja-JP" dirty="0"/>
          </a:p>
          <a:p>
            <a:r>
              <a:rPr lang="en-US" altLang="en-US" dirty="0"/>
              <a:t>At times, the rate of extinction has increased dramatically and </a:t>
            </a:r>
            <a:endParaRPr lang="en-US" altLang="en-US" b="1" dirty="0"/>
          </a:p>
          <a:p>
            <a:r>
              <a:rPr lang="en-US" altLang="en-US" dirty="0"/>
              <a:t>Historically, there have been </a:t>
            </a:r>
          </a:p>
          <a:p>
            <a:endParaRPr lang="en-US" altLang="en-US" dirty="0"/>
          </a:p>
          <a:p>
            <a:r>
              <a:rPr lang="en-US" altLang="en-US" dirty="0"/>
              <a:t>In each of the five mass extinction events, </a:t>
            </a:r>
          </a:p>
        </p:txBody>
      </p:sp>
    </p:spTree>
    <p:extLst>
      <p:ext uri="{BB962C8B-B14F-4D97-AF65-F5344CB8AC3E}">
        <p14:creationId xmlns:p14="http://schemas.microsoft.com/office/powerpoint/2010/main" val="1606628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49860"/>
            <a:ext cx="9144000" cy="600164"/>
          </a:xfrm>
        </p:spPr>
        <p:txBody>
          <a:bodyPr/>
          <a:lstStyle/>
          <a:p>
            <a:r>
              <a:rPr lang="en-US" dirty="0">
                <a:solidFill>
                  <a:schemeClr val="bg1"/>
                </a:solidFill>
              </a:rPr>
              <a:t>36</a:t>
            </a:r>
          </a:p>
        </p:txBody>
      </p:sp>
      <p:pic>
        <p:nvPicPr>
          <p:cNvPr id="2" name="Picture 1" descr="A graph is shown. Along the x axis is time, in units of millions of years ago. One y-axis shows the Total Extinction Rate (families per million years) with a range of 0 to 25, and the other y-axis shows the number of families with a range of 0 to 1100. Beginning at 541 million years ago in the Paleozoic, the extinction rate oscillated from 5 to 2.5 families per million years, with an increasing number of families from almost 0 to 475. At 444 million years ago, there is a large increase in the extinction rate to 20 families per million years. The number of families decreases to 375. The number of families increases again and remains around 475, and the extinction rate oscillates around 2.5 to 7.5 families per million years until 360 million years ago. At this point the extinction rate increases to 10 families per million years, and the number of families decreases to 400. From 359 to 251 million years ago, the extinction rate decreases from 5 families per million years to 2.5 million years ago, while the number of families is around 450. At 251 million years ago, the extinction rate increases to 27.5 families per million years, and the number of families decreases to 200. From this point onwards to the present, the number of families increases slowly to 775 in the present, and the extinction rate decreases to around 2.5 families per million years. There is a small decrease in the number of families at 200 million years ago (extinction rate of 12 families per million years ago), 145 million years ago (extinction rate of 7 families per million years) and 65.5 million years ago (extinction rate of 17 families per million years. The number of families at 65.5 million years ago decreases from 610 to 550 before increasing again. 1"/>
          <p:cNvPicPr>
            <a:picLocks noChangeAspect="1"/>
          </p:cNvPicPr>
          <p:nvPr/>
        </p:nvPicPr>
        <p:blipFill>
          <a:blip r:embed="rId3" r:link="rId4">
            <a:extLst>
              <a:ext uri="{28A0092B-C50C-407E-A947-70E740481C1C}">
                <a14:useLocalDpi xmlns:a14="http://schemas.microsoft.com/office/drawing/2010/main" val="0"/>
              </a:ext>
            </a:extLst>
          </a:blip>
          <a:srcRect b="2334"/>
          <a:stretch>
            <a:fillRect/>
          </a:stretch>
        </p:blipFill>
        <p:spPr>
          <a:xfrm>
            <a:off x="344424" y="240792"/>
            <a:ext cx="8455152" cy="6376416"/>
          </a:xfrm>
          <a:prstGeom prst="rect">
            <a:avLst/>
          </a:prstGeom>
        </p:spPr>
      </p:pic>
      <p:sp>
        <p:nvSpPr>
          <p:cNvPr id="6" name="TextBox 3"/>
          <p:cNvSpPr txBox="1">
            <a:spLocks noChangeArrowheads="1"/>
          </p:cNvSpPr>
          <p:nvPr/>
        </p:nvSpPr>
        <p:spPr bwMode="auto">
          <a:xfrm>
            <a:off x="8004979" y="322003"/>
            <a:ext cx="548227"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1,100</a:t>
            </a:r>
          </a:p>
        </p:txBody>
      </p:sp>
      <p:sp>
        <p:nvSpPr>
          <p:cNvPr id="7" name="TextBox 4"/>
          <p:cNvSpPr txBox="1">
            <a:spLocks noChangeArrowheads="1"/>
          </p:cNvSpPr>
          <p:nvPr/>
        </p:nvSpPr>
        <p:spPr bwMode="auto">
          <a:xfrm>
            <a:off x="972354" y="763326"/>
            <a:ext cx="243656"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25</a:t>
            </a:r>
          </a:p>
        </p:txBody>
      </p:sp>
      <p:sp>
        <p:nvSpPr>
          <p:cNvPr id="8" name="TextBox 5"/>
          <p:cNvSpPr txBox="1">
            <a:spLocks noChangeArrowheads="1"/>
          </p:cNvSpPr>
          <p:nvPr/>
        </p:nvSpPr>
        <p:spPr bwMode="auto">
          <a:xfrm>
            <a:off x="8004979" y="756978"/>
            <a:ext cx="548227"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1,000</a:t>
            </a:r>
          </a:p>
        </p:txBody>
      </p:sp>
      <p:sp>
        <p:nvSpPr>
          <p:cNvPr id="9" name="TextBox 6"/>
          <p:cNvSpPr txBox="1">
            <a:spLocks noChangeArrowheads="1"/>
          </p:cNvSpPr>
          <p:nvPr/>
        </p:nvSpPr>
        <p:spPr bwMode="auto">
          <a:xfrm>
            <a:off x="8004979" y="1188778"/>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900</a:t>
            </a:r>
          </a:p>
        </p:txBody>
      </p:sp>
      <p:sp>
        <p:nvSpPr>
          <p:cNvPr id="12" name="TextBox 9"/>
          <p:cNvSpPr txBox="1">
            <a:spLocks noChangeArrowheads="1"/>
          </p:cNvSpPr>
          <p:nvPr/>
        </p:nvSpPr>
        <p:spPr bwMode="auto">
          <a:xfrm>
            <a:off x="972354" y="1634864"/>
            <a:ext cx="243656"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20</a:t>
            </a:r>
          </a:p>
        </p:txBody>
      </p:sp>
      <p:sp>
        <p:nvSpPr>
          <p:cNvPr id="13" name="TextBox 10"/>
          <p:cNvSpPr txBox="1">
            <a:spLocks noChangeArrowheads="1"/>
          </p:cNvSpPr>
          <p:nvPr/>
        </p:nvSpPr>
        <p:spPr bwMode="auto">
          <a:xfrm>
            <a:off x="8004979" y="1620578"/>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800</a:t>
            </a:r>
          </a:p>
        </p:txBody>
      </p:sp>
      <p:sp>
        <p:nvSpPr>
          <p:cNvPr id="14" name="TextBox 11"/>
          <p:cNvSpPr txBox="1">
            <a:spLocks noChangeArrowheads="1"/>
          </p:cNvSpPr>
          <p:nvPr/>
        </p:nvSpPr>
        <p:spPr bwMode="auto">
          <a:xfrm>
            <a:off x="8004979" y="2049203"/>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700</a:t>
            </a:r>
          </a:p>
        </p:txBody>
      </p:sp>
      <p:sp>
        <p:nvSpPr>
          <p:cNvPr id="15" name="TextBox 12"/>
          <p:cNvSpPr txBox="1">
            <a:spLocks noChangeArrowheads="1"/>
          </p:cNvSpPr>
          <p:nvPr/>
        </p:nvSpPr>
        <p:spPr bwMode="auto">
          <a:xfrm>
            <a:off x="972354" y="2490526"/>
            <a:ext cx="243656"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15</a:t>
            </a:r>
          </a:p>
        </p:txBody>
      </p:sp>
      <p:sp>
        <p:nvSpPr>
          <p:cNvPr id="16" name="TextBox 13"/>
          <p:cNvSpPr txBox="1">
            <a:spLocks noChangeArrowheads="1"/>
          </p:cNvSpPr>
          <p:nvPr/>
        </p:nvSpPr>
        <p:spPr bwMode="auto">
          <a:xfrm>
            <a:off x="8004979" y="2477828"/>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600</a:t>
            </a:r>
          </a:p>
        </p:txBody>
      </p:sp>
      <p:sp>
        <p:nvSpPr>
          <p:cNvPr id="17" name="TextBox 14"/>
          <p:cNvSpPr txBox="1">
            <a:spLocks noChangeArrowheads="1"/>
          </p:cNvSpPr>
          <p:nvPr/>
        </p:nvSpPr>
        <p:spPr bwMode="auto">
          <a:xfrm>
            <a:off x="8004979" y="2904866"/>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500</a:t>
            </a:r>
          </a:p>
        </p:txBody>
      </p:sp>
      <p:sp>
        <p:nvSpPr>
          <p:cNvPr id="18" name="TextBox 15"/>
          <p:cNvSpPr txBox="1">
            <a:spLocks noChangeArrowheads="1"/>
          </p:cNvSpPr>
          <p:nvPr/>
        </p:nvSpPr>
        <p:spPr bwMode="auto">
          <a:xfrm>
            <a:off x="972354" y="3346189"/>
            <a:ext cx="243656"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10</a:t>
            </a:r>
          </a:p>
        </p:txBody>
      </p:sp>
      <p:sp>
        <p:nvSpPr>
          <p:cNvPr id="19" name="TextBox 16"/>
          <p:cNvSpPr txBox="1">
            <a:spLocks noChangeArrowheads="1"/>
          </p:cNvSpPr>
          <p:nvPr/>
        </p:nvSpPr>
        <p:spPr bwMode="auto">
          <a:xfrm>
            <a:off x="8004979" y="3333491"/>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400</a:t>
            </a:r>
          </a:p>
        </p:txBody>
      </p:sp>
      <p:sp>
        <p:nvSpPr>
          <p:cNvPr id="20" name="TextBox 17"/>
          <p:cNvSpPr txBox="1">
            <a:spLocks noChangeArrowheads="1"/>
          </p:cNvSpPr>
          <p:nvPr/>
        </p:nvSpPr>
        <p:spPr bwMode="auto">
          <a:xfrm>
            <a:off x="8004979" y="3770053"/>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300</a:t>
            </a:r>
          </a:p>
        </p:txBody>
      </p:sp>
      <p:sp>
        <p:nvSpPr>
          <p:cNvPr id="21" name="TextBox 18"/>
          <p:cNvSpPr txBox="1">
            <a:spLocks noChangeArrowheads="1"/>
          </p:cNvSpPr>
          <p:nvPr/>
        </p:nvSpPr>
        <p:spPr bwMode="auto">
          <a:xfrm>
            <a:off x="1093004" y="4201851"/>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5</a:t>
            </a:r>
          </a:p>
        </p:txBody>
      </p:sp>
      <p:sp>
        <p:nvSpPr>
          <p:cNvPr id="22" name="TextBox 19"/>
          <p:cNvSpPr txBox="1">
            <a:spLocks noChangeArrowheads="1"/>
          </p:cNvSpPr>
          <p:nvPr/>
        </p:nvSpPr>
        <p:spPr bwMode="auto">
          <a:xfrm>
            <a:off x="8004979" y="4197091"/>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200</a:t>
            </a:r>
          </a:p>
        </p:txBody>
      </p:sp>
      <p:sp>
        <p:nvSpPr>
          <p:cNvPr id="23" name="TextBox 20"/>
          <p:cNvSpPr txBox="1">
            <a:spLocks noChangeArrowheads="1"/>
          </p:cNvSpPr>
          <p:nvPr/>
        </p:nvSpPr>
        <p:spPr bwMode="auto">
          <a:xfrm>
            <a:off x="8004979" y="4625716"/>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100</a:t>
            </a:r>
          </a:p>
        </p:txBody>
      </p:sp>
      <p:sp>
        <p:nvSpPr>
          <p:cNvPr id="24" name="TextBox 21"/>
          <p:cNvSpPr txBox="1">
            <a:spLocks noChangeArrowheads="1"/>
          </p:cNvSpPr>
          <p:nvPr/>
        </p:nvSpPr>
        <p:spPr bwMode="auto">
          <a:xfrm>
            <a:off x="365929" y="5222615"/>
            <a:ext cx="352661"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Era</a:t>
            </a:r>
          </a:p>
        </p:txBody>
      </p:sp>
      <p:sp>
        <p:nvSpPr>
          <p:cNvPr id="25" name="TextBox 22"/>
          <p:cNvSpPr txBox="1">
            <a:spLocks noChangeArrowheads="1"/>
          </p:cNvSpPr>
          <p:nvPr/>
        </p:nvSpPr>
        <p:spPr bwMode="auto">
          <a:xfrm>
            <a:off x="365929" y="5463915"/>
            <a:ext cx="679673"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Period</a:t>
            </a:r>
          </a:p>
        </p:txBody>
      </p:sp>
      <p:sp>
        <p:nvSpPr>
          <p:cNvPr id="26" name="TextBox 23"/>
          <p:cNvSpPr txBox="1">
            <a:spLocks noChangeArrowheads="1"/>
          </p:cNvSpPr>
          <p:nvPr/>
        </p:nvSpPr>
        <p:spPr bwMode="auto">
          <a:xfrm>
            <a:off x="1093004" y="5057514"/>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0</a:t>
            </a:r>
          </a:p>
        </p:txBody>
      </p:sp>
      <p:sp>
        <p:nvSpPr>
          <p:cNvPr id="27" name="TextBox 24"/>
          <p:cNvSpPr txBox="1">
            <a:spLocks noChangeArrowheads="1"/>
          </p:cNvSpPr>
          <p:nvPr/>
        </p:nvSpPr>
        <p:spPr bwMode="auto">
          <a:xfrm>
            <a:off x="1597829" y="5476615"/>
            <a:ext cx="15709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C</a:t>
            </a:r>
          </a:p>
        </p:txBody>
      </p:sp>
      <p:sp>
        <p:nvSpPr>
          <p:cNvPr id="28" name="TextBox 25"/>
          <p:cNvSpPr txBox="1">
            <a:spLocks noChangeArrowheads="1"/>
          </p:cNvSpPr>
          <p:nvPr/>
        </p:nvSpPr>
        <p:spPr bwMode="auto">
          <a:xfrm>
            <a:off x="1164441"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541</a:t>
            </a:r>
          </a:p>
        </p:txBody>
      </p:sp>
      <p:sp>
        <p:nvSpPr>
          <p:cNvPr id="29" name="TextBox 26"/>
          <p:cNvSpPr txBox="1">
            <a:spLocks noChangeArrowheads="1"/>
          </p:cNvSpPr>
          <p:nvPr/>
        </p:nvSpPr>
        <p:spPr bwMode="auto">
          <a:xfrm>
            <a:off x="2175679" y="5476615"/>
            <a:ext cx="16991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O</a:t>
            </a:r>
          </a:p>
        </p:txBody>
      </p:sp>
      <p:sp>
        <p:nvSpPr>
          <p:cNvPr id="30" name="TextBox 27"/>
          <p:cNvSpPr txBox="1">
            <a:spLocks noChangeArrowheads="1"/>
          </p:cNvSpPr>
          <p:nvPr/>
        </p:nvSpPr>
        <p:spPr bwMode="auto">
          <a:xfrm>
            <a:off x="2570966" y="5195628"/>
            <a:ext cx="1008289"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Paleozoic</a:t>
            </a:r>
          </a:p>
        </p:txBody>
      </p:sp>
      <p:sp>
        <p:nvSpPr>
          <p:cNvPr id="31" name="TextBox 28"/>
          <p:cNvSpPr txBox="1">
            <a:spLocks noChangeArrowheads="1"/>
          </p:cNvSpPr>
          <p:nvPr/>
        </p:nvSpPr>
        <p:spPr bwMode="auto">
          <a:xfrm>
            <a:off x="2604304" y="5476615"/>
            <a:ext cx="14587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S</a:t>
            </a:r>
          </a:p>
        </p:txBody>
      </p:sp>
      <p:sp>
        <p:nvSpPr>
          <p:cNvPr id="32" name="TextBox 29"/>
          <p:cNvSpPr txBox="1">
            <a:spLocks noChangeArrowheads="1"/>
          </p:cNvSpPr>
          <p:nvPr/>
        </p:nvSpPr>
        <p:spPr bwMode="auto">
          <a:xfrm>
            <a:off x="3101191" y="5476615"/>
            <a:ext cx="15709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D</a:t>
            </a:r>
          </a:p>
        </p:txBody>
      </p:sp>
      <p:sp>
        <p:nvSpPr>
          <p:cNvPr id="33" name="TextBox 30"/>
          <p:cNvSpPr txBox="1">
            <a:spLocks noChangeArrowheads="1"/>
          </p:cNvSpPr>
          <p:nvPr/>
        </p:nvSpPr>
        <p:spPr bwMode="auto">
          <a:xfrm>
            <a:off x="3345666"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359</a:t>
            </a:r>
          </a:p>
        </p:txBody>
      </p:sp>
      <p:sp>
        <p:nvSpPr>
          <p:cNvPr id="34" name="TextBox 31"/>
          <p:cNvSpPr txBox="1">
            <a:spLocks noChangeArrowheads="1"/>
          </p:cNvSpPr>
          <p:nvPr/>
        </p:nvSpPr>
        <p:spPr bwMode="auto">
          <a:xfrm>
            <a:off x="5442754" y="5192452"/>
            <a:ext cx="982641"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Mesozoic</a:t>
            </a:r>
          </a:p>
        </p:txBody>
      </p:sp>
      <p:sp>
        <p:nvSpPr>
          <p:cNvPr id="35" name="TextBox 32"/>
          <p:cNvSpPr txBox="1">
            <a:spLocks noChangeArrowheads="1"/>
          </p:cNvSpPr>
          <p:nvPr/>
        </p:nvSpPr>
        <p:spPr bwMode="auto">
          <a:xfrm>
            <a:off x="5690404" y="5475028"/>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J</a:t>
            </a:r>
          </a:p>
        </p:txBody>
      </p:sp>
      <p:sp>
        <p:nvSpPr>
          <p:cNvPr id="36" name="TextBox 33"/>
          <p:cNvSpPr txBox="1">
            <a:spLocks noChangeArrowheads="1"/>
          </p:cNvSpPr>
          <p:nvPr/>
        </p:nvSpPr>
        <p:spPr bwMode="auto">
          <a:xfrm>
            <a:off x="6482566" y="5475028"/>
            <a:ext cx="15709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C</a:t>
            </a:r>
          </a:p>
        </p:txBody>
      </p:sp>
      <p:sp>
        <p:nvSpPr>
          <p:cNvPr id="37" name="TextBox 34"/>
          <p:cNvSpPr txBox="1">
            <a:spLocks noChangeArrowheads="1"/>
          </p:cNvSpPr>
          <p:nvPr/>
        </p:nvSpPr>
        <p:spPr bwMode="auto">
          <a:xfrm>
            <a:off x="5249079"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201</a:t>
            </a:r>
          </a:p>
        </p:txBody>
      </p:sp>
      <p:sp>
        <p:nvSpPr>
          <p:cNvPr id="38" name="TextBox 35"/>
          <p:cNvSpPr txBox="1">
            <a:spLocks noChangeArrowheads="1"/>
          </p:cNvSpPr>
          <p:nvPr/>
        </p:nvSpPr>
        <p:spPr bwMode="auto">
          <a:xfrm>
            <a:off x="5914241"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145</a:t>
            </a:r>
          </a:p>
        </p:txBody>
      </p:sp>
      <p:sp>
        <p:nvSpPr>
          <p:cNvPr id="39" name="TextBox 36"/>
          <p:cNvSpPr txBox="1">
            <a:spLocks noChangeArrowheads="1"/>
          </p:cNvSpPr>
          <p:nvPr/>
        </p:nvSpPr>
        <p:spPr bwMode="auto">
          <a:xfrm>
            <a:off x="7071529" y="5228965"/>
            <a:ext cx="795089"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550"/>
              </a:lnSpc>
            </a:pPr>
            <a:r>
              <a:rPr lang="en-US" sz="1400" b="1" dirty="0">
                <a:solidFill>
                  <a:srgbClr val="000000"/>
                </a:solidFill>
                <a:latin typeface="Arial"/>
                <a:ea typeface="ＭＳ Ｐゴシック" charset="0"/>
              </a:rPr>
              <a:t>Cenozoic</a:t>
            </a:r>
          </a:p>
        </p:txBody>
      </p:sp>
      <p:sp>
        <p:nvSpPr>
          <p:cNvPr id="40" name="TextBox 45"/>
          <p:cNvSpPr txBox="1">
            <a:spLocks noChangeArrowheads="1"/>
          </p:cNvSpPr>
          <p:nvPr/>
        </p:nvSpPr>
        <p:spPr bwMode="auto">
          <a:xfrm>
            <a:off x="8009741" y="5067040"/>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0</a:t>
            </a:r>
          </a:p>
        </p:txBody>
      </p:sp>
      <p:sp>
        <p:nvSpPr>
          <p:cNvPr id="41" name="TextBox 46"/>
          <p:cNvSpPr txBox="1">
            <a:spLocks noChangeArrowheads="1"/>
          </p:cNvSpPr>
          <p:nvPr/>
        </p:nvSpPr>
        <p:spPr bwMode="auto">
          <a:xfrm>
            <a:off x="8057366" y="5397240"/>
            <a:ext cx="16991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Q</a:t>
            </a:r>
          </a:p>
        </p:txBody>
      </p:sp>
      <p:sp>
        <p:nvSpPr>
          <p:cNvPr id="42" name="TextBox 47"/>
          <p:cNvSpPr txBox="1">
            <a:spLocks noChangeArrowheads="1"/>
          </p:cNvSpPr>
          <p:nvPr/>
        </p:nvSpPr>
        <p:spPr bwMode="auto">
          <a:xfrm>
            <a:off x="3798104" y="5475028"/>
            <a:ext cx="15709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C</a:t>
            </a:r>
          </a:p>
        </p:txBody>
      </p:sp>
      <p:sp>
        <p:nvSpPr>
          <p:cNvPr id="43" name="TextBox 48"/>
          <p:cNvSpPr txBox="1">
            <a:spLocks noChangeArrowheads="1"/>
          </p:cNvSpPr>
          <p:nvPr/>
        </p:nvSpPr>
        <p:spPr bwMode="auto">
          <a:xfrm>
            <a:off x="4447391" y="5475028"/>
            <a:ext cx="14587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P</a:t>
            </a:r>
          </a:p>
        </p:txBody>
      </p:sp>
      <p:sp>
        <p:nvSpPr>
          <p:cNvPr id="44" name="TextBox 49"/>
          <p:cNvSpPr txBox="1">
            <a:spLocks noChangeArrowheads="1"/>
          </p:cNvSpPr>
          <p:nvPr/>
        </p:nvSpPr>
        <p:spPr bwMode="auto">
          <a:xfrm>
            <a:off x="4055279"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299</a:t>
            </a:r>
          </a:p>
        </p:txBody>
      </p:sp>
      <p:sp>
        <p:nvSpPr>
          <p:cNvPr id="45" name="TextBox 50"/>
          <p:cNvSpPr txBox="1">
            <a:spLocks noChangeArrowheads="1"/>
          </p:cNvSpPr>
          <p:nvPr/>
        </p:nvSpPr>
        <p:spPr bwMode="auto">
          <a:xfrm>
            <a:off x="5003016" y="5475028"/>
            <a:ext cx="20595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Tr</a:t>
            </a:r>
          </a:p>
        </p:txBody>
      </p:sp>
      <p:sp>
        <p:nvSpPr>
          <p:cNvPr id="46" name="TextBox 51"/>
          <p:cNvSpPr txBox="1">
            <a:spLocks noChangeArrowheads="1"/>
          </p:cNvSpPr>
          <p:nvPr/>
        </p:nvSpPr>
        <p:spPr bwMode="auto">
          <a:xfrm>
            <a:off x="7271554" y="5482965"/>
            <a:ext cx="14587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P</a:t>
            </a:r>
          </a:p>
        </p:txBody>
      </p:sp>
      <p:sp>
        <p:nvSpPr>
          <p:cNvPr id="47" name="TextBox 52"/>
          <p:cNvSpPr txBox="1">
            <a:spLocks noChangeArrowheads="1"/>
          </p:cNvSpPr>
          <p:nvPr/>
        </p:nvSpPr>
        <p:spPr bwMode="auto">
          <a:xfrm>
            <a:off x="6928654" y="5820614"/>
            <a:ext cx="243656"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66</a:t>
            </a:r>
          </a:p>
        </p:txBody>
      </p:sp>
      <p:sp>
        <p:nvSpPr>
          <p:cNvPr id="48" name="TextBox 53"/>
          <p:cNvSpPr txBox="1">
            <a:spLocks noChangeArrowheads="1"/>
          </p:cNvSpPr>
          <p:nvPr/>
        </p:nvSpPr>
        <p:spPr bwMode="auto">
          <a:xfrm>
            <a:off x="7662079" y="5482965"/>
            <a:ext cx="157094"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N</a:t>
            </a:r>
          </a:p>
        </p:txBody>
      </p:sp>
      <p:sp>
        <p:nvSpPr>
          <p:cNvPr id="49" name="TextBox 54"/>
          <p:cNvSpPr txBox="1">
            <a:spLocks noChangeArrowheads="1"/>
          </p:cNvSpPr>
          <p:nvPr/>
        </p:nvSpPr>
        <p:spPr bwMode="auto">
          <a:xfrm>
            <a:off x="7828766" y="5820614"/>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a:solidFill>
                  <a:srgbClr val="000000"/>
                </a:solidFill>
                <a:latin typeface="Arial"/>
                <a:ea typeface="ＭＳ Ｐゴシック" charset="0"/>
              </a:rPr>
              <a:t>0</a:t>
            </a:r>
          </a:p>
        </p:txBody>
      </p:sp>
      <p:sp>
        <p:nvSpPr>
          <p:cNvPr id="50" name="TextBox 55"/>
          <p:cNvSpPr txBox="1">
            <a:spLocks noChangeArrowheads="1"/>
          </p:cNvSpPr>
          <p:nvPr/>
        </p:nvSpPr>
        <p:spPr bwMode="auto">
          <a:xfrm>
            <a:off x="1812141"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485</a:t>
            </a:r>
          </a:p>
        </p:txBody>
      </p:sp>
      <p:sp>
        <p:nvSpPr>
          <p:cNvPr id="51" name="TextBox 56"/>
          <p:cNvSpPr txBox="1">
            <a:spLocks noChangeArrowheads="1"/>
          </p:cNvSpPr>
          <p:nvPr/>
        </p:nvSpPr>
        <p:spPr bwMode="auto">
          <a:xfrm>
            <a:off x="4118779" y="6341802"/>
            <a:ext cx="114864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Time (</a:t>
            </a:r>
            <a:r>
              <a:rPr lang="en-US" sz="1700" b="1" dirty="0" err="1">
                <a:solidFill>
                  <a:srgbClr val="000000"/>
                </a:solidFill>
                <a:latin typeface="Arial"/>
                <a:ea typeface="ＭＳ Ｐゴシック" charset="0"/>
              </a:rPr>
              <a:t>mya</a:t>
            </a:r>
            <a:r>
              <a:rPr lang="en-US" sz="1700" b="1" dirty="0">
                <a:solidFill>
                  <a:srgbClr val="000000"/>
                </a:solidFill>
                <a:latin typeface="Arial"/>
                <a:ea typeface="ＭＳ Ｐゴシック" charset="0"/>
              </a:rPr>
              <a:t>)</a:t>
            </a:r>
          </a:p>
        </p:txBody>
      </p:sp>
      <p:sp>
        <p:nvSpPr>
          <p:cNvPr id="52" name="TextBox 51"/>
          <p:cNvSpPr txBox="1"/>
          <p:nvPr/>
        </p:nvSpPr>
        <p:spPr>
          <a:xfrm>
            <a:off x="8564722" y="1538537"/>
            <a:ext cx="243656" cy="2741135"/>
          </a:xfrm>
          <a:prstGeom prst="rect">
            <a:avLst/>
          </a:prstGeom>
          <a:noFill/>
        </p:spPr>
        <p:txBody>
          <a:bodyPr vert="vert270" wrap="none" lIns="0" tIns="0" rIns="0" bIns="0">
            <a:spAutoFit/>
          </a:bodyPr>
          <a:lstStyle/>
          <a:p>
            <a:pPr fontAlgn="auto">
              <a:lnSpc>
                <a:spcPts val="1940"/>
              </a:lnSpc>
              <a:spcBef>
                <a:spcPts val="0"/>
              </a:spcBef>
              <a:spcAft>
                <a:spcPts val="0"/>
              </a:spcAft>
              <a:defRPr/>
            </a:pPr>
            <a:r>
              <a:rPr lang="en-US" sz="1700" b="1" dirty="0">
                <a:solidFill>
                  <a:srgbClr val="000000"/>
                </a:solidFill>
                <a:latin typeface="Arial"/>
                <a:ea typeface="ＭＳ Ｐゴシック" charset="0"/>
              </a:rPr>
              <a:t>Number of extant families:</a:t>
            </a:r>
          </a:p>
        </p:txBody>
      </p:sp>
      <p:sp>
        <p:nvSpPr>
          <p:cNvPr id="53" name="TextBox 55"/>
          <p:cNvSpPr txBox="1">
            <a:spLocks noChangeArrowheads="1"/>
          </p:cNvSpPr>
          <p:nvPr/>
        </p:nvSpPr>
        <p:spPr bwMode="auto">
          <a:xfrm>
            <a:off x="2270162"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443</a:t>
            </a:r>
          </a:p>
        </p:txBody>
      </p:sp>
      <p:sp>
        <p:nvSpPr>
          <p:cNvPr id="54" name="TextBox 55"/>
          <p:cNvSpPr txBox="1">
            <a:spLocks noChangeArrowheads="1"/>
          </p:cNvSpPr>
          <p:nvPr/>
        </p:nvSpPr>
        <p:spPr bwMode="auto">
          <a:xfrm>
            <a:off x="2687706"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419</a:t>
            </a:r>
          </a:p>
        </p:txBody>
      </p:sp>
      <p:sp>
        <p:nvSpPr>
          <p:cNvPr id="55" name="TextBox 49"/>
          <p:cNvSpPr txBox="1">
            <a:spLocks noChangeArrowheads="1"/>
          </p:cNvSpPr>
          <p:nvPr/>
        </p:nvSpPr>
        <p:spPr bwMode="auto">
          <a:xfrm>
            <a:off x="4627316" y="5820614"/>
            <a:ext cx="365485"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940"/>
              </a:lnSpc>
            </a:pPr>
            <a:r>
              <a:rPr lang="en-US" sz="1700" b="1" dirty="0">
                <a:solidFill>
                  <a:srgbClr val="000000"/>
                </a:solidFill>
                <a:latin typeface="Arial"/>
                <a:ea typeface="ＭＳ Ｐゴシック" charset="0"/>
              </a:rPr>
              <a:t>252</a:t>
            </a:r>
          </a:p>
        </p:txBody>
      </p:sp>
      <p:sp>
        <p:nvSpPr>
          <p:cNvPr id="56" name="TextBox 55"/>
          <p:cNvSpPr txBox="1"/>
          <p:nvPr/>
        </p:nvSpPr>
        <p:spPr>
          <a:xfrm>
            <a:off x="346877" y="1606546"/>
            <a:ext cx="487313" cy="2829301"/>
          </a:xfrm>
          <a:prstGeom prst="rect">
            <a:avLst/>
          </a:prstGeom>
          <a:noFill/>
        </p:spPr>
        <p:txBody>
          <a:bodyPr vert="vert270" wrap="none" lIns="0" tIns="0" rIns="0" bIns="0">
            <a:spAutoFit/>
          </a:bodyPr>
          <a:lstStyle/>
          <a:p>
            <a:pPr algn="ctr" fontAlgn="auto">
              <a:lnSpc>
                <a:spcPts val="1940"/>
              </a:lnSpc>
              <a:spcBef>
                <a:spcPts val="0"/>
              </a:spcBef>
              <a:spcAft>
                <a:spcPts val="0"/>
              </a:spcAft>
              <a:defRPr/>
            </a:pPr>
            <a:r>
              <a:rPr lang="en-US" sz="1700" b="1" dirty="0">
                <a:solidFill>
                  <a:srgbClr val="000000"/>
                </a:solidFill>
                <a:latin typeface="Arial"/>
                <a:ea typeface="ＭＳ Ｐゴシック" charset="0"/>
              </a:rPr>
              <a:t>   Total extinction rate</a:t>
            </a:r>
          </a:p>
          <a:p>
            <a:pPr algn="ctr" fontAlgn="auto">
              <a:lnSpc>
                <a:spcPts val="1940"/>
              </a:lnSpc>
              <a:spcBef>
                <a:spcPts val="0"/>
              </a:spcBef>
              <a:spcAft>
                <a:spcPts val="0"/>
              </a:spcAft>
              <a:defRPr/>
            </a:pPr>
            <a:r>
              <a:rPr lang="en-US" sz="1700" b="1" dirty="0">
                <a:solidFill>
                  <a:srgbClr val="000000"/>
                </a:solidFill>
                <a:latin typeface="Arial"/>
                <a:ea typeface="ＭＳ Ｐゴシック" charset="0"/>
              </a:rPr>
              <a:t>(families per million years):</a:t>
            </a:r>
          </a:p>
        </p:txBody>
      </p:sp>
      <p:sp>
        <p:nvSpPr>
          <p:cNvPr id="10" name="Freeform 9" descr="A graph is shown. Along the x axis is time, in units of millions of years ago. One y-axis shows the Total Extinction Rate (families per million years) with a range of 0 to 25, and the other y-axis shows the number of families with a range of 0 to 1100. Beginning at 541 million years ago in the Paleozoic, the extinction rate oscillated from 5 to 2.5 families per million years, with an increasing number of families from almost 0 to 475. At 444 million years ago, there is a large increase in the extinction rate to 20 families per million years. The number of families decreases to 375. The number of families increases again and remains around 475, and the extinction rate oscillates around 2.5 to 7.5 families per million years until 360 million years ago. At this point the extinction rate increases to 10 families per million years, and the number of families decreases to 400. From 359 to 251 million years ago, the extinction rate decreases from 5 families per million years to 2.5 million years ago, while the number of families is around 450. At 251 million years ago, the extinction rate increases to 27.5 families per million years, and the number of families decreases to 200. From this point onwards to the present, the number of families increases slowly to 775 in the present, and the extinction rate decreases to around 2.5 families per million years. There is a small decrease in the number of families at 200 million years ago (extinction rate of 12 families per million years ago), 145 million years ago (extinction rate of 7 families per million years) and 65.5 million years ago (extinction rate of 17 families per million years. The number of families at 65.5 million years ago decreases from 610 to 550 before increasing again. 2"/>
          <p:cNvSpPr/>
          <p:nvPr/>
        </p:nvSpPr>
        <p:spPr>
          <a:xfrm>
            <a:off x="7896225" y="5553075"/>
            <a:ext cx="138113" cy="54769"/>
          </a:xfrm>
          <a:custGeom>
            <a:avLst/>
            <a:gdLst>
              <a:gd name="connsiteX0" fmla="*/ 0 w 138113"/>
              <a:gd name="connsiteY0" fmla="*/ 54769 h 54769"/>
              <a:gd name="connsiteX1" fmla="*/ 138113 w 138113"/>
              <a:gd name="connsiteY1" fmla="*/ 0 h 54769"/>
            </a:gdLst>
            <a:ahLst/>
            <a:cxnLst>
              <a:cxn ang="0">
                <a:pos x="connsiteX0" y="connsiteY0"/>
              </a:cxn>
              <a:cxn ang="0">
                <a:pos x="connsiteX1" y="connsiteY1"/>
              </a:cxn>
            </a:cxnLst>
            <a:rect l="l" t="t" r="r" b="b"/>
            <a:pathLst>
              <a:path w="138113" h="54769">
                <a:moveTo>
                  <a:pt x="0" y="54769"/>
                </a:moveTo>
                <a:lnTo>
                  <a:pt x="138113" y="0"/>
                </a:lnTo>
              </a:path>
            </a:pathLst>
          </a:custGeom>
          <a:ln w="12700">
            <a:solidFill>
              <a:schemeClr val="tx1"/>
            </a:solidFill>
          </a:ln>
        </p:spPr>
        <p:txBody>
          <a:bodyPr vert="horz" wrap="square" lIns="91440" tIns="45720" rIns="91440" bIns="45720" numCol="1" rtlCol="0" anchor="t" anchorCtr="0" compatLnSpc="1">
            <a:prstTxWarp prst="textNoShape">
              <a:avLst/>
            </a:prstTxWarp>
          </a:bodyPr>
          <a:lstStyle/>
          <a:p>
            <a:endParaRPr lang="en-US">
              <a:solidFill>
                <a:srgbClr val="000000"/>
              </a:solidFill>
              <a:latin typeface="Times" pitchFamily="84" charset="0"/>
              <a:ea typeface="ＭＳ Ｐゴシック" charset="0"/>
            </a:endParaRPr>
          </a:p>
        </p:txBody>
      </p:sp>
      <p:sp>
        <p:nvSpPr>
          <p:cNvPr id="3" name="TextBox 2"/>
          <p:cNvSpPr txBox="1"/>
          <p:nvPr/>
        </p:nvSpPr>
        <p:spPr>
          <a:xfrm>
            <a:off x="2215491" y="1242211"/>
            <a:ext cx="527709" cy="461665"/>
          </a:xfrm>
          <a:prstGeom prst="rect">
            <a:avLst/>
          </a:prstGeom>
          <a:solidFill>
            <a:srgbClr val="FF0000"/>
          </a:solidFill>
        </p:spPr>
        <p:txBody>
          <a:bodyPr wrap="none" rtlCol="0">
            <a:spAutoFit/>
          </a:bodyPr>
          <a:lstStyle/>
          <a:p>
            <a:r>
              <a:rPr lang="en-US" dirty="0"/>
              <a:t>#1</a:t>
            </a:r>
          </a:p>
        </p:txBody>
      </p:sp>
      <p:sp>
        <p:nvSpPr>
          <p:cNvPr id="57" name="TextBox 56"/>
          <p:cNvSpPr txBox="1"/>
          <p:nvPr/>
        </p:nvSpPr>
        <p:spPr>
          <a:xfrm>
            <a:off x="3129891" y="2510135"/>
            <a:ext cx="527709" cy="461665"/>
          </a:xfrm>
          <a:prstGeom prst="rect">
            <a:avLst/>
          </a:prstGeom>
          <a:solidFill>
            <a:srgbClr val="FF0000"/>
          </a:solidFill>
        </p:spPr>
        <p:txBody>
          <a:bodyPr wrap="none" rtlCol="0">
            <a:spAutoFit/>
          </a:bodyPr>
          <a:lstStyle/>
          <a:p>
            <a:r>
              <a:rPr lang="en-US" dirty="0"/>
              <a:t>#2</a:t>
            </a:r>
          </a:p>
        </p:txBody>
      </p:sp>
      <p:sp>
        <p:nvSpPr>
          <p:cNvPr id="58" name="TextBox 57"/>
          <p:cNvSpPr txBox="1"/>
          <p:nvPr/>
        </p:nvSpPr>
        <p:spPr>
          <a:xfrm>
            <a:off x="4114800" y="224135"/>
            <a:ext cx="527709" cy="461665"/>
          </a:xfrm>
          <a:prstGeom prst="rect">
            <a:avLst/>
          </a:prstGeom>
          <a:solidFill>
            <a:srgbClr val="FF0000"/>
          </a:solidFill>
          <a:ln w="76200">
            <a:solidFill>
              <a:srgbClr val="FFFF00"/>
            </a:solidFill>
          </a:ln>
        </p:spPr>
        <p:txBody>
          <a:bodyPr wrap="none" rtlCol="0">
            <a:spAutoFit/>
          </a:bodyPr>
          <a:lstStyle/>
          <a:p>
            <a:r>
              <a:rPr lang="en-US" dirty="0"/>
              <a:t>#3</a:t>
            </a:r>
          </a:p>
        </p:txBody>
      </p:sp>
      <p:sp>
        <p:nvSpPr>
          <p:cNvPr id="59" name="TextBox 58"/>
          <p:cNvSpPr txBox="1"/>
          <p:nvPr/>
        </p:nvSpPr>
        <p:spPr>
          <a:xfrm>
            <a:off x="5187291" y="2667000"/>
            <a:ext cx="527709" cy="461665"/>
          </a:xfrm>
          <a:prstGeom prst="rect">
            <a:avLst/>
          </a:prstGeom>
          <a:solidFill>
            <a:srgbClr val="FF0000"/>
          </a:solidFill>
        </p:spPr>
        <p:txBody>
          <a:bodyPr wrap="none" rtlCol="0">
            <a:spAutoFit/>
          </a:bodyPr>
          <a:lstStyle/>
          <a:p>
            <a:r>
              <a:rPr lang="en-US" dirty="0"/>
              <a:t>#4</a:t>
            </a:r>
          </a:p>
        </p:txBody>
      </p:sp>
      <p:sp>
        <p:nvSpPr>
          <p:cNvPr id="60" name="TextBox 59"/>
          <p:cNvSpPr txBox="1"/>
          <p:nvPr/>
        </p:nvSpPr>
        <p:spPr>
          <a:xfrm>
            <a:off x="6752985" y="1575759"/>
            <a:ext cx="527709" cy="461665"/>
          </a:xfrm>
          <a:prstGeom prst="rect">
            <a:avLst/>
          </a:prstGeom>
          <a:solidFill>
            <a:srgbClr val="FF0000"/>
          </a:solidFill>
          <a:ln w="76200">
            <a:solidFill>
              <a:srgbClr val="00B050"/>
            </a:solidFill>
          </a:ln>
        </p:spPr>
        <p:txBody>
          <a:bodyPr wrap="none" rtlCol="0">
            <a:spAutoFit/>
          </a:bodyPr>
          <a:lstStyle/>
          <a:p>
            <a:r>
              <a:rPr lang="en-US" dirty="0"/>
              <a:t>#5</a:t>
            </a:r>
          </a:p>
        </p:txBody>
      </p:sp>
      <p:cxnSp>
        <p:nvCxnSpPr>
          <p:cNvPr id="62" name="Straight Connector 61" descr="A graph is shown. Along the x axis is time, in units of millions of years ago. One y-axis shows the Total Extinction Rate (families per million years) with a range of 0 to 25, and the other y-axis shows the number of families with a range of 0 to 1100. Beginning at 541 million years ago in the Paleozoic, the extinction rate oscillated from 5 to 2.5 families per million years, with an increasing number of families from almost 0 to 475. At 444 million years ago, there is a large increase in the extinction rate to 20 families per million years. The number of families decreases to 375. The number of families increases again and remains around 475, and the extinction rate oscillates around 2.5 to 7.5 families per million years until 360 million years ago. At this point the extinction rate increases to 10 families per million years, and the number of families decreases to 400. From 359 to 251 million years ago, the extinction rate decreases from 5 families per million years to 2.5 million years ago, while the number of families is around 450. At 251 million years ago, the extinction rate increases to 27.5 families per million years, and the number of families decreases to 200. From this point onwards to the present, the number of families increases slowly to 775 in the present, and the extinction rate decreases to around 2.5 families per million years. There is a small decrease in the number of families at 200 million years ago (extinction rate of 12 families per million years ago), 145 million years ago (extinction rate of 7 families per million years) and 65.5 million years ago (extinction rate of 17 families per million years. The number of families at 65.5 million years ago decreases from 610 to 550 before increasing again. 3">
            <a:extLst>
              <a:ext uri="{FF2B5EF4-FFF2-40B4-BE49-F238E27FC236}">
                <a16:creationId xmlns:a16="http://schemas.microsoft.com/office/drawing/2014/main" id="{F0AAF4C5-7261-4F99-8BD1-C8ABAB1E7C53}"/>
              </a:ext>
            </a:extLst>
          </p:cNvPr>
          <p:cNvCxnSpPr/>
          <p:nvPr/>
        </p:nvCxnSpPr>
        <p:spPr bwMode="auto">
          <a:xfrm>
            <a:off x="713146" y="737442"/>
            <a:ext cx="0" cy="849568"/>
          </a:xfrm>
          <a:prstGeom prst="line">
            <a:avLst/>
          </a:prstGeom>
          <a:solidFill>
            <a:schemeClr val="accent1"/>
          </a:solidFill>
          <a:ln w="635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Straight Connector 62" descr="A graph is shown. Along the x axis is time, in units of millions of years ago. One y-axis shows the Total Extinction Rate (families per million years) with a range of 0 to 25, and the other y-axis shows the number of families with a range of 0 to 1100. Beginning at 541 million years ago in the Paleozoic, the extinction rate oscillated from 5 to 2.5 families per million years, with an increasing number of families from almost 0 to 475. At 444 million years ago, there is a large increase in the extinction rate to 20 families per million years. The number of families decreases to 375. The number of families increases again and remains around 475, and the extinction rate oscillates around 2.5 to 7.5 families per million years until 360 million years ago. At this point the extinction rate increases to 10 families per million years, and the number of families decreases to 400. From 359 to 251 million years ago, the extinction rate decreases from 5 families per million years to 2.5 million years ago, while the number of families is around 450. At 251 million years ago, the extinction rate increases to 27.5 families per million years, and the number of families decreases to 200. From this point onwards to the present, the number of families increases slowly to 775 in the present, and the extinction rate decreases to around 2.5 families per million years. There is a small decrease in the number of families at 200 million years ago (extinction rate of 12 families per million years ago), 145 million years ago (extinction rate of 7 families per million years) and 65.5 million years ago (extinction rate of 17 families per million years. The number of families at 65.5 million years ago decreases from 610 to 550 before increasing again. 4">
            <a:extLst>
              <a:ext uri="{FF2B5EF4-FFF2-40B4-BE49-F238E27FC236}">
                <a16:creationId xmlns:a16="http://schemas.microsoft.com/office/drawing/2014/main" id="{F40CD0B5-A1C0-4E7C-A28B-7EBBB5123442}"/>
              </a:ext>
            </a:extLst>
          </p:cNvPr>
          <p:cNvCxnSpPr/>
          <p:nvPr/>
        </p:nvCxnSpPr>
        <p:spPr bwMode="auto">
          <a:xfrm>
            <a:off x="8703129" y="674432"/>
            <a:ext cx="0" cy="849568"/>
          </a:xfrm>
          <a:prstGeom prst="line">
            <a:avLst/>
          </a:prstGeom>
          <a:solidFill>
            <a:schemeClr val="accent1"/>
          </a:solidFill>
          <a:ln w="63500" cap="flat" cmpd="sng" algn="ctr">
            <a:solidFill>
              <a:srgbClr val="007AD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199088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53"/>
            <a:ext cx="9144000" cy="600164"/>
          </a:xfrm>
        </p:spPr>
        <p:txBody>
          <a:bodyPr/>
          <a:lstStyle/>
          <a:p>
            <a:r>
              <a:rPr lang="en-US" dirty="0">
                <a:solidFill>
                  <a:schemeClr val="bg1"/>
                </a:solidFill>
              </a:rPr>
              <a:t>37</a:t>
            </a:r>
          </a:p>
        </p:txBody>
      </p:sp>
      <p:sp>
        <p:nvSpPr>
          <p:cNvPr id="306178" name="Rectangle 2"/>
          <p:cNvSpPr>
            <a:spLocks noGrp="1" noChangeArrowheads="1"/>
          </p:cNvSpPr>
          <p:nvPr>
            <p:ph idx="4294967295"/>
          </p:nvPr>
        </p:nvSpPr>
        <p:spPr>
          <a:xfrm>
            <a:off x="152400" y="76200"/>
            <a:ext cx="8839200" cy="6705600"/>
          </a:xfrm>
        </p:spPr>
        <p:txBody>
          <a:bodyPr/>
          <a:lstStyle/>
          <a:p>
            <a:r>
              <a:rPr lang="en-US" altLang="en-US" dirty="0"/>
              <a:t>The Permian extinction (</a:t>
            </a:r>
            <a:r>
              <a:rPr lang="en-US" altLang="en-US" b="1" dirty="0">
                <a:solidFill>
                  <a:srgbClr val="FF0000"/>
                </a:solidFill>
              </a:rPr>
              <a:t>#3 </a:t>
            </a:r>
            <a:r>
              <a:rPr lang="en-US" altLang="en-US" dirty="0"/>
              <a:t>on the previous graph) defines the boundary between </a:t>
            </a:r>
          </a:p>
          <a:p>
            <a:endParaRPr lang="en-US" altLang="en-US" dirty="0"/>
          </a:p>
          <a:p>
            <a:r>
              <a:rPr lang="en-US" altLang="en-US" dirty="0"/>
              <a:t>This mass extinction occurred in less than 500,000 years and caused the extinction of </a:t>
            </a:r>
          </a:p>
          <a:p>
            <a:endParaRPr lang="en-US" altLang="en-US" dirty="0"/>
          </a:p>
          <a:p>
            <a:r>
              <a:rPr lang="en-US" altLang="en-US" dirty="0"/>
              <a:t>A number of factors might have contributed to </a:t>
            </a:r>
          </a:p>
          <a:p>
            <a:endParaRPr lang="en-US" altLang="en-US" dirty="0"/>
          </a:p>
          <a:p>
            <a:pPr lvl="1"/>
            <a:r>
              <a:rPr lang="en-US" altLang="en-US" dirty="0"/>
              <a:t>Extreme </a:t>
            </a:r>
          </a:p>
          <a:p>
            <a:pPr lvl="1"/>
            <a:r>
              <a:rPr lang="en-US" altLang="en-US" dirty="0"/>
              <a:t>Global warming and ocean acidification resulting from the emission of </a:t>
            </a:r>
          </a:p>
          <a:p>
            <a:pPr lvl="1"/>
            <a:r>
              <a:rPr lang="en-US" altLang="en-US" dirty="0"/>
              <a:t>Anoxic conditions resulting from </a:t>
            </a:r>
          </a:p>
        </p:txBody>
      </p:sp>
    </p:spTree>
    <p:extLst>
      <p:ext uri="{BB962C8B-B14F-4D97-AF65-F5344CB8AC3E}">
        <p14:creationId xmlns:p14="http://schemas.microsoft.com/office/powerpoint/2010/main" val="3012531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53" y="0"/>
            <a:ext cx="9144000" cy="600164"/>
          </a:xfrm>
        </p:spPr>
        <p:txBody>
          <a:bodyPr/>
          <a:lstStyle/>
          <a:p>
            <a:r>
              <a:rPr lang="en-US" dirty="0">
                <a:solidFill>
                  <a:schemeClr val="bg1"/>
                </a:solidFill>
              </a:rPr>
              <a:t>38</a:t>
            </a:r>
          </a:p>
        </p:txBody>
      </p:sp>
      <p:sp>
        <p:nvSpPr>
          <p:cNvPr id="310274" name="Rectangle 2"/>
          <p:cNvSpPr>
            <a:spLocks noGrp="1" noChangeArrowheads="1"/>
          </p:cNvSpPr>
          <p:nvPr>
            <p:ph idx="4294967295"/>
          </p:nvPr>
        </p:nvSpPr>
        <p:spPr>
          <a:xfrm>
            <a:off x="152400" y="152400"/>
            <a:ext cx="8839200" cy="6553200"/>
          </a:xfrm>
        </p:spPr>
        <p:txBody>
          <a:bodyPr/>
          <a:lstStyle/>
          <a:p>
            <a:r>
              <a:rPr lang="en-US" altLang="en-US" dirty="0"/>
              <a:t>The Cretaceous mass extinction (</a:t>
            </a:r>
            <a:r>
              <a:rPr lang="en-US" altLang="en-US" b="1" dirty="0">
                <a:solidFill>
                  <a:srgbClr val="FF0000"/>
                </a:solidFill>
              </a:rPr>
              <a:t>#5 </a:t>
            </a:r>
            <a:r>
              <a:rPr lang="en-US" altLang="en-US" dirty="0"/>
              <a:t>on the previous graph) occurred </a:t>
            </a:r>
          </a:p>
          <a:p>
            <a:r>
              <a:rPr lang="en-US" altLang="en-US" dirty="0"/>
              <a:t>More than half of all marine species, many families of terrestrial plants and animals, and all of the dinosaurs, except </a:t>
            </a:r>
          </a:p>
          <a:p>
            <a:endParaRPr lang="en-US" altLang="en-US" dirty="0"/>
          </a:p>
          <a:p>
            <a:r>
              <a:rPr lang="en-US" altLang="en-US" dirty="0"/>
              <a:t>The presence of iridium in sedimentary rocks from that time period suggests </a:t>
            </a:r>
          </a:p>
          <a:p>
            <a:r>
              <a:rPr lang="en-US" altLang="en-US" dirty="0"/>
              <a:t>The Chicxulub crater off the coast of Mexico is evidence of a </a:t>
            </a:r>
          </a:p>
          <a:p>
            <a:endParaRPr lang="en-US" altLang="en-US" dirty="0"/>
          </a:p>
          <a:p>
            <a:r>
              <a:rPr lang="en-US" altLang="en-US" dirty="0"/>
              <a:t>Dust clouds caused by the impact would have </a:t>
            </a:r>
          </a:p>
        </p:txBody>
      </p:sp>
    </p:spTree>
    <p:extLst>
      <p:ext uri="{BB962C8B-B14F-4D97-AF65-F5344CB8AC3E}">
        <p14:creationId xmlns:p14="http://schemas.microsoft.com/office/powerpoint/2010/main" val="1213112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Figure 25.18</a:t>
            </a:r>
          </a:p>
        </p:txBody>
      </p:sp>
      <p:pic>
        <p:nvPicPr>
          <p:cNvPr id="4" name="Picture 3" descr="A drawing shows an asteroid approaching the Earth, and another drawing shows the impact of an asteroid on the planet. A small map shows North and Central America. The Yucatán Peninsula in the Gulf of Mexico is labeled. Near this Peninsula is the location of the Chicxulub crater."/>
          <p:cNvPicPr>
            <a:picLocks noChangeAspect="1"/>
          </p:cNvPicPr>
          <p:nvPr/>
        </p:nvPicPr>
        <p:blipFill>
          <a:blip r:embed="rId3"/>
          <a:stretch>
            <a:fillRect/>
          </a:stretch>
        </p:blipFill>
        <p:spPr>
          <a:xfrm>
            <a:off x="638175" y="209550"/>
            <a:ext cx="7867650" cy="6438900"/>
          </a:xfrm>
          <a:prstGeom prst="rect">
            <a:avLst/>
          </a:prstGeom>
        </p:spPr>
      </p:pic>
    </p:spTree>
    <p:extLst>
      <p:ext uri="{BB962C8B-B14F-4D97-AF65-F5344CB8AC3E}">
        <p14:creationId xmlns:p14="http://schemas.microsoft.com/office/powerpoint/2010/main" val="40141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0" y="0"/>
            <a:ext cx="9144000" cy="646331"/>
          </a:xfrm>
        </p:spPr>
        <p:txBody>
          <a:bodyPr/>
          <a:lstStyle/>
          <a:p>
            <a:r>
              <a:rPr lang="en-US" altLang="en-US" i="1"/>
              <a:t>Is a Sixth Mass Extinction Under Way?</a:t>
            </a:r>
            <a:endParaRPr lang="en-US" altLang="en-US"/>
          </a:p>
        </p:txBody>
      </p:sp>
      <p:sp>
        <p:nvSpPr>
          <p:cNvPr id="316419" name="Rectangle 3"/>
          <p:cNvSpPr>
            <a:spLocks noGrp="1" noChangeArrowheads="1"/>
          </p:cNvSpPr>
          <p:nvPr>
            <p:ph idx="1"/>
          </p:nvPr>
        </p:nvSpPr>
        <p:spPr>
          <a:xfrm>
            <a:off x="152400" y="566121"/>
            <a:ext cx="8839199" cy="6291879"/>
          </a:xfrm>
        </p:spPr>
        <p:txBody>
          <a:bodyPr/>
          <a:lstStyle/>
          <a:p>
            <a:r>
              <a:rPr lang="en-US" altLang="en-US" dirty="0"/>
              <a:t>Scientists estimate that the current rate of extinction is </a:t>
            </a:r>
          </a:p>
          <a:p>
            <a:endParaRPr lang="en-US" altLang="en-US" dirty="0"/>
          </a:p>
          <a:p>
            <a:r>
              <a:rPr lang="en-US" altLang="en-US" dirty="0"/>
              <a:t>It is difficult to estimate current extinction rates because many undiscovered species may be lost through </a:t>
            </a:r>
          </a:p>
          <a:p>
            <a:r>
              <a:rPr lang="en-US" altLang="en-US" dirty="0"/>
              <a:t>Many species are declining rapidly due to </a:t>
            </a:r>
          </a:p>
          <a:p>
            <a:endParaRPr lang="en-US" altLang="en-US" dirty="0"/>
          </a:p>
          <a:p>
            <a:r>
              <a:rPr lang="en-US" altLang="en-US" dirty="0"/>
              <a:t>Climate change may hasten declines; extinction rates historically have tended to </a:t>
            </a:r>
          </a:p>
          <a:p>
            <a:endParaRPr lang="en-US" altLang="en-US" dirty="0"/>
          </a:p>
          <a:p>
            <a:r>
              <a:rPr lang="en-US" altLang="en-US" dirty="0"/>
              <a:t>Data suggest that a 6</a:t>
            </a:r>
            <a:r>
              <a:rPr lang="en-US" altLang="en-US" baseline="30000" dirty="0"/>
              <a:t>th</a:t>
            </a:r>
            <a:r>
              <a:rPr lang="en-US" altLang="en-US" dirty="0"/>
              <a:t>, </a:t>
            </a:r>
          </a:p>
        </p:txBody>
      </p:sp>
    </p:spTree>
    <p:extLst>
      <p:ext uri="{BB962C8B-B14F-4D97-AF65-F5344CB8AC3E}">
        <p14:creationId xmlns:p14="http://schemas.microsoft.com/office/powerpoint/2010/main" val="2933541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descr="Figure 25.19 Fossil extinctions and temperature&#10;" title="Figure 25.19 Fossil extinctions and temperature"/>
          <p:cNvPicPr>
            <a:picLocks noChangeAspect="1"/>
          </p:cNvPicPr>
          <p:nvPr/>
        </p:nvPicPr>
        <p:blipFill>
          <a:blip r:embed="rId3"/>
          <a:stretch>
            <a:fillRect/>
          </a:stretch>
        </p:blipFill>
        <p:spPr>
          <a:xfrm>
            <a:off x="366712" y="152400"/>
            <a:ext cx="8410575" cy="6553200"/>
          </a:xfrm>
          <a:prstGeom prst="rect">
            <a:avLst/>
          </a:prstGeom>
        </p:spPr>
      </p:pic>
      <p:sp>
        <p:nvSpPr>
          <p:cNvPr id="5" name="Title 4"/>
          <p:cNvSpPr>
            <a:spLocks noGrp="1"/>
          </p:cNvSpPr>
          <p:nvPr>
            <p:ph type="title"/>
          </p:nvPr>
        </p:nvSpPr>
        <p:spPr/>
        <p:txBody>
          <a:bodyPr/>
          <a:lstStyle/>
          <a:p>
            <a:r>
              <a:rPr lang="en-US"/>
              <a:t>Figure 25.19</a:t>
            </a:r>
          </a:p>
        </p:txBody>
      </p:sp>
    </p:spTree>
    <p:extLst>
      <p:ext uri="{BB962C8B-B14F-4D97-AF65-F5344CB8AC3E}">
        <p14:creationId xmlns:p14="http://schemas.microsoft.com/office/powerpoint/2010/main" val="1921983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0" y="0"/>
            <a:ext cx="9144000" cy="646331"/>
          </a:xfrm>
        </p:spPr>
        <p:txBody>
          <a:bodyPr/>
          <a:lstStyle/>
          <a:p>
            <a:r>
              <a:rPr lang="en-US" altLang="en-US" i="1"/>
              <a:t>Consequences of Mass Extinctions</a:t>
            </a:r>
            <a:endParaRPr lang="en-US" altLang="en-US"/>
          </a:p>
        </p:txBody>
      </p:sp>
      <p:sp>
        <p:nvSpPr>
          <p:cNvPr id="322563" name="Rectangle 3"/>
          <p:cNvSpPr>
            <a:spLocks noGrp="1" noChangeArrowheads="1"/>
          </p:cNvSpPr>
          <p:nvPr>
            <p:ph idx="1"/>
          </p:nvPr>
        </p:nvSpPr>
        <p:spPr>
          <a:xfrm>
            <a:off x="152400" y="599535"/>
            <a:ext cx="8839199" cy="6172200"/>
          </a:xfrm>
        </p:spPr>
        <p:txBody>
          <a:bodyPr/>
          <a:lstStyle/>
          <a:p>
            <a:r>
              <a:rPr lang="en-US" altLang="en-US" dirty="0"/>
              <a:t>It typically takes 5-10 million years for diversity to recover following a </a:t>
            </a:r>
          </a:p>
          <a:p>
            <a:endParaRPr lang="en-US" altLang="en-US" dirty="0"/>
          </a:p>
          <a:p>
            <a:r>
              <a:rPr lang="en-US" altLang="en-US" dirty="0"/>
              <a:t>Mass extinctions can change the types of organisms found in </a:t>
            </a:r>
          </a:p>
          <a:p>
            <a:pPr lvl="1"/>
            <a:r>
              <a:rPr lang="en-US" altLang="en-US" dirty="0"/>
              <a:t>EX: the proportion of predators increased in marine communities after the </a:t>
            </a:r>
          </a:p>
          <a:p>
            <a:pPr lvl="1"/>
            <a:endParaRPr lang="en-US" altLang="en-US" dirty="0"/>
          </a:p>
          <a:p>
            <a:r>
              <a:rPr lang="en-US" altLang="en-US" dirty="0"/>
              <a:t>Mass extinctions can also eliminate lineages with novel and </a:t>
            </a:r>
          </a:p>
          <a:p>
            <a:pPr lvl="1"/>
            <a:r>
              <a:rPr lang="en-US" altLang="en-US" dirty="0"/>
              <a:t>EX: shell-drilling gastropods were lost in the extinction at the end of the </a:t>
            </a:r>
          </a:p>
        </p:txBody>
      </p:sp>
    </p:spTree>
    <p:extLst>
      <p:ext uri="{BB962C8B-B14F-4D97-AF65-F5344CB8AC3E}">
        <p14:creationId xmlns:p14="http://schemas.microsoft.com/office/powerpoint/2010/main" val="3239377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4011"/>
            <a:ext cx="9144000" cy="600164"/>
          </a:xfrm>
        </p:spPr>
        <p:txBody>
          <a:bodyPr/>
          <a:lstStyle/>
          <a:p>
            <a:r>
              <a:rPr lang="en-US" dirty="0">
                <a:solidFill>
                  <a:schemeClr val="bg1"/>
                </a:solidFill>
              </a:rPr>
              <a:t>43</a:t>
            </a:r>
          </a:p>
        </p:txBody>
      </p:sp>
      <p:sp>
        <p:nvSpPr>
          <p:cNvPr id="328707" name="Rectangle 3"/>
          <p:cNvSpPr>
            <a:spLocks noGrp="1" noChangeArrowheads="1"/>
          </p:cNvSpPr>
          <p:nvPr>
            <p:ph idx="4294967295"/>
          </p:nvPr>
        </p:nvSpPr>
        <p:spPr>
          <a:xfrm>
            <a:off x="152400" y="152400"/>
            <a:ext cx="8839200" cy="3733800"/>
          </a:xfrm>
        </p:spPr>
        <p:txBody>
          <a:bodyPr/>
          <a:lstStyle/>
          <a:p>
            <a:r>
              <a:rPr lang="en-US" altLang="en-US" b="1" dirty="0"/>
              <a:t>Adaptive radiation </a:t>
            </a:r>
            <a:r>
              <a:rPr lang="en-US" altLang="en-US" dirty="0"/>
              <a:t>is the rapid evolution of diversely adapted </a:t>
            </a:r>
          </a:p>
          <a:p>
            <a:r>
              <a:rPr lang="en-US" altLang="en-US" dirty="0"/>
              <a:t>Adaptive radiations may follow</a:t>
            </a:r>
          </a:p>
          <a:p>
            <a:pPr lvl="1"/>
            <a:r>
              <a:rPr lang="en-US" altLang="en-US" dirty="0"/>
              <a:t> </a:t>
            </a:r>
          </a:p>
          <a:p>
            <a:pPr lvl="1"/>
            <a:r>
              <a:rPr lang="en-US" altLang="en-US" dirty="0"/>
              <a:t>the </a:t>
            </a:r>
          </a:p>
          <a:p>
            <a:pPr lvl="1"/>
            <a:r>
              <a:rPr lang="en-US" altLang="en-US" dirty="0"/>
              <a:t>the </a:t>
            </a:r>
          </a:p>
        </p:txBody>
      </p:sp>
      <p:pic>
        <p:nvPicPr>
          <p:cNvPr id="7" name="Picture 6" descr="Example of Darwin's finches and the diversity of their beak structures">
            <a:extLst>
              <a:ext uri="{FF2B5EF4-FFF2-40B4-BE49-F238E27FC236}">
                <a16:creationId xmlns:a16="http://schemas.microsoft.com/office/drawing/2014/main" id="{9F171840-3C5F-442C-9CDE-917AC2EC4F79}"/>
              </a:ext>
            </a:extLst>
          </p:cNvPr>
          <p:cNvPicPr>
            <a:picLocks noChangeAspect="1"/>
          </p:cNvPicPr>
          <p:nvPr/>
        </p:nvPicPr>
        <p:blipFill>
          <a:blip r:embed="rId3"/>
          <a:stretch>
            <a:fillRect/>
          </a:stretch>
        </p:blipFill>
        <p:spPr>
          <a:xfrm>
            <a:off x="1532493" y="3336602"/>
            <a:ext cx="6079013" cy="3352668"/>
          </a:xfrm>
          <a:prstGeom prst="rect">
            <a:avLst/>
          </a:prstGeom>
        </p:spPr>
      </p:pic>
    </p:spTree>
    <p:extLst>
      <p:ext uri="{BB962C8B-B14F-4D97-AF65-F5344CB8AC3E}">
        <p14:creationId xmlns:p14="http://schemas.microsoft.com/office/powerpoint/2010/main" val="5797784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en-US" i="1"/>
              <a:t>Worldwide Adaptive Radiations</a:t>
            </a:r>
            <a:endParaRPr lang="en-US" altLang="en-US"/>
          </a:p>
        </p:txBody>
      </p:sp>
      <p:sp>
        <p:nvSpPr>
          <p:cNvPr id="330755" name="Rectangle 3"/>
          <p:cNvSpPr>
            <a:spLocks noGrp="1" noChangeArrowheads="1"/>
          </p:cNvSpPr>
          <p:nvPr>
            <p:ph idx="1"/>
          </p:nvPr>
        </p:nvSpPr>
        <p:spPr>
          <a:xfrm>
            <a:off x="152400" y="650214"/>
            <a:ext cx="8839199" cy="3997986"/>
          </a:xfrm>
        </p:spPr>
        <p:txBody>
          <a:bodyPr/>
          <a:lstStyle/>
          <a:p>
            <a:r>
              <a:rPr lang="en-US" altLang="en-US" dirty="0"/>
              <a:t>Mammals underwent an </a:t>
            </a:r>
            <a:r>
              <a:rPr lang="en-US" altLang="en-US" b="1" dirty="0"/>
              <a:t>adaptive radiation </a:t>
            </a:r>
            <a:r>
              <a:rPr lang="en-US" altLang="en-US" dirty="0"/>
              <a:t>after the </a:t>
            </a:r>
          </a:p>
          <a:p>
            <a:r>
              <a:rPr lang="en-US" altLang="en-US" dirty="0"/>
              <a:t>The </a:t>
            </a:r>
            <a:r>
              <a:rPr lang="en-US" altLang="en-US" i="1" dirty="0"/>
              <a:t>disappearance</a:t>
            </a:r>
            <a:r>
              <a:rPr lang="en-US" altLang="en-US" dirty="0"/>
              <a:t> of dinosaurs (except birds) opened ecological niches, allowing for the </a:t>
            </a:r>
          </a:p>
          <a:p>
            <a:endParaRPr lang="en-US" altLang="en-US" dirty="0"/>
          </a:p>
          <a:p>
            <a:r>
              <a:rPr lang="en-US" altLang="en-US" dirty="0"/>
              <a:t>Other notable radiations include photosynthetic prokaryotes, large </a:t>
            </a:r>
          </a:p>
        </p:txBody>
      </p:sp>
      <p:pic>
        <p:nvPicPr>
          <p:cNvPr id="2" name="Picture 1" descr="An evolutionary diagram is shown, with a timeline of 300 million years ago to the present. Up until 175 million years ago, are the ancestral cynodonts. At 175 million years ago is an ancestral mammal. This divides into two branches, one of which leads to the monotremes (5 species), shown with a picture of the platypus. The other branch divides at 165 million years ago into the marsupials (324 species), shown with a picture of a kangaroo and the eutherians (placental mammals, 5010 species), shown with a picture of a zebra.">
            <a:extLst>
              <a:ext uri="{FF2B5EF4-FFF2-40B4-BE49-F238E27FC236}">
                <a16:creationId xmlns:a16="http://schemas.microsoft.com/office/drawing/2014/main" id="{CB3C8526-A5A7-4597-A4BB-155D4F1610EC}"/>
              </a:ext>
            </a:extLst>
          </p:cNvPr>
          <p:cNvPicPr>
            <a:picLocks noChangeAspect="1"/>
          </p:cNvPicPr>
          <p:nvPr/>
        </p:nvPicPr>
        <p:blipFill>
          <a:blip r:embed="rId3"/>
          <a:stretch>
            <a:fillRect/>
          </a:stretch>
        </p:blipFill>
        <p:spPr>
          <a:xfrm>
            <a:off x="1904999" y="4501117"/>
            <a:ext cx="5334000" cy="2356883"/>
          </a:xfrm>
          <a:prstGeom prst="rect">
            <a:avLst/>
          </a:prstGeom>
        </p:spPr>
      </p:pic>
    </p:spTree>
    <p:extLst>
      <p:ext uri="{BB962C8B-B14F-4D97-AF65-F5344CB8AC3E}">
        <p14:creationId xmlns:p14="http://schemas.microsoft.com/office/powerpoint/2010/main" val="18614229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5"/>
          <p:cNvSpPr>
            <a:spLocks noGrp="1" noChangeArrowheads="1"/>
          </p:cNvSpPr>
          <p:nvPr>
            <p:ph type="title"/>
          </p:nvPr>
        </p:nvSpPr>
        <p:spPr>
          <a:xfrm>
            <a:off x="0" y="0"/>
            <a:ext cx="9144000" cy="1569660"/>
          </a:xfrm>
        </p:spPr>
        <p:txBody>
          <a:bodyPr/>
          <a:lstStyle/>
          <a:p>
            <a:r>
              <a:rPr lang="en-US" altLang="en-US" dirty="0">
                <a:solidFill>
                  <a:srgbClr val="FF0000"/>
                </a:solidFill>
              </a:rPr>
              <a:t>Concept 25.5: Major changes in body form can result from changes in the sequences and regulation of developmental genes</a:t>
            </a:r>
          </a:p>
        </p:txBody>
      </p:sp>
      <p:sp>
        <p:nvSpPr>
          <p:cNvPr id="353283" name="Rectangle 2"/>
          <p:cNvSpPr>
            <a:spLocks noGrp="1" noChangeArrowheads="1"/>
          </p:cNvSpPr>
          <p:nvPr>
            <p:ph idx="1"/>
          </p:nvPr>
        </p:nvSpPr>
        <p:spPr>
          <a:xfrm>
            <a:off x="76200" y="1583871"/>
            <a:ext cx="8991600" cy="5225142"/>
          </a:xfrm>
        </p:spPr>
        <p:txBody>
          <a:bodyPr/>
          <a:lstStyle/>
          <a:p>
            <a:r>
              <a:rPr lang="en-US" altLang="en-US" dirty="0"/>
              <a:t>Studying genetic mechanisms of change can provide insight into </a:t>
            </a:r>
          </a:p>
          <a:p>
            <a:r>
              <a:rPr lang="en-US" altLang="en-US" b="1" dirty="0"/>
              <a:t>Developmental genes </a:t>
            </a:r>
            <a:r>
              <a:rPr lang="en-US" altLang="en-US" dirty="0"/>
              <a:t>are those that control the rate, timing, and spatial pattern of changes in an organism</a:t>
            </a:r>
            <a:r>
              <a:rPr lang="ja-JP" altLang="en-US" dirty="0"/>
              <a:t>’</a:t>
            </a:r>
            <a:r>
              <a:rPr lang="en-US" altLang="ja-JP" dirty="0"/>
              <a:t>s </a:t>
            </a:r>
          </a:p>
          <a:p>
            <a:r>
              <a:rPr lang="en-US" altLang="en-US" b="1" dirty="0"/>
              <a:t>Heterochrony</a:t>
            </a:r>
            <a:r>
              <a:rPr lang="en-US" altLang="en-US" dirty="0"/>
              <a:t> is an evolutionary change in the rate or timing of developmental events; it can have a significant </a:t>
            </a:r>
          </a:p>
          <a:p>
            <a:pPr lvl="1"/>
            <a:r>
              <a:rPr lang="en-US" altLang="en-US" dirty="0"/>
              <a:t>EX: Contrasting shapes of human and chimpanzee skulls are the result of </a:t>
            </a:r>
          </a:p>
        </p:txBody>
      </p:sp>
    </p:spTree>
    <p:extLst>
      <p:ext uri="{BB962C8B-B14F-4D97-AF65-F5344CB8AC3E}">
        <p14:creationId xmlns:p14="http://schemas.microsoft.com/office/powerpoint/2010/main" val="323331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hotograph shows a chimpanzee infant with a chimpanzee adult. A diagram shows the skull of a chimpanzee fetus and adult, as well as a human fetus and adult. The fetus skulls have disconnected plates, and a similar general shape to one another. The chimpanzee adult skull has a small upper skull, sloping forehead, and a large, protruding jaw. The human adult skull has a large upper skull, and smaller jaw, and a similar shape compared to the fetus’ skull."/>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a:xfrm>
            <a:off x="2295144" y="213360"/>
            <a:ext cx="4553712" cy="6431280"/>
          </a:xfrm>
          <a:prstGeom prst="rect">
            <a:avLst/>
          </a:prstGeom>
        </p:spPr>
      </p:pic>
      <p:sp>
        <p:nvSpPr>
          <p:cNvPr id="5" name="Title 4"/>
          <p:cNvSpPr>
            <a:spLocks noGrp="1"/>
          </p:cNvSpPr>
          <p:nvPr>
            <p:ph type="title"/>
          </p:nvPr>
        </p:nvSpPr>
        <p:spPr/>
        <p:txBody>
          <a:bodyPr/>
          <a:lstStyle/>
          <a:p>
            <a:r>
              <a:rPr lang="en-US"/>
              <a:t>Figure 25.23</a:t>
            </a:r>
          </a:p>
        </p:txBody>
      </p:sp>
      <p:sp>
        <p:nvSpPr>
          <p:cNvPr id="6" name="TextBox 3"/>
          <p:cNvSpPr txBox="1">
            <a:spLocks noChangeArrowheads="1"/>
          </p:cNvSpPr>
          <p:nvPr/>
        </p:nvSpPr>
        <p:spPr bwMode="auto">
          <a:xfrm>
            <a:off x="2335067" y="2387155"/>
            <a:ext cx="2051844"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a:solidFill>
                  <a:srgbClr val="000000"/>
                </a:solidFill>
                <a:latin typeface="Arial"/>
                <a:ea typeface="ＭＳ Ｐゴシック" charset="0"/>
              </a:rPr>
              <a:t>Chimpanzee infant</a:t>
            </a:r>
          </a:p>
        </p:txBody>
      </p:sp>
      <p:sp>
        <p:nvSpPr>
          <p:cNvPr id="7" name="TextBox 7"/>
          <p:cNvSpPr txBox="1">
            <a:spLocks noChangeArrowheads="1"/>
          </p:cNvSpPr>
          <p:nvPr/>
        </p:nvSpPr>
        <p:spPr bwMode="auto">
          <a:xfrm>
            <a:off x="4849667" y="2387155"/>
            <a:ext cx="1974900"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dirty="0">
                <a:solidFill>
                  <a:srgbClr val="000000"/>
                </a:solidFill>
                <a:latin typeface="Arial"/>
                <a:ea typeface="ＭＳ Ｐゴシック" charset="0"/>
              </a:rPr>
              <a:t>Chimpanzee adult</a:t>
            </a:r>
          </a:p>
        </p:txBody>
      </p:sp>
      <p:sp>
        <p:nvSpPr>
          <p:cNvPr id="8" name="TextBox 13"/>
          <p:cNvSpPr txBox="1">
            <a:spLocks noChangeArrowheads="1"/>
          </p:cNvSpPr>
          <p:nvPr/>
        </p:nvSpPr>
        <p:spPr bwMode="auto">
          <a:xfrm>
            <a:off x="2482705" y="4342955"/>
            <a:ext cx="1974900"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a:solidFill>
                  <a:srgbClr val="000000"/>
                </a:solidFill>
                <a:latin typeface="Arial"/>
                <a:ea typeface="ＭＳ Ｐゴシック" charset="0"/>
              </a:rPr>
              <a:t>Chimpanzee fetus</a:t>
            </a:r>
          </a:p>
        </p:txBody>
      </p:sp>
      <p:sp>
        <p:nvSpPr>
          <p:cNvPr id="9" name="TextBox 14"/>
          <p:cNvSpPr txBox="1">
            <a:spLocks noChangeArrowheads="1"/>
          </p:cNvSpPr>
          <p:nvPr/>
        </p:nvSpPr>
        <p:spPr bwMode="auto">
          <a:xfrm>
            <a:off x="4770292" y="4342955"/>
            <a:ext cx="1974900"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a:solidFill>
                  <a:srgbClr val="000000"/>
                </a:solidFill>
                <a:latin typeface="Arial"/>
                <a:ea typeface="ＭＳ Ｐゴシック" charset="0"/>
              </a:rPr>
              <a:t>Chimpanzee adult</a:t>
            </a:r>
          </a:p>
        </p:txBody>
      </p:sp>
      <p:sp>
        <p:nvSpPr>
          <p:cNvPr id="10" name="TextBox 16"/>
          <p:cNvSpPr txBox="1">
            <a:spLocks noChangeArrowheads="1"/>
          </p:cNvSpPr>
          <p:nvPr/>
        </p:nvSpPr>
        <p:spPr bwMode="auto">
          <a:xfrm>
            <a:off x="2768455" y="6403530"/>
            <a:ext cx="1397819"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a:solidFill>
                  <a:srgbClr val="000000"/>
                </a:solidFill>
                <a:latin typeface="Arial"/>
                <a:ea typeface="ＭＳ Ｐゴシック" charset="0"/>
              </a:rPr>
              <a:t>Human fetus</a:t>
            </a:r>
          </a:p>
        </p:txBody>
      </p:sp>
      <p:sp>
        <p:nvSpPr>
          <p:cNvPr id="11" name="TextBox 17"/>
          <p:cNvSpPr txBox="1">
            <a:spLocks noChangeArrowheads="1"/>
          </p:cNvSpPr>
          <p:nvPr/>
        </p:nvSpPr>
        <p:spPr bwMode="auto">
          <a:xfrm>
            <a:off x="4913167" y="6403530"/>
            <a:ext cx="1397819" cy="256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2000"/>
              </a:lnSpc>
            </a:pPr>
            <a:r>
              <a:rPr lang="en-US" sz="1800" b="1">
                <a:solidFill>
                  <a:srgbClr val="000000"/>
                </a:solidFill>
                <a:latin typeface="Arial"/>
                <a:ea typeface="ＭＳ Ｐゴシック" charset="0"/>
              </a:rPr>
              <a:t>Human adult</a:t>
            </a:r>
          </a:p>
        </p:txBody>
      </p:sp>
      <p:sp>
        <p:nvSpPr>
          <p:cNvPr id="3" name="TextBox 2"/>
          <p:cNvSpPr txBox="1"/>
          <p:nvPr/>
        </p:nvSpPr>
        <p:spPr>
          <a:xfrm>
            <a:off x="7315200" y="3686365"/>
            <a:ext cx="1524000" cy="1569660"/>
          </a:xfrm>
          <a:prstGeom prst="rect">
            <a:avLst/>
          </a:prstGeom>
          <a:noFill/>
        </p:spPr>
        <p:txBody>
          <a:bodyPr wrap="square" rtlCol="0">
            <a:spAutoFit/>
          </a:bodyPr>
          <a:lstStyle/>
          <a:p>
            <a:r>
              <a:rPr lang="en-US" dirty="0">
                <a:latin typeface="Arial"/>
              </a:rPr>
              <a:t>Relative skull growth rates</a:t>
            </a:r>
          </a:p>
        </p:txBody>
      </p:sp>
    </p:spTree>
    <p:extLst>
      <p:ext uri="{BB962C8B-B14F-4D97-AF65-F5344CB8AC3E}">
        <p14:creationId xmlns:p14="http://schemas.microsoft.com/office/powerpoint/2010/main" val="3431334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2032"/>
            <a:ext cx="9144000" cy="600164"/>
          </a:xfrm>
        </p:spPr>
        <p:txBody>
          <a:bodyPr/>
          <a:lstStyle/>
          <a:p>
            <a:r>
              <a:rPr lang="en-US" dirty="0">
                <a:solidFill>
                  <a:schemeClr val="bg1"/>
                </a:solidFill>
              </a:rPr>
              <a:t>47</a:t>
            </a:r>
          </a:p>
        </p:txBody>
      </p:sp>
      <p:sp>
        <p:nvSpPr>
          <p:cNvPr id="366594" name="Rectangle 2"/>
          <p:cNvSpPr>
            <a:spLocks noGrp="1" noChangeArrowheads="1"/>
          </p:cNvSpPr>
          <p:nvPr>
            <p:ph idx="4294967295"/>
          </p:nvPr>
        </p:nvSpPr>
        <p:spPr>
          <a:xfrm>
            <a:off x="152400" y="103188"/>
            <a:ext cx="8839200" cy="3859212"/>
          </a:xfrm>
        </p:spPr>
        <p:txBody>
          <a:bodyPr/>
          <a:lstStyle/>
          <a:p>
            <a:r>
              <a:rPr lang="en-US" altLang="en-US" dirty="0"/>
              <a:t>Heterochrony can alter the timing of reproductive development relative to the </a:t>
            </a:r>
          </a:p>
          <a:p>
            <a:endParaRPr lang="en-US" altLang="en-US" dirty="0"/>
          </a:p>
          <a:p>
            <a:r>
              <a:rPr lang="en-US" altLang="en-US" dirty="0"/>
              <a:t>In </a:t>
            </a:r>
            <a:r>
              <a:rPr lang="en-US" altLang="en-US" b="1" dirty="0" err="1"/>
              <a:t>paedomorphosis</a:t>
            </a:r>
            <a:r>
              <a:rPr lang="en-US" altLang="en-US" dirty="0"/>
              <a:t>, reproductive development rate accelerates </a:t>
            </a:r>
          </a:p>
          <a:p>
            <a:r>
              <a:rPr lang="en-US" altLang="en-US" dirty="0"/>
              <a:t>The sexually mature species may retain body features that were </a:t>
            </a:r>
          </a:p>
        </p:txBody>
      </p:sp>
      <p:pic>
        <p:nvPicPr>
          <p:cNvPr id="2" name="Picture 1" descr="A photograph shows an axolotl, a species of salamander. It has appendages that stick out from its neck with fan-like endings, labeled Gills in the photograph.">
            <a:extLst>
              <a:ext uri="{FF2B5EF4-FFF2-40B4-BE49-F238E27FC236}">
                <a16:creationId xmlns:a16="http://schemas.microsoft.com/office/drawing/2014/main" id="{33DF244F-B337-4EAE-941B-507D7D417E47}"/>
              </a:ext>
            </a:extLst>
          </p:cNvPr>
          <p:cNvPicPr>
            <a:picLocks noChangeAspect="1"/>
          </p:cNvPicPr>
          <p:nvPr/>
        </p:nvPicPr>
        <p:blipFill>
          <a:blip r:embed="rId3"/>
          <a:stretch>
            <a:fillRect/>
          </a:stretch>
        </p:blipFill>
        <p:spPr>
          <a:xfrm>
            <a:off x="2287478" y="3629025"/>
            <a:ext cx="4569041" cy="3076575"/>
          </a:xfrm>
          <a:prstGeom prst="rect">
            <a:avLst/>
          </a:prstGeom>
        </p:spPr>
      </p:pic>
    </p:spTree>
    <p:extLst>
      <p:ext uri="{BB962C8B-B14F-4D97-AF65-F5344CB8AC3E}">
        <p14:creationId xmlns:p14="http://schemas.microsoft.com/office/powerpoint/2010/main" val="25193006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0" y="0"/>
            <a:ext cx="9144000" cy="646331"/>
          </a:xfrm>
        </p:spPr>
        <p:txBody>
          <a:bodyPr/>
          <a:lstStyle/>
          <a:p>
            <a:r>
              <a:rPr lang="en-US" altLang="en-US" dirty="0">
                <a:solidFill>
                  <a:srgbClr val="FF0000"/>
                </a:solidFill>
              </a:rPr>
              <a:t>Concept 25.6: Evolution is not goal oriented</a:t>
            </a:r>
          </a:p>
        </p:txBody>
      </p:sp>
      <p:sp>
        <p:nvSpPr>
          <p:cNvPr id="393219" name="Rectangle 3"/>
          <p:cNvSpPr>
            <a:spLocks noGrp="1" noChangeArrowheads="1"/>
          </p:cNvSpPr>
          <p:nvPr>
            <p:ph idx="1"/>
          </p:nvPr>
        </p:nvSpPr>
        <p:spPr>
          <a:xfrm>
            <a:off x="87084" y="695318"/>
            <a:ext cx="8980715" cy="6010282"/>
          </a:xfrm>
        </p:spPr>
        <p:txBody>
          <a:bodyPr/>
          <a:lstStyle/>
          <a:p>
            <a:r>
              <a:rPr lang="en-US" altLang="en-US" dirty="0"/>
              <a:t>Evolution is like tinkering; it is a process in which new forms arise by </a:t>
            </a:r>
          </a:p>
          <a:p>
            <a:r>
              <a:rPr lang="en-US" altLang="en-US" dirty="0"/>
              <a:t>Most novel biological structures evolve in many stages from </a:t>
            </a:r>
          </a:p>
          <a:p>
            <a:pPr lvl="1"/>
            <a:r>
              <a:rPr lang="en-US" altLang="en-US" dirty="0"/>
              <a:t>EX: Complex eyes have evolved from simple photosensitive </a:t>
            </a:r>
          </a:p>
          <a:p>
            <a:r>
              <a:rPr lang="en-US" altLang="en-US" dirty="0"/>
              <a:t>Structures do not evolve in anticipation of future use; natural selection can only improve a structure in the context of </a:t>
            </a:r>
          </a:p>
          <a:p>
            <a:r>
              <a:rPr lang="en-US" altLang="en-US" dirty="0"/>
              <a:t>Fossil records show </a:t>
            </a:r>
          </a:p>
          <a:p>
            <a:r>
              <a:rPr lang="en-US" altLang="en-US" dirty="0"/>
              <a:t>Extracting a single evolutionary progression from the </a:t>
            </a:r>
          </a:p>
          <a:p>
            <a:endParaRPr lang="en-US" altLang="en-US" dirty="0"/>
          </a:p>
          <a:p>
            <a:endParaRPr lang="en-US" altLang="en-US" dirty="0"/>
          </a:p>
        </p:txBody>
      </p:sp>
    </p:spTree>
    <p:extLst>
      <p:ext uri="{BB962C8B-B14F-4D97-AF65-F5344CB8AC3E}">
        <p14:creationId xmlns:p14="http://schemas.microsoft.com/office/powerpoint/2010/main" val="3287027063"/>
      </p:ext>
    </p:extLst>
  </p:cSld>
  <p:clrMapOvr>
    <a:masterClrMapping/>
  </p:clrMapOvr>
</p:sld>
</file>

<file path=ppt/theme/theme1.xml><?xml version="1.0" encoding="utf-8"?>
<a:theme xmlns:a="http://schemas.openxmlformats.org/drawingml/2006/main" name="Campbell11e_LectureDesign">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mpbell11e_LectureDesign" id="{1E29558D-F693-462F-BFE8-09589E69881C}" vid="{70B05F25-2FB3-4FD4-980B-A633ABC17E0B}"/>
    </a:ext>
  </a:extLst>
</a:theme>
</file>

<file path=ppt/theme/theme2.xml><?xml version="1.0" encoding="utf-8"?>
<a:theme xmlns:a="http://schemas.openxmlformats.org/drawingml/2006/main" name="7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0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7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0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1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2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Campbell11e_LectureDesign</Template>
  <TotalTime>9658</TotalTime>
  <Words>2033</Words>
  <Application>Microsoft Office PowerPoint</Application>
  <PresentationFormat>On-screen Show (4:3)</PresentationFormat>
  <Paragraphs>430</Paragraphs>
  <Slides>49</Slides>
  <Notes>46</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49</vt:i4>
      </vt:variant>
    </vt:vector>
  </HeadingPairs>
  <TitlesOfParts>
    <vt:vector size="63" baseType="lpstr">
      <vt:lpstr>ＭＳ Ｐゴシック</vt:lpstr>
      <vt:lpstr>Arial</vt:lpstr>
      <vt:lpstr>Geneva</vt:lpstr>
      <vt:lpstr>Times</vt:lpstr>
      <vt:lpstr>Times New Roman</vt:lpstr>
      <vt:lpstr>Wingdings</vt:lpstr>
      <vt:lpstr>ヒラギノ角ゴ Pro W3</vt:lpstr>
      <vt:lpstr>Campbell11e_LectureDesign</vt:lpstr>
      <vt:lpstr>7_Blank</vt:lpstr>
      <vt:lpstr>20_Blank</vt:lpstr>
      <vt:lpstr>27_Blank</vt:lpstr>
      <vt:lpstr>50_Blank</vt:lpstr>
      <vt:lpstr>51_Blank</vt:lpstr>
      <vt:lpstr>62_Blank</vt:lpstr>
      <vt:lpstr>CH 25</vt:lpstr>
      <vt:lpstr>CH 25 Learning Objectives</vt:lpstr>
      <vt:lpstr>Concept 25.1: Conditions on early Earth made the origin of life possible</vt:lpstr>
      <vt:lpstr>Synthesis of Organic Compounds on Early Earth</vt:lpstr>
      <vt:lpstr>5</vt:lpstr>
      <vt:lpstr>Miller-Urey Experiment</vt:lpstr>
      <vt:lpstr>7</vt:lpstr>
      <vt:lpstr>8</vt:lpstr>
      <vt:lpstr>Protocells</vt:lpstr>
      <vt:lpstr>Figure 25.4</vt:lpstr>
      <vt:lpstr>Self-Replicating RNA</vt:lpstr>
      <vt:lpstr>12</vt:lpstr>
      <vt:lpstr>Concept 25.2: The fossil record documents the history of life</vt:lpstr>
      <vt:lpstr>How Rocks and Fossils Are Dated </vt:lpstr>
      <vt:lpstr>Figure 25.6</vt:lpstr>
      <vt:lpstr>PowerPoint Presentation</vt:lpstr>
      <vt:lpstr>16</vt:lpstr>
      <vt:lpstr>Concept 25.3: Key events in life’s history include the origins of unicellular and multicellular organisms and the colonization of land</vt:lpstr>
      <vt:lpstr>Table 25.1b</vt:lpstr>
      <vt:lpstr>19</vt:lpstr>
      <vt:lpstr>20</vt:lpstr>
      <vt:lpstr>The First Single-Celled Organisms</vt:lpstr>
      <vt:lpstr>Photosynthesis and the Oxygen Revolution</vt:lpstr>
      <vt:lpstr>23</vt:lpstr>
      <vt:lpstr>The First Eukaryotes</vt:lpstr>
      <vt:lpstr>25</vt:lpstr>
      <vt:lpstr>26</vt:lpstr>
      <vt:lpstr>Early Multicellular Eukaryotes</vt:lpstr>
      <vt:lpstr>The Cambrian Explosion</vt:lpstr>
      <vt:lpstr>29</vt:lpstr>
      <vt:lpstr>The Colonization of Land</vt:lpstr>
      <vt:lpstr>31</vt:lpstr>
      <vt:lpstr>Plate Tectonics</vt:lpstr>
      <vt:lpstr>33</vt:lpstr>
      <vt:lpstr>Consequences of Continental Drift</vt:lpstr>
      <vt:lpstr>Mass Extinctions</vt:lpstr>
      <vt:lpstr>36</vt:lpstr>
      <vt:lpstr>37</vt:lpstr>
      <vt:lpstr>38</vt:lpstr>
      <vt:lpstr>Figure 25.18</vt:lpstr>
      <vt:lpstr>Is a Sixth Mass Extinction Under Way?</vt:lpstr>
      <vt:lpstr>Figure 25.19</vt:lpstr>
      <vt:lpstr>Consequences of Mass Extinctions</vt:lpstr>
      <vt:lpstr>43</vt:lpstr>
      <vt:lpstr>Worldwide Adaptive Radiations</vt:lpstr>
      <vt:lpstr>Concept 25.5: Major changes in body form can result from changes in the sequences and regulation of developmental genes</vt:lpstr>
      <vt:lpstr>Figure 25.23</vt:lpstr>
      <vt:lpstr>47</vt:lpstr>
      <vt:lpstr>Concept 25.6: Evolution is not goal oriented</vt:lpstr>
    </vt:vector>
  </TitlesOfParts>
  <Company>Jerome 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Adam W. Hrincevich</dc:creator>
  <cp:lastModifiedBy>Adam Hrincevich</cp:lastModifiedBy>
  <cp:revision>541</cp:revision>
  <dcterms:created xsi:type="dcterms:W3CDTF">2010-08-06T18:35:02Z</dcterms:created>
  <dcterms:modified xsi:type="dcterms:W3CDTF">2026-09-07T17:08:19Z</dcterms:modified>
</cp:coreProperties>
</file>