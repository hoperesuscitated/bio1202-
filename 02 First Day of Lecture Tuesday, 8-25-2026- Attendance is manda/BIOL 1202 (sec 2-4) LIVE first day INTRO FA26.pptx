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handoutMasterIdLst>
    <p:handoutMasterId r:id="rId50"/>
  </p:handoutMasterIdLst>
  <p:sldIdLst>
    <p:sldId id="295" r:id="rId2"/>
    <p:sldId id="304" r:id="rId3"/>
    <p:sldId id="256" r:id="rId4"/>
    <p:sldId id="257" r:id="rId5"/>
    <p:sldId id="258" r:id="rId6"/>
    <p:sldId id="297" r:id="rId7"/>
    <p:sldId id="259" r:id="rId8"/>
    <p:sldId id="260" r:id="rId9"/>
    <p:sldId id="344" r:id="rId10"/>
    <p:sldId id="299" r:id="rId11"/>
    <p:sldId id="261" r:id="rId12"/>
    <p:sldId id="263" r:id="rId13"/>
    <p:sldId id="265" r:id="rId14"/>
    <p:sldId id="266" r:id="rId15"/>
    <p:sldId id="267" r:id="rId16"/>
    <p:sldId id="268" r:id="rId17"/>
    <p:sldId id="269" r:id="rId18"/>
    <p:sldId id="302" r:id="rId19"/>
    <p:sldId id="352" r:id="rId20"/>
    <p:sldId id="324" r:id="rId21"/>
    <p:sldId id="323" r:id="rId22"/>
    <p:sldId id="273" r:id="rId23"/>
    <p:sldId id="305" r:id="rId24"/>
    <p:sldId id="300" r:id="rId25"/>
    <p:sldId id="336" r:id="rId26"/>
    <p:sldId id="325" r:id="rId27"/>
    <p:sldId id="275" r:id="rId28"/>
    <p:sldId id="276" r:id="rId29"/>
    <p:sldId id="277" r:id="rId30"/>
    <p:sldId id="311" r:id="rId31"/>
    <p:sldId id="348" r:id="rId32"/>
    <p:sldId id="346" r:id="rId33"/>
    <p:sldId id="326" r:id="rId34"/>
    <p:sldId id="285" r:id="rId35"/>
    <p:sldId id="286" r:id="rId36"/>
    <p:sldId id="287" r:id="rId37"/>
    <p:sldId id="306" r:id="rId38"/>
    <p:sldId id="347" r:id="rId39"/>
    <p:sldId id="310" r:id="rId40"/>
    <p:sldId id="288" r:id="rId41"/>
    <p:sldId id="289" r:id="rId42"/>
    <p:sldId id="291" r:id="rId43"/>
    <p:sldId id="328" r:id="rId44"/>
    <p:sldId id="329" r:id="rId45"/>
    <p:sldId id="296" r:id="rId46"/>
    <p:sldId id="350" r:id="rId47"/>
    <p:sldId id="315" r:id="rId48"/>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3066" autoAdjust="0"/>
  </p:normalViewPr>
  <p:slideViewPr>
    <p:cSldViewPr>
      <p:cViewPr varScale="1">
        <p:scale>
          <a:sx n="81" d="100"/>
          <a:sy n="81" d="100"/>
        </p:scale>
        <p:origin x="1596" y="90"/>
      </p:cViewPr>
      <p:guideLst>
        <p:guide orient="horz" pos="2160"/>
        <p:guide pos="2880"/>
      </p:guideLst>
    </p:cSldViewPr>
  </p:slideViewPr>
  <p:outlineViewPr>
    <p:cViewPr>
      <p:scale>
        <a:sx n="100" d="100"/>
        <a:sy n="100" d="100"/>
      </p:scale>
      <p:origin x="0" y="-9312"/>
    </p:cViewPr>
  </p:outlineViewPr>
  <p:notesTextViewPr>
    <p:cViewPr>
      <p:scale>
        <a:sx n="3" d="2"/>
        <a:sy n="3" d="2"/>
      </p:scale>
      <p:origin x="0" y="0"/>
    </p:cViewPr>
  </p:notesTextViewPr>
  <p:sorterViewPr>
    <p:cViewPr>
      <p:scale>
        <a:sx n="50" d="100"/>
        <a:sy n="50" d="100"/>
      </p:scale>
      <p:origin x="0" y="-301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1" cy="480060"/>
          </a:xfrm>
          <a:prstGeom prst="rect">
            <a:avLst/>
          </a:prstGeom>
        </p:spPr>
        <p:txBody>
          <a:bodyPr vert="horz" lIns="96651" tIns="48325" rIns="96651" bIns="48325" rtlCol="0"/>
          <a:lstStyle>
            <a:lvl1pPr algn="l">
              <a:defRPr sz="1200"/>
            </a:lvl1pPr>
          </a:lstStyle>
          <a:p>
            <a:endParaRPr lang="en-US"/>
          </a:p>
        </p:txBody>
      </p:sp>
      <p:sp>
        <p:nvSpPr>
          <p:cNvPr id="3" name="Date Placeholder 2"/>
          <p:cNvSpPr>
            <a:spLocks noGrp="1"/>
          </p:cNvSpPr>
          <p:nvPr>
            <p:ph type="dt" sz="quarter" idx="1"/>
          </p:nvPr>
        </p:nvSpPr>
        <p:spPr>
          <a:xfrm>
            <a:off x="4143588" y="0"/>
            <a:ext cx="3169921" cy="480060"/>
          </a:xfrm>
          <a:prstGeom prst="rect">
            <a:avLst/>
          </a:prstGeom>
        </p:spPr>
        <p:txBody>
          <a:bodyPr vert="horz" lIns="96651" tIns="48325" rIns="96651" bIns="48325" rtlCol="0"/>
          <a:lstStyle>
            <a:lvl1pPr algn="r">
              <a:defRPr sz="1200"/>
            </a:lvl1pPr>
          </a:lstStyle>
          <a:p>
            <a:fld id="{F9B16117-E7E2-4C1C-B4A7-5DFB02AC4737}" type="datetimeFigureOut">
              <a:rPr lang="en-US" smtClean="0"/>
              <a:t>9/4/2026</a:t>
            </a:fld>
            <a:endParaRPr lang="en-US"/>
          </a:p>
        </p:txBody>
      </p:sp>
      <p:sp>
        <p:nvSpPr>
          <p:cNvPr id="4" name="Footer Placeholder 3"/>
          <p:cNvSpPr>
            <a:spLocks noGrp="1"/>
          </p:cNvSpPr>
          <p:nvPr>
            <p:ph type="ftr" sz="quarter" idx="2"/>
          </p:nvPr>
        </p:nvSpPr>
        <p:spPr>
          <a:xfrm>
            <a:off x="0" y="9119474"/>
            <a:ext cx="3169921" cy="480060"/>
          </a:xfrm>
          <a:prstGeom prst="rect">
            <a:avLst/>
          </a:prstGeom>
        </p:spPr>
        <p:txBody>
          <a:bodyPr vert="horz" lIns="96651" tIns="48325" rIns="96651" bIns="48325" rtlCol="0" anchor="b"/>
          <a:lstStyle>
            <a:lvl1pPr algn="l">
              <a:defRPr sz="1200"/>
            </a:lvl1pPr>
          </a:lstStyle>
          <a:p>
            <a:endParaRPr lang="en-US"/>
          </a:p>
        </p:txBody>
      </p:sp>
      <p:sp>
        <p:nvSpPr>
          <p:cNvPr id="5" name="Slide Number Placeholder 4"/>
          <p:cNvSpPr>
            <a:spLocks noGrp="1"/>
          </p:cNvSpPr>
          <p:nvPr>
            <p:ph type="sldNum" sz="quarter" idx="3"/>
          </p:nvPr>
        </p:nvSpPr>
        <p:spPr>
          <a:xfrm>
            <a:off x="4143588" y="9119474"/>
            <a:ext cx="3169921" cy="480060"/>
          </a:xfrm>
          <a:prstGeom prst="rect">
            <a:avLst/>
          </a:prstGeom>
        </p:spPr>
        <p:txBody>
          <a:bodyPr vert="horz" lIns="96651" tIns="48325" rIns="96651" bIns="48325" rtlCol="0" anchor="b"/>
          <a:lstStyle>
            <a:lvl1pPr algn="r">
              <a:defRPr sz="1200"/>
            </a:lvl1pPr>
          </a:lstStyle>
          <a:p>
            <a:fld id="{40240F56-487D-4D4F-81AA-9B83ED0E6143}" type="slidenum">
              <a:rPr lang="en-US" smtClean="0"/>
              <a:t>‹#›</a:t>
            </a:fld>
            <a:endParaRPr lang="en-US"/>
          </a:p>
        </p:txBody>
      </p:sp>
    </p:spTree>
    <p:extLst>
      <p:ext uri="{BB962C8B-B14F-4D97-AF65-F5344CB8AC3E}">
        <p14:creationId xmlns:p14="http://schemas.microsoft.com/office/powerpoint/2010/main" val="23357492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1" cy="480060"/>
          </a:xfrm>
          <a:prstGeom prst="rect">
            <a:avLst/>
          </a:prstGeom>
        </p:spPr>
        <p:txBody>
          <a:bodyPr vert="horz" lIns="96651" tIns="48325" rIns="96651" bIns="48325" rtlCol="0"/>
          <a:lstStyle>
            <a:lvl1pPr algn="l">
              <a:defRPr sz="1200"/>
            </a:lvl1pPr>
          </a:lstStyle>
          <a:p>
            <a:endParaRPr lang="en-US"/>
          </a:p>
        </p:txBody>
      </p:sp>
      <p:sp>
        <p:nvSpPr>
          <p:cNvPr id="3" name="Date Placeholder 2"/>
          <p:cNvSpPr>
            <a:spLocks noGrp="1"/>
          </p:cNvSpPr>
          <p:nvPr>
            <p:ph type="dt" idx="1"/>
          </p:nvPr>
        </p:nvSpPr>
        <p:spPr>
          <a:xfrm>
            <a:off x="4143588" y="0"/>
            <a:ext cx="3169921" cy="480060"/>
          </a:xfrm>
          <a:prstGeom prst="rect">
            <a:avLst/>
          </a:prstGeom>
        </p:spPr>
        <p:txBody>
          <a:bodyPr vert="horz" lIns="96651" tIns="48325" rIns="96651" bIns="48325" rtlCol="0"/>
          <a:lstStyle>
            <a:lvl1pPr algn="r">
              <a:defRPr sz="1200"/>
            </a:lvl1pPr>
          </a:lstStyle>
          <a:p>
            <a:fld id="{438E1931-5D79-404D-89DC-8C1576C877BB}" type="datetimeFigureOut">
              <a:rPr lang="en-US" smtClean="0"/>
              <a:pPr/>
              <a:t>9/4/2026</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51" tIns="48325" rIns="96651" bIns="48325" rtlCol="0" anchor="ctr"/>
          <a:lstStyle/>
          <a:p>
            <a:endParaRPr lang="en-US"/>
          </a:p>
        </p:txBody>
      </p:sp>
      <p:sp>
        <p:nvSpPr>
          <p:cNvPr id="5" name="Notes Placeholder 4"/>
          <p:cNvSpPr>
            <a:spLocks noGrp="1"/>
          </p:cNvSpPr>
          <p:nvPr>
            <p:ph type="body" sz="quarter" idx="3"/>
          </p:nvPr>
        </p:nvSpPr>
        <p:spPr>
          <a:xfrm>
            <a:off x="731521" y="4560571"/>
            <a:ext cx="5852160" cy="4320540"/>
          </a:xfrm>
          <a:prstGeom prst="rect">
            <a:avLst/>
          </a:prstGeom>
        </p:spPr>
        <p:txBody>
          <a:bodyPr vert="horz" lIns="96651" tIns="48325" rIns="96651" bIns="48325"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1" cy="480060"/>
          </a:xfrm>
          <a:prstGeom prst="rect">
            <a:avLst/>
          </a:prstGeom>
        </p:spPr>
        <p:txBody>
          <a:bodyPr vert="horz" lIns="96651" tIns="48325" rIns="96651" bIns="48325" rtlCol="0" anchor="b"/>
          <a:lstStyle>
            <a:lvl1pPr algn="l">
              <a:defRPr sz="1200"/>
            </a:lvl1pPr>
          </a:lstStyle>
          <a:p>
            <a:endParaRPr lang="en-US"/>
          </a:p>
        </p:txBody>
      </p:sp>
      <p:sp>
        <p:nvSpPr>
          <p:cNvPr id="7" name="Slide Number Placeholder 6"/>
          <p:cNvSpPr>
            <a:spLocks noGrp="1"/>
          </p:cNvSpPr>
          <p:nvPr>
            <p:ph type="sldNum" sz="quarter" idx="5"/>
          </p:nvPr>
        </p:nvSpPr>
        <p:spPr>
          <a:xfrm>
            <a:off x="4143588" y="9119474"/>
            <a:ext cx="3169921" cy="480060"/>
          </a:xfrm>
          <a:prstGeom prst="rect">
            <a:avLst/>
          </a:prstGeom>
        </p:spPr>
        <p:txBody>
          <a:bodyPr vert="horz" lIns="96651" tIns="48325" rIns="96651" bIns="48325" rtlCol="0" anchor="b"/>
          <a:lstStyle>
            <a:lvl1pPr algn="r">
              <a:defRPr sz="1200"/>
            </a:lvl1pPr>
          </a:lstStyle>
          <a:p>
            <a:fld id="{D0566045-2B8A-4E55-B3BA-80A05549EC84}" type="slidenum">
              <a:rPr lang="en-US" smtClean="0"/>
              <a:pPr/>
              <a:t>‹#›</a:t>
            </a:fld>
            <a:endParaRPr lang="en-US"/>
          </a:p>
        </p:txBody>
      </p:sp>
    </p:spTree>
    <p:extLst>
      <p:ext uri="{BB962C8B-B14F-4D97-AF65-F5344CB8AC3E}">
        <p14:creationId xmlns:p14="http://schemas.microsoft.com/office/powerpoint/2010/main" val="2905640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trying to switch from clockwise to counterclockwise wise I have found focusing on the shadow of her foot for a couple seconds allows you to see the opposite direction. </a:t>
            </a:r>
            <a:r>
              <a:rPr lang="en-US"/>
              <a:t>And in some cases when able to switch back and forth with ease it looks like she is waving her leg back and forth and has lost the spinning effect entirely.</a:t>
            </a:r>
          </a:p>
        </p:txBody>
      </p:sp>
      <p:sp>
        <p:nvSpPr>
          <p:cNvPr id="4" name="Slide Number Placeholder 3"/>
          <p:cNvSpPr>
            <a:spLocks noGrp="1"/>
          </p:cNvSpPr>
          <p:nvPr>
            <p:ph type="sldNum" sz="quarter" idx="10"/>
          </p:nvPr>
        </p:nvSpPr>
        <p:spPr/>
        <p:txBody>
          <a:bodyPr/>
          <a:lstStyle/>
          <a:p>
            <a:fld id="{D0566045-2B8A-4E55-B3BA-80A05549EC84}" type="slidenum">
              <a:rPr lang="en-US" smtClean="0"/>
              <a:pPr/>
              <a:t>18</a:t>
            </a:fld>
            <a:endParaRPr lang="en-US"/>
          </a:p>
        </p:txBody>
      </p:sp>
    </p:spTree>
    <p:extLst>
      <p:ext uri="{BB962C8B-B14F-4D97-AF65-F5344CB8AC3E}">
        <p14:creationId xmlns:p14="http://schemas.microsoft.com/office/powerpoint/2010/main" val="2497619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0566045-2B8A-4E55-B3BA-80A05549EC84}" type="slidenum">
              <a:rPr lang="en-US" smtClean="0"/>
              <a:pPr/>
              <a:t>33</a:t>
            </a:fld>
            <a:endParaRPr lang="en-US"/>
          </a:p>
        </p:txBody>
      </p:sp>
    </p:spTree>
    <p:extLst>
      <p:ext uri="{BB962C8B-B14F-4D97-AF65-F5344CB8AC3E}">
        <p14:creationId xmlns:p14="http://schemas.microsoft.com/office/powerpoint/2010/main" val="25628705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550" eaLnBrk="0" hangingPunct="0">
              <a:defRPr sz="2900">
                <a:solidFill>
                  <a:schemeClr val="tx1"/>
                </a:solidFill>
                <a:latin typeface="Times New Roman" pitchFamily="18" charset="0"/>
              </a:defRPr>
            </a:lvl1pPr>
            <a:lvl2pPr marL="770606" indent="-296386" defTabSz="966550" eaLnBrk="0" hangingPunct="0">
              <a:defRPr sz="2900">
                <a:solidFill>
                  <a:schemeClr val="tx1"/>
                </a:solidFill>
                <a:latin typeface="Times New Roman" pitchFamily="18" charset="0"/>
              </a:defRPr>
            </a:lvl2pPr>
            <a:lvl3pPr marL="1185547" indent="-237109" defTabSz="966550" eaLnBrk="0" hangingPunct="0">
              <a:defRPr sz="2900">
                <a:solidFill>
                  <a:schemeClr val="tx1"/>
                </a:solidFill>
                <a:latin typeface="Times New Roman" pitchFamily="18" charset="0"/>
              </a:defRPr>
            </a:lvl3pPr>
            <a:lvl4pPr marL="1659766" indent="-237109" defTabSz="966550" eaLnBrk="0" hangingPunct="0">
              <a:defRPr sz="2900">
                <a:solidFill>
                  <a:schemeClr val="tx1"/>
                </a:solidFill>
                <a:latin typeface="Times New Roman" pitchFamily="18" charset="0"/>
              </a:defRPr>
            </a:lvl4pPr>
            <a:lvl5pPr marL="2133984" indent="-237109" defTabSz="966550" eaLnBrk="0" hangingPunct="0">
              <a:defRPr sz="2900">
                <a:solidFill>
                  <a:schemeClr val="tx1"/>
                </a:solidFill>
                <a:latin typeface="Times New Roman" pitchFamily="18" charset="0"/>
              </a:defRPr>
            </a:lvl5pPr>
            <a:lvl6pPr marL="2608203" indent="-237109" defTabSz="966550" eaLnBrk="0" fontAlgn="base" hangingPunct="0">
              <a:spcBef>
                <a:spcPct val="0"/>
              </a:spcBef>
              <a:spcAft>
                <a:spcPct val="0"/>
              </a:spcAft>
              <a:defRPr sz="2900">
                <a:solidFill>
                  <a:schemeClr val="tx1"/>
                </a:solidFill>
                <a:latin typeface="Times New Roman" pitchFamily="18" charset="0"/>
              </a:defRPr>
            </a:lvl6pPr>
            <a:lvl7pPr marL="3082421" indent="-237109" defTabSz="966550" eaLnBrk="0" fontAlgn="base" hangingPunct="0">
              <a:spcBef>
                <a:spcPct val="0"/>
              </a:spcBef>
              <a:spcAft>
                <a:spcPct val="0"/>
              </a:spcAft>
              <a:defRPr sz="2900">
                <a:solidFill>
                  <a:schemeClr val="tx1"/>
                </a:solidFill>
                <a:latin typeface="Times New Roman" pitchFamily="18" charset="0"/>
              </a:defRPr>
            </a:lvl7pPr>
            <a:lvl8pPr marL="3556640" indent="-237109" defTabSz="966550" eaLnBrk="0" fontAlgn="base" hangingPunct="0">
              <a:spcBef>
                <a:spcPct val="0"/>
              </a:spcBef>
              <a:spcAft>
                <a:spcPct val="0"/>
              </a:spcAft>
              <a:defRPr sz="2900">
                <a:solidFill>
                  <a:schemeClr val="tx1"/>
                </a:solidFill>
                <a:latin typeface="Times New Roman" pitchFamily="18" charset="0"/>
              </a:defRPr>
            </a:lvl8pPr>
            <a:lvl9pPr marL="4030859" indent="-237109" defTabSz="966550" eaLnBrk="0" fontAlgn="base" hangingPunct="0">
              <a:spcBef>
                <a:spcPct val="0"/>
              </a:spcBef>
              <a:spcAft>
                <a:spcPct val="0"/>
              </a:spcAft>
              <a:defRPr sz="2900">
                <a:solidFill>
                  <a:schemeClr val="tx1"/>
                </a:solidFill>
                <a:latin typeface="Times New Roman" pitchFamily="18" charset="0"/>
              </a:defRPr>
            </a:lvl9pPr>
          </a:lstStyle>
          <a:p>
            <a:pPr eaLnBrk="1" hangingPunct="1"/>
            <a:fld id="{68774D9E-6AE1-4B66-9897-25E767501323}" type="slidenum">
              <a:rPr lang="en-US" sz="1200"/>
              <a:pPr eaLnBrk="1" hangingPunct="1"/>
              <a:t>45</a:t>
            </a:fld>
            <a:endParaRPr lang="en-US" sz="120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E1760F7-5DB7-4DB8-AE31-7A500DB74533}"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A59215-E989-42A7-880E-862B257896D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1760F7-5DB7-4DB8-AE31-7A500DB74533}"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A59215-E989-42A7-880E-862B257896D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1760F7-5DB7-4DB8-AE31-7A500DB74533}"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A59215-E989-42A7-880E-862B257896D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E1760F7-5DB7-4DB8-AE31-7A500DB74533}" type="datetimeFigureOut">
              <a:rPr lang="en-US" smtClean="0"/>
              <a:pPr/>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A59215-E989-42A7-880E-862B257896D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E1760F7-5DB7-4DB8-AE31-7A500DB74533}" type="datetimeFigureOut">
              <a:rPr lang="en-US" smtClean="0"/>
              <a:pPr/>
              <a:t>9/4/2026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5A59215-E989-42A7-880E-862B257896D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E1760F7-5DB7-4DB8-AE31-7A500DB74533}" type="datetimeFigureOut">
              <a:rPr lang="en-US" smtClean="0"/>
              <a:pPr/>
              <a:t>9/4/2026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5A59215-E989-42A7-880E-862B257896D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1760F7-5DB7-4DB8-AE31-7A500DB74533}" type="datetimeFigureOut">
              <a:rPr lang="en-US" smtClean="0"/>
              <a:pPr/>
              <a:t>9/4/2026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5A59215-E989-42A7-880E-862B257896D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1760F7-5DB7-4DB8-AE31-7A500DB74533}" type="datetimeFigureOut">
              <a:rPr lang="en-US" smtClean="0"/>
              <a:pPr/>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A59215-E989-42A7-880E-862B257896D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1760F7-5DB7-4DB8-AE31-7A500DB74533}" type="datetimeFigureOut">
              <a:rPr lang="en-US" smtClean="0"/>
              <a:pPr/>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A59215-E989-42A7-880E-862B257896D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1760F7-5DB7-4DB8-AE31-7A500DB74533}"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A59215-E989-42A7-880E-862B257896D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1760F7-5DB7-4DB8-AE31-7A500DB74533}"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A59215-E989-42A7-880E-862B257896D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1760F7-5DB7-4DB8-AE31-7A500DB74533}" type="datetimeFigureOut">
              <a:rPr lang="en-US" smtClean="0"/>
              <a:pPr/>
              <a:t>9/4/2026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A59215-E989-42A7-880E-862B257896D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members.aol.com/Cwong65803/Optical/Illusion/Perspective/Rabbitduck12.htm"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5.gif"/><Relationship Id="rId4" Type="http://schemas.openxmlformats.org/officeDocument/2006/relationships/image" Target="../media/image14.gif"/></Relationships>
</file>

<file path=ppt/slides/_rels/slide19.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2.xml"/><Relationship Id="rId6" Type="http://schemas.openxmlformats.org/officeDocument/2006/relationships/image" Target="../media/image24.jpg"/><Relationship Id="rId5" Type="http://schemas.openxmlformats.org/officeDocument/2006/relationships/image" Target="../media/image23.jpg"/><Relationship Id="rId4" Type="http://schemas.openxmlformats.org/officeDocument/2006/relationships/image" Target="../media/image22.jpeg"/></Relationships>
</file>

<file path=ppt/slides/_rels/slide2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42.gif"/><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hyperlink" Target="https://www.lsu.edu/cas/index.php" TargetMode="Externa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slideLayout" Target="../slideLayouts/slideLayout1.xml"/><Relationship Id="rId6" Type="http://schemas.openxmlformats.org/officeDocument/2006/relationships/image" Target="../media/image51.jpeg"/><Relationship Id="rId5" Type="http://schemas.openxmlformats.org/officeDocument/2006/relationships/image" Target="../media/image50.jpeg"/><Relationship Id="rId4" Type="http://schemas.openxmlformats.org/officeDocument/2006/relationships/image" Target="../media/image49.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46.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descr="http://farm3.static.flickr.com/2185/2292079476_59e4b31e01.jpg"/>
          <p:cNvPicPr>
            <a:picLocks noChangeAspect="1" noChangeArrowheads="1"/>
          </p:cNvPicPr>
          <p:nvPr/>
        </p:nvPicPr>
        <p:blipFill>
          <a:blip r:embed="rId2" cstate="print">
            <a:lum bright="40000" contrast="-40000"/>
          </a:blip>
          <a:srcRect/>
          <a:stretch>
            <a:fillRect/>
          </a:stretch>
        </p:blipFill>
        <p:spPr bwMode="auto">
          <a:xfrm>
            <a:off x="0" y="0"/>
            <a:ext cx="9144000" cy="6858000"/>
          </a:xfrm>
          <a:prstGeom prst="rect">
            <a:avLst/>
          </a:prstGeom>
          <a:noFill/>
          <a:ln w="9525">
            <a:noFill/>
            <a:miter lim="800000"/>
            <a:headEnd/>
            <a:tailEnd/>
          </a:ln>
        </p:spPr>
      </p:pic>
      <p:sp>
        <p:nvSpPr>
          <p:cNvPr id="3" name="Text Box 2"/>
          <p:cNvSpPr txBox="1">
            <a:spLocks noChangeArrowheads="1"/>
          </p:cNvSpPr>
          <p:nvPr/>
        </p:nvSpPr>
        <p:spPr bwMode="auto">
          <a:xfrm>
            <a:off x="0" y="0"/>
            <a:ext cx="9144000" cy="6801862"/>
          </a:xfrm>
          <a:prstGeom prst="rect">
            <a:avLst/>
          </a:prstGeom>
          <a:noFill/>
          <a:ln w="9525">
            <a:noFill/>
            <a:miter lim="800000"/>
            <a:headEnd/>
            <a:tailEnd/>
          </a:ln>
        </p:spPr>
        <p:txBody>
          <a:bodyPr>
            <a:spAutoFit/>
          </a:bodyPr>
          <a:lstStyle/>
          <a:p>
            <a:pPr algn="ctr">
              <a:spcBef>
                <a:spcPct val="50000"/>
              </a:spcBef>
            </a:pPr>
            <a:r>
              <a:rPr lang="en-US" sz="8000" b="1" dirty="0">
                <a:solidFill>
                  <a:srgbClr val="000000"/>
                </a:solidFill>
                <a:latin typeface="Times New Roman" pitchFamily="18" charset="0"/>
                <a:cs typeface="Times New Roman" pitchFamily="18" charset="0"/>
              </a:rPr>
              <a:t>Biology 1202</a:t>
            </a:r>
          </a:p>
          <a:p>
            <a:pPr algn="ctr">
              <a:spcBef>
                <a:spcPct val="50000"/>
              </a:spcBef>
            </a:pPr>
            <a:r>
              <a:rPr lang="en-US" sz="7000" b="1" dirty="0">
                <a:solidFill>
                  <a:srgbClr val="000000"/>
                </a:solidFill>
                <a:latin typeface="Times New Roman" pitchFamily="18" charset="0"/>
                <a:cs typeface="Times New Roman" pitchFamily="18" charset="0"/>
              </a:rPr>
              <a:t>“LIVE”</a:t>
            </a:r>
          </a:p>
          <a:p>
            <a:pPr algn="ctr">
              <a:spcBef>
                <a:spcPct val="50000"/>
              </a:spcBef>
            </a:pPr>
            <a:r>
              <a:rPr lang="en-US" sz="7000" b="1" dirty="0">
                <a:solidFill>
                  <a:srgbClr val="000000"/>
                </a:solidFill>
                <a:latin typeface="Times New Roman" pitchFamily="18" charset="0"/>
                <a:cs typeface="Times New Roman" pitchFamily="18" charset="0"/>
              </a:rPr>
              <a:t>General Biology Lecture II for Science Majors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9144001" cy="4524315"/>
          </a:xfrm>
          <a:prstGeom prst="rect">
            <a:avLst/>
          </a:prstGeom>
          <a:noFill/>
        </p:spPr>
        <p:txBody>
          <a:bodyPr wrap="square" rtlCol="0">
            <a:spAutoFit/>
          </a:bodyPr>
          <a:lstStyle/>
          <a:p>
            <a:pPr algn="ctr"/>
            <a:r>
              <a:rPr lang="en-US" sz="4800" dirty="0"/>
              <a:t>This presentation is best viewed in “slide show” mode since there are embedded animations and overlay slides.  Click the projector icon while in PowerPoint to view in “slide show” mode.</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0162" y="5029200"/>
            <a:ext cx="5398006" cy="1752600"/>
          </a:xfrm>
          <a:prstGeom prst="rect">
            <a:avLst/>
          </a:prstGeom>
        </p:spPr>
      </p:pic>
      <p:sp>
        <p:nvSpPr>
          <p:cNvPr id="6" name="Right Arrow 5"/>
          <p:cNvSpPr/>
          <p:nvPr/>
        </p:nvSpPr>
        <p:spPr>
          <a:xfrm rot="5400000">
            <a:off x="3890310" y="4644090"/>
            <a:ext cx="1058580" cy="45720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2715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34"/>
          <p:cNvSpPr>
            <a:spLocks noChangeArrowheads="1"/>
          </p:cNvSpPr>
          <p:nvPr/>
        </p:nvSpPr>
        <p:spPr bwMode="auto">
          <a:xfrm>
            <a:off x="0" y="0"/>
            <a:ext cx="9144000" cy="701675"/>
          </a:xfrm>
          <a:prstGeom prst="rect">
            <a:avLst/>
          </a:prstGeom>
          <a:noFill/>
          <a:ln w="9525">
            <a:noFill/>
            <a:miter lim="800000"/>
            <a:headEnd/>
            <a:tailEnd/>
          </a:ln>
        </p:spPr>
        <p:txBody>
          <a:bodyPr>
            <a:spAutoFit/>
          </a:bodyPr>
          <a:lstStyle/>
          <a:p>
            <a:pPr algn="ctr"/>
            <a:r>
              <a:rPr lang="en-US" sz="4000" b="1" dirty="0">
                <a:latin typeface="Footlight MT Light" pitchFamily="18" charset="0"/>
              </a:rPr>
              <a:t>What do you see in this picture?</a:t>
            </a:r>
            <a:r>
              <a:rPr lang="en-US" sz="4000" dirty="0">
                <a:latin typeface="Footlight MT Light" pitchFamily="18" charset="0"/>
              </a:rPr>
              <a:t> </a:t>
            </a:r>
            <a:endParaRPr lang="en-US" sz="4000" dirty="0"/>
          </a:p>
        </p:txBody>
      </p:sp>
      <p:sp>
        <p:nvSpPr>
          <p:cNvPr id="5" name="Rectangle 1038"/>
          <p:cNvSpPr>
            <a:spLocks noChangeArrowheads="1"/>
          </p:cNvSpPr>
          <p:nvPr/>
        </p:nvSpPr>
        <p:spPr bwMode="auto">
          <a:xfrm>
            <a:off x="0" y="5591175"/>
            <a:ext cx="9144000" cy="1190625"/>
          </a:xfrm>
          <a:prstGeom prst="rect">
            <a:avLst/>
          </a:prstGeom>
          <a:noFill/>
          <a:ln w="9525">
            <a:noFill/>
            <a:miter lim="800000"/>
            <a:headEnd/>
            <a:tailEnd/>
          </a:ln>
        </p:spPr>
        <p:txBody>
          <a:bodyPr>
            <a:spAutoFit/>
          </a:bodyPr>
          <a:lstStyle/>
          <a:p>
            <a:pPr algn="ctr"/>
            <a:r>
              <a:rPr lang="en-US" sz="3600" b="1" dirty="0">
                <a:latin typeface="Footlight MT Light" pitchFamily="18" charset="0"/>
              </a:rPr>
              <a:t>What did you see?  A rabbit or a duck? It all depends on how you look at it.</a:t>
            </a:r>
            <a:endParaRPr lang="en-US" sz="3600" dirty="0">
              <a:latin typeface="Footlight MT Light" pitchFamily="18" charset="0"/>
            </a:endParaRPr>
          </a:p>
        </p:txBody>
      </p:sp>
      <p:pic>
        <p:nvPicPr>
          <p:cNvPr id="6" name="Picture 1028" descr="rabbitduck">
            <a:hlinkClick r:id="rId2"/>
          </p:cNvPr>
          <p:cNvPicPr>
            <a:picLocks noChangeAspect="1" noChangeArrowheads="1"/>
          </p:cNvPicPr>
          <p:nvPr/>
        </p:nvPicPr>
        <p:blipFill>
          <a:blip r:embed="rId3" cstate="print"/>
          <a:srcRect/>
          <a:stretch>
            <a:fillRect/>
          </a:stretch>
        </p:blipFill>
        <p:spPr bwMode="auto">
          <a:xfrm>
            <a:off x="0" y="609600"/>
            <a:ext cx="8382000" cy="51054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Tha Amazing Liar Optical Illusion f"/>
          <p:cNvPicPr>
            <a:picLocks noChangeAspect="1" noChangeArrowheads="1"/>
          </p:cNvPicPr>
          <p:nvPr/>
        </p:nvPicPr>
        <p:blipFill>
          <a:blip r:embed="rId2" cstate="print"/>
          <a:srcRect/>
          <a:stretch>
            <a:fillRect/>
          </a:stretch>
        </p:blipFill>
        <p:spPr bwMode="auto">
          <a:xfrm>
            <a:off x="2743200" y="381000"/>
            <a:ext cx="3570288" cy="6248400"/>
          </a:xfrm>
          <a:prstGeom prst="rect">
            <a:avLst/>
          </a:prstGeom>
          <a:noFill/>
          <a:ln w="9525">
            <a:noFill/>
            <a:miter lim="800000"/>
            <a:headEnd/>
            <a:tailEnd/>
          </a:ln>
        </p:spPr>
      </p:pic>
      <p:sp>
        <p:nvSpPr>
          <p:cNvPr id="3" name="Rectangle 2"/>
          <p:cNvSpPr/>
          <p:nvPr/>
        </p:nvSpPr>
        <p:spPr>
          <a:xfrm>
            <a:off x="2705100" y="6324600"/>
            <a:ext cx="3657600" cy="533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Tha Amazing Liar Optical Illusion f"/>
          <p:cNvPicPr>
            <a:picLocks noChangeAspect="1" noChangeArrowheads="1"/>
          </p:cNvPicPr>
          <p:nvPr/>
        </p:nvPicPr>
        <p:blipFill>
          <a:blip r:embed="rId2" cstate="print"/>
          <a:srcRect/>
          <a:stretch>
            <a:fillRect/>
          </a:stretch>
        </p:blipFill>
        <p:spPr bwMode="auto">
          <a:xfrm>
            <a:off x="76200" y="152400"/>
            <a:ext cx="3135313" cy="5486400"/>
          </a:xfrm>
          <a:prstGeom prst="rect">
            <a:avLst/>
          </a:prstGeom>
          <a:noFill/>
          <a:ln w="9525">
            <a:noFill/>
            <a:miter lim="800000"/>
            <a:headEnd/>
            <a:tailEnd/>
          </a:ln>
        </p:spPr>
      </p:pic>
      <p:sp>
        <p:nvSpPr>
          <p:cNvPr id="4" name="Text Box 5"/>
          <p:cNvSpPr txBox="1">
            <a:spLocks noChangeArrowheads="1"/>
          </p:cNvSpPr>
          <p:nvPr/>
        </p:nvSpPr>
        <p:spPr bwMode="auto">
          <a:xfrm>
            <a:off x="3276600" y="1524000"/>
            <a:ext cx="2530475" cy="2585323"/>
          </a:xfrm>
          <a:prstGeom prst="rect">
            <a:avLst/>
          </a:prstGeom>
          <a:noFill/>
          <a:ln w="9525">
            <a:noFill/>
            <a:miter lim="800000"/>
            <a:headEnd/>
            <a:tailEnd/>
          </a:ln>
        </p:spPr>
        <p:txBody>
          <a:bodyPr>
            <a:spAutoFit/>
          </a:bodyPr>
          <a:lstStyle/>
          <a:p>
            <a:pPr algn="ctr"/>
            <a:r>
              <a:rPr lang="en-US" sz="5400" b="1" dirty="0">
                <a:solidFill>
                  <a:srgbClr val="FF0000"/>
                </a:solidFill>
                <a:latin typeface="Times New Roman" pitchFamily="18" charset="0"/>
                <a:cs typeface="Times New Roman" pitchFamily="18" charset="0"/>
              </a:rPr>
              <a:t>What did you see?</a:t>
            </a:r>
          </a:p>
        </p:txBody>
      </p:sp>
      <p:sp>
        <p:nvSpPr>
          <p:cNvPr id="7" name="Rectangle 6"/>
          <p:cNvSpPr/>
          <p:nvPr/>
        </p:nvSpPr>
        <p:spPr>
          <a:xfrm>
            <a:off x="76200" y="5410200"/>
            <a:ext cx="36576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2" descr="Tha Amazing Liar Optical Illusion f"/>
          <p:cNvPicPr>
            <a:picLocks noChangeAspect="1" noChangeArrowheads="1"/>
          </p:cNvPicPr>
          <p:nvPr/>
        </p:nvPicPr>
        <p:blipFill>
          <a:blip r:embed="rId2" cstate="print"/>
          <a:srcRect/>
          <a:stretch>
            <a:fillRect/>
          </a:stretch>
        </p:blipFill>
        <p:spPr bwMode="auto">
          <a:xfrm>
            <a:off x="5943600" y="152400"/>
            <a:ext cx="3135313" cy="5486400"/>
          </a:xfrm>
          <a:prstGeom prst="rect">
            <a:avLst/>
          </a:prstGeom>
          <a:noFill/>
          <a:ln w="9525">
            <a:noFill/>
            <a:miter lim="800000"/>
            <a:headEnd/>
            <a:tailEnd/>
          </a:ln>
        </p:spPr>
      </p:pic>
      <p:sp>
        <p:nvSpPr>
          <p:cNvPr id="9" name="Rectangle 8"/>
          <p:cNvSpPr/>
          <p:nvPr/>
        </p:nvSpPr>
        <p:spPr>
          <a:xfrm>
            <a:off x="5429250" y="5410200"/>
            <a:ext cx="36576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Box 6"/>
          <p:cNvSpPr txBox="1">
            <a:spLocks noChangeArrowheads="1"/>
          </p:cNvSpPr>
          <p:nvPr/>
        </p:nvSpPr>
        <p:spPr bwMode="auto">
          <a:xfrm>
            <a:off x="0" y="5489575"/>
            <a:ext cx="3124200" cy="1311275"/>
          </a:xfrm>
          <a:prstGeom prst="rect">
            <a:avLst/>
          </a:prstGeom>
          <a:noFill/>
          <a:ln w="9525">
            <a:noFill/>
            <a:miter lim="800000"/>
            <a:headEnd/>
            <a:tailEnd/>
          </a:ln>
        </p:spPr>
        <p:txBody>
          <a:bodyPr>
            <a:spAutoFit/>
          </a:bodyPr>
          <a:lstStyle/>
          <a:p>
            <a:pPr algn="ctr"/>
            <a:r>
              <a:rPr lang="en-US" sz="4000" dirty="0">
                <a:latin typeface="Times New Roman" pitchFamily="18" charset="0"/>
                <a:cs typeface="Times New Roman" pitchFamily="18" charset="0"/>
              </a:rPr>
              <a:t>Old man with glasses…</a:t>
            </a:r>
          </a:p>
        </p:txBody>
      </p:sp>
      <p:sp>
        <p:nvSpPr>
          <p:cNvPr id="6" name="Text Box 7"/>
          <p:cNvSpPr txBox="1">
            <a:spLocks noChangeArrowheads="1"/>
          </p:cNvSpPr>
          <p:nvPr/>
        </p:nvSpPr>
        <p:spPr bwMode="auto">
          <a:xfrm>
            <a:off x="6019800" y="5489575"/>
            <a:ext cx="3124200" cy="1311275"/>
          </a:xfrm>
          <a:prstGeom prst="rect">
            <a:avLst/>
          </a:prstGeom>
          <a:noFill/>
          <a:ln w="9525">
            <a:noFill/>
            <a:miter lim="800000"/>
            <a:headEnd/>
            <a:tailEnd/>
          </a:ln>
        </p:spPr>
        <p:txBody>
          <a:bodyPr>
            <a:spAutoFit/>
          </a:bodyPr>
          <a:lstStyle/>
          <a:p>
            <a:pPr algn="ctr"/>
            <a:r>
              <a:rPr lang="en-US" sz="4000" dirty="0">
                <a:latin typeface="Times New Roman" pitchFamily="18" charset="0"/>
                <a:cs typeface="Times New Roman" pitchFamily="18" charset="0"/>
              </a:rPr>
              <a:t>Or the word “LIAR”…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ack and white drawing of a zebra&#10;&#10;Description automatically generated with medium confidence">
            <a:extLst>
              <a:ext uri="{FF2B5EF4-FFF2-40B4-BE49-F238E27FC236}">
                <a16:creationId xmlns:a16="http://schemas.microsoft.com/office/drawing/2014/main" id="{6CE0D592-FB52-4014-A161-67D2D7FFCF7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26791" y="685800"/>
            <a:ext cx="6490418" cy="4953000"/>
          </a:xfrm>
          <a:prstGeom prst="rect">
            <a:avLst/>
          </a:prstGeom>
        </p:spPr>
      </p:pic>
      <p:sp>
        <p:nvSpPr>
          <p:cNvPr id="3" name="Text Box 3"/>
          <p:cNvSpPr txBox="1">
            <a:spLocks noChangeArrowheads="1"/>
          </p:cNvSpPr>
          <p:nvPr/>
        </p:nvSpPr>
        <p:spPr bwMode="auto">
          <a:xfrm>
            <a:off x="0" y="0"/>
            <a:ext cx="9144000" cy="830997"/>
          </a:xfrm>
          <a:prstGeom prst="rect">
            <a:avLst/>
          </a:prstGeom>
          <a:noFill/>
          <a:ln w="9525">
            <a:noFill/>
            <a:miter lim="800000"/>
            <a:headEnd/>
            <a:tailEnd/>
          </a:ln>
        </p:spPr>
        <p:txBody>
          <a:bodyPr wrap="square">
            <a:spAutoFit/>
          </a:bodyPr>
          <a:lstStyle/>
          <a:p>
            <a:pPr algn="ctr"/>
            <a:r>
              <a:rPr lang="en-US" sz="4800" dirty="0">
                <a:latin typeface="Times New Roman" pitchFamily="18" charset="0"/>
                <a:cs typeface="Times New Roman" pitchFamily="18" charset="0"/>
              </a:rPr>
              <a:t>What do you see?</a:t>
            </a:r>
          </a:p>
        </p:txBody>
      </p:sp>
      <p:sp>
        <p:nvSpPr>
          <p:cNvPr id="6" name="Text Box 3">
            <a:extLst>
              <a:ext uri="{FF2B5EF4-FFF2-40B4-BE49-F238E27FC236}">
                <a16:creationId xmlns:a16="http://schemas.microsoft.com/office/drawing/2014/main" id="{5A8D3EE3-1E03-4F03-98FD-35371EC635DF}"/>
              </a:ext>
            </a:extLst>
          </p:cNvPr>
          <p:cNvSpPr txBox="1">
            <a:spLocks noChangeArrowheads="1"/>
          </p:cNvSpPr>
          <p:nvPr/>
        </p:nvSpPr>
        <p:spPr bwMode="auto">
          <a:xfrm>
            <a:off x="0" y="5411450"/>
            <a:ext cx="9144000" cy="1446550"/>
          </a:xfrm>
          <a:prstGeom prst="rect">
            <a:avLst/>
          </a:prstGeom>
          <a:noFill/>
          <a:ln w="9525">
            <a:noFill/>
            <a:miter lim="800000"/>
            <a:headEnd/>
            <a:tailEnd/>
          </a:ln>
        </p:spPr>
        <p:txBody>
          <a:bodyPr wrap="square">
            <a:spAutoFit/>
          </a:bodyPr>
          <a:lstStyle/>
          <a:p>
            <a:pPr algn="ctr"/>
            <a:r>
              <a:rPr lang="en-US" sz="4400" dirty="0">
                <a:latin typeface="Times New Roman" pitchFamily="18" charset="0"/>
                <a:cs typeface="Times New Roman" pitchFamily="18" charset="0"/>
              </a:rPr>
              <a:t>A young girl with a scarf and necklace or a woman smoking a cigarette?</a:t>
            </a:r>
          </a:p>
        </p:txBody>
      </p:sp>
    </p:spTree>
    <p:extLst>
      <p:ext uri="{BB962C8B-B14F-4D97-AF65-F5344CB8AC3E}">
        <p14:creationId xmlns:p14="http://schemas.microsoft.com/office/powerpoint/2010/main" val="3084393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0" y="136525"/>
            <a:ext cx="9144000" cy="6492875"/>
          </a:xfrm>
          <a:prstGeom prst="rect">
            <a:avLst/>
          </a:prstGeom>
          <a:noFill/>
          <a:ln w="9525">
            <a:noFill/>
            <a:miter lim="800000"/>
            <a:headEnd/>
            <a:tailEnd/>
          </a:ln>
        </p:spPr>
        <p:txBody>
          <a:bodyPr>
            <a:spAutoFit/>
          </a:bodyPr>
          <a:lstStyle/>
          <a:p>
            <a:pPr algn="ctr"/>
            <a:r>
              <a:rPr lang="en-US" sz="6000" dirty="0">
                <a:latin typeface="Times New Roman" pitchFamily="18" charset="0"/>
                <a:cs typeface="Times New Roman" pitchFamily="18" charset="0"/>
              </a:rPr>
              <a:t>Try to think about BIOL 1202 as viewing life a bit </a:t>
            </a:r>
            <a:r>
              <a:rPr lang="en-US" sz="6000" i="1" dirty="0">
                <a:latin typeface="Times New Roman" pitchFamily="18" charset="0"/>
                <a:cs typeface="Times New Roman" pitchFamily="18" charset="0"/>
              </a:rPr>
              <a:t>differently</a:t>
            </a:r>
            <a:r>
              <a:rPr lang="en-US" sz="6000" dirty="0">
                <a:latin typeface="Times New Roman" pitchFamily="18" charset="0"/>
                <a:cs typeface="Times New Roman" pitchFamily="18" charset="0"/>
              </a:rPr>
              <a:t>.  Perhaps from a different angle than you have in the past.</a:t>
            </a:r>
          </a:p>
          <a:p>
            <a:pPr algn="ctr"/>
            <a:r>
              <a:rPr lang="en-US" sz="6000" dirty="0">
                <a:latin typeface="Times New Roman" pitchFamily="18" charset="0"/>
                <a:cs typeface="Times New Roman" pitchFamily="18" charset="0"/>
              </a:rPr>
              <a:t>  Some things are not always as they appear…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66800" y="2743200"/>
            <a:ext cx="6858000" cy="1846659"/>
          </a:xfrm>
          <a:prstGeom prst="rect">
            <a:avLst/>
          </a:prstGeom>
          <a:noFill/>
        </p:spPr>
        <p:txBody>
          <a:bodyPr wrap="square" rtlCol="0">
            <a:spAutoFit/>
          </a:bodyPr>
          <a:lstStyle/>
          <a:p>
            <a:pPr algn="ctr"/>
            <a:r>
              <a:rPr lang="en-US" sz="3800" b="1" dirty="0"/>
              <a:t>The following figures are completely</a:t>
            </a:r>
          </a:p>
          <a:p>
            <a:pPr algn="ctr"/>
            <a:r>
              <a:rPr lang="en-US" sz="3800" b="1" dirty="0"/>
              <a:t>stationary and NOT animated</a:t>
            </a:r>
          </a:p>
        </p:txBody>
      </p:sp>
      <p:pic>
        <p:nvPicPr>
          <p:cNvPr id="2" name="Picture 6" descr="http://www.desicomments.com/dc1/05/110402/110402.jpg"/>
          <p:cNvPicPr>
            <a:picLocks noChangeAspect="1" noChangeArrowheads="1"/>
          </p:cNvPicPr>
          <p:nvPr/>
        </p:nvPicPr>
        <p:blipFill>
          <a:blip r:embed="rId2" cstate="print"/>
          <a:srcRect/>
          <a:stretch>
            <a:fillRect/>
          </a:stretch>
        </p:blipFill>
        <p:spPr bwMode="auto">
          <a:xfrm>
            <a:off x="1066800" y="0"/>
            <a:ext cx="6858000" cy="68580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Blue and yellow colors in psychedelic circle.">
            <a:extLst>
              <a:ext uri="{FF2B5EF4-FFF2-40B4-BE49-F238E27FC236}">
                <a16:creationId xmlns:a16="http://schemas.microsoft.com/office/drawing/2014/main" id="{27F1B7A6-3FFC-07AC-FDB3-1FFBA819A5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52400"/>
            <a:ext cx="6553200" cy="655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02100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766" y="3082751"/>
            <a:ext cx="9144000" cy="692497"/>
          </a:xfrm>
          <a:prstGeom prst="rect">
            <a:avLst/>
          </a:prstGeom>
          <a:noFill/>
        </p:spPr>
        <p:txBody>
          <a:bodyPr wrap="square" rtlCol="0">
            <a:spAutoFit/>
          </a:bodyPr>
          <a:lstStyle/>
          <a:p>
            <a:pPr algn="ctr"/>
            <a:r>
              <a:rPr lang="en-US" sz="3900" b="1" dirty="0"/>
              <a:t>So is this one…</a:t>
            </a:r>
          </a:p>
        </p:txBody>
      </p:sp>
      <p:pic>
        <p:nvPicPr>
          <p:cNvPr id="2" name="Picture 5" descr="trippy"/>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Tree>
    <p:extLst>
      <p:ext uri="{BB962C8B-B14F-4D97-AF65-F5344CB8AC3E}">
        <p14:creationId xmlns:p14="http://schemas.microsoft.com/office/powerpoint/2010/main" val="2128014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600" y="0"/>
            <a:ext cx="6172200" cy="6172200"/>
          </a:xfrm>
          <a:prstGeom prst="rect">
            <a:avLst/>
          </a:prstGeom>
        </p:spPr>
      </p:pic>
      <p:sp>
        <p:nvSpPr>
          <p:cNvPr id="4" name="Rectangle 3"/>
          <p:cNvSpPr/>
          <p:nvPr/>
        </p:nvSpPr>
        <p:spPr>
          <a:xfrm>
            <a:off x="0" y="63064"/>
            <a:ext cx="9144000" cy="76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8" descr="incredible-optical-illusions-pink-dots"/>
          <p:cNvPicPr>
            <a:picLocks noChangeAspect="1" noChangeArrowheads="1" noCrop="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0" y="28575"/>
            <a:ext cx="9144000" cy="830997"/>
          </a:xfrm>
          <a:prstGeom prst="rect">
            <a:avLst/>
          </a:prstGeom>
          <a:noFill/>
          <a:ln w="9525">
            <a:noFill/>
            <a:miter lim="800000"/>
            <a:headEnd/>
            <a:tailEnd/>
          </a:ln>
        </p:spPr>
        <p:txBody>
          <a:bodyPr>
            <a:spAutoFit/>
          </a:bodyPr>
          <a:lstStyle/>
          <a:p>
            <a:pPr algn="ctr"/>
            <a:r>
              <a:rPr lang="en-US" sz="4800" b="1" dirty="0">
                <a:solidFill>
                  <a:srgbClr val="000000"/>
                </a:solidFill>
                <a:latin typeface="Times New Roman" pitchFamily="18" charset="0"/>
                <a:cs typeface="Times New Roman" pitchFamily="18" charset="0"/>
              </a:rPr>
              <a:t>The Hidden Tiger Optical Illusion</a:t>
            </a:r>
          </a:p>
        </p:txBody>
      </p:sp>
      <p:sp>
        <p:nvSpPr>
          <p:cNvPr id="3" name="TextBox 2"/>
          <p:cNvSpPr txBox="1"/>
          <p:nvPr/>
        </p:nvSpPr>
        <p:spPr>
          <a:xfrm>
            <a:off x="0" y="4953000"/>
            <a:ext cx="9144000" cy="1569660"/>
          </a:xfrm>
          <a:prstGeom prst="rect">
            <a:avLst/>
          </a:prstGeom>
          <a:noFill/>
        </p:spPr>
        <p:txBody>
          <a:bodyPr wrap="square" rtlCol="0">
            <a:spAutoFit/>
          </a:bodyPr>
          <a:lstStyle/>
          <a:p>
            <a:pPr algn="ctr"/>
            <a:r>
              <a:rPr lang="en-US" sz="4800" b="1" dirty="0">
                <a:solidFill>
                  <a:srgbClr val="000000"/>
                </a:solidFill>
                <a:latin typeface="Times New Roman" pitchFamily="18" charset="0"/>
                <a:cs typeface="Times New Roman" pitchFamily="18" charset="0"/>
              </a:rPr>
              <a:t>Once you see it, it seems so obvious…or is it?</a:t>
            </a:r>
          </a:p>
        </p:txBody>
      </p:sp>
      <p:sp>
        <p:nvSpPr>
          <p:cNvPr id="4" name="Rectangle 2"/>
          <p:cNvSpPr>
            <a:spLocks noChangeArrowheads="1"/>
          </p:cNvSpPr>
          <p:nvPr/>
        </p:nvSpPr>
        <p:spPr bwMode="auto">
          <a:xfrm>
            <a:off x="0" y="859572"/>
            <a:ext cx="9144000" cy="4216539"/>
          </a:xfrm>
          <a:prstGeom prst="rect">
            <a:avLst/>
          </a:prstGeom>
          <a:noFill/>
          <a:ln w="9525">
            <a:noFill/>
            <a:miter lim="800000"/>
            <a:headEnd/>
            <a:tailEnd/>
          </a:ln>
        </p:spPr>
        <p:txBody>
          <a:bodyPr>
            <a:spAutoFit/>
          </a:bodyPr>
          <a:lstStyle/>
          <a:p>
            <a:endParaRPr lang="en-US" sz="4000" dirty="0">
              <a:solidFill>
                <a:srgbClr val="000000"/>
              </a:solidFill>
              <a:latin typeface="Times New Roman" pitchFamily="18" charset="0"/>
              <a:cs typeface="Times New Roman" pitchFamily="18" charset="0"/>
            </a:endParaRPr>
          </a:p>
          <a:p>
            <a:pPr algn="ctr"/>
            <a:r>
              <a:rPr lang="en-US" sz="6000" b="1" dirty="0">
                <a:solidFill>
                  <a:srgbClr val="FF0000"/>
                </a:solidFill>
                <a:latin typeface="Times New Roman" pitchFamily="18" charset="0"/>
                <a:cs typeface="Times New Roman" pitchFamily="18" charset="0"/>
              </a:rPr>
              <a:t>The objective is to find “The Hidden Tiger” in the following image</a:t>
            </a:r>
            <a:r>
              <a:rPr lang="en-US" sz="6000" dirty="0">
                <a:solidFill>
                  <a:srgbClr val="000000"/>
                </a:solidFill>
                <a:latin typeface="Times New Roman" pitchFamily="18" charset="0"/>
                <a:cs typeface="Times New Roman" pitchFamily="18" charset="0"/>
              </a:rPr>
              <a:t> </a:t>
            </a:r>
          </a:p>
          <a:p>
            <a:pPr algn="ctr"/>
            <a:endParaRPr lang="en-US" sz="4800" dirty="0">
              <a:solidFill>
                <a:srgbClr val="00000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grpSp>
        <p:nvGrpSpPr>
          <p:cNvPr id="3" name="Group 18"/>
          <p:cNvGrpSpPr>
            <a:grpSpLocks/>
          </p:cNvGrpSpPr>
          <p:nvPr/>
        </p:nvGrpSpPr>
        <p:grpSpPr bwMode="auto">
          <a:xfrm>
            <a:off x="2443163" y="3543300"/>
            <a:ext cx="3241675" cy="1824038"/>
            <a:chOff x="2443163" y="3543914"/>
            <a:chExt cx="3240961" cy="1823424"/>
          </a:xfrm>
        </p:grpSpPr>
        <p:sp>
          <p:nvSpPr>
            <p:cNvPr id="4" name="Freeform 3"/>
            <p:cNvSpPr/>
            <p:nvPr/>
          </p:nvSpPr>
          <p:spPr>
            <a:xfrm>
              <a:off x="2457447" y="3543914"/>
              <a:ext cx="396788" cy="1090246"/>
            </a:xfrm>
            <a:custGeom>
              <a:avLst/>
              <a:gdLst>
                <a:gd name="connsiteX0" fmla="*/ 214313 w 396392"/>
                <a:gd name="connsiteY0" fmla="*/ 4149 h 1089999"/>
                <a:gd name="connsiteX1" fmla="*/ 238125 w 396392"/>
                <a:gd name="connsiteY1" fmla="*/ 23199 h 1089999"/>
                <a:gd name="connsiteX2" fmla="*/ 266700 w 396392"/>
                <a:gd name="connsiteY2" fmla="*/ 42249 h 1089999"/>
                <a:gd name="connsiteX3" fmla="*/ 295275 w 396392"/>
                <a:gd name="connsiteY3" fmla="*/ 56536 h 1089999"/>
                <a:gd name="connsiteX4" fmla="*/ 304800 w 396392"/>
                <a:gd name="connsiteY4" fmla="*/ 70824 h 1089999"/>
                <a:gd name="connsiteX5" fmla="*/ 333375 w 396392"/>
                <a:gd name="connsiteY5" fmla="*/ 85111 h 1089999"/>
                <a:gd name="connsiteX6" fmla="*/ 357188 w 396392"/>
                <a:gd name="connsiteY6" fmla="*/ 104161 h 1089999"/>
                <a:gd name="connsiteX7" fmla="*/ 385763 w 396392"/>
                <a:gd name="connsiteY7" fmla="*/ 123211 h 1089999"/>
                <a:gd name="connsiteX8" fmla="*/ 361950 w 396392"/>
                <a:gd name="connsiteY8" fmla="*/ 113686 h 1089999"/>
                <a:gd name="connsiteX9" fmla="*/ 347663 w 396392"/>
                <a:gd name="connsiteY9" fmla="*/ 104161 h 1089999"/>
                <a:gd name="connsiteX10" fmla="*/ 319088 w 396392"/>
                <a:gd name="connsiteY10" fmla="*/ 94636 h 1089999"/>
                <a:gd name="connsiteX11" fmla="*/ 309563 w 396392"/>
                <a:gd name="connsiteY11" fmla="*/ 80349 h 1089999"/>
                <a:gd name="connsiteX12" fmla="*/ 304800 w 396392"/>
                <a:gd name="connsiteY12" fmla="*/ 94636 h 1089999"/>
                <a:gd name="connsiteX13" fmla="*/ 290513 w 396392"/>
                <a:gd name="connsiteY13" fmla="*/ 170836 h 1089999"/>
                <a:gd name="connsiteX14" fmla="*/ 280988 w 396392"/>
                <a:gd name="connsiteY14" fmla="*/ 204174 h 1089999"/>
                <a:gd name="connsiteX15" fmla="*/ 266700 w 396392"/>
                <a:gd name="connsiteY15" fmla="*/ 232749 h 1089999"/>
                <a:gd name="connsiteX16" fmla="*/ 257175 w 396392"/>
                <a:gd name="connsiteY16" fmla="*/ 318474 h 1089999"/>
                <a:gd name="connsiteX17" fmla="*/ 247650 w 396392"/>
                <a:gd name="connsiteY17" fmla="*/ 347049 h 1089999"/>
                <a:gd name="connsiteX18" fmla="*/ 238125 w 396392"/>
                <a:gd name="connsiteY18" fmla="*/ 399436 h 1089999"/>
                <a:gd name="connsiteX19" fmla="*/ 228600 w 396392"/>
                <a:gd name="connsiteY19" fmla="*/ 428011 h 1089999"/>
                <a:gd name="connsiteX20" fmla="*/ 223838 w 396392"/>
                <a:gd name="connsiteY20" fmla="*/ 451824 h 1089999"/>
                <a:gd name="connsiteX21" fmla="*/ 219075 w 396392"/>
                <a:gd name="connsiteY21" fmla="*/ 466111 h 1089999"/>
                <a:gd name="connsiteX22" fmla="*/ 209550 w 396392"/>
                <a:gd name="connsiteY22" fmla="*/ 504211 h 1089999"/>
                <a:gd name="connsiteX23" fmla="*/ 204788 w 396392"/>
                <a:gd name="connsiteY23" fmla="*/ 542311 h 1089999"/>
                <a:gd name="connsiteX24" fmla="*/ 200025 w 396392"/>
                <a:gd name="connsiteY24" fmla="*/ 556599 h 1089999"/>
                <a:gd name="connsiteX25" fmla="*/ 195263 w 396392"/>
                <a:gd name="connsiteY25" fmla="*/ 594699 h 1089999"/>
                <a:gd name="connsiteX26" fmla="*/ 190500 w 396392"/>
                <a:gd name="connsiteY26" fmla="*/ 608986 h 1089999"/>
                <a:gd name="connsiteX27" fmla="*/ 185738 w 396392"/>
                <a:gd name="connsiteY27" fmla="*/ 632799 h 1089999"/>
                <a:gd name="connsiteX28" fmla="*/ 176213 w 396392"/>
                <a:gd name="connsiteY28" fmla="*/ 661374 h 1089999"/>
                <a:gd name="connsiteX29" fmla="*/ 171450 w 396392"/>
                <a:gd name="connsiteY29" fmla="*/ 675661 h 1089999"/>
                <a:gd name="connsiteX30" fmla="*/ 166688 w 396392"/>
                <a:gd name="connsiteY30" fmla="*/ 694711 h 1089999"/>
                <a:gd name="connsiteX31" fmla="*/ 157163 w 396392"/>
                <a:gd name="connsiteY31" fmla="*/ 723286 h 1089999"/>
                <a:gd name="connsiteX32" fmla="*/ 152400 w 396392"/>
                <a:gd name="connsiteY32" fmla="*/ 737574 h 1089999"/>
                <a:gd name="connsiteX33" fmla="*/ 142875 w 396392"/>
                <a:gd name="connsiteY33" fmla="*/ 770911 h 1089999"/>
                <a:gd name="connsiteX34" fmla="*/ 133350 w 396392"/>
                <a:gd name="connsiteY34" fmla="*/ 785199 h 1089999"/>
                <a:gd name="connsiteX35" fmla="*/ 123825 w 396392"/>
                <a:gd name="connsiteY35" fmla="*/ 813774 h 1089999"/>
                <a:gd name="connsiteX36" fmla="*/ 119063 w 396392"/>
                <a:gd name="connsiteY36" fmla="*/ 828061 h 1089999"/>
                <a:gd name="connsiteX37" fmla="*/ 114300 w 396392"/>
                <a:gd name="connsiteY37" fmla="*/ 847111 h 1089999"/>
                <a:gd name="connsiteX38" fmla="*/ 100013 w 396392"/>
                <a:gd name="connsiteY38" fmla="*/ 861399 h 1089999"/>
                <a:gd name="connsiteX39" fmla="*/ 90488 w 396392"/>
                <a:gd name="connsiteY39" fmla="*/ 889974 h 1089999"/>
                <a:gd name="connsiteX40" fmla="*/ 85725 w 396392"/>
                <a:gd name="connsiteY40" fmla="*/ 904261 h 1089999"/>
                <a:gd name="connsiteX41" fmla="*/ 76200 w 396392"/>
                <a:gd name="connsiteY41" fmla="*/ 918549 h 1089999"/>
                <a:gd name="connsiteX42" fmla="*/ 47625 w 396392"/>
                <a:gd name="connsiteY42" fmla="*/ 975699 h 1089999"/>
                <a:gd name="connsiteX43" fmla="*/ 38100 w 396392"/>
                <a:gd name="connsiteY43" fmla="*/ 989986 h 1089999"/>
                <a:gd name="connsiteX44" fmla="*/ 19050 w 396392"/>
                <a:gd name="connsiteY44" fmla="*/ 1032849 h 1089999"/>
                <a:gd name="connsiteX45" fmla="*/ 4763 w 396392"/>
                <a:gd name="connsiteY45" fmla="*/ 1075711 h 1089999"/>
                <a:gd name="connsiteX46" fmla="*/ 0 w 396392"/>
                <a:gd name="connsiteY46" fmla="*/ 1089999 h 1089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96392" h="1089999">
                  <a:moveTo>
                    <a:pt x="214313" y="4149"/>
                  </a:moveTo>
                  <a:cubicBezTo>
                    <a:pt x="246486" y="14873"/>
                    <a:pt x="211612" y="0"/>
                    <a:pt x="238125" y="23199"/>
                  </a:cubicBezTo>
                  <a:cubicBezTo>
                    <a:pt x="246740" y="30737"/>
                    <a:pt x="257175" y="35899"/>
                    <a:pt x="266700" y="42249"/>
                  </a:cubicBezTo>
                  <a:cubicBezTo>
                    <a:pt x="285164" y="54558"/>
                    <a:pt x="275559" y="49964"/>
                    <a:pt x="295275" y="56536"/>
                  </a:cubicBezTo>
                  <a:cubicBezTo>
                    <a:pt x="298450" y="61299"/>
                    <a:pt x="300753" y="66777"/>
                    <a:pt x="304800" y="70824"/>
                  </a:cubicBezTo>
                  <a:cubicBezTo>
                    <a:pt x="314032" y="80056"/>
                    <a:pt x="321755" y="81238"/>
                    <a:pt x="333375" y="85111"/>
                  </a:cubicBezTo>
                  <a:cubicBezTo>
                    <a:pt x="350975" y="111512"/>
                    <a:pt x="332830" y="90629"/>
                    <a:pt x="357188" y="104161"/>
                  </a:cubicBezTo>
                  <a:cubicBezTo>
                    <a:pt x="367195" y="109720"/>
                    <a:pt x="396392" y="127462"/>
                    <a:pt x="385763" y="123211"/>
                  </a:cubicBezTo>
                  <a:cubicBezTo>
                    <a:pt x="377825" y="120036"/>
                    <a:pt x="369597" y="117509"/>
                    <a:pt x="361950" y="113686"/>
                  </a:cubicBezTo>
                  <a:cubicBezTo>
                    <a:pt x="356831" y="111126"/>
                    <a:pt x="352893" y="106486"/>
                    <a:pt x="347663" y="104161"/>
                  </a:cubicBezTo>
                  <a:cubicBezTo>
                    <a:pt x="338488" y="100083"/>
                    <a:pt x="319088" y="94636"/>
                    <a:pt x="319088" y="94636"/>
                  </a:cubicBezTo>
                  <a:cubicBezTo>
                    <a:pt x="315913" y="89874"/>
                    <a:pt x="315287" y="80349"/>
                    <a:pt x="309563" y="80349"/>
                  </a:cubicBezTo>
                  <a:cubicBezTo>
                    <a:pt x="304543" y="80349"/>
                    <a:pt x="305423" y="89655"/>
                    <a:pt x="304800" y="94636"/>
                  </a:cubicBezTo>
                  <a:cubicBezTo>
                    <a:pt x="295597" y="168258"/>
                    <a:pt x="312626" y="137667"/>
                    <a:pt x="290513" y="170836"/>
                  </a:cubicBezTo>
                  <a:cubicBezTo>
                    <a:pt x="288989" y="176933"/>
                    <a:pt x="284402" y="197346"/>
                    <a:pt x="280988" y="204174"/>
                  </a:cubicBezTo>
                  <a:cubicBezTo>
                    <a:pt x="262520" y="241111"/>
                    <a:pt x="278675" y="196828"/>
                    <a:pt x="266700" y="232749"/>
                  </a:cubicBezTo>
                  <a:cubicBezTo>
                    <a:pt x="265915" y="240600"/>
                    <a:pt x="259705" y="306667"/>
                    <a:pt x="257175" y="318474"/>
                  </a:cubicBezTo>
                  <a:cubicBezTo>
                    <a:pt x="255071" y="328291"/>
                    <a:pt x="247650" y="347049"/>
                    <a:pt x="247650" y="347049"/>
                  </a:cubicBezTo>
                  <a:cubicBezTo>
                    <a:pt x="244295" y="370536"/>
                    <a:pt x="244251" y="379018"/>
                    <a:pt x="238125" y="399436"/>
                  </a:cubicBezTo>
                  <a:cubicBezTo>
                    <a:pt x="235240" y="409053"/>
                    <a:pt x="230569" y="418166"/>
                    <a:pt x="228600" y="428011"/>
                  </a:cubicBezTo>
                  <a:cubicBezTo>
                    <a:pt x="227013" y="435949"/>
                    <a:pt x="225801" y="443971"/>
                    <a:pt x="223838" y="451824"/>
                  </a:cubicBezTo>
                  <a:cubicBezTo>
                    <a:pt x="222620" y="456694"/>
                    <a:pt x="220293" y="461241"/>
                    <a:pt x="219075" y="466111"/>
                  </a:cubicBezTo>
                  <a:lnTo>
                    <a:pt x="209550" y="504211"/>
                  </a:lnTo>
                  <a:cubicBezTo>
                    <a:pt x="207963" y="516911"/>
                    <a:pt x="207078" y="529719"/>
                    <a:pt x="204788" y="542311"/>
                  </a:cubicBezTo>
                  <a:cubicBezTo>
                    <a:pt x="203890" y="547250"/>
                    <a:pt x="200923" y="551660"/>
                    <a:pt x="200025" y="556599"/>
                  </a:cubicBezTo>
                  <a:cubicBezTo>
                    <a:pt x="197735" y="569191"/>
                    <a:pt x="197553" y="582107"/>
                    <a:pt x="195263" y="594699"/>
                  </a:cubicBezTo>
                  <a:cubicBezTo>
                    <a:pt x="194365" y="599638"/>
                    <a:pt x="191718" y="604116"/>
                    <a:pt x="190500" y="608986"/>
                  </a:cubicBezTo>
                  <a:cubicBezTo>
                    <a:pt x="188537" y="616839"/>
                    <a:pt x="187868" y="624989"/>
                    <a:pt x="185738" y="632799"/>
                  </a:cubicBezTo>
                  <a:cubicBezTo>
                    <a:pt x="183096" y="642485"/>
                    <a:pt x="179388" y="651849"/>
                    <a:pt x="176213" y="661374"/>
                  </a:cubicBezTo>
                  <a:cubicBezTo>
                    <a:pt x="174625" y="666136"/>
                    <a:pt x="172667" y="670791"/>
                    <a:pt x="171450" y="675661"/>
                  </a:cubicBezTo>
                  <a:cubicBezTo>
                    <a:pt x="169863" y="682011"/>
                    <a:pt x="168569" y="688442"/>
                    <a:pt x="166688" y="694711"/>
                  </a:cubicBezTo>
                  <a:cubicBezTo>
                    <a:pt x="163803" y="704328"/>
                    <a:pt x="160338" y="713761"/>
                    <a:pt x="157163" y="723286"/>
                  </a:cubicBezTo>
                  <a:cubicBezTo>
                    <a:pt x="155575" y="728049"/>
                    <a:pt x="153617" y="732704"/>
                    <a:pt x="152400" y="737574"/>
                  </a:cubicBezTo>
                  <a:cubicBezTo>
                    <a:pt x="150873" y="743684"/>
                    <a:pt x="146294" y="764074"/>
                    <a:pt x="142875" y="770911"/>
                  </a:cubicBezTo>
                  <a:cubicBezTo>
                    <a:pt x="140315" y="776031"/>
                    <a:pt x="136525" y="780436"/>
                    <a:pt x="133350" y="785199"/>
                  </a:cubicBezTo>
                  <a:lnTo>
                    <a:pt x="123825" y="813774"/>
                  </a:lnTo>
                  <a:cubicBezTo>
                    <a:pt x="122238" y="818536"/>
                    <a:pt x="120281" y="823191"/>
                    <a:pt x="119063" y="828061"/>
                  </a:cubicBezTo>
                  <a:cubicBezTo>
                    <a:pt x="117475" y="834411"/>
                    <a:pt x="117547" y="841428"/>
                    <a:pt x="114300" y="847111"/>
                  </a:cubicBezTo>
                  <a:cubicBezTo>
                    <a:pt x="110958" y="852959"/>
                    <a:pt x="104775" y="856636"/>
                    <a:pt x="100013" y="861399"/>
                  </a:cubicBezTo>
                  <a:lnTo>
                    <a:pt x="90488" y="889974"/>
                  </a:lnTo>
                  <a:cubicBezTo>
                    <a:pt x="88900" y="894736"/>
                    <a:pt x="88510" y="900084"/>
                    <a:pt x="85725" y="904261"/>
                  </a:cubicBezTo>
                  <a:lnTo>
                    <a:pt x="76200" y="918549"/>
                  </a:lnTo>
                  <a:cubicBezTo>
                    <a:pt x="63055" y="957983"/>
                    <a:pt x="72244" y="938771"/>
                    <a:pt x="47625" y="975699"/>
                  </a:cubicBezTo>
                  <a:lnTo>
                    <a:pt x="38100" y="989986"/>
                  </a:lnTo>
                  <a:cubicBezTo>
                    <a:pt x="26765" y="1023991"/>
                    <a:pt x="34144" y="1010207"/>
                    <a:pt x="19050" y="1032849"/>
                  </a:cubicBezTo>
                  <a:lnTo>
                    <a:pt x="4763" y="1075711"/>
                  </a:lnTo>
                  <a:lnTo>
                    <a:pt x="0" y="1089999"/>
                  </a:lnTo>
                </a:path>
              </a:pathLst>
            </a:custGeom>
            <a:ln w="254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5" name="Freeform 4"/>
            <p:cNvSpPr/>
            <p:nvPr/>
          </p:nvSpPr>
          <p:spPr>
            <a:xfrm>
              <a:off x="2443163" y="3662937"/>
              <a:ext cx="514237" cy="1247355"/>
            </a:xfrm>
            <a:custGeom>
              <a:avLst/>
              <a:gdLst>
                <a:gd name="connsiteX0" fmla="*/ 495300 w 514350"/>
                <a:gd name="connsiteY0" fmla="*/ 0 h 1247775"/>
                <a:gd name="connsiteX1" fmla="*/ 500062 w 514350"/>
                <a:gd name="connsiteY1" fmla="*/ 104775 h 1247775"/>
                <a:gd name="connsiteX2" fmla="*/ 504825 w 514350"/>
                <a:gd name="connsiteY2" fmla="*/ 128587 h 1247775"/>
                <a:gd name="connsiteX3" fmla="*/ 514350 w 514350"/>
                <a:gd name="connsiteY3" fmla="*/ 219075 h 1247775"/>
                <a:gd name="connsiteX4" fmla="*/ 504825 w 514350"/>
                <a:gd name="connsiteY4" fmla="*/ 342900 h 1247775"/>
                <a:gd name="connsiteX5" fmla="*/ 500062 w 514350"/>
                <a:gd name="connsiteY5" fmla="*/ 357187 h 1247775"/>
                <a:gd name="connsiteX6" fmla="*/ 495300 w 514350"/>
                <a:gd name="connsiteY6" fmla="*/ 376237 h 1247775"/>
                <a:gd name="connsiteX7" fmla="*/ 481012 w 514350"/>
                <a:gd name="connsiteY7" fmla="*/ 419100 h 1247775"/>
                <a:gd name="connsiteX8" fmla="*/ 476250 w 514350"/>
                <a:gd name="connsiteY8" fmla="*/ 433387 h 1247775"/>
                <a:gd name="connsiteX9" fmla="*/ 471487 w 514350"/>
                <a:gd name="connsiteY9" fmla="*/ 452437 h 1247775"/>
                <a:gd name="connsiteX10" fmla="*/ 461962 w 514350"/>
                <a:gd name="connsiteY10" fmla="*/ 466725 h 1247775"/>
                <a:gd name="connsiteX11" fmla="*/ 457200 w 514350"/>
                <a:gd name="connsiteY11" fmla="*/ 481012 h 1247775"/>
                <a:gd name="connsiteX12" fmla="*/ 447675 w 514350"/>
                <a:gd name="connsiteY12" fmla="*/ 523875 h 1247775"/>
                <a:gd name="connsiteX13" fmla="*/ 438150 w 514350"/>
                <a:gd name="connsiteY13" fmla="*/ 552450 h 1247775"/>
                <a:gd name="connsiteX14" fmla="*/ 428625 w 514350"/>
                <a:gd name="connsiteY14" fmla="*/ 581025 h 1247775"/>
                <a:gd name="connsiteX15" fmla="*/ 419100 w 514350"/>
                <a:gd name="connsiteY15" fmla="*/ 609600 h 1247775"/>
                <a:gd name="connsiteX16" fmla="*/ 414337 w 514350"/>
                <a:gd name="connsiteY16" fmla="*/ 623887 h 1247775"/>
                <a:gd name="connsiteX17" fmla="*/ 404812 w 514350"/>
                <a:gd name="connsiteY17" fmla="*/ 638175 h 1247775"/>
                <a:gd name="connsiteX18" fmla="*/ 400050 w 514350"/>
                <a:gd name="connsiteY18" fmla="*/ 666750 h 1247775"/>
                <a:gd name="connsiteX19" fmla="*/ 390525 w 514350"/>
                <a:gd name="connsiteY19" fmla="*/ 695325 h 1247775"/>
                <a:gd name="connsiteX20" fmla="*/ 371475 w 514350"/>
                <a:gd name="connsiteY20" fmla="*/ 752475 h 1247775"/>
                <a:gd name="connsiteX21" fmla="*/ 366712 w 514350"/>
                <a:gd name="connsiteY21" fmla="*/ 766762 h 1247775"/>
                <a:gd name="connsiteX22" fmla="*/ 357187 w 514350"/>
                <a:gd name="connsiteY22" fmla="*/ 800100 h 1247775"/>
                <a:gd name="connsiteX23" fmla="*/ 347662 w 514350"/>
                <a:gd name="connsiteY23" fmla="*/ 814387 h 1247775"/>
                <a:gd name="connsiteX24" fmla="*/ 338137 w 514350"/>
                <a:gd name="connsiteY24" fmla="*/ 847725 h 1247775"/>
                <a:gd name="connsiteX25" fmla="*/ 328612 w 514350"/>
                <a:gd name="connsiteY25" fmla="*/ 862012 h 1247775"/>
                <a:gd name="connsiteX26" fmla="*/ 323850 w 514350"/>
                <a:gd name="connsiteY26" fmla="*/ 881062 h 1247775"/>
                <a:gd name="connsiteX27" fmla="*/ 309562 w 514350"/>
                <a:gd name="connsiteY27" fmla="*/ 923925 h 1247775"/>
                <a:gd name="connsiteX28" fmla="*/ 300037 w 514350"/>
                <a:gd name="connsiteY28" fmla="*/ 952500 h 1247775"/>
                <a:gd name="connsiteX29" fmla="*/ 290512 w 514350"/>
                <a:gd name="connsiteY29" fmla="*/ 966787 h 1247775"/>
                <a:gd name="connsiteX30" fmla="*/ 280987 w 514350"/>
                <a:gd name="connsiteY30" fmla="*/ 995362 h 1247775"/>
                <a:gd name="connsiteX31" fmla="*/ 285750 w 514350"/>
                <a:gd name="connsiteY31" fmla="*/ 976312 h 1247775"/>
                <a:gd name="connsiteX32" fmla="*/ 300037 w 514350"/>
                <a:gd name="connsiteY32" fmla="*/ 962025 h 1247775"/>
                <a:gd name="connsiteX33" fmla="*/ 319087 w 514350"/>
                <a:gd name="connsiteY33" fmla="*/ 904875 h 1247775"/>
                <a:gd name="connsiteX34" fmla="*/ 323850 w 514350"/>
                <a:gd name="connsiteY34" fmla="*/ 890587 h 1247775"/>
                <a:gd name="connsiteX35" fmla="*/ 338137 w 514350"/>
                <a:gd name="connsiteY35" fmla="*/ 881062 h 1247775"/>
                <a:gd name="connsiteX36" fmla="*/ 342900 w 514350"/>
                <a:gd name="connsiteY36" fmla="*/ 857250 h 1247775"/>
                <a:gd name="connsiteX37" fmla="*/ 347662 w 514350"/>
                <a:gd name="connsiteY37" fmla="*/ 842962 h 1247775"/>
                <a:gd name="connsiteX38" fmla="*/ 342900 w 514350"/>
                <a:gd name="connsiteY38" fmla="*/ 819150 h 1247775"/>
                <a:gd name="connsiteX39" fmla="*/ 352425 w 514350"/>
                <a:gd name="connsiteY39" fmla="*/ 771525 h 1247775"/>
                <a:gd name="connsiteX40" fmla="*/ 361950 w 514350"/>
                <a:gd name="connsiteY40" fmla="*/ 757237 h 1247775"/>
                <a:gd name="connsiteX41" fmla="*/ 376237 w 514350"/>
                <a:gd name="connsiteY41" fmla="*/ 728662 h 1247775"/>
                <a:gd name="connsiteX42" fmla="*/ 381000 w 514350"/>
                <a:gd name="connsiteY42" fmla="*/ 714375 h 1247775"/>
                <a:gd name="connsiteX43" fmla="*/ 395287 w 514350"/>
                <a:gd name="connsiteY43" fmla="*/ 704850 h 1247775"/>
                <a:gd name="connsiteX44" fmla="*/ 400050 w 514350"/>
                <a:gd name="connsiteY44" fmla="*/ 690562 h 1247775"/>
                <a:gd name="connsiteX45" fmla="*/ 419100 w 514350"/>
                <a:gd name="connsiteY45" fmla="*/ 661987 h 1247775"/>
                <a:gd name="connsiteX46" fmla="*/ 438150 w 514350"/>
                <a:gd name="connsiteY46" fmla="*/ 619125 h 1247775"/>
                <a:gd name="connsiteX47" fmla="*/ 442912 w 514350"/>
                <a:gd name="connsiteY47" fmla="*/ 604837 h 1247775"/>
                <a:gd name="connsiteX48" fmla="*/ 457200 w 514350"/>
                <a:gd name="connsiteY48" fmla="*/ 595312 h 1247775"/>
                <a:gd name="connsiteX49" fmla="*/ 466725 w 514350"/>
                <a:gd name="connsiteY49" fmla="*/ 566737 h 1247775"/>
                <a:gd name="connsiteX50" fmla="*/ 471487 w 514350"/>
                <a:gd name="connsiteY50" fmla="*/ 552450 h 1247775"/>
                <a:gd name="connsiteX51" fmla="*/ 457200 w 514350"/>
                <a:gd name="connsiteY51" fmla="*/ 542925 h 1247775"/>
                <a:gd name="connsiteX52" fmla="*/ 438150 w 514350"/>
                <a:gd name="connsiteY52" fmla="*/ 514350 h 1247775"/>
                <a:gd name="connsiteX53" fmla="*/ 395287 w 514350"/>
                <a:gd name="connsiteY53" fmla="*/ 485775 h 1247775"/>
                <a:gd name="connsiteX54" fmla="*/ 381000 w 514350"/>
                <a:gd name="connsiteY54" fmla="*/ 476250 h 1247775"/>
                <a:gd name="connsiteX55" fmla="*/ 347662 w 514350"/>
                <a:gd name="connsiteY55" fmla="*/ 452437 h 1247775"/>
                <a:gd name="connsiteX56" fmla="*/ 333375 w 514350"/>
                <a:gd name="connsiteY56" fmla="*/ 447675 h 1247775"/>
                <a:gd name="connsiteX57" fmla="*/ 323850 w 514350"/>
                <a:gd name="connsiteY57" fmla="*/ 433387 h 1247775"/>
                <a:gd name="connsiteX58" fmla="*/ 328612 w 514350"/>
                <a:gd name="connsiteY58" fmla="*/ 419100 h 1247775"/>
                <a:gd name="connsiteX59" fmla="*/ 338137 w 514350"/>
                <a:gd name="connsiteY59" fmla="*/ 395287 h 1247775"/>
                <a:gd name="connsiteX60" fmla="*/ 347662 w 514350"/>
                <a:gd name="connsiteY60" fmla="*/ 381000 h 1247775"/>
                <a:gd name="connsiteX61" fmla="*/ 357187 w 514350"/>
                <a:gd name="connsiteY61" fmla="*/ 352425 h 1247775"/>
                <a:gd name="connsiteX62" fmla="*/ 361950 w 514350"/>
                <a:gd name="connsiteY62" fmla="*/ 333375 h 1247775"/>
                <a:gd name="connsiteX63" fmla="*/ 366712 w 514350"/>
                <a:gd name="connsiteY63" fmla="*/ 319087 h 1247775"/>
                <a:gd name="connsiteX64" fmla="*/ 381000 w 514350"/>
                <a:gd name="connsiteY64" fmla="*/ 214312 h 1247775"/>
                <a:gd name="connsiteX65" fmla="*/ 390525 w 514350"/>
                <a:gd name="connsiteY65" fmla="*/ 180975 h 1247775"/>
                <a:gd name="connsiteX66" fmla="*/ 400050 w 514350"/>
                <a:gd name="connsiteY66" fmla="*/ 147637 h 1247775"/>
                <a:gd name="connsiteX67" fmla="*/ 404812 w 514350"/>
                <a:gd name="connsiteY67" fmla="*/ 114300 h 1247775"/>
                <a:gd name="connsiteX68" fmla="*/ 414337 w 514350"/>
                <a:gd name="connsiteY68" fmla="*/ 66675 h 1247775"/>
                <a:gd name="connsiteX69" fmla="*/ 400050 w 514350"/>
                <a:gd name="connsiteY69" fmla="*/ 109537 h 1247775"/>
                <a:gd name="connsiteX70" fmla="*/ 390525 w 514350"/>
                <a:gd name="connsiteY70" fmla="*/ 157162 h 1247775"/>
                <a:gd name="connsiteX71" fmla="*/ 381000 w 514350"/>
                <a:gd name="connsiteY71" fmla="*/ 195262 h 1247775"/>
                <a:gd name="connsiteX72" fmla="*/ 371475 w 514350"/>
                <a:gd name="connsiteY72" fmla="*/ 238125 h 1247775"/>
                <a:gd name="connsiteX73" fmla="*/ 366712 w 514350"/>
                <a:gd name="connsiteY73" fmla="*/ 290512 h 1247775"/>
                <a:gd name="connsiteX74" fmla="*/ 371475 w 514350"/>
                <a:gd name="connsiteY74" fmla="*/ 314325 h 1247775"/>
                <a:gd name="connsiteX75" fmla="*/ 361950 w 514350"/>
                <a:gd name="connsiteY75" fmla="*/ 333375 h 1247775"/>
                <a:gd name="connsiteX76" fmla="*/ 352425 w 514350"/>
                <a:gd name="connsiteY76" fmla="*/ 366712 h 1247775"/>
                <a:gd name="connsiteX77" fmla="*/ 342900 w 514350"/>
                <a:gd name="connsiteY77" fmla="*/ 385762 h 1247775"/>
                <a:gd name="connsiteX78" fmla="*/ 328612 w 514350"/>
                <a:gd name="connsiteY78" fmla="*/ 433387 h 1247775"/>
                <a:gd name="connsiteX79" fmla="*/ 319087 w 514350"/>
                <a:gd name="connsiteY79" fmla="*/ 461962 h 1247775"/>
                <a:gd name="connsiteX80" fmla="*/ 304800 w 514350"/>
                <a:gd name="connsiteY80" fmla="*/ 495300 h 1247775"/>
                <a:gd name="connsiteX81" fmla="*/ 300037 w 514350"/>
                <a:gd name="connsiteY81" fmla="*/ 514350 h 1247775"/>
                <a:gd name="connsiteX82" fmla="*/ 290512 w 514350"/>
                <a:gd name="connsiteY82" fmla="*/ 552450 h 1247775"/>
                <a:gd name="connsiteX83" fmla="*/ 280987 w 514350"/>
                <a:gd name="connsiteY83" fmla="*/ 566737 h 1247775"/>
                <a:gd name="connsiteX84" fmla="*/ 271462 w 514350"/>
                <a:gd name="connsiteY84" fmla="*/ 600075 h 1247775"/>
                <a:gd name="connsiteX85" fmla="*/ 261937 w 514350"/>
                <a:gd name="connsiteY85" fmla="*/ 628650 h 1247775"/>
                <a:gd name="connsiteX86" fmla="*/ 242887 w 514350"/>
                <a:gd name="connsiteY86" fmla="*/ 685800 h 1247775"/>
                <a:gd name="connsiteX87" fmla="*/ 233362 w 514350"/>
                <a:gd name="connsiteY87" fmla="*/ 723900 h 1247775"/>
                <a:gd name="connsiteX88" fmla="*/ 223837 w 514350"/>
                <a:gd name="connsiteY88" fmla="*/ 752475 h 1247775"/>
                <a:gd name="connsiteX89" fmla="*/ 214312 w 514350"/>
                <a:gd name="connsiteY89" fmla="*/ 819150 h 1247775"/>
                <a:gd name="connsiteX90" fmla="*/ 200025 w 514350"/>
                <a:gd name="connsiteY90" fmla="*/ 866775 h 1247775"/>
                <a:gd name="connsiteX91" fmla="*/ 195262 w 514350"/>
                <a:gd name="connsiteY91" fmla="*/ 881062 h 1247775"/>
                <a:gd name="connsiteX92" fmla="*/ 190500 w 514350"/>
                <a:gd name="connsiteY92" fmla="*/ 895350 h 1247775"/>
                <a:gd name="connsiteX93" fmla="*/ 180975 w 514350"/>
                <a:gd name="connsiteY93" fmla="*/ 909637 h 1247775"/>
                <a:gd name="connsiteX94" fmla="*/ 166687 w 514350"/>
                <a:gd name="connsiteY94" fmla="*/ 947737 h 1247775"/>
                <a:gd name="connsiteX95" fmla="*/ 147637 w 514350"/>
                <a:gd name="connsiteY95" fmla="*/ 990600 h 1247775"/>
                <a:gd name="connsiteX96" fmla="*/ 142875 w 514350"/>
                <a:gd name="connsiteY96" fmla="*/ 1004887 h 1247775"/>
                <a:gd name="connsiteX97" fmla="*/ 123825 w 514350"/>
                <a:gd name="connsiteY97" fmla="*/ 1033462 h 1247775"/>
                <a:gd name="connsiteX98" fmla="*/ 100012 w 514350"/>
                <a:gd name="connsiteY98" fmla="*/ 1076325 h 1247775"/>
                <a:gd name="connsiteX99" fmla="*/ 85725 w 514350"/>
                <a:gd name="connsiteY99" fmla="*/ 1085850 h 1247775"/>
                <a:gd name="connsiteX100" fmla="*/ 80962 w 514350"/>
                <a:gd name="connsiteY100" fmla="*/ 1100137 h 1247775"/>
                <a:gd name="connsiteX101" fmla="*/ 61912 w 514350"/>
                <a:gd name="connsiteY101" fmla="*/ 1128712 h 1247775"/>
                <a:gd name="connsiteX102" fmla="*/ 52387 w 514350"/>
                <a:gd name="connsiteY102" fmla="*/ 1143000 h 1247775"/>
                <a:gd name="connsiteX103" fmla="*/ 42862 w 514350"/>
                <a:gd name="connsiteY103" fmla="*/ 1157287 h 1247775"/>
                <a:gd name="connsiteX104" fmla="*/ 33337 w 514350"/>
                <a:gd name="connsiteY104" fmla="*/ 1171575 h 1247775"/>
                <a:gd name="connsiteX105" fmla="*/ 28575 w 514350"/>
                <a:gd name="connsiteY105" fmla="*/ 1185862 h 1247775"/>
                <a:gd name="connsiteX106" fmla="*/ 0 w 514350"/>
                <a:gd name="connsiteY106" fmla="*/ 1243012 h 1247775"/>
                <a:gd name="connsiteX107" fmla="*/ 0 w 514350"/>
                <a:gd name="connsiteY107" fmla="*/ 1247775 h 124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514350" h="1247775">
                  <a:moveTo>
                    <a:pt x="495300" y="0"/>
                  </a:moveTo>
                  <a:cubicBezTo>
                    <a:pt x="496887" y="34925"/>
                    <a:pt x="497479" y="69909"/>
                    <a:pt x="500062" y="104775"/>
                  </a:cubicBezTo>
                  <a:cubicBezTo>
                    <a:pt x="500660" y="112847"/>
                    <a:pt x="503680" y="120574"/>
                    <a:pt x="504825" y="128587"/>
                  </a:cubicBezTo>
                  <a:cubicBezTo>
                    <a:pt x="506996" y="143782"/>
                    <a:pt x="512987" y="205450"/>
                    <a:pt x="514350" y="219075"/>
                  </a:cubicBezTo>
                  <a:cubicBezTo>
                    <a:pt x="511175" y="260350"/>
                    <a:pt x="509085" y="301723"/>
                    <a:pt x="504825" y="342900"/>
                  </a:cubicBezTo>
                  <a:cubicBezTo>
                    <a:pt x="504308" y="347893"/>
                    <a:pt x="501441" y="352360"/>
                    <a:pt x="500062" y="357187"/>
                  </a:cubicBezTo>
                  <a:cubicBezTo>
                    <a:pt x="498264" y="363481"/>
                    <a:pt x="497181" y="369968"/>
                    <a:pt x="495300" y="376237"/>
                  </a:cubicBezTo>
                  <a:cubicBezTo>
                    <a:pt x="495290" y="376270"/>
                    <a:pt x="483399" y="411940"/>
                    <a:pt x="481012" y="419100"/>
                  </a:cubicBezTo>
                  <a:cubicBezTo>
                    <a:pt x="479425" y="423862"/>
                    <a:pt x="477468" y="428517"/>
                    <a:pt x="476250" y="433387"/>
                  </a:cubicBezTo>
                  <a:cubicBezTo>
                    <a:pt x="474662" y="439737"/>
                    <a:pt x="474065" y="446421"/>
                    <a:pt x="471487" y="452437"/>
                  </a:cubicBezTo>
                  <a:cubicBezTo>
                    <a:pt x="469232" y="457698"/>
                    <a:pt x="465137" y="461962"/>
                    <a:pt x="461962" y="466725"/>
                  </a:cubicBezTo>
                  <a:cubicBezTo>
                    <a:pt x="460375" y="471487"/>
                    <a:pt x="458418" y="476142"/>
                    <a:pt x="457200" y="481012"/>
                  </a:cubicBezTo>
                  <a:cubicBezTo>
                    <a:pt x="450408" y="508181"/>
                    <a:pt x="455003" y="499448"/>
                    <a:pt x="447675" y="523875"/>
                  </a:cubicBezTo>
                  <a:cubicBezTo>
                    <a:pt x="444790" y="533492"/>
                    <a:pt x="441325" y="542925"/>
                    <a:pt x="438150" y="552450"/>
                  </a:cubicBezTo>
                  <a:lnTo>
                    <a:pt x="428625" y="581025"/>
                  </a:lnTo>
                  <a:lnTo>
                    <a:pt x="419100" y="609600"/>
                  </a:lnTo>
                  <a:cubicBezTo>
                    <a:pt x="417513" y="614362"/>
                    <a:pt x="417122" y="619710"/>
                    <a:pt x="414337" y="623887"/>
                  </a:cubicBezTo>
                  <a:lnTo>
                    <a:pt x="404812" y="638175"/>
                  </a:lnTo>
                  <a:cubicBezTo>
                    <a:pt x="403225" y="647700"/>
                    <a:pt x="402392" y="657382"/>
                    <a:pt x="400050" y="666750"/>
                  </a:cubicBezTo>
                  <a:cubicBezTo>
                    <a:pt x="397615" y="676490"/>
                    <a:pt x="393700" y="685800"/>
                    <a:pt x="390525" y="695325"/>
                  </a:cubicBezTo>
                  <a:lnTo>
                    <a:pt x="371475" y="752475"/>
                  </a:lnTo>
                  <a:cubicBezTo>
                    <a:pt x="369888" y="757237"/>
                    <a:pt x="367929" y="761892"/>
                    <a:pt x="366712" y="766762"/>
                  </a:cubicBezTo>
                  <a:cubicBezTo>
                    <a:pt x="365185" y="772870"/>
                    <a:pt x="360605" y="793265"/>
                    <a:pt x="357187" y="800100"/>
                  </a:cubicBezTo>
                  <a:cubicBezTo>
                    <a:pt x="354627" y="805219"/>
                    <a:pt x="350837" y="809625"/>
                    <a:pt x="347662" y="814387"/>
                  </a:cubicBezTo>
                  <a:cubicBezTo>
                    <a:pt x="346135" y="820495"/>
                    <a:pt x="341555" y="840890"/>
                    <a:pt x="338137" y="847725"/>
                  </a:cubicBezTo>
                  <a:cubicBezTo>
                    <a:pt x="335577" y="852844"/>
                    <a:pt x="331787" y="857250"/>
                    <a:pt x="328612" y="862012"/>
                  </a:cubicBezTo>
                  <a:cubicBezTo>
                    <a:pt x="327025" y="868362"/>
                    <a:pt x="325731" y="874793"/>
                    <a:pt x="323850" y="881062"/>
                  </a:cubicBezTo>
                  <a:cubicBezTo>
                    <a:pt x="323840" y="881095"/>
                    <a:pt x="311949" y="916765"/>
                    <a:pt x="309562" y="923925"/>
                  </a:cubicBezTo>
                  <a:cubicBezTo>
                    <a:pt x="309561" y="923929"/>
                    <a:pt x="300039" y="952497"/>
                    <a:pt x="300037" y="952500"/>
                  </a:cubicBezTo>
                  <a:lnTo>
                    <a:pt x="290512" y="966787"/>
                  </a:lnTo>
                  <a:cubicBezTo>
                    <a:pt x="287337" y="976312"/>
                    <a:pt x="278552" y="1005102"/>
                    <a:pt x="280987" y="995362"/>
                  </a:cubicBezTo>
                  <a:cubicBezTo>
                    <a:pt x="282575" y="989012"/>
                    <a:pt x="282503" y="981995"/>
                    <a:pt x="285750" y="976312"/>
                  </a:cubicBezTo>
                  <a:cubicBezTo>
                    <a:pt x="289092" y="970464"/>
                    <a:pt x="295275" y="966787"/>
                    <a:pt x="300037" y="962025"/>
                  </a:cubicBezTo>
                  <a:lnTo>
                    <a:pt x="319087" y="904875"/>
                  </a:lnTo>
                  <a:cubicBezTo>
                    <a:pt x="320675" y="900112"/>
                    <a:pt x="319673" y="893372"/>
                    <a:pt x="323850" y="890587"/>
                  </a:cubicBezTo>
                  <a:lnTo>
                    <a:pt x="338137" y="881062"/>
                  </a:lnTo>
                  <a:cubicBezTo>
                    <a:pt x="339725" y="873125"/>
                    <a:pt x="340937" y="865103"/>
                    <a:pt x="342900" y="857250"/>
                  </a:cubicBezTo>
                  <a:cubicBezTo>
                    <a:pt x="344118" y="852380"/>
                    <a:pt x="347662" y="847982"/>
                    <a:pt x="347662" y="842962"/>
                  </a:cubicBezTo>
                  <a:cubicBezTo>
                    <a:pt x="347662" y="834868"/>
                    <a:pt x="344487" y="827087"/>
                    <a:pt x="342900" y="819150"/>
                  </a:cubicBezTo>
                  <a:cubicBezTo>
                    <a:pt x="343975" y="812698"/>
                    <a:pt x="348548" y="780571"/>
                    <a:pt x="352425" y="771525"/>
                  </a:cubicBezTo>
                  <a:cubicBezTo>
                    <a:pt x="354680" y="766264"/>
                    <a:pt x="358775" y="762000"/>
                    <a:pt x="361950" y="757237"/>
                  </a:cubicBezTo>
                  <a:cubicBezTo>
                    <a:pt x="373917" y="721334"/>
                    <a:pt x="357776" y="765583"/>
                    <a:pt x="376237" y="728662"/>
                  </a:cubicBezTo>
                  <a:cubicBezTo>
                    <a:pt x="378482" y="724172"/>
                    <a:pt x="377864" y="718295"/>
                    <a:pt x="381000" y="714375"/>
                  </a:cubicBezTo>
                  <a:cubicBezTo>
                    <a:pt x="384576" y="709906"/>
                    <a:pt x="390525" y="708025"/>
                    <a:pt x="395287" y="704850"/>
                  </a:cubicBezTo>
                  <a:cubicBezTo>
                    <a:pt x="396875" y="700087"/>
                    <a:pt x="397612" y="694951"/>
                    <a:pt x="400050" y="690562"/>
                  </a:cubicBezTo>
                  <a:cubicBezTo>
                    <a:pt x="405609" y="680555"/>
                    <a:pt x="419100" y="661987"/>
                    <a:pt x="419100" y="661987"/>
                  </a:cubicBezTo>
                  <a:cubicBezTo>
                    <a:pt x="430435" y="627982"/>
                    <a:pt x="423056" y="641766"/>
                    <a:pt x="438150" y="619125"/>
                  </a:cubicBezTo>
                  <a:cubicBezTo>
                    <a:pt x="439737" y="614362"/>
                    <a:pt x="439776" y="608757"/>
                    <a:pt x="442912" y="604837"/>
                  </a:cubicBezTo>
                  <a:cubicBezTo>
                    <a:pt x="446488" y="600367"/>
                    <a:pt x="454166" y="600166"/>
                    <a:pt x="457200" y="595312"/>
                  </a:cubicBezTo>
                  <a:cubicBezTo>
                    <a:pt x="462521" y="586798"/>
                    <a:pt x="463550" y="576262"/>
                    <a:pt x="466725" y="566737"/>
                  </a:cubicBezTo>
                  <a:lnTo>
                    <a:pt x="471487" y="552450"/>
                  </a:lnTo>
                  <a:cubicBezTo>
                    <a:pt x="466725" y="549275"/>
                    <a:pt x="460969" y="547233"/>
                    <a:pt x="457200" y="542925"/>
                  </a:cubicBezTo>
                  <a:cubicBezTo>
                    <a:pt x="449662" y="534310"/>
                    <a:pt x="447675" y="520700"/>
                    <a:pt x="438150" y="514350"/>
                  </a:cubicBezTo>
                  <a:lnTo>
                    <a:pt x="395287" y="485775"/>
                  </a:lnTo>
                  <a:cubicBezTo>
                    <a:pt x="390525" y="482600"/>
                    <a:pt x="385579" y="479684"/>
                    <a:pt x="381000" y="476250"/>
                  </a:cubicBezTo>
                  <a:cubicBezTo>
                    <a:pt x="376682" y="473011"/>
                    <a:pt x="354629" y="455920"/>
                    <a:pt x="347662" y="452437"/>
                  </a:cubicBezTo>
                  <a:cubicBezTo>
                    <a:pt x="343172" y="450192"/>
                    <a:pt x="338137" y="449262"/>
                    <a:pt x="333375" y="447675"/>
                  </a:cubicBezTo>
                  <a:cubicBezTo>
                    <a:pt x="330200" y="442912"/>
                    <a:pt x="324791" y="439033"/>
                    <a:pt x="323850" y="433387"/>
                  </a:cubicBezTo>
                  <a:cubicBezTo>
                    <a:pt x="323025" y="428435"/>
                    <a:pt x="326849" y="423800"/>
                    <a:pt x="328612" y="419100"/>
                  </a:cubicBezTo>
                  <a:cubicBezTo>
                    <a:pt x="331614" y="411095"/>
                    <a:pt x="334314" y="402934"/>
                    <a:pt x="338137" y="395287"/>
                  </a:cubicBezTo>
                  <a:cubicBezTo>
                    <a:pt x="340697" y="390168"/>
                    <a:pt x="345337" y="386230"/>
                    <a:pt x="347662" y="381000"/>
                  </a:cubicBezTo>
                  <a:cubicBezTo>
                    <a:pt x="351740" y="371825"/>
                    <a:pt x="354752" y="362165"/>
                    <a:pt x="357187" y="352425"/>
                  </a:cubicBezTo>
                  <a:cubicBezTo>
                    <a:pt x="358775" y="346075"/>
                    <a:pt x="360152" y="339669"/>
                    <a:pt x="361950" y="333375"/>
                  </a:cubicBezTo>
                  <a:cubicBezTo>
                    <a:pt x="363329" y="328548"/>
                    <a:pt x="365727" y="324010"/>
                    <a:pt x="366712" y="319087"/>
                  </a:cubicBezTo>
                  <a:cubicBezTo>
                    <a:pt x="384922" y="228034"/>
                    <a:pt x="369307" y="296161"/>
                    <a:pt x="381000" y="214312"/>
                  </a:cubicBezTo>
                  <a:cubicBezTo>
                    <a:pt x="383129" y="199411"/>
                    <a:pt x="386645" y="194554"/>
                    <a:pt x="390525" y="180975"/>
                  </a:cubicBezTo>
                  <a:cubicBezTo>
                    <a:pt x="402488" y="139106"/>
                    <a:pt x="388628" y="181901"/>
                    <a:pt x="400050" y="147637"/>
                  </a:cubicBezTo>
                  <a:cubicBezTo>
                    <a:pt x="401637" y="136525"/>
                    <a:pt x="402861" y="125354"/>
                    <a:pt x="404812" y="114300"/>
                  </a:cubicBezTo>
                  <a:cubicBezTo>
                    <a:pt x="407625" y="98357"/>
                    <a:pt x="420350" y="51644"/>
                    <a:pt x="414337" y="66675"/>
                  </a:cubicBezTo>
                  <a:cubicBezTo>
                    <a:pt x="405127" y="89701"/>
                    <a:pt x="404783" y="87449"/>
                    <a:pt x="400050" y="109537"/>
                  </a:cubicBezTo>
                  <a:cubicBezTo>
                    <a:pt x="396658" y="125367"/>
                    <a:pt x="394452" y="141456"/>
                    <a:pt x="390525" y="157162"/>
                  </a:cubicBezTo>
                  <a:cubicBezTo>
                    <a:pt x="387350" y="169862"/>
                    <a:pt x="383152" y="182349"/>
                    <a:pt x="381000" y="195262"/>
                  </a:cubicBezTo>
                  <a:cubicBezTo>
                    <a:pt x="375412" y="228789"/>
                    <a:pt x="379290" y="214676"/>
                    <a:pt x="371475" y="238125"/>
                  </a:cubicBezTo>
                  <a:cubicBezTo>
                    <a:pt x="369887" y="255587"/>
                    <a:pt x="366712" y="272978"/>
                    <a:pt x="366712" y="290512"/>
                  </a:cubicBezTo>
                  <a:cubicBezTo>
                    <a:pt x="366712" y="298607"/>
                    <a:pt x="372369" y="306280"/>
                    <a:pt x="371475" y="314325"/>
                  </a:cubicBezTo>
                  <a:cubicBezTo>
                    <a:pt x="370691" y="321381"/>
                    <a:pt x="364443" y="326728"/>
                    <a:pt x="361950" y="333375"/>
                  </a:cubicBezTo>
                  <a:cubicBezTo>
                    <a:pt x="349870" y="365586"/>
                    <a:pt x="363934" y="339857"/>
                    <a:pt x="352425" y="366712"/>
                  </a:cubicBezTo>
                  <a:cubicBezTo>
                    <a:pt x="349628" y="373238"/>
                    <a:pt x="345537" y="379170"/>
                    <a:pt x="342900" y="385762"/>
                  </a:cubicBezTo>
                  <a:cubicBezTo>
                    <a:pt x="329432" y="419431"/>
                    <a:pt x="337031" y="405324"/>
                    <a:pt x="328612" y="433387"/>
                  </a:cubicBezTo>
                  <a:cubicBezTo>
                    <a:pt x="325727" y="443004"/>
                    <a:pt x="321522" y="452221"/>
                    <a:pt x="319087" y="461962"/>
                  </a:cubicBezTo>
                  <a:cubicBezTo>
                    <a:pt x="312937" y="486565"/>
                    <a:pt x="317956" y="475566"/>
                    <a:pt x="304800" y="495300"/>
                  </a:cubicBezTo>
                  <a:cubicBezTo>
                    <a:pt x="303212" y="501650"/>
                    <a:pt x="301457" y="507960"/>
                    <a:pt x="300037" y="514350"/>
                  </a:cubicBezTo>
                  <a:cubicBezTo>
                    <a:pt x="297862" y="524136"/>
                    <a:pt x="295620" y="542235"/>
                    <a:pt x="290512" y="552450"/>
                  </a:cubicBezTo>
                  <a:cubicBezTo>
                    <a:pt x="287952" y="557569"/>
                    <a:pt x="284162" y="561975"/>
                    <a:pt x="280987" y="566737"/>
                  </a:cubicBezTo>
                  <a:cubicBezTo>
                    <a:pt x="264971" y="614793"/>
                    <a:pt x="289418" y="540224"/>
                    <a:pt x="271462" y="600075"/>
                  </a:cubicBezTo>
                  <a:cubicBezTo>
                    <a:pt x="268577" y="609692"/>
                    <a:pt x="265112" y="619125"/>
                    <a:pt x="261937" y="628650"/>
                  </a:cubicBezTo>
                  <a:lnTo>
                    <a:pt x="242887" y="685800"/>
                  </a:lnTo>
                  <a:cubicBezTo>
                    <a:pt x="228440" y="729141"/>
                    <a:pt x="250600" y="660696"/>
                    <a:pt x="233362" y="723900"/>
                  </a:cubicBezTo>
                  <a:cubicBezTo>
                    <a:pt x="230720" y="733586"/>
                    <a:pt x="223837" y="752475"/>
                    <a:pt x="223837" y="752475"/>
                  </a:cubicBezTo>
                  <a:cubicBezTo>
                    <a:pt x="220909" y="775904"/>
                    <a:pt x="218892" y="796248"/>
                    <a:pt x="214312" y="819150"/>
                  </a:cubicBezTo>
                  <a:cubicBezTo>
                    <a:pt x="210712" y="837148"/>
                    <a:pt x="206102" y="848545"/>
                    <a:pt x="200025" y="866775"/>
                  </a:cubicBezTo>
                  <a:lnTo>
                    <a:pt x="195262" y="881062"/>
                  </a:lnTo>
                  <a:cubicBezTo>
                    <a:pt x="193674" y="885825"/>
                    <a:pt x="193285" y="891173"/>
                    <a:pt x="190500" y="895350"/>
                  </a:cubicBezTo>
                  <a:lnTo>
                    <a:pt x="180975" y="909637"/>
                  </a:lnTo>
                  <a:cubicBezTo>
                    <a:pt x="169683" y="966095"/>
                    <a:pt x="184525" y="907601"/>
                    <a:pt x="166687" y="947737"/>
                  </a:cubicBezTo>
                  <a:cubicBezTo>
                    <a:pt x="144015" y="998748"/>
                    <a:pt x="169194" y="958263"/>
                    <a:pt x="147637" y="990600"/>
                  </a:cubicBezTo>
                  <a:cubicBezTo>
                    <a:pt x="146050" y="995362"/>
                    <a:pt x="145313" y="1000499"/>
                    <a:pt x="142875" y="1004887"/>
                  </a:cubicBezTo>
                  <a:cubicBezTo>
                    <a:pt x="137316" y="1014894"/>
                    <a:pt x="127445" y="1022602"/>
                    <a:pt x="123825" y="1033462"/>
                  </a:cubicBezTo>
                  <a:cubicBezTo>
                    <a:pt x="118862" y="1048351"/>
                    <a:pt x="114048" y="1066967"/>
                    <a:pt x="100012" y="1076325"/>
                  </a:cubicBezTo>
                  <a:lnTo>
                    <a:pt x="85725" y="1085850"/>
                  </a:lnTo>
                  <a:cubicBezTo>
                    <a:pt x="84137" y="1090612"/>
                    <a:pt x="83400" y="1095749"/>
                    <a:pt x="80962" y="1100137"/>
                  </a:cubicBezTo>
                  <a:cubicBezTo>
                    <a:pt x="75402" y="1110144"/>
                    <a:pt x="68262" y="1119187"/>
                    <a:pt x="61912" y="1128712"/>
                  </a:cubicBezTo>
                  <a:lnTo>
                    <a:pt x="52387" y="1143000"/>
                  </a:lnTo>
                  <a:lnTo>
                    <a:pt x="42862" y="1157287"/>
                  </a:lnTo>
                  <a:lnTo>
                    <a:pt x="33337" y="1171575"/>
                  </a:lnTo>
                  <a:cubicBezTo>
                    <a:pt x="31750" y="1176337"/>
                    <a:pt x="31013" y="1181474"/>
                    <a:pt x="28575" y="1185862"/>
                  </a:cubicBezTo>
                  <a:cubicBezTo>
                    <a:pt x="18943" y="1203199"/>
                    <a:pt x="0" y="1220760"/>
                    <a:pt x="0" y="1243012"/>
                  </a:cubicBezTo>
                  <a:lnTo>
                    <a:pt x="0" y="1247775"/>
                  </a:lnTo>
                </a:path>
              </a:pathLst>
            </a:custGeom>
            <a:ln w="254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6" name="Freeform 5"/>
            <p:cNvSpPr/>
            <p:nvPr/>
          </p:nvSpPr>
          <p:spPr>
            <a:xfrm>
              <a:off x="2487603" y="3780372"/>
              <a:ext cx="698346" cy="1472704"/>
            </a:xfrm>
            <a:custGeom>
              <a:avLst/>
              <a:gdLst>
                <a:gd name="connsiteX0" fmla="*/ 670677 w 699252"/>
                <a:gd name="connsiteY0" fmla="*/ 334763 h 1473001"/>
                <a:gd name="connsiteX1" fmla="*/ 675439 w 699252"/>
                <a:gd name="connsiteY1" fmla="*/ 296663 h 1473001"/>
                <a:gd name="connsiteX2" fmla="*/ 684964 w 699252"/>
                <a:gd name="connsiteY2" fmla="*/ 263326 h 1473001"/>
                <a:gd name="connsiteX3" fmla="*/ 694489 w 699252"/>
                <a:gd name="connsiteY3" fmla="*/ 120451 h 1473001"/>
                <a:gd name="connsiteX4" fmla="*/ 699252 w 699252"/>
                <a:gd name="connsiteY4" fmla="*/ 106163 h 1473001"/>
                <a:gd name="connsiteX5" fmla="*/ 689727 w 699252"/>
                <a:gd name="connsiteY5" fmla="*/ 82351 h 1473001"/>
                <a:gd name="connsiteX6" fmla="*/ 675439 w 699252"/>
                <a:gd name="connsiteY6" fmla="*/ 77588 h 1473001"/>
                <a:gd name="connsiteX7" fmla="*/ 646864 w 699252"/>
                <a:gd name="connsiteY7" fmla="*/ 58538 h 1473001"/>
                <a:gd name="connsiteX8" fmla="*/ 618289 w 699252"/>
                <a:gd name="connsiteY8" fmla="*/ 39488 h 1473001"/>
                <a:gd name="connsiteX9" fmla="*/ 604002 w 699252"/>
                <a:gd name="connsiteY9" fmla="*/ 29963 h 1473001"/>
                <a:gd name="connsiteX10" fmla="*/ 570664 w 699252"/>
                <a:gd name="connsiteY10" fmla="*/ 15676 h 1473001"/>
                <a:gd name="connsiteX11" fmla="*/ 561139 w 699252"/>
                <a:gd name="connsiteY11" fmla="*/ 1388 h 1473001"/>
                <a:gd name="connsiteX12" fmla="*/ 551614 w 699252"/>
                <a:gd name="connsiteY12" fmla="*/ 20438 h 1473001"/>
                <a:gd name="connsiteX13" fmla="*/ 546852 w 699252"/>
                <a:gd name="connsiteY13" fmla="*/ 91876 h 1473001"/>
                <a:gd name="connsiteX14" fmla="*/ 537327 w 699252"/>
                <a:gd name="connsiteY14" fmla="*/ 158551 h 1473001"/>
                <a:gd name="connsiteX15" fmla="*/ 532564 w 699252"/>
                <a:gd name="connsiteY15" fmla="*/ 210938 h 1473001"/>
                <a:gd name="connsiteX16" fmla="*/ 523039 w 699252"/>
                <a:gd name="connsiteY16" fmla="*/ 339526 h 1473001"/>
                <a:gd name="connsiteX17" fmla="*/ 513514 w 699252"/>
                <a:gd name="connsiteY17" fmla="*/ 372863 h 1473001"/>
                <a:gd name="connsiteX18" fmla="*/ 508752 w 699252"/>
                <a:gd name="connsiteY18" fmla="*/ 396676 h 1473001"/>
                <a:gd name="connsiteX19" fmla="*/ 494464 w 699252"/>
                <a:gd name="connsiteY19" fmla="*/ 434776 h 1473001"/>
                <a:gd name="connsiteX20" fmla="*/ 484939 w 699252"/>
                <a:gd name="connsiteY20" fmla="*/ 487163 h 1473001"/>
                <a:gd name="connsiteX21" fmla="*/ 475414 w 699252"/>
                <a:gd name="connsiteY21" fmla="*/ 534788 h 1473001"/>
                <a:gd name="connsiteX22" fmla="*/ 480177 w 699252"/>
                <a:gd name="connsiteY22" fmla="*/ 601463 h 1473001"/>
                <a:gd name="connsiteX23" fmla="*/ 494464 w 699252"/>
                <a:gd name="connsiteY23" fmla="*/ 610988 h 1473001"/>
                <a:gd name="connsiteX24" fmla="*/ 518277 w 699252"/>
                <a:gd name="connsiteY24" fmla="*/ 653851 h 1473001"/>
                <a:gd name="connsiteX25" fmla="*/ 527802 w 699252"/>
                <a:gd name="connsiteY25" fmla="*/ 668138 h 1473001"/>
                <a:gd name="connsiteX26" fmla="*/ 532564 w 699252"/>
                <a:gd name="connsiteY26" fmla="*/ 682426 h 1473001"/>
                <a:gd name="connsiteX27" fmla="*/ 551614 w 699252"/>
                <a:gd name="connsiteY27" fmla="*/ 711001 h 1473001"/>
                <a:gd name="connsiteX28" fmla="*/ 556377 w 699252"/>
                <a:gd name="connsiteY28" fmla="*/ 725288 h 1473001"/>
                <a:gd name="connsiteX29" fmla="*/ 546852 w 699252"/>
                <a:gd name="connsiteY29" fmla="*/ 711001 h 1473001"/>
                <a:gd name="connsiteX30" fmla="*/ 532564 w 699252"/>
                <a:gd name="connsiteY30" fmla="*/ 682426 h 1473001"/>
                <a:gd name="connsiteX31" fmla="*/ 518277 w 699252"/>
                <a:gd name="connsiteY31" fmla="*/ 653851 h 1473001"/>
                <a:gd name="connsiteX32" fmla="*/ 513514 w 699252"/>
                <a:gd name="connsiteY32" fmla="*/ 639563 h 1473001"/>
                <a:gd name="connsiteX33" fmla="*/ 499227 w 699252"/>
                <a:gd name="connsiteY33" fmla="*/ 630038 h 1473001"/>
                <a:gd name="connsiteX34" fmla="*/ 480177 w 699252"/>
                <a:gd name="connsiteY34" fmla="*/ 601463 h 1473001"/>
                <a:gd name="connsiteX35" fmla="*/ 470652 w 699252"/>
                <a:gd name="connsiteY35" fmla="*/ 634801 h 1473001"/>
                <a:gd name="connsiteX36" fmla="*/ 461127 w 699252"/>
                <a:gd name="connsiteY36" fmla="*/ 663376 h 1473001"/>
                <a:gd name="connsiteX37" fmla="*/ 451602 w 699252"/>
                <a:gd name="connsiteY37" fmla="*/ 677663 h 1473001"/>
                <a:gd name="connsiteX38" fmla="*/ 437314 w 699252"/>
                <a:gd name="connsiteY38" fmla="*/ 715763 h 1473001"/>
                <a:gd name="connsiteX39" fmla="*/ 418264 w 699252"/>
                <a:gd name="connsiteY39" fmla="*/ 758626 h 1473001"/>
                <a:gd name="connsiteX40" fmla="*/ 394452 w 699252"/>
                <a:gd name="connsiteY40" fmla="*/ 801488 h 1473001"/>
                <a:gd name="connsiteX41" fmla="*/ 370639 w 699252"/>
                <a:gd name="connsiteY41" fmla="*/ 849113 h 1473001"/>
                <a:gd name="connsiteX42" fmla="*/ 365877 w 699252"/>
                <a:gd name="connsiteY42" fmla="*/ 863401 h 1473001"/>
                <a:gd name="connsiteX43" fmla="*/ 356352 w 699252"/>
                <a:gd name="connsiteY43" fmla="*/ 877688 h 1473001"/>
                <a:gd name="connsiteX44" fmla="*/ 346827 w 699252"/>
                <a:gd name="connsiteY44" fmla="*/ 911026 h 1473001"/>
                <a:gd name="connsiteX45" fmla="*/ 337302 w 699252"/>
                <a:gd name="connsiteY45" fmla="*/ 925313 h 1473001"/>
                <a:gd name="connsiteX46" fmla="*/ 327777 w 699252"/>
                <a:gd name="connsiteY46" fmla="*/ 953888 h 1473001"/>
                <a:gd name="connsiteX47" fmla="*/ 323014 w 699252"/>
                <a:gd name="connsiteY47" fmla="*/ 972938 h 1473001"/>
                <a:gd name="connsiteX48" fmla="*/ 313489 w 699252"/>
                <a:gd name="connsiteY48" fmla="*/ 987226 h 1473001"/>
                <a:gd name="connsiteX49" fmla="*/ 303964 w 699252"/>
                <a:gd name="connsiteY49" fmla="*/ 1020563 h 1473001"/>
                <a:gd name="connsiteX50" fmla="*/ 294439 w 699252"/>
                <a:gd name="connsiteY50" fmla="*/ 1034851 h 1473001"/>
                <a:gd name="connsiteX51" fmla="*/ 275389 w 699252"/>
                <a:gd name="connsiteY51" fmla="*/ 1068188 h 1473001"/>
                <a:gd name="connsiteX52" fmla="*/ 270627 w 699252"/>
                <a:gd name="connsiteY52" fmla="*/ 1082476 h 1473001"/>
                <a:gd name="connsiteX53" fmla="*/ 261102 w 699252"/>
                <a:gd name="connsiteY53" fmla="*/ 1096763 h 1473001"/>
                <a:gd name="connsiteX54" fmla="*/ 256339 w 699252"/>
                <a:gd name="connsiteY54" fmla="*/ 1111051 h 1473001"/>
                <a:gd name="connsiteX55" fmla="*/ 251577 w 699252"/>
                <a:gd name="connsiteY55" fmla="*/ 1130101 h 1473001"/>
                <a:gd name="connsiteX56" fmla="*/ 232527 w 699252"/>
                <a:gd name="connsiteY56" fmla="*/ 1158676 h 1473001"/>
                <a:gd name="connsiteX57" fmla="*/ 223002 w 699252"/>
                <a:gd name="connsiteY57" fmla="*/ 1177726 h 1473001"/>
                <a:gd name="connsiteX58" fmla="*/ 208714 w 699252"/>
                <a:gd name="connsiteY58" fmla="*/ 1187251 h 1473001"/>
                <a:gd name="connsiteX59" fmla="*/ 199189 w 699252"/>
                <a:gd name="connsiteY59" fmla="*/ 1201538 h 1473001"/>
                <a:gd name="connsiteX60" fmla="*/ 184902 w 699252"/>
                <a:gd name="connsiteY60" fmla="*/ 1206301 h 1473001"/>
                <a:gd name="connsiteX61" fmla="*/ 156327 w 699252"/>
                <a:gd name="connsiteY61" fmla="*/ 1225351 h 1473001"/>
                <a:gd name="connsiteX62" fmla="*/ 156327 w 699252"/>
                <a:gd name="connsiteY62" fmla="*/ 1225351 h 1473001"/>
                <a:gd name="connsiteX63" fmla="*/ 142039 w 699252"/>
                <a:gd name="connsiteY63" fmla="*/ 1239638 h 1473001"/>
                <a:gd name="connsiteX64" fmla="*/ 108702 w 699252"/>
                <a:gd name="connsiteY64" fmla="*/ 1253926 h 1473001"/>
                <a:gd name="connsiteX65" fmla="*/ 75364 w 699252"/>
                <a:gd name="connsiteY65" fmla="*/ 1277738 h 1473001"/>
                <a:gd name="connsiteX66" fmla="*/ 61077 w 699252"/>
                <a:gd name="connsiteY66" fmla="*/ 1282501 h 1473001"/>
                <a:gd name="connsiteX67" fmla="*/ 32502 w 699252"/>
                <a:gd name="connsiteY67" fmla="*/ 1306313 h 1473001"/>
                <a:gd name="connsiteX68" fmla="*/ 18214 w 699252"/>
                <a:gd name="connsiteY68" fmla="*/ 1334888 h 1473001"/>
                <a:gd name="connsiteX69" fmla="*/ 8689 w 699252"/>
                <a:gd name="connsiteY69" fmla="*/ 1349176 h 1473001"/>
                <a:gd name="connsiteX70" fmla="*/ 8689 w 699252"/>
                <a:gd name="connsiteY70" fmla="*/ 1406326 h 1473001"/>
                <a:gd name="connsiteX71" fmla="*/ 13452 w 699252"/>
                <a:gd name="connsiteY71" fmla="*/ 1420613 h 1473001"/>
                <a:gd name="connsiteX72" fmla="*/ 27739 w 699252"/>
                <a:gd name="connsiteY72" fmla="*/ 1430138 h 1473001"/>
                <a:gd name="connsiteX73" fmla="*/ 42027 w 699252"/>
                <a:gd name="connsiteY73" fmla="*/ 1444426 h 1473001"/>
                <a:gd name="connsiteX74" fmla="*/ 61077 w 699252"/>
                <a:gd name="connsiteY74" fmla="*/ 1473001 h 1473001"/>
                <a:gd name="connsiteX75" fmla="*/ 89652 w 699252"/>
                <a:gd name="connsiteY75" fmla="*/ 1453951 h 1473001"/>
                <a:gd name="connsiteX76" fmla="*/ 103939 w 699252"/>
                <a:gd name="connsiteY76" fmla="*/ 1449188 h 1473001"/>
                <a:gd name="connsiteX77" fmla="*/ 132514 w 699252"/>
                <a:gd name="connsiteY77" fmla="*/ 1430138 h 1473001"/>
                <a:gd name="connsiteX78" fmla="*/ 146802 w 699252"/>
                <a:gd name="connsiteY78" fmla="*/ 1425376 h 1473001"/>
                <a:gd name="connsiteX79" fmla="*/ 165852 w 699252"/>
                <a:gd name="connsiteY79" fmla="*/ 1420613 h 1473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699252" h="1473001">
                  <a:moveTo>
                    <a:pt x="670677" y="334763"/>
                  </a:moveTo>
                  <a:cubicBezTo>
                    <a:pt x="672264" y="322063"/>
                    <a:pt x="673335" y="309288"/>
                    <a:pt x="675439" y="296663"/>
                  </a:cubicBezTo>
                  <a:cubicBezTo>
                    <a:pt x="677431" y="284708"/>
                    <a:pt x="681191" y="274646"/>
                    <a:pt x="684964" y="263326"/>
                  </a:cubicBezTo>
                  <a:cubicBezTo>
                    <a:pt x="686621" y="225225"/>
                    <a:pt x="685663" y="164582"/>
                    <a:pt x="694489" y="120451"/>
                  </a:cubicBezTo>
                  <a:cubicBezTo>
                    <a:pt x="695474" y="115528"/>
                    <a:pt x="697664" y="110926"/>
                    <a:pt x="699252" y="106163"/>
                  </a:cubicBezTo>
                  <a:cubicBezTo>
                    <a:pt x="696077" y="98226"/>
                    <a:pt x="695200" y="88918"/>
                    <a:pt x="689727" y="82351"/>
                  </a:cubicBezTo>
                  <a:cubicBezTo>
                    <a:pt x="686513" y="78494"/>
                    <a:pt x="679828" y="80026"/>
                    <a:pt x="675439" y="77588"/>
                  </a:cubicBezTo>
                  <a:cubicBezTo>
                    <a:pt x="665432" y="72029"/>
                    <a:pt x="656389" y="64888"/>
                    <a:pt x="646864" y="58538"/>
                  </a:cubicBezTo>
                  <a:lnTo>
                    <a:pt x="618289" y="39488"/>
                  </a:lnTo>
                  <a:cubicBezTo>
                    <a:pt x="613527" y="36313"/>
                    <a:pt x="609121" y="32523"/>
                    <a:pt x="604002" y="29963"/>
                  </a:cubicBezTo>
                  <a:cubicBezTo>
                    <a:pt x="580462" y="18193"/>
                    <a:pt x="591687" y="22683"/>
                    <a:pt x="570664" y="15676"/>
                  </a:cubicBezTo>
                  <a:cubicBezTo>
                    <a:pt x="567489" y="10913"/>
                    <a:pt x="566692" y="0"/>
                    <a:pt x="561139" y="1388"/>
                  </a:cubicBezTo>
                  <a:cubicBezTo>
                    <a:pt x="554251" y="3110"/>
                    <a:pt x="552721" y="13425"/>
                    <a:pt x="551614" y="20438"/>
                  </a:cubicBezTo>
                  <a:cubicBezTo>
                    <a:pt x="547892" y="44011"/>
                    <a:pt x="549308" y="68137"/>
                    <a:pt x="546852" y="91876"/>
                  </a:cubicBezTo>
                  <a:cubicBezTo>
                    <a:pt x="544542" y="114207"/>
                    <a:pt x="539360" y="136193"/>
                    <a:pt x="537327" y="158551"/>
                  </a:cubicBezTo>
                  <a:cubicBezTo>
                    <a:pt x="535739" y="176013"/>
                    <a:pt x="533944" y="193458"/>
                    <a:pt x="532564" y="210938"/>
                  </a:cubicBezTo>
                  <a:cubicBezTo>
                    <a:pt x="529181" y="253785"/>
                    <a:pt x="536630" y="298751"/>
                    <a:pt x="523039" y="339526"/>
                  </a:cubicBezTo>
                  <a:cubicBezTo>
                    <a:pt x="517738" y="355431"/>
                    <a:pt x="517499" y="354930"/>
                    <a:pt x="513514" y="372863"/>
                  </a:cubicBezTo>
                  <a:cubicBezTo>
                    <a:pt x="511758" y="380765"/>
                    <a:pt x="510715" y="388823"/>
                    <a:pt x="508752" y="396676"/>
                  </a:cubicBezTo>
                  <a:cubicBezTo>
                    <a:pt x="506265" y="406623"/>
                    <a:pt x="497372" y="427505"/>
                    <a:pt x="494464" y="434776"/>
                  </a:cubicBezTo>
                  <a:cubicBezTo>
                    <a:pt x="482357" y="519533"/>
                    <a:pt x="496168" y="431018"/>
                    <a:pt x="484939" y="487163"/>
                  </a:cubicBezTo>
                  <a:cubicBezTo>
                    <a:pt x="473262" y="545549"/>
                    <a:pt x="486477" y="490540"/>
                    <a:pt x="475414" y="534788"/>
                  </a:cubicBezTo>
                  <a:cubicBezTo>
                    <a:pt x="477002" y="557013"/>
                    <a:pt x="474773" y="579847"/>
                    <a:pt x="480177" y="601463"/>
                  </a:cubicBezTo>
                  <a:cubicBezTo>
                    <a:pt x="481565" y="607016"/>
                    <a:pt x="490695" y="606680"/>
                    <a:pt x="494464" y="610988"/>
                  </a:cubicBezTo>
                  <a:cubicBezTo>
                    <a:pt x="529502" y="651032"/>
                    <a:pt x="504104" y="625505"/>
                    <a:pt x="518277" y="653851"/>
                  </a:cubicBezTo>
                  <a:cubicBezTo>
                    <a:pt x="520837" y="658970"/>
                    <a:pt x="524627" y="663376"/>
                    <a:pt x="527802" y="668138"/>
                  </a:cubicBezTo>
                  <a:cubicBezTo>
                    <a:pt x="529389" y="672901"/>
                    <a:pt x="530126" y="678038"/>
                    <a:pt x="532564" y="682426"/>
                  </a:cubicBezTo>
                  <a:cubicBezTo>
                    <a:pt x="538123" y="692433"/>
                    <a:pt x="547993" y="700141"/>
                    <a:pt x="551614" y="711001"/>
                  </a:cubicBezTo>
                  <a:cubicBezTo>
                    <a:pt x="553202" y="715763"/>
                    <a:pt x="561397" y="725288"/>
                    <a:pt x="556377" y="725288"/>
                  </a:cubicBezTo>
                  <a:cubicBezTo>
                    <a:pt x="550653" y="725288"/>
                    <a:pt x="549412" y="716120"/>
                    <a:pt x="546852" y="711001"/>
                  </a:cubicBezTo>
                  <a:cubicBezTo>
                    <a:pt x="527134" y="671567"/>
                    <a:pt x="559860" y="723369"/>
                    <a:pt x="532564" y="682426"/>
                  </a:cubicBezTo>
                  <a:cubicBezTo>
                    <a:pt x="520597" y="646519"/>
                    <a:pt x="536738" y="690773"/>
                    <a:pt x="518277" y="653851"/>
                  </a:cubicBezTo>
                  <a:cubicBezTo>
                    <a:pt x="516032" y="649361"/>
                    <a:pt x="516650" y="643483"/>
                    <a:pt x="513514" y="639563"/>
                  </a:cubicBezTo>
                  <a:cubicBezTo>
                    <a:pt x="509938" y="635094"/>
                    <a:pt x="503989" y="633213"/>
                    <a:pt x="499227" y="630038"/>
                  </a:cubicBezTo>
                  <a:cubicBezTo>
                    <a:pt x="492877" y="620513"/>
                    <a:pt x="483797" y="590603"/>
                    <a:pt x="480177" y="601463"/>
                  </a:cubicBezTo>
                  <a:cubicBezTo>
                    <a:pt x="464176" y="649462"/>
                    <a:pt x="488584" y="575025"/>
                    <a:pt x="470652" y="634801"/>
                  </a:cubicBezTo>
                  <a:cubicBezTo>
                    <a:pt x="467767" y="644418"/>
                    <a:pt x="466696" y="655022"/>
                    <a:pt x="461127" y="663376"/>
                  </a:cubicBezTo>
                  <a:lnTo>
                    <a:pt x="451602" y="677663"/>
                  </a:lnTo>
                  <a:cubicBezTo>
                    <a:pt x="440310" y="734121"/>
                    <a:pt x="455152" y="675627"/>
                    <a:pt x="437314" y="715763"/>
                  </a:cubicBezTo>
                  <a:cubicBezTo>
                    <a:pt x="414642" y="766774"/>
                    <a:pt x="439821" y="726289"/>
                    <a:pt x="418264" y="758626"/>
                  </a:cubicBezTo>
                  <a:cubicBezTo>
                    <a:pt x="406609" y="793590"/>
                    <a:pt x="415839" y="780101"/>
                    <a:pt x="394452" y="801488"/>
                  </a:cubicBezTo>
                  <a:cubicBezTo>
                    <a:pt x="382417" y="837593"/>
                    <a:pt x="390951" y="822031"/>
                    <a:pt x="370639" y="849113"/>
                  </a:cubicBezTo>
                  <a:cubicBezTo>
                    <a:pt x="369052" y="853876"/>
                    <a:pt x="368122" y="858911"/>
                    <a:pt x="365877" y="863401"/>
                  </a:cubicBezTo>
                  <a:cubicBezTo>
                    <a:pt x="363317" y="868520"/>
                    <a:pt x="358607" y="872427"/>
                    <a:pt x="356352" y="877688"/>
                  </a:cubicBezTo>
                  <a:cubicBezTo>
                    <a:pt x="347202" y="899036"/>
                    <a:pt x="356089" y="892501"/>
                    <a:pt x="346827" y="911026"/>
                  </a:cubicBezTo>
                  <a:cubicBezTo>
                    <a:pt x="344267" y="916145"/>
                    <a:pt x="339627" y="920083"/>
                    <a:pt x="337302" y="925313"/>
                  </a:cubicBezTo>
                  <a:cubicBezTo>
                    <a:pt x="333224" y="934488"/>
                    <a:pt x="330212" y="944148"/>
                    <a:pt x="327777" y="953888"/>
                  </a:cubicBezTo>
                  <a:cubicBezTo>
                    <a:pt x="326189" y="960238"/>
                    <a:pt x="325592" y="966922"/>
                    <a:pt x="323014" y="972938"/>
                  </a:cubicBezTo>
                  <a:cubicBezTo>
                    <a:pt x="320759" y="978199"/>
                    <a:pt x="316664" y="982463"/>
                    <a:pt x="313489" y="987226"/>
                  </a:cubicBezTo>
                  <a:cubicBezTo>
                    <a:pt x="311962" y="993336"/>
                    <a:pt x="307383" y="1013726"/>
                    <a:pt x="303964" y="1020563"/>
                  </a:cubicBezTo>
                  <a:cubicBezTo>
                    <a:pt x="301404" y="1025683"/>
                    <a:pt x="297614" y="1030088"/>
                    <a:pt x="294439" y="1034851"/>
                  </a:cubicBezTo>
                  <a:cubicBezTo>
                    <a:pt x="283520" y="1067610"/>
                    <a:pt x="298456" y="1027820"/>
                    <a:pt x="275389" y="1068188"/>
                  </a:cubicBezTo>
                  <a:cubicBezTo>
                    <a:pt x="272898" y="1072547"/>
                    <a:pt x="272872" y="1077986"/>
                    <a:pt x="270627" y="1082476"/>
                  </a:cubicBezTo>
                  <a:cubicBezTo>
                    <a:pt x="268067" y="1087595"/>
                    <a:pt x="263662" y="1091644"/>
                    <a:pt x="261102" y="1096763"/>
                  </a:cubicBezTo>
                  <a:cubicBezTo>
                    <a:pt x="258857" y="1101253"/>
                    <a:pt x="257718" y="1106224"/>
                    <a:pt x="256339" y="1111051"/>
                  </a:cubicBezTo>
                  <a:cubicBezTo>
                    <a:pt x="254541" y="1117345"/>
                    <a:pt x="254504" y="1124247"/>
                    <a:pt x="251577" y="1130101"/>
                  </a:cubicBezTo>
                  <a:cubicBezTo>
                    <a:pt x="246458" y="1140340"/>
                    <a:pt x="237647" y="1148437"/>
                    <a:pt x="232527" y="1158676"/>
                  </a:cubicBezTo>
                  <a:cubicBezTo>
                    <a:pt x="229352" y="1165026"/>
                    <a:pt x="227547" y="1172272"/>
                    <a:pt x="223002" y="1177726"/>
                  </a:cubicBezTo>
                  <a:cubicBezTo>
                    <a:pt x="219338" y="1182123"/>
                    <a:pt x="213477" y="1184076"/>
                    <a:pt x="208714" y="1187251"/>
                  </a:cubicBezTo>
                  <a:cubicBezTo>
                    <a:pt x="205539" y="1192013"/>
                    <a:pt x="203658" y="1197962"/>
                    <a:pt x="199189" y="1201538"/>
                  </a:cubicBezTo>
                  <a:cubicBezTo>
                    <a:pt x="195269" y="1204674"/>
                    <a:pt x="189290" y="1203863"/>
                    <a:pt x="184902" y="1206301"/>
                  </a:cubicBezTo>
                  <a:cubicBezTo>
                    <a:pt x="174895" y="1211861"/>
                    <a:pt x="165852" y="1219001"/>
                    <a:pt x="156327" y="1225351"/>
                  </a:cubicBezTo>
                  <a:lnTo>
                    <a:pt x="156327" y="1225351"/>
                  </a:lnTo>
                  <a:cubicBezTo>
                    <a:pt x="151564" y="1230113"/>
                    <a:pt x="147520" y="1235723"/>
                    <a:pt x="142039" y="1239638"/>
                  </a:cubicBezTo>
                  <a:cubicBezTo>
                    <a:pt x="131741" y="1246993"/>
                    <a:pt x="120361" y="1250039"/>
                    <a:pt x="108702" y="1253926"/>
                  </a:cubicBezTo>
                  <a:cubicBezTo>
                    <a:pt x="104386" y="1257163"/>
                    <a:pt x="82329" y="1274255"/>
                    <a:pt x="75364" y="1277738"/>
                  </a:cubicBezTo>
                  <a:cubicBezTo>
                    <a:pt x="70874" y="1279983"/>
                    <a:pt x="65567" y="1280256"/>
                    <a:pt x="61077" y="1282501"/>
                  </a:cubicBezTo>
                  <a:cubicBezTo>
                    <a:pt x="50373" y="1287853"/>
                    <a:pt x="40026" y="1297284"/>
                    <a:pt x="32502" y="1306313"/>
                  </a:cubicBezTo>
                  <a:cubicBezTo>
                    <a:pt x="15443" y="1326784"/>
                    <a:pt x="28953" y="1313411"/>
                    <a:pt x="18214" y="1334888"/>
                  </a:cubicBezTo>
                  <a:cubicBezTo>
                    <a:pt x="15654" y="1340008"/>
                    <a:pt x="11864" y="1344413"/>
                    <a:pt x="8689" y="1349176"/>
                  </a:cubicBezTo>
                  <a:cubicBezTo>
                    <a:pt x="0" y="1375244"/>
                    <a:pt x="1600" y="1363792"/>
                    <a:pt x="8689" y="1406326"/>
                  </a:cubicBezTo>
                  <a:cubicBezTo>
                    <a:pt x="9514" y="1411278"/>
                    <a:pt x="10316" y="1416693"/>
                    <a:pt x="13452" y="1420613"/>
                  </a:cubicBezTo>
                  <a:cubicBezTo>
                    <a:pt x="17028" y="1425082"/>
                    <a:pt x="23342" y="1426474"/>
                    <a:pt x="27739" y="1430138"/>
                  </a:cubicBezTo>
                  <a:cubicBezTo>
                    <a:pt x="32913" y="1434450"/>
                    <a:pt x="37892" y="1439109"/>
                    <a:pt x="42027" y="1444426"/>
                  </a:cubicBezTo>
                  <a:cubicBezTo>
                    <a:pt x="49055" y="1453462"/>
                    <a:pt x="61077" y="1473001"/>
                    <a:pt x="61077" y="1473001"/>
                  </a:cubicBezTo>
                  <a:cubicBezTo>
                    <a:pt x="70602" y="1466651"/>
                    <a:pt x="78792" y="1457572"/>
                    <a:pt x="89652" y="1453951"/>
                  </a:cubicBezTo>
                  <a:cubicBezTo>
                    <a:pt x="94414" y="1452363"/>
                    <a:pt x="99551" y="1451626"/>
                    <a:pt x="103939" y="1449188"/>
                  </a:cubicBezTo>
                  <a:cubicBezTo>
                    <a:pt x="113946" y="1443628"/>
                    <a:pt x="121654" y="1433758"/>
                    <a:pt x="132514" y="1430138"/>
                  </a:cubicBezTo>
                  <a:cubicBezTo>
                    <a:pt x="137277" y="1428551"/>
                    <a:pt x="141975" y="1426755"/>
                    <a:pt x="146802" y="1425376"/>
                  </a:cubicBezTo>
                  <a:cubicBezTo>
                    <a:pt x="153096" y="1423578"/>
                    <a:pt x="165852" y="1420613"/>
                    <a:pt x="165852" y="1420613"/>
                  </a:cubicBezTo>
                </a:path>
              </a:pathLst>
            </a:custGeom>
            <a:ln w="254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7" name="Freeform 6"/>
            <p:cNvSpPr/>
            <p:nvPr/>
          </p:nvSpPr>
          <p:spPr>
            <a:xfrm>
              <a:off x="3179601" y="3813698"/>
              <a:ext cx="401549" cy="1510791"/>
            </a:xfrm>
            <a:custGeom>
              <a:avLst/>
              <a:gdLst>
                <a:gd name="connsiteX0" fmla="*/ 231038 w 402997"/>
                <a:gd name="connsiteY0" fmla="*/ 1432 h 1511144"/>
                <a:gd name="connsiteX1" fmla="*/ 211988 w 402997"/>
                <a:gd name="connsiteY1" fmla="*/ 49057 h 1511144"/>
                <a:gd name="connsiteX2" fmla="*/ 197701 w 402997"/>
                <a:gd name="connsiteY2" fmla="*/ 77632 h 1511144"/>
                <a:gd name="connsiteX3" fmla="*/ 188176 w 402997"/>
                <a:gd name="connsiteY3" fmla="*/ 215744 h 1511144"/>
                <a:gd name="connsiteX4" fmla="*/ 178651 w 402997"/>
                <a:gd name="connsiteY4" fmla="*/ 301469 h 1511144"/>
                <a:gd name="connsiteX5" fmla="*/ 173888 w 402997"/>
                <a:gd name="connsiteY5" fmla="*/ 320519 h 1511144"/>
                <a:gd name="connsiteX6" fmla="*/ 164363 w 402997"/>
                <a:gd name="connsiteY6" fmla="*/ 334807 h 1511144"/>
                <a:gd name="connsiteX7" fmla="*/ 159601 w 402997"/>
                <a:gd name="connsiteY7" fmla="*/ 349094 h 1511144"/>
                <a:gd name="connsiteX8" fmla="*/ 150076 w 402997"/>
                <a:gd name="connsiteY8" fmla="*/ 415769 h 1511144"/>
                <a:gd name="connsiteX9" fmla="*/ 140551 w 402997"/>
                <a:gd name="connsiteY9" fmla="*/ 444344 h 1511144"/>
                <a:gd name="connsiteX10" fmla="*/ 135788 w 402997"/>
                <a:gd name="connsiteY10" fmla="*/ 458632 h 1511144"/>
                <a:gd name="connsiteX11" fmla="*/ 131026 w 402997"/>
                <a:gd name="connsiteY11" fmla="*/ 568169 h 1511144"/>
                <a:gd name="connsiteX12" fmla="*/ 126263 w 402997"/>
                <a:gd name="connsiteY12" fmla="*/ 582457 h 1511144"/>
                <a:gd name="connsiteX13" fmla="*/ 121501 w 402997"/>
                <a:gd name="connsiteY13" fmla="*/ 606269 h 1511144"/>
                <a:gd name="connsiteX14" fmla="*/ 116738 w 402997"/>
                <a:gd name="connsiteY14" fmla="*/ 620557 h 1511144"/>
                <a:gd name="connsiteX15" fmla="*/ 107213 w 402997"/>
                <a:gd name="connsiteY15" fmla="*/ 653894 h 1511144"/>
                <a:gd name="connsiteX16" fmla="*/ 97688 w 402997"/>
                <a:gd name="connsiteY16" fmla="*/ 696757 h 1511144"/>
                <a:gd name="connsiteX17" fmla="*/ 88163 w 402997"/>
                <a:gd name="connsiteY17" fmla="*/ 711044 h 1511144"/>
                <a:gd name="connsiteX18" fmla="*/ 78638 w 402997"/>
                <a:gd name="connsiteY18" fmla="*/ 739619 h 1511144"/>
                <a:gd name="connsiteX19" fmla="*/ 69113 w 402997"/>
                <a:gd name="connsiteY19" fmla="*/ 806294 h 1511144"/>
                <a:gd name="connsiteX20" fmla="*/ 64351 w 402997"/>
                <a:gd name="connsiteY20" fmla="*/ 839632 h 1511144"/>
                <a:gd name="connsiteX21" fmla="*/ 54826 w 402997"/>
                <a:gd name="connsiteY21" fmla="*/ 877732 h 1511144"/>
                <a:gd name="connsiteX22" fmla="*/ 45301 w 402997"/>
                <a:gd name="connsiteY22" fmla="*/ 911069 h 1511144"/>
                <a:gd name="connsiteX23" fmla="*/ 40538 w 402997"/>
                <a:gd name="connsiteY23" fmla="*/ 949169 h 1511144"/>
                <a:gd name="connsiteX24" fmla="*/ 35776 w 402997"/>
                <a:gd name="connsiteY24" fmla="*/ 972982 h 1511144"/>
                <a:gd name="connsiteX25" fmla="*/ 31013 w 402997"/>
                <a:gd name="connsiteY25" fmla="*/ 1020607 h 1511144"/>
                <a:gd name="connsiteX26" fmla="*/ 26251 w 402997"/>
                <a:gd name="connsiteY26" fmla="*/ 1044419 h 1511144"/>
                <a:gd name="connsiteX27" fmla="*/ 21488 w 402997"/>
                <a:gd name="connsiteY27" fmla="*/ 1082519 h 1511144"/>
                <a:gd name="connsiteX28" fmla="*/ 11963 w 402997"/>
                <a:gd name="connsiteY28" fmla="*/ 1120619 h 1511144"/>
                <a:gd name="connsiteX29" fmla="*/ 2438 w 402997"/>
                <a:gd name="connsiteY29" fmla="*/ 1153957 h 1511144"/>
                <a:gd name="connsiteX30" fmla="*/ 7201 w 402997"/>
                <a:gd name="connsiteY30" fmla="*/ 1211107 h 1511144"/>
                <a:gd name="connsiteX31" fmla="*/ 11963 w 402997"/>
                <a:gd name="connsiteY31" fmla="*/ 1187294 h 1511144"/>
                <a:gd name="connsiteX32" fmla="*/ 21488 w 402997"/>
                <a:gd name="connsiteY32" fmla="*/ 1153957 h 1511144"/>
                <a:gd name="connsiteX33" fmla="*/ 26251 w 402997"/>
                <a:gd name="connsiteY33" fmla="*/ 1111094 h 1511144"/>
                <a:gd name="connsiteX34" fmla="*/ 35776 w 402997"/>
                <a:gd name="connsiteY34" fmla="*/ 1082519 h 1511144"/>
                <a:gd name="connsiteX35" fmla="*/ 40538 w 402997"/>
                <a:gd name="connsiteY35" fmla="*/ 1068232 h 1511144"/>
                <a:gd name="connsiteX36" fmla="*/ 50063 w 402997"/>
                <a:gd name="connsiteY36" fmla="*/ 1020607 h 1511144"/>
                <a:gd name="connsiteX37" fmla="*/ 59588 w 402997"/>
                <a:gd name="connsiteY37" fmla="*/ 982507 h 1511144"/>
                <a:gd name="connsiteX38" fmla="*/ 64351 w 402997"/>
                <a:gd name="connsiteY38" fmla="*/ 939644 h 1511144"/>
                <a:gd name="connsiteX39" fmla="*/ 69113 w 402997"/>
                <a:gd name="connsiteY39" fmla="*/ 849157 h 1511144"/>
                <a:gd name="connsiteX40" fmla="*/ 73876 w 402997"/>
                <a:gd name="connsiteY40" fmla="*/ 830107 h 1511144"/>
                <a:gd name="connsiteX41" fmla="*/ 83401 w 402997"/>
                <a:gd name="connsiteY41" fmla="*/ 801532 h 1511144"/>
                <a:gd name="connsiteX42" fmla="*/ 88163 w 402997"/>
                <a:gd name="connsiteY42" fmla="*/ 787244 h 1511144"/>
                <a:gd name="connsiteX43" fmla="*/ 102451 w 402997"/>
                <a:gd name="connsiteY43" fmla="*/ 739619 h 1511144"/>
                <a:gd name="connsiteX44" fmla="*/ 111976 w 402997"/>
                <a:gd name="connsiteY44" fmla="*/ 725332 h 1511144"/>
                <a:gd name="connsiteX45" fmla="*/ 121501 w 402997"/>
                <a:gd name="connsiteY45" fmla="*/ 696757 h 1511144"/>
                <a:gd name="connsiteX46" fmla="*/ 126263 w 402997"/>
                <a:gd name="connsiteY46" fmla="*/ 672944 h 1511144"/>
                <a:gd name="connsiteX47" fmla="*/ 135788 w 402997"/>
                <a:gd name="connsiteY47" fmla="*/ 658657 h 1511144"/>
                <a:gd name="connsiteX48" fmla="*/ 140551 w 402997"/>
                <a:gd name="connsiteY48" fmla="*/ 639607 h 1511144"/>
                <a:gd name="connsiteX49" fmla="*/ 150076 w 402997"/>
                <a:gd name="connsiteY49" fmla="*/ 544357 h 1511144"/>
                <a:gd name="connsiteX50" fmla="*/ 164363 w 402997"/>
                <a:gd name="connsiteY50" fmla="*/ 577694 h 1511144"/>
                <a:gd name="connsiteX51" fmla="*/ 183413 w 402997"/>
                <a:gd name="connsiteY51" fmla="*/ 611032 h 1511144"/>
                <a:gd name="connsiteX52" fmla="*/ 197701 w 402997"/>
                <a:gd name="connsiteY52" fmla="*/ 658657 h 1511144"/>
                <a:gd name="connsiteX53" fmla="*/ 202463 w 402997"/>
                <a:gd name="connsiteY53" fmla="*/ 672944 h 1511144"/>
                <a:gd name="connsiteX54" fmla="*/ 221513 w 402997"/>
                <a:gd name="connsiteY54" fmla="*/ 701519 h 1511144"/>
                <a:gd name="connsiteX55" fmla="*/ 231038 w 402997"/>
                <a:gd name="connsiteY55" fmla="*/ 715807 h 1511144"/>
                <a:gd name="connsiteX56" fmla="*/ 259613 w 402997"/>
                <a:gd name="connsiteY56" fmla="*/ 763432 h 1511144"/>
                <a:gd name="connsiteX57" fmla="*/ 269138 w 402997"/>
                <a:gd name="connsiteY57" fmla="*/ 777719 h 1511144"/>
                <a:gd name="connsiteX58" fmla="*/ 283426 w 402997"/>
                <a:gd name="connsiteY58" fmla="*/ 792007 h 1511144"/>
                <a:gd name="connsiteX59" fmla="*/ 297713 w 402997"/>
                <a:gd name="connsiteY59" fmla="*/ 820582 h 1511144"/>
                <a:gd name="connsiteX60" fmla="*/ 302476 w 402997"/>
                <a:gd name="connsiteY60" fmla="*/ 806294 h 1511144"/>
                <a:gd name="connsiteX61" fmla="*/ 312001 w 402997"/>
                <a:gd name="connsiteY61" fmla="*/ 792007 h 1511144"/>
                <a:gd name="connsiteX62" fmla="*/ 321526 w 402997"/>
                <a:gd name="connsiteY62" fmla="*/ 758669 h 1511144"/>
                <a:gd name="connsiteX63" fmla="*/ 331051 w 402997"/>
                <a:gd name="connsiteY63" fmla="*/ 744382 h 1511144"/>
                <a:gd name="connsiteX64" fmla="*/ 335813 w 402997"/>
                <a:gd name="connsiteY64" fmla="*/ 725332 h 1511144"/>
                <a:gd name="connsiteX65" fmla="*/ 345338 w 402997"/>
                <a:gd name="connsiteY65" fmla="*/ 696757 h 1511144"/>
                <a:gd name="connsiteX66" fmla="*/ 350101 w 402997"/>
                <a:gd name="connsiteY66" fmla="*/ 682469 h 1511144"/>
                <a:gd name="connsiteX67" fmla="*/ 364388 w 402997"/>
                <a:gd name="connsiteY67" fmla="*/ 634844 h 1511144"/>
                <a:gd name="connsiteX68" fmla="*/ 373913 w 402997"/>
                <a:gd name="connsiteY68" fmla="*/ 615794 h 1511144"/>
                <a:gd name="connsiteX69" fmla="*/ 383438 w 402997"/>
                <a:gd name="connsiteY69" fmla="*/ 572932 h 1511144"/>
                <a:gd name="connsiteX70" fmla="*/ 392963 w 402997"/>
                <a:gd name="connsiteY70" fmla="*/ 544357 h 1511144"/>
                <a:gd name="connsiteX71" fmla="*/ 397726 w 402997"/>
                <a:gd name="connsiteY71" fmla="*/ 349094 h 1511144"/>
                <a:gd name="connsiteX72" fmla="*/ 402488 w 402997"/>
                <a:gd name="connsiteY72" fmla="*/ 272894 h 1511144"/>
                <a:gd name="connsiteX73" fmla="*/ 392963 w 402997"/>
                <a:gd name="connsiteY73" fmla="*/ 110969 h 1511144"/>
                <a:gd name="connsiteX74" fmla="*/ 383438 w 402997"/>
                <a:gd name="connsiteY74" fmla="*/ 39532 h 1511144"/>
                <a:gd name="connsiteX75" fmla="*/ 392963 w 402997"/>
                <a:gd name="connsiteY75" fmla="*/ 296707 h 1511144"/>
                <a:gd name="connsiteX76" fmla="*/ 383438 w 402997"/>
                <a:gd name="connsiteY76" fmla="*/ 520544 h 1511144"/>
                <a:gd name="connsiteX77" fmla="*/ 373913 w 402997"/>
                <a:gd name="connsiteY77" fmla="*/ 601507 h 1511144"/>
                <a:gd name="connsiteX78" fmla="*/ 359626 w 402997"/>
                <a:gd name="connsiteY78" fmla="*/ 668182 h 1511144"/>
                <a:gd name="connsiteX79" fmla="*/ 350101 w 402997"/>
                <a:gd name="connsiteY79" fmla="*/ 696757 h 1511144"/>
                <a:gd name="connsiteX80" fmla="*/ 340576 w 402997"/>
                <a:gd name="connsiteY80" fmla="*/ 725332 h 1511144"/>
                <a:gd name="connsiteX81" fmla="*/ 326288 w 402997"/>
                <a:gd name="connsiteY81" fmla="*/ 768194 h 1511144"/>
                <a:gd name="connsiteX82" fmla="*/ 321526 w 402997"/>
                <a:gd name="connsiteY82" fmla="*/ 782482 h 1511144"/>
                <a:gd name="connsiteX83" fmla="*/ 312001 w 402997"/>
                <a:gd name="connsiteY83" fmla="*/ 796769 h 1511144"/>
                <a:gd name="connsiteX84" fmla="*/ 307238 w 402997"/>
                <a:gd name="connsiteY84" fmla="*/ 820582 h 1511144"/>
                <a:gd name="connsiteX85" fmla="*/ 297713 w 402997"/>
                <a:gd name="connsiteY85" fmla="*/ 849157 h 1511144"/>
                <a:gd name="connsiteX86" fmla="*/ 292951 w 402997"/>
                <a:gd name="connsiteY86" fmla="*/ 863444 h 1511144"/>
                <a:gd name="connsiteX87" fmla="*/ 288188 w 402997"/>
                <a:gd name="connsiteY87" fmla="*/ 877732 h 1511144"/>
                <a:gd name="connsiteX88" fmla="*/ 273901 w 402997"/>
                <a:gd name="connsiteY88" fmla="*/ 925357 h 1511144"/>
                <a:gd name="connsiteX89" fmla="*/ 269138 w 402997"/>
                <a:gd name="connsiteY89" fmla="*/ 939644 h 1511144"/>
                <a:gd name="connsiteX90" fmla="*/ 259613 w 402997"/>
                <a:gd name="connsiteY90" fmla="*/ 953932 h 1511144"/>
                <a:gd name="connsiteX91" fmla="*/ 250088 w 402997"/>
                <a:gd name="connsiteY91" fmla="*/ 982507 h 1511144"/>
                <a:gd name="connsiteX92" fmla="*/ 245326 w 402997"/>
                <a:gd name="connsiteY92" fmla="*/ 1006319 h 1511144"/>
                <a:gd name="connsiteX93" fmla="*/ 235801 w 402997"/>
                <a:gd name="connsiteY93" fmla="*/ 1034894 h 1511144"/>
                <a:gd name="connsiteX94" fmla="*/ 231038 w 402997"/>
                <a:gd name="connsiteY94" fmla="*/ 1192057 h 1511144"/>
                <a:gd name="connsiteX95" fmla="*/ 235801 w 402997"/>
                <a:gd name="connsiteY95" fmla="*/ 1330169 h 1511144"/>
                <a:gd name="connsiteX96" fmla="*/ 245326 w 402997"/>
                <a:gd name="connsiteY96" fmla="*/ 1358744 h 1511144"/>
                <a:gd name="connsiteX97" fmla="*/ 250088 w 402997"/>
                <a:gd name="connsiteY97" fmla="*/ 1406369 h 1511144"/>
                <a:gd name="connsiteX98" fmla="*/ 254851 w 402997"/>
                <a:gd name="connsiteY98" fmla="*/ 1420657 h 1511144"/>
                <a:gd name="connsiteX99" fmla="*/ 259613 w 402997"/>
                <a:gd name="connsiteY99" fmla="*/ 1449232 h 1511144"/>
                <a:gd name="connsiteX100" fmla="*/ 269138 w 402997"/>
                <a:gd name="connsiteY100" fmla="*/ 1477807 h 1511144"/>
                <a:gd name="connsiteX101" fmla="*/ 278663 w 402997"/>
                <a:gd name="connsiteY101" fmla="*/ 1511144 h 1511144"/>
                <a:gd name="connsiteX102" fmla="*/ 297713 w 402997"/>
                <a:gd name="connsiteY102" fmla="*/ 1487332 h 1511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402997" h="1511144">
                  <a:moveTo>
                    <a:pt x="231038" y="1432"/>
                  </a:moveTo>
                  <a:cubicBezTo>
                    <a:pt x="209356" y="66479"/>
                    <a:pt x="233012" y="0"/>
                    <a:pt x="211988" y="49057"/>
                  </a:cubicBezTo>
                  <a:cubicBezTo>
                    <a:pt x="200157" y="76663"/>
                    <a:pt x="216007" y="50172"/>
                    <a:pt x="197701" y="77632"/>
                  </a:cubicBezTo>
                  <a:cubicBezTo>
                    <a:pt x="185123" y="140517"/>
                    <a:pt x="194858" y="85441"/>
                    <a:pt x="188176" y="215744"/>
                  </a:cubicBezTo>
                  <a:cubicBezTo>
                    <a:pt x="182685" y="322812"/>
                    <a:pt x="191042" y="258100"/>
                    <a:pt x="178651" y="301469"/>
                  </a:cubicBezTo>
                  <a:cubicBezTo>
                    <a:pt x="176853" y="307763"/>
                    <a:pt x="176466" y="314503"/>
                    <a:pt x="173888" y="320519"/>
                  </a:cubicBezTo>
                  <a:cubicBezTo>
                    <a:pt x="171633" y="325780"/>
                    <a:pt x="167538" y="330044"/>
                    <a:pt x="164363" y="334807"/>
                  </a:cubicBezTo>
                  <a:cubicBezTo>
                    <a:pt x="162776" y="339569"/>
                    <a:pt x="160499" y="344155"/>
                    <a:pt x="159601" y="349094"/>
                  </a:cubicBezTo>
                  <a:cubicBezTo>
                    <a:pt x="155846" y="369749"/>
                    <a:pt x="155278" y="394960"/>
                    <a:pt x="150076" y="415769"/>
                  </a:cubicBezTo>
                  <a:cubicBezTo>
                    <a:pt x="147641" y="425509"/>
                    <a:pt x="143726" y="434819"/>
                    <a:pt x="140551" y="444344"/>
                  </a:cubicBezTo>
                  <a:lnTo>
                    <a:pt x="135788" y="458632"/>
                  </a:lnTo>
                  <a:cubicBezTo>
                    <a:pt x="134201" y="495144"/>
                    <a:pt x="133829" y="531730"/>
                    <a:pt x="131026" y="568169"/>
                  </a:cubicBezTo>
                  <a:cubicBezTo>
                    <a:pt x="130641" y="573175"/>
                    <a:pt x="127481" y="577587"/>
                    <a:pt x="126263" y="582457"/>
                  </a:cubicBezTo>
                  <a:cubicBezTo>
                    <a:pt x="124300" y="590310"/>
                    <a:pt x="123464" y="598416"/>
                    <a:pt x="121501" y="606269"/>
                  </a:cubicBezTo>
                  <a:cubicBezTo>
                    <a:pt x="120283" y="611139"/>
                    <a:pt x="118117" y="615730"/>
                    <a:pt x="116738" y="620557"/>
                  </a:cubicBezTo>
                  <a:cubicBezTo>
                    <a:pt x="104780" y="662409"/>
                    <a:pt x="118631" y="619645"/>
                    <a:pt x="107213" y="653894"/>
                  </a:cubicBezTo>
                  <a:cubicBezTo>
                    <a:pt x="105383" y="664873"/>
                    <a:pt x="103551" y="685031"/>
                    <a:pt x="97688" y="696757"/>
                  </a:cubicBezTo>
                  <a:cubicBezTo>
                    <a:pt x="95128" y="701876"/>
                    <a:pt x="91338" y="706282"/>
                    <a:pt x="88163" y="711044"/>
                  </a:cubicBezTo>
                  <a:cubicBezTo>
                    <a:pt x="84988" y="720569"/>
                    <a:pt x="79883" y="729656"/>
                    <a:pt x="78638" y="739619"/>
                  </a:cubicBezTo>
                  <a:cubicBezTo>
                    <a:pt x="69642" y="811596"/>
                    <a:pt x="78271" y="746764"/>
                    <a:pt x="69113" y="806294"/>
                  </a:cubicBezTo>
                  <a:cubicBezTo>
                    <a:pt x="67406" y="817389"/>
                    <a:pt x="66196" y="828559"/>
                    <a:pt x="64351" y="839632"/>
                  </a:cubicBezTo>
                  <a:cubicBezTo>
                    <a:pt x="58545" y="874470"/>
                    <a:pt x="62184" y="851979"/>
                    <a:pt x="54826" y="877732"/>
                  </a:cubicBezTo>
                  <a:cubicBezTo>
                    <a:pt x="42869" y="919584"/>
                    <a:pt x="56717" y="876820"/>
                    <a:pt x="45301" y="911069"/>
                  </a:cubicBezTo>
                  <a:cubicBezTo>
                    <a:pt x="43713" y="923769"/>
                    <a:pt x="42484" y="936519"/>
                    <a:pt x="40538" y="949169"/>
                  </a:cubicBezTo>
                  <a:cubicBezTo>
                    <a:pt x="39307" y="957170"/>
                    <a:pt x="36846" y="964958"/>
                    <a:pt x="35776" y="972982"/>
                  </a:cubicBezTo>
                  <a:cubicBezTo>
                    <a:pt x="33667" y="988796"/>
                    <a:pt x="33122" y="1004793"/>
                    <a:pt x="31013" y="1020607"/>
                  </a:cubicBezTo>
                  <a:cubicBezTo>
                    <a:pt x="29943" y="1028630"/>
                    <a:pt x="27482" y="1036419"/>
                    <a:pt x="26251" y="1044419"/>
                  </a:cubicBezTo>
                  <a:cubicBezTo>
                    <a:pt x="24305" y="1057069"/>
                    <a:pt x="23434" y="1069869"/>
                    <a:pt x="21488" y="1082519"/>
                  </a:cubicBezTo>
                  <a:cubicBezTo>
                    <a:pt x="16644" y="1114004"/>
                    <a:pt x="18726" y="1096947"/>
                    <a:pt x="11963" y="1120619"/>
                  </a:cubicBezTo>
                  <a:cubicBezTo>
                    <a:pt x="0" y="1162488"/>
                    <a:pt x="13860" y="1119693"/>
                    <a:pt x="2438" y="1153957"/>
                  </a:cubicBezTo>
                  <a:cubicBezTo>
                    <a:pt x="4026" y="1173007"/>
                    <a:pt x="1949" y="1192726"/>
                    <a:pt x="7201" y="1211107"/>
                  </a:cubicBezTo>
                  <a:cubicBezTo>
                    <a:pt x="9425" y="1218890"/>
                    <a:pt x="10207" y="1195196"/>
                    <a:pt x="11963" y="1187294"/>
                  </a:cubicBezTo>
                  <a:cubicBezTo>
                    <a:pt x="15948" y="1169361"/>
                    <a:pt x="16187" y="1169862"/>
                    <a:pt x="21488" y="1153957"/>
                  </a:cubicBezTo>
                  <a:cubicBezTo>
                    <a:pt x="23076" y="1139669"/>
                    <a:pt x="23432" y="1125190"/>
                    <a:pt x="26251" y="1111094"/>
                  </a:cubicBezTo>
                  <a:cubicBezTo>
                    <a:pt x="28220" y="1101249"/>
                    <a:pt x="32601" y="1092044"/>
                    <a:pt x="35776" y="1082519"/>
                  </a:cubicBezTo>
                  <a:cubicBezTo>
                    <a:pt x="37363" y="1077757"/>
                    <a:pt x="39713" y="1073184"/>
                    <a:pt x="40538" y="1068232"/>
                  </a:cubicBezTo>
                  <a:cubicBezTo>
                    <a:pt x="49870" y="1012248"/>
                    <a:pt x="40592" y="1063227"/>
                    <a:pt x="50063" y="1020607"/>
                  </a:cubicBezTo>
                  <a:cubicBezTo>
                    <a:pt x="57725" y="986128"/>
                    <a:pt x="51079" y="1008035"/>
                    <a:pt x="59588" y="982507"/>
                  </a:cubicBezTo>
                  <a:cubicBezTo>
                    <a:pt x="61176" y="968219"/>
                    <a:pt x="63327" y="953983"/>
                    <a:pt x="64351" y="939644"/>
                  </a:cubicBezTo>
                  <a:cubicBezTo>
                    <a:pt x="66503" y="909517"/>
                    <a:pt x="66496" y="879248"/>
                    <a:pt x="69113" y="849157"/>
                  </a:cubicBezTo>
                  <a:cubicBezTo>
                    <a:pt x="69680" y="842636"/>
                    <a:pt x="71995" y="836376"/>
                    <a:pt x="73876" y="830107"/>
                  </a:cubicBezTo>
                  <a:cubicBezTo>
                    <a:pt x="76761" y="820490"/>
                    <a:pt x="80226" y="811057"/>
                    <a:pt x="83401" y="801532"/>
                  </a:cubicBezTo>
                  <a:cubicBezTo>
                    <a:pt x="84988" y="796769"/>
                    <a:pt x="86945" y="792114"/>
                    <a:pt x="88163" y="787244"/>
                  </a:cubicBezTo>
                  <a:cubicBezTo>
                    <a:pt x="90825" y="776597"/>
                    <a:pt x="97814" y="746574"/>
                    <a:pt x="102451" y="739619"/>
                  </a:cubicBezTo>
                  <a:lnTo>
                    <a:pt x="111976" y="725332"/>
                  </a:lnTo>
                  <a:cubicBezTo>
                    <a:pt x="115151" y="715807"/>
                    <a:pt x="119532" y="706602"/>
                    <a:pt x="121501" y="696757"/>
                  </a:cubicBezTo>
                  <a:cubicBezTo>
                    <a:pt x="123088" y="688819"/>
                    <a:pt x="123421" y="680523"/>
                    <a:pt x="126263" y="672944"/>
                  </a:cubicBezTo>
                  <a:cubicBezTo>
                    <a:pt x="128273" y="667585"/>
                    <a:pt x="132613" y="663419"/>
                    <a:pt x="135788" y="658657"/>
                  </a:cubicBezTo>
                  <a:cubicBezTo>
                    <a:pt x="137376" y="652307"/>
                    <a:pt x="139556" y="646076"/>
                    <a:pt x="140551" y="639607"/>
                  </a:cubicBezTo>
                  <a:cubicBezTo>
                    <a:pt x="143525" y="620273"/>
                    <a:pt x="148553" y="561104"/>
                    <a:pt x="150076" y="544357"/>
                  </a:cubicBezTo>
                  <a:cubicBezTo>
                    <a:pt x="169379" y="573310"/>
                    <a:pt x="151183" y="542547"/>
                    <a:pt x="164363" y="577694"/>
                  </a:cubicBezTo>
                  <a:cubicBezTo>
                    <a:pt x="169541" y="591504"/>
                    <a:pt x="175518" y="599189"/>
                    <a:pt x="183413" y="611032"/>
                  </a:cubicBezTo>
                  <a:cubicBezTo>
                    <a:pt x="190612" y="639825"/>
                    <a:pt x="186105" y="623869"/>
                    <a:pt x="197701" y="658657"/>
                  </a:cubicBezTo>
                  <a:cubicBezTo>
                    <a:pt x="199288" y="663419"/>
                    <a:pt x="199678" y="668767"/>
                    <a:pt x="202463" y="672944"/>
                  </a:cubicBezTo>
                  <a:lnTo>
                    <a:pt x="221513" y="701519"/>
                  </a:lnTo>
                  <a:cubicBezTo>
                    <a:pt x="224688" y="706282"/>
                    <a:pt x="228478" y="710687"/>
                    <a:pt x="231038" y="715807"/>
                  </a:cubicBezTo>
                  <a:cubicBezTo>
                    <a:pt x="245682" y="745095"/>
                    <a:pt x="236626" y="728951"/>
                    <a:pt x="259613" y="763432"/>
                  </a:cubicBezTo>
                  <a:cubicBezTo>
                    <a:pt x="262788" y="768194"/>
                    <a:pt x="265091" y="773672"/>
                    <a:pt x="269138" y="777719"/>
                  </a:cubicBezTo>
                  <a:lnTo>
                    <a:pt x="283426" y="792007"/>
                  </a:lnTo>
                  <a:cubicBezTo>
                    <a:pt x="284600" y="795531"/>
                    <a:pt x="291558" y="820582"/>
                    <a:pt x="297713" y="820582"/>
                  </a:cubicBezTo>
                  <a:cubicBezTo>
                    <a:pt x="302733" y="820582"/>
                    <a:pt x="300231" y="810784"/>
                    <a:pt x="302476" y="806294"/>
                  </a:cubicBezTo>
                  <a:cubicBezTo>
                    <a:pt x="305036" y="801175"/>
                    <a:pt x="308826" y="796769"/>
                    <a:pt x="312001" y="792007"/>
                  </a:cubicBezTo>
                  <a:cubicBezTo>
                    <a:pt x="313528" y="785899"/>
                    <a:pt x="318108" y="765504"/>
                    <a:pt x="321526" y="758669"/>
                  </a:cubicBezTo>
                  <a:cubicBezTo>
                    <a:pt x="324086" y="753550"/>
                    <a:pt x="327876" y="749144"/>
                    <a:pt x="331051" y="744382"/>
                  </a:cubicBezTo>
                  <a:cubicBezTo>
                    <a:pt x="332638" y="738032"/>
                    <a:pt x="333932" y="731601"/>
                    <a:pt x="335813" y="725332"/>
                  </a:cubicBezTo>
                  <a:cubicBezTo>
                    <a:pt x="338698" y="715715"/>
                    <a:pt x="342163" y="706282"/>
                    <a:pt x="345338" y="696757"/>
                  </a:cubicBezTo>
                  <a:cubicBezTo>
                    <a:pt x="346926" y="691994"/>
                    <a:pt x="348884" y="687339"/>
                    <a:pt x="350101" y="682469"/>
                  </a:cubicBezTo>
                  <a:cubicBezTo>
                    <a:pt x="353519" y="668795"/>
                    <a:pt x="358589" y="646441"/>
                    <a:pt x="364388" y="634844"/>
                  </a:cubicBezTo>
                  <a:lnTo>
                    <a:pt x="373913" y="615794"/>
                  </a:lnTo>
                  <a:cubicBezTo>
                    <a:pt x="376630" y="602210"/>
                    <a:pt x="379405" y="586374"/>
                    <a:pt x="383438" y="572932"/>
                  </a:cubicBezTo>
                  <a:cubicBezTo>
                    <a:pt x="386323" y="563315"/>
                    <a:pt x="392963" y="544357"/>
                    <a:pt x="392963" y="544357"/>
                  </a:cubicBezTo>
                  <a:cubicBezTo>
                    <a:pt x="394551" y="479269"/>
                    <a:pt x="395443" y="414161"/>
                    <a:pt x="397726" y="349094"/>
                  </a:cubicBezTo>
                  <a:cubicBezTo>
                    <a:pt x="398618" y="323660"/>
                    <a:pt x="402997" y="298338"/>
                    <a:pt x="402488" y="272894"/>
                  </a:cubicBezTo>
                  <a:cubicBezTo>
                    <a:pt x="401407" y="218837"/>
                    <a:pt x="396482" y="164923"/>
                    <a:pt x="392963" y="110969"/>
                  </a:cubicBezTo>
                  <a:cubicBezTo>
                    <a:pt x="389183" y="53014"/>
                    <a:pt x="393879" y="70852"/>
                    <a:pt x="383438" y="39532"/>
                  </a:cubicBezTo>
                  <a:cubicBezTo>
                    <a:pt x="393590" y="141038"/>
                    <a:pt x="394689" y="139700"/>
                    <a:pt x="392963" y="296707"/>
                  </a:cubicBezTo>
                  <a:cubicBezTo>
                    <a:pt x="392142" y="371382"/>
                    <a:pt x="387363" y="445967"/>
                    <a:pt x="383438" y="520544"/>
                  </a:cubicBezTo>
                  <a:cubicBezTo>
                    <a:pt x="382524" y="537907"/>
                    <a:pt x="377439" y="581527"/>
                    <a:pt x="373913" y="601507"/>
                  </a:cubicBezTo>
                  <a:cubicBezTo>
                    <a:pt x="372335" y="610446"/>
                    <a:pt x="364582" y="651662"/>
                    <a:pt x="359626" y="668182"/>
                  </a:cubicBezTo>
                  <a:cubicBezTo>
                    <a:pt x="356741" y="677799"/>
                    <a:pt x="353276" y="687232"/>
                    <a:pt x="350101" y="696757"/>
                  </a:cubicBezTo>
                  <a:lnTo>
                    <a:pt x="340576" y="725332"/>
                  </a:lnTo>
                  <a:lnTo>
                    <a:pt x="326288" y="768194"/>
                  </a:lnTo>
                  <a:cubicBezTo>
                    <a:pt x="324700" y="772957"/>
                    <a:pt x="324311" y="778305"/>
                    <a:pt x="321526" y="782482"/>
                  </a:cubicBezTo>
                  <a:lnTo>
                    <a:pt x="312001" y="796769"/>
                  </a:lnTo>
                  <a:cubicBezTo>
                    <a:pt x="310413" y="804707"/>
                    <a:pt x="309368" y="812772"/>
                    <a:pt x="307238" y="820582"/>
                  </a:cubicBezTo>
                  <a:cubicBezTo>
                    <a:pt x="304596" y="830268"/>
                    <a:pt x="300888" y="839632"/>
                    <a:pt x="297713" y="849157"/>
                  </a:cubicBezTo>
                  <a:lnTo>
                    <a:pt x="292951" y="863444"/>
                  </a:lnTo>
                  <a:cubicBezTo>
                    <a:pt x="291363" y="868207"/>
                    <a:pt x="289405" y="872862"/>
                    <a:pt x="288188" y="877732"/>
                  </a:cubicBezTo>
                  <a:cubicBezTo>
                    <a:pt x="280992" y="906518"/>
                    <a:pt x="285494" y="890579"/>
                    <a:pt x="273901" y="925357"/>
                  </a:cubicBezTo>
                  <a:cubicBezTo>
                    <a:pt x="272313" y="930119"/>
                    <a:pt x="271923" y="935467"/>
                    <a:pt x="269138" y="939644"/>
                  </a:cubicBezTo>
                  <a:lnTo>
                    <a:pt x="259613" y="953932"/>
                  </a:lnTo>
                  <a:cubicBezTo>
                    <a:pt x="256438" y="963457"/>
                    <a:pt x="252057" y="972662"/>
                    <a:pt x="250088" y="982507"/>
                  </a:cubicBezTo>
                  <a:cubicBezTo>
                    <a:pt x="248501" y="990444"/>
                    <a:pt x="247456" y="998510"/>
                    <a:pt x="245326" y="1006319"/>
                  </a:cubicBezTo>
                  <a:cubicBezTo>
                    <a:pt x="242684" y="1016005"/>
                    <a:pt x="235801" y="1034894"/>
                    <a:pt x="235801" y="1034894"/>
                  </a:cubicBezTo>
                  <a:cubicBezTo>
                    <a:pt x="234213" y="1087282"/>
                    <a:pt x="231038" y="1139645"/>
                    <a:pt x="231038" y="1192057"/>
                  </a:cubicBezTo>
                  <a:cubicBezTo>
                    <a:pt x="231038" y="1238122"/>
                    <a:pt x="231867" y="1284273"/>
                    <a:pt x="235801" y="1330169"/>
                  </a:cubicBezTo>
                  <a:cubicBezTo>
                    <a:pt x="236658" y="1340173"/>
                    <a:pt x="245326" y="1358744"/>
                    <a:pt x="245326" y="1358744"/>
                  </a:cubicBezTo>
                  <a:cubicBezTo>
                    <a:pt x="246913" y="1374619"/>
                    <a:pt x="247662" y="1390600"/>
                    <a:pt x="250088" y="1406369"/>
                  </a:cubicBezTo>
                  <a:cubicBezTo>
                    <a:pt x="250851" y="1411331"/>
                    <a:pt x="253762" y="1415756"/>
                    <a:pt x="254851" y="1420657"/>
                  </a:cubicBezTo>
                  <a:cubicBezTo>
                    <a:pt x="256946" y="1430083"/>
                    <a:pt x="257271" y="1439864"/>
                    <a:pt x="259613" y="1449232"/>
                  </a:cubicBezTo>
                  <a:cubicBezTo>
                    <a:pt x="262048" y="1458972"/>
                    <a:pt x="266703" y="1468067"/>
                    <a:pt x="269138" y="1477807"/>
                  </a:cubicBezTo>
                  <a:cubicBezTo>
                    <a:pt x="275119" y="1501727"/>
                    <a:pt x="271831" y="1490647"/>
                    <a:pt x="278663" y="1511144"/>
                  </a:cubicBezTo>
                  <a:cubicBezTo>
                    <a:pt x="295461" y="1494347"/>
                    <a:pt x="289939" y="1502881"/>
                    <a:pt x="297713" y="1487332"/>
                  </a:cubicBezTo>
                </a:path>
              </a:pathLst>
            </a:custGeom>
            <a:ln w="254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8" name="Freeform 7"/>
            <p:cNvSpPr/>
            <p:nvPr/>
          </p:nvSpPr>
          <p:spPr>
            <a:xfrm>
              <a:off x="3662094" y="3848611"/>
              <a:ext cx="85706" cy="1518727"/>
            </a:xfrm>
            <a:custGeom>
              <a:avLst/>
              <a:gdLst>
                <a:gd name="connsiteX0" fmla="*/ 0 w 85725"/>
                <a:gd name="connsiteY0" fmla="*/ 0 h 1519238"/>
                <a:gd name="connsiteX1" fmla="*/ 4762 w 85725"/>
                <a:gd name="connsiteY1" fmla="*/ 223838 h 1519238"/>
                <a:gd name="connsiteX2" fmla="*/ 9525 w 85725"/>
                <a:gd name="connsiteY2" fmla="*/ 881063 h 1519238"/>
                <a:gd name="connsiteX3" fmla="*/ 19050 w 85725"/>
                <a:gd name="connsiteY3" fmla="*/ 947738 h 1519238"/>
                <a:gd name="connsiteX4" fmla="*/ 28575 w 85725"/>
                <a:gd name="connsiteY4" fmla="*/ 1009650 h 1519238"/>
                <a:gd name="connsiteX5" fmla="*/ 33337 w 85725"/>
                <a:gd name="connsiteY5" fmla="*/ 1023938 h 1519238"/>
                <a:gd name="connsiteX6" fmla="*/ 38100 w 85725"/>
                <a:gd name="connsiteY6" fmla="*/ 1057275 h 1519238"/>
                <a:gd name="connsiteX7" fmla="*/ 42862 w 85725"/>
                <a:gd name="connsiteY7" fmla="*/ 1166813 h 1519238"/>
                <a:gd name="connsiteX8" fmla="*/ 52387 w 85725"/>
                <a:gd name="connsiteY8" fmla="*/ 1223963 h 1519238"/>
                <a:gd name="connsiteX9" fmla="*/ 57150 w 85725"/>
                <a:gd name="connsiteY9" fmla="*/ 1238250 h 1519238"/>
                <a:gd name="connsiteX10" fmla="*/ 61912 w 85725"/>
                <a:gd name="connsiteY10" fmla="*/ 1271588 h 1519238"/>
                <a:gd name="connsiteX11" fmla="*/ 66675 w 85725"/>
                <a:gd name="connsiteY11" fmla="*/ 1300163 h 1519238"/>
                <a:gd name="connsiteX12" fmla="*/ 71437 w 85725"/>
                <a:gd name="connsiteY12" fmla="*/ 1362075 h 1519238"/>
                <a:gd name="connsiteX13" fmla="*/ 80962 w 85725"/>
                <a:gd name="connsiteY13" fmla="*/ 1519238 h 1519238"/>
                <a:gd name="connsiteX14" fmla="*/ 85725 w 85725"/>
                <a:gd name="connsiteY14" fmla="*/ 1485900 h 1519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725" h="1519238">
                  <a:moveTo>
                    <a:pt x="0" y="0"/>
                  </a:moveTo>
                  <a:cubicBezTo>
                    <a:pt x="1587" y="74613"/>
                    <a:pt x="3955" y="149213"/>
                    <a:pt x="4762" y="223838"/>
                  </a:cubicBezTo>
                  <a:cubicBezTo>
                    <a:pt x="7130" y="442906"/>
                    <a:pt x="6585" y="662002"/>
                    <a:pt x="9525" y="881063"/>
                  </a:cubicBezTo>
                  <a:cubicBezTo>
                    <a:pt x="10109" y="924553"/>
                    <a:pt x="10068" y="920795"/>
                    <a:pt x="19050" y="947738"/>
                  </a:cubicBezTo>
                  <a:cubicBezTo>
                    <a:pt x="21943" y="970886"/>
                    <a:pt x="23118" y="987824"/>
                    <a:pt x="28575" y="1009650"/>
                  </a:cubicBezTo>
                  <a:cubicBezTo>
                    <a:pt x="29793" y="1014520"/>
                    <a:pt x="31750" y="1019175"/>
                    <a:pt x="33337" y="1023938"/>
                  </a:cubicBezTo>
                  <a:cubicBezTo>
                    <a:pt x="34925" y="1035050"/>
                    <a:pt x="37353" y="1046075"/>
                    <a:pt x="38100" y="1057275"/>
                  </a:cubicBezTo>
                  <a:cubicBezTo>
                    <a:pt x="40531" y="1093741"/>
                    <a:pt x="40431" y="1130347"/>
                    <a:pt x="42862" y="1166813"/>
                  </a:cubicBezTo>
                  <a:cubicBezTo>
                    <a:pt x="43594" y="1177800"/>
                    <a:pt x="49156" y="1211039"/>
                    <a:pt x="52387" y="1223963"/>
                  </a:cubicBezTo>
                  <a:cubicBezTo>
                    <a:pt x="53605" y="1228833"/>
                    <a:pt x="55562" y="1233488"/>
                    <a:pt x="57150" y="1238250"/>
                  </a:cubicBezTo>
                  <a:cubicBezTo>
                    <a:pt x="58737" y="1249363"/>
                    <a:pt x="60205" y="1260493"/>
                    <a:pt x="61912" y="1271588"/>
                  </a:cubicBezTo>
                  <a:cubicBezTo>
                    <a:pt x="63380" y="1281132"/>
                    <a:pt x="65664" y="1290560"/>
                    <a:pt x="66675" y="1300163"/>
                  </a:cubicBezTo>
                  <a:cubicBezTo>
                    <a:pt x="68842" y="1320748"/>
                    <a:pt x="70090" y="1341421"/>
                    <a:pt x="71437" y="1362075"/>
                  </a:cubicBezTo>
                  <a:cubicBezTo>
                    <a:pt x="74852" y="1414448"/>
                    <a:pt x="80962" y="1519238"/>
                    <a:pt x="80962" y="1519238"/>
                  </a:cubicBezTo>
                  <a:lnTo>
                    <a:pt x="85725" y="1485900"/>
                  </a:lnTo>
                </a:path>
              </a:pathLst>
            </a:custGeom>
            <a:ln w="254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9" name="Freeform 8"/>
            <p:cNvSpPr/>
            <p:nvPr/>
          </p:nvSpPr>
          <p:spPr>
            <a:xfrm>
              <a:off x="3785892" y="3824807"/>
              <a:ext cx="333302" cy="1477464"/>
            </a:xfrm>
            <a:custGeom>
              <a:avLst/>
              <a:gdLst>
                <a:gd name="connsiteX0" fmla="*/ 0 w 333375"/>
                <a:gd name="connsiteY0" fmla="*/ 0 h 1477589"/>
                <a:gd name="connsiteX1" fmla="*/ 4762 w 333375"/>
                <a:gd name="connsiteY1" fmla="*/ 233362 h 1477589"/>
                <a:gd name="connsiteX2" fmla="*/ 9525 w 333375"/>
                <a:gd name="connsiteY2" fmla="*/ 271462 h 1477589"/>
                <a:gd name="connsiteX3" fmla="*/ 19050 w 333375"/>
                <a:gd name="connsiteY3" fmla="*/ 442912 h 1477589"/>
                <a:gd name="connsiteX4" fmla="*/ 23812 w 333375"/>
                <a:gd name="connsiteY4" fmla="*/ 471487 h 1477589"/>
                <a:gd name="connsiteX5" fmla="*/ 28575 w 333375"/>
                <a:gd name="connsiteY5" fmla="*/ 547687 h 1477589"/>
                <a:gd name="connsiteX6" fmla="*/ 33337 w 333375"/>
                <a:gd name="connsiteY6" fmla="*/ 561975 h 1477589"/>
                <a:gd name="connsiteX7" fmla="*/ 38100 w 333375"/>
                <a:gd name="connsiteY7" fmla="*/ 585787 h 1477589"/>
                <a:gd name="connsiteX8" fmla="*/ 52387 w 333375"/>
                <a:gd name="connsiteY8" fmla="*/ 638175 h 1477589"/>
                <a:gd name="connsiteX9" fmla="*/ 57150 w 333375"/>
                <a:gd name="connsiteY9" fmla="*/ 657225 h 1477589"/>
                <a:gd name="connsiteX10" fmla="*/ 61912 w 333375"/>
                <a:gd name="connsiteY10" fmla="*/ 671512 h 1477589"/>
                <a:gd name="connsiteX11" fmla="*/ 66675 w 333375"/>
                <a:gd name="connsiteY11" fmla="*/ 690562 h 1477589"/>
                <a:gd name="connsiteX12" fmla="*/ 71437 w 333375"/>
                <a:gd name="connsiteY12" fmla="*/ 704850 h 1477589"/>
                <a:gd name="connsiteX13" fmla="*/ 76200 w 333375"/>
                <a:gd name="connsiteY13" fmla="*/ 723900 h 1477589"/>
                <a:gd name="connsiteX14" fmla="*/ 85725 w 333375"/>
                <a:gd name="connsiteY14" fmla="*/ 752475 h 1477589"/>
                <a:gd name="connsiteX15" fmla="*/ 90487 w 333375"/>
                <a:gd name="connsiteY15" fmla="*/ 766762 h 1477589"/>
                <a:gd name="connsiteX16" fmla="*/ 95250 w 333375"/>
                <a:gd name="connsiteY16" fmla="*/ 785812 h 1477589"/>
                <a:gd name="connsiteX17" fmla="*/ 100012 w 333375"/>
                <a:gd name="connsiteY17" fmla="*/ 809625 h 1477589"/>
                <a:gd name="connsiteX18" fmla="*/ 109537 w 333375"/>
                <a:gd name="connsiteY18" fmla="*/ 828675 h 1477589"/>
                <a:gd name="connsiteX19" fmla="*/ 128587 w 333375"/>
                <a:gd name="connsiteY19" fmla="*/ 885825 h 1477589"/>
                <a:gd name="connsiteX20" fmla="*/ 133350 w 333375"/>
                <a:gd name="connsiteY20" fmla="*/ 919162 h 1477589"/>
                <a:gd name="connsiteX21" fmla="*/ 142875 w 333375"/>
                <a:gd name="connsiteY21" fmla="*/ 947737 h 1477589"/>
                <a:gd name="connsiteX22" fmla="*/ 147637 w 333375"/>
                <a:gd name="connsiteY22" fmla="*/ 962025 h 1477589"/>
                <a:gd name="connsiteX23" fmla="*/ 161925 w 333375"/>
                <a:gd name="connsiteY23" fmla="*/ 1047750 h 1477589"/>
                <a:gd name="connsiteX24" fmla="*/ 171450 w 333375"/>
                <a:gd name="connsiteY24" fmla="*/ 1357312 h 1477589"/>
                <a:gd name="connsiteX25" fmla="*/ 180975 w 333375"/>
                <a:gd name="connsiteY25" fmla="*/ 1476375 h 1477589"/>
                <a:gd name="connsiteX26" fmla="*/ 204787 w 333375"/>
                <a:gd name="connsiteY26" fmla="*/ 1452562 h 1477589"/>
                <a:gd name="connsiteX27" fmla="*/ 228600 w 333375"/>
                <a:gd name="connsiteY27" fmla="*/ 1419225 h 1477589"/>
                <a:gd name="connsiteX28" fmla="*/ 242887 w 333375"/>
                <a:gd name="connsiteY28" fmla="*/ 1381125 h 1477589"/>
                <a:gd name="connsiteX29" fmla="*/ 261937 w 333375"/>
                <a:gd name="connsiteY29" fmla="*/ 1352550 h 1477589"/>
                <a:gd name="connsiteX30" fmla="*/ 266700 w 333375"/>
                <a:gd name="connsiteY30" fmla="*/ 1338262 h 1477589"/>
                <a:gd name="connsiteX31" fmla="*/ 271462 w 333375"/>
                <a:gd name="connsiteY31" fmla="*/ 1319212 h 1477589"/>
                <a:gd name="connsiteX32" fmla="*/ 290512 w 333375"/>
                <a:gd name="connsiteY32" fmla="*/ 1281112 h 1477589"/>
                <a:gd name="connsiteX33" fmla="*/ 304800 w 333375"/>
                <a:gd name="connsiteY33" fmla="*/ 1247775 h 1477589"/>
                <a:gd name="connsiteX34" fmla="*/ 309562 w 333375"/>
                <a:gd name="connsiteY34" fmla="*/ 1228725 h 1477589"/>
                <a:gd name="connsiteX35" fmla="*/ 314325 w 333375"/>
                <a:gd name="connsiteY35" fmla="*/ 1214437 h 1477589"/>
                <a:gd name="connsiteX36" fmla="*/ 319087 w 333375"/>
                <a:gd name="connsiteY36" fmla="*/ 1171575 h 1477589"/>
                <a:gd name="connsiteX37" fmla="*/ 328612 w 333375"/>
                <a:gd name="connsiteY37" fmla="*/ 1143000 h 1477589"/>
                <a:gd name="connsiteX38" fmla="*/ 333375 w 333375"/>
                <a:gd name="connsiteY38" fmla="*/ 1128712 h 1477589"/>
                <a:gd name="connsiteX39" fmla="*/ 323850 w 333375"/>
                <a:gd name="connsiteY39" fmla="*/ 923925 h 1477589"/>
                <a:gd name="connsiteX40" fmla="*/ 314325 w 333375"/>
                <a:gd name="connsiteY40" fmla="*/ 895350 h 1477589"/>
                <a:gd name="connsiteX41" fmla="*/ 309562 w 333375"/>
                <a:gd name="connsiteY41" fmla="*/ 881062 h 1477589"/>
                <a:gd name="connsiteX42" fmla="*/ 300037 w 333375"/>
                <a:gd name="connsiteY42" fmla="*/ 819150 h 1477589"/>
                <a:gd name="connsiteX43" fmla="*/ 290512 w 333375"/>
                <a:gd name="connsiteY43" fmla="*/ 781050 h 1477589"/>
                <a:gd name="connsiteX44" fmla="*/ 285750 w 333375"/>
                <a:gd name="connsiteY44" fmla="*/ 742950 h 1477589"/>
                <a:gd name="connsiteX45" fmla="*/ 280987 w 333375"/>
                <a:gd name="connsiteY45" fmla="*/ 728662 h 1477589"/>
                <a:gd name="connsiteX46" fmla="*/ 266700 w 333375"/>
                <a:gd name="connsiteY46" fmla="*/ 666750 h 1477589"/>
                <a:gd name="connsiteX47" fmla="*/ 257175 w 333375"/>
                <a:gd name="connsiteY47" fmla="*/ 647700 h 1477589"/>
                <a:gd name="connsiteX48" fmla="*/ 247650 w 333375"/>
                <a:gd name="connsiteY48" fmla="*/ 619125 h 1477589"/>
                <a:gd name="connsiteX49" fmla="*/ 242887 w 333375"/>
                <a:gd name="connsiteY49" fmla="*/ 604837 h 1477589"/>
                <a:gd name="connsiteX50" fmla="*/ 228600 w 333375"/>
                <a:gd name="connsiteY50" fmla="*/ 552450 h 1477589"/>
                <a:gd name="connsiteX51" fmla="*/ 223837 w 333375"/>
                <a:gd name="connsiteY51" fmla="*/ 523875 h 1477589"/>
                <a:gd name="connsiteX52" fmla="*/ 219075 w 333375"/>
                <a:gd name="connsiteY52" fmla="*/ 509587 h 1477589"/>
                <a:gd name="connsiteX53" fmla="*/ 209550 w 333375"/>
                <a:gd name="connsiteY53" fmla="*/ 471487 h 1477589"/>
                <a:gd name="connsiteX54" fmla="*/ 204787 w 333375"/>
                <a:gd name="connsiteY54" fmla="*/ 419100 h 1477589"/>
                <a:gd name="connsiteX55" fmla="*/ 200025 w 333375"/>
                <a:gd name="connsiteY55" fmla="*/ 400050 h 1477589"/>
                <a:gd name="connsiteX56" fmla="*/ 195262 w 333375"/>
                <a:gd name="connsiteY56" fmla="*/ 376237 h 1477589"/>
                <a:gd name="connsiteX57" fmla="*/ 190500 w 333375"/>
                <a:gd name="connsiteY57" fmla="*/ 338137 h 1477589"/>
                <a:gd name="connsiteX58" fmla="*/ 180975 w 333375"/>
                <a:gd name="connsiteY58" fmla="*/ 304800 h 1477589"/>
                <a:gd name="connsiteX59" fmla="*/ 166687 w 333375"/>
                <a:gd name="connsiteY59" fmla="*/ 261937 h 1477589"/>
                <a:gd name="connsiteX60" fmla="*/ 161925 w 333375"/>
                <a:gd name="connsiteY60" fmla="*/ 242887 h 1477589"/>
                <a:gd name="connsiteX61" fmla="*/ 157162 w 333375"/>
                <a:gd name="connsiteY61" fmla="*/ 228600 h 1477589"/>
                <a:gd name="connsiteX62" fmla="*/ 147637 w 333375"/>
                <a:gd name="connsiteY62" fmla="*/ 190500 h 1477589"/>
                <a:gd name="connsiteX63" fmla="*/ 128587 w 333375"/>
                <a:gd name="connsiteY63" fmla="*/ 161925 h 1477589"/>
                <a:gd name="connsiteX64" fmla="*/ 119062 w 333375"/>
                <a:gd name="connsiteY64" fmla="*/ 119062 h 1477589"/>
                <a:gd name="connsiteX65" fmla="*/ 104775 w 333375"/>
                <a:gd name="connsiteY65" fmla="*/ 90487 h 1477589"/>
                <a:gd name="connsiteX66" fmla="*/ 90487 w 333375"/>
                <a:gd name="connsiteY66" fmla="*/ 80962 h 1477589"/>
                <a:gd name="connsiteX67" fmla="*/ 71437 w 333375"/>
                <a:gd name="connsiteY67" fmla="*/ 66675 h 1477589"/>
                <a:gd name="connsiteX68" fmla="*/ 47625 w 333375"/>
                <a:gd name="connsiteY68" fmla="*/ 47625 h 1477589"/>
                <a:gd name="connsiteX69" fmla="*/ 38100 w 333375"/>
                <a:gd name="connsiteY69" fmla="*/ 33337 h 1477589"/>
                <a:gd name="connsiteX70" fmla="*/ 9525 w 333375"/>
                <a:gd name="connsiteY70" fmla="*/ 14287 h 1477589"/>
                <a:gd name="connsiteX71" fmla="*/ 0 w 333375"/>
                <a:gd name="connsiteY71" fmla="*/ 0 h 1477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333375" h="1477589">
                  <a:moveTo>
                    <a:pt x="0" y="0"/>
                  </a:moveTo>
                  <a:cubicBezTo>
                    <a:pt x="1587" y="77787"/>
                    <a:pt x="2034" y="155606"/>
                    <a:pt x="4762" y="233362"/>
                  </a:cubicBezTo>
                  <a:cubicBezTo>
                    <a:pt x="5211" y="246153"/>
                    <a:pt x="8644" y="258693"/>
                    <a:pt x="9525" y="271462"/>
                  </a:cubicBezTo>
                  <a:cubicBezTo>
                    <a:pt x="14025" y="336713"/>
                    <a:pt x="13066" y="380076"/>
                    <a:pt x="19050" y="442912"/>
                  </a:cubicBezTo>
                  <a:cubicBezTo>
                    <a:pt x="19966" y="452525"/>
                    <a:pt x="22225" y="461962"/>
                    <a:pt x="23812" y="471487"/>
                  </a:cubicBezTo>
                  <a:cubicBezTo>
                    <a:pt x="25400" y="496887"/>
                    <a:pt x="25911" y="522377"/>
                    <a:pt x="28575" y="547687"/>
                  </a:cubicBezTo>
                  <a:cubicBezTo>
                    <a:pt x="29101" y="552680"/>
                    <a:pt x="32119" y="557105"/>
                    <a:pt x="33337" y="561975"/>
                  </a:cubicBezTo>
                  <a:cubicBezTo>
                    <a:pt x="35300" y="569828"/>
                    <a:pt x="36280" y="577900"/>
                    <a:pt x="38100" y="585787"/>
                  </a:cubicBezTo>
                  <a:cubicBezTo>
                    <a:pt x="58467" y="674040"/>
                    <a:pt x="39795" y="594102"/>
                    <a:pt x="52387" y="638175"/>
                  </a:cubicBezTo>
                  <a:cubicBezTo>
                    <a:pt x="54185" y="644469"/>
                    <a:pt x="55352" y="650931"/>
                    <a:pt x="57150" y="657225"/>
                  </a:cubicBezTo>
                  <a:cubicBezTo>
                    <a:pt x="58529" y="662052"/>
                    <a:pt x="60533" y="666685"/>
                    <a:pt x="61912" y="671512"/>
                  </a:cubicBezTo>
                  <a:cubicBezTo>
                    <a:pt x="63710" y="677806"/>
                    <a:pt x="64877" y="684268"/>
                    <a:pt x="66675" y="690562"/>
                  </a:cubicBezTo>
                  <a:cubicBezTo>
                    <a:pt x="68054" y="695389"/>
                    <a:pt x="70058" y="700023"/>
                    <a:pt x="71437" y="704850"/>
                  </a:cubicBezTo>
                  <a:cubicBezTo>
                    <a:pt x="73235" y="711144"/>
                    <a:pt x="74319" y="717631"/>
                    <a:pt x="76200" y="723900"/>
                  </a:cubicBezTo>
                  <a:cubicBezTo>
                    <a:pt x="79085" y="733517"/>
                    <a:pt x="82550" y="742950"/>
                    <a:pt x="85725" y="752475"/>
                  </a:cubicBezTo>
                  <a:cubicBezTo>
                    <a:pt x="87312" y="757237"/>
                    <a:pt x="89269" y="761892"/>
                    <a:pt x="90487" y="766762"/>
                  </a:cubicBezTo>
                  <a:cubicBezTo>
                    <a:pt x="92075" y="773112"/>
                    <a:pt x="93830" y="779422"/>
                    <a:pt x="95250" y="785812"/>
                  </a:cubicBezTo>
                  <a:cubicBezTo>
                    <a:pt x="97006" y="793714"/>
                    <a:pt x="97452" y="801946"/>
                    <a:pt x="100012" y="809625"/>
                  </a:cubicBezTo>
                  <a:cubicBezTo>
                    <a:pt x="102257" y="816360"/>
                    <a:pt x="107292" y="821940"/>
                    <a:pt x="109537" y="828675"/>
                  </a:cubicBezTo>
                  <a:cubicBezTo>
                    <a:pt x="132031" y="896156"/>
                    <a:pt x="107108" y="842867"/>
                    <a:pt x="128587" y="885825"/>
                  </a:cubicBezTo>
                  <a:cubicBezTo>
                    <a:pt x="130175" y="896937"/>
                    <a:pt x="130826" y="908224"/>
                    <a:pt x="133350" y="919162"/>
                  </a:cubicBezTo>
                  <a:cubicBezTo>
                    <a:pt x="135608" y="928945"/>
                    <a:pt x="139700" y="938212"/>
                    <a:pt x="142875" y="947737"/>
                  </a:cubicBezTo>
                  <a:cubicBezTo>
                    <a:pt x="144462" y="952500"/>
                    <a:pt x="146548" y="957124"/>
                    <a:pt x="147637" y="962025"/>
                  </a:cubicBezTo>
                  <a:cubicBezTo>
                    <a:pt x="160281" y="1018920"/>
                    <a:pt x="155546" y="990341"/>
                    <a:pt x="161925" y="1047750"/>
                  </a:cubicBezTo>
                  <a:cubicBezTo>
                    <a:pt x="172327" y="1255815"/>
                    <a:pt x="161323" y="1018051"/>
                    <a:pt x="171450" y="1357312"/>
                  </a:cubicBezTo>
                  <a:cubicBezTo>
                    <a:pt x="174559" y="1461459"/>
                    <a:pt x="165426" y="1429731"/>
                    <a:pt x="180975" y="1476375"/>
                  </a:cubicBezTo>
                  <a:cubicBezTo>
                    <a:pt x="205486" y="1427353"/>
                    <a:pt x="174756" y="1477589"/>
                    <a:pt x="204787" y="1452562"/>
                  </a:cubicBezTo>
                  <a:cubicBezTo>
                    <a:pt x="209218" y="1448870"/>
                    <a:pt x="224256" y="1425741"/>
                    <a:pt x="228600" y="1419225"/>
                  </a:cubicBezTo>
                  <a:cubicBezTo>
                    <a:pt x="233444" y="1399847"/>
                    <a:pt x="232213" y="1398914"/>
                    <a:pt x="242887" y="1381125"/>
                  </a:cubicBezTo>
                  <a:cubicBezTo>
                    <a:pt x="248777" y="1371309"/>
                    <a:pt x="258317" y="1363410"/>
                    <a:pt x="261937" y="1352550"/>
                  </a:cubicBezTo>
                  <a:cubicBezTo>
                    <a:pt x="263525" y="1347787"/>
                    <a:pt x="265321" y="1343089"/>
                    <a:pt x="266700" y="1338262"/>
                  </a:cubicBezTo>
                  <a:cubicBezTo>
                    <a:pt x="268498" y="1331968"/>
                    <a:pt x="268945" y="1325254"/>
                    <a:pt x="271462" y="1319212"/>
                  </a:cubicBezTo>
                  <a:cubicBezTo>
                    <a:pt x="276923" y="1306105"/>
                    <a:pt x="287068" y="1294887"/>
                    <a:pt x="290512" y="1281112"/>
                  </a:cubicBezTo>
                  <a:cubicBezTo>
                    <a:pt x="296663" y="1256509"/>
                    <a:pt x="291644" y="1267508"/>
                    <a:pt x="304800" y="1247775"/>
                  </a:cubicBezTo>
                  <a:cubicBezTo>
                    <a:pt x="306387" y="1241425"/>
                    <a:pt x="307764" y="1235019"/>
                    <a:pt x="309562" y="1228725"/>
                  </a:cubicBezTo>
                  <a:cubicBezTo>
                    <a:pt x="310941" y="1223898"/>
                    <a:pt x="313500" y="1219389"/>
                    <a:pt x="314325" y="1214437"/>
                  </a:cubicBezTo>
                  <a:cubicBezTo>
                    <a:pt x="316688" y="1200257"/>
                    <a:pt x="316268" y="1185671"/>
                    <a:pt x="319087" y="1171575"/>
                  </a:cubicBezTo>
                  <a:cubicBezTo>
                    <a:pt x="321056" y="1161730"/>
                    <a:pt x="325437" y="1152525"/>
                    <a:pt x="328612" y="1143000"/>
                  </a:cubicBezTo>
                  <a:lnTo>
                    <a:pt x="333375" y="1128712"/>
                  </a:lnTo>
                  <a:cubicBezTo>
                    <a:pt x="330200" y="1060450"/>
                    <a:pt x="329410" y="992035"/>
                    <a:pt x="323850" y="923925"/>
                  </a:cubicBezTo>
                  <a:cubicBezTo>
                    <a:pt x="323033" y="913918"/>
                    <a:pt x="317500" y="904875"/>
                    <a:pt x="314325" y="895350"/>
                  </a:cubicBezTo>
                  <a:lnTo>
                    <a:pt x="309562" y="881062"/>
                  </a:lnTo>
                  <a:cubicBezTo>
                    <a:pt x="306669" y="857914"/>
                    <a:pt x="305494" y="840976"/>
                    <a:pt x="300037" y="819150"/>
                  </a:cubicBezTo>
                  <a:cubicBezTo>
                    <a:pt x="291928" y="786714"/>
                    <a:pt x="297530" y="826665"/>
                    <a:pt x="290512" y="781050"/>
                  </a:cubicBezTo>
                  <a:cubicBezTo>
                    <a:pt x="288566" y="768400"/>
                    <a:pt x="288040" y="755542"/>
                    <a:pt x="285750" y="742950"/>
                  </a:cubicBezTo>
                  <a:cubicBezTo>
                    <a:pt x="284852" y="738011"/>
                    <a:pt x="282205" y="733532"/>
                    <a:pt x="280987" y="728662"/>
                  </a:cubicBezTo>
                  <a:cubicBezTo>
                    <a:pt x="277095" y="713095"/>
                    <a:pt x="272629" y="678608"/>
                    <a:pt x="266700" y="666750"/>
                  </a:cubicBezTo>
                  <a:cubicBezTo>
                    <a:pt x="263525" y="660400"/>
                    <a:pt x="259812" y="654292"/>
                    <a:pt x="257175" y="647700"/>
                  </a:cubicBezTo>
                  <a:cubicBezTo>
                    <a:pt x="253446" y="638378"/>
                    <a:pt x="250825" y="628650"/>
                    <a:pt x="247650" y="619125"/>
                  </a:cubicBezTo>
                  <a:lnTo>
                    <a:pt x="242887" y="604837"/>
                  </a:lnTo>
                  <a:cubicBezTo>
                    <a:pt x="236732" y="586372"/>
                    <a:pt x="232180" y="573928"/>
                    <a:pt x="228600" y="552450"/>
                  </a:cubicBezTo>
                  <a:cubicBezTo>
                    <a:pt x="227012" y="542925"/>
                    <a:pt x="225932" y="533301"/>
                    <a:pt x="223837" y="523875"/>
                  </a:cubicBezTo>
                  <a:cubicBezTo>
                    <a:pt x="222748" y="518974"/>
                    <a:pt x="220396" y="514430"/>
                    <a:pt x="219075" y="509587"/>
                  </a:cubicBezTo>
                  <a:cubicBezTo>
                    <a:pt x="215631" y="496957"/>
                    <a:pt x="209550" y="471487"/>
                    <a:pt x="209550" y="471487"/>
                  </a:cubicBezTo>
                  <a:cubicBezTo>
                    <a:pt x="207962" y="454025"/>
                    <a:pt x="207104" y="436481"/>
                    <a:pt x="204787" y="419100"/>
                  </a:cubicBezTo>
                  <a:cubicBezTo>
                    <a:pt x="203922" y="412612"/>
                    <a:pt x="201445" y="406440"/>
                    <a:pt x="200025" y="400050"/>
                  </a:cubicBezTo>
                  <a:cubicBezTo>
                    <a:pt x="198269" y="392148"/>
                    <a:pt x="196493" y="384238"/>
                    <a:pt x="195262" y="376237"/>
                  </a:cubicBezTo>
                  <a:cubicBezTo>
                    <a:pt x="193316" y="363587"/>
                    <a:pt x="192604" y="350762"/>
                    <a:pt x="190500" y="338137"/>
                  </a:cubicBezTo>
                  <a:cubicBezTo>
                    <a:pt x="183589" y="296670"/>
                    <a:pt x="188520" y="338754"/>
                    <a:pt x="180975" y="304800"/>
                  </a:cubicBezTo>
                  <a:cubicBezTo>
                    <a:pt x="172420" y="266302"/>
                    <a:pt x="183258" y="286795"/>
                    <a:pt x="166687" y="261937"/>
                  </a:cubicBezTo>
                  <a:cubicBezTo>
                    <a:pt x="165100" y="255587"/>
                    <a:pt x="163723" y="249181"/>
                    <a:pt x="161925" y="242887"/>
                  </a:cubicBezTo>
                  <a:cubicBezTo>
                    <a:pt x="160546" y="238060"/>
                    <a:pt x="158483" y="233443"/>
                    <a:pt x="157162" y="228600"/>
                  </a:cubicBezTo>
                  <a:cubicBezTo>
                    <a:pt x="153717" y="215970"/>
                    <a:pt x="154899" y="201392"/>
                    <a:pt x="147637" y="190500"/>
                  </a:cubicBezTo>
                  <a:lnTo>
                    <a:pt x="128587" y="161925"/>
                  </a:lnTo>
                  <a:cubicBezTo>
                    <a:pt x="125311" y="145543"/>
                    <a:pt x="123549" y="134766"/>
                    <a:pt x="119062" y="119062"/>
                  </a:cubicBezTo>
                  <a:cubicBezTo>
                    <a:pt x="115963" y="108216"/>
                    <a:pt x="113124" y="98836"/>
                    <a:pt x="104775" y="90487"/>
                  </a:cubicBezTo>
                  <a:cubicBezTo>
                    <a:pt x="100728" y="86440"/>
                    <a:pt x="95145" y="84289"/>
                    <a:pt x="90487" y="80962"/>
                  </a:cubicBezTo>
                  <a:cubicBezTo>
                    <a:pt x="84028" y="76349"/>
                    <a:pt x="77787" y="71437"/>
                    <a:pt x="71437" y="66675"/>
                  </a:cubicBezTo>
                  <a:cubicBezTo>
                    <a:pt x="44139" y="25726"/>
                    <a:pt x="80488" y="73916"/>
                    <a:pt x="47625" y="47625"/>
                  </a:cubicBezTo>
                  <a:cubicBezTo>
                    <a:pt x="43155" y="44049"/>
                    <a:pt x="42408" y="37106"/>
                    <a:pt x="38100" y="33337"/>
                  </a:cubicBezTo>
                  <a:cubicBezTo>
                    <a:pt x="29485" y="25799"/>
                    <a:pt x="17621" y="22381"/>
                    <a:pt x="9525" y="14287"/>
                  </a:cubicBezTo>
                  <a:lnTo>
                    <a:pt x="0" y="0"/>
                  </a:lnTo>
                  <a:close/>
                </a:path>
              </a:pathLst>
            </a:cu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Freeform 9"/>
            <p:cNvSpPr/>
            <p:nvPr/>
          </p:nvSpPr>
          <p:spPr>
            <a:xfrm>
              <a:off x="3990634" y="3775611"/>
              <a:ext cx="453925" cy="1591727"/>
            </a:xfrm>
            <a:custGeom>
              <a:avLst/>
              <a:gdLst>
                <a:gd name="connsiteX0" fmla="*/ 4762 w 454288"/>
                <a:gd name="connsiteY0" fmla="*/ 794 h 1591350"/>
                <a:gd name="connsiteX1" fmla="*/ 9524 w 454288"/>
                <a:gd name="connsiteY1" fmla="*/ 19844 h 1591350"/>
                <a:gd name="connsiteX2" fmla="*/ 14287 w 454288"/>
                <a:gd name="connsiteY2" fmla="*/ 48419 h 1591350"/>
                <a:gd name="connsiteX3" fmla="*/ 23812 w 454288"/>
                <a:gd name="connsiteY3" fmla="*/ 76994 h 1591350"/>
                <a:gd name="connsiteX4" fmla="*/ 28574 w 454288"/>
                <a:gd name="connsiteY4" fmla="*/ 91281 h 1591350"/>
                <a:gd name="connsiteX5" fmla="*/ 38099 w 454288"/>
                <a:gd name="connsiteY5" fmla="*/ 124619 h 1591350"/>
                <a:gd name="connsiteX6" fmla="*/ 47624 w 454288"/>
                <a:gd name="connsiteY6" fmla="*/ 172244 h 1591350"/>
                <a:gd name="connsiteX7" fmla="*/ 57149 w 454288"/>
                <a:gd name="connsiteY7" fmla="*/ 215106 h 1591350"/>
                <a:gd name="connsiteX8" fmla="*/ 66674 w 454288"/>
                <a:gd name="connsiteY8" fmla="*/ 234156 h 1591350"/>
                <a:gd name="connsiteX9" fmla="*/ 76199 w 454288"/>
                <a:gd name="connsiteY9" fmla="*/ 281781 h 1591350"/>
                <a:gd name="connsiteX10" fmla="*/ 85724 w 454288"/>
                <a:gd name="connsiteY10" fmla="*/ 324644 h 1591350"/>
                <a:gd name="connsiteX11" fmla="*/ 95249 w 454288"/>
                <a:gd name="connsiteY11" fmla="*/ 353219 h 1591350"/>
                <a:gd name="connsiteX12" fmla="*/ 104774 w 454288"/>
                <a:gd name="connsiteY12" fmla="*/ 381794 h 1591350"/>
                <a:gd name="connsiteX13" fmla="*/ 109537 w 454288"/>
                <a:gd name="connsiteY13" fmla="*/ 396081 h 1591350"/>
                <a:gd name="connsiteX14" fmla="*/ 114299 w 454288"/>
                <a:gd name="connsiteY14" fmla="*/ 419894 h 1591350"/>
                <a:gd name="connsiteX15" fmla="*/ 128587 w 454288"/>
                <a:gd name="connsiteY15" fmla="*/ 467519 h 1591350"/>
                <a:gd name="connsiteX16" fmla="*/ 138112 w 454288"/>
                <a:gd name="connsiteY16" fmla="*/ 515144 h 1591350"/>
                <a:gd name="connsiteX17" fmla="*/ 152399 w 454288"/>
                <a:gd name="connsiteY17" fmla="*/ 629444 h 1591350"/>
                <a:gd name="connsiteX18" fmla="*/ 161924 w 454288"/>
                <a:gd name="connsiteY18" fmla="*/ 667544 h 1591350"/>
                <a:gd name="connsiteX19" fmla="*/ 171449 w 454288"/>
                <a:gd name="connsiteY19" fmla="*/ 767556 h 1591350"/>
                <a:gd name="connsiteX20" fmla="*/ 180974 w 454288"/>
                <a:gd name="connsiteY20" fmla="*/ 786606 h 1591350"/>
                <a:gd name="connsiteX21" fmla="*/ 190499 w 454288"/>
                <a:gd name="connsiteY21" fmla="*/ 824706 h 1591350"/>
                <a:gd name="connsiteX22" fmla="*/ 195262 w 454288"/>
                <a:gd name="connsiteY22" fmla="*/ 867569 h 1591350"/>
                <a:gd name="connsiteX23" fmla="*/ 204787 w 454288"/>
                <a:gd name="connsiteY23" fmla="*/ 905669 h 1591350"/>
                <a:gd name="connsiteX24" fmla="*/ 209549 w 454288"/>
                <a:gd name="connsiteY24" fmla="*/ 924719 h 1591350"/>
                <a:gd name="connsiteX25" fmla="*/ 219074 w 454288"/>
                <a:gd name="connsiteY25" fmla="*/ 939006 h 1591350"/>
                <a:gd name="connsiteX26" fmla="*/ 223837 w 454288"/>
                <a:gd name="connsiteY26" fmla="*/ 977106 h 1591350"/>
                <a:gd name="connsiteX27" fmla="*/ 238124 w 454288"/>
                <a:gd name="connsiteY27" fmla="*/ 1039019 h 1591350"/>
                <a:gd name="connsiteX28" fmla="*/ 242887 w 454288"/>
                <a:gd name="connsiteY28" fmla="*/ 1053306 h 1591350"/>
                <a:gd name="connsiteX29" fmla="*/ 257174 w 454288"/>
                <a:gd name="connsiteY29" fmla="*/ 1086644 h 1591350"/>
                <a:gd name="connsiteX30" fmla="*/ 261937 w 454288"/>
                <a:gd name="connsiteY30" fmla="*/ 1105694 h 1591350"/>
                <a:gd name="connsiteX31" fmla="*/ 271462 w 454288"/>
                <a:gd name="connsiteY31" fmla="*/ 1129506 h 1591350"/>
                <a:gd name="connsiteX32" fmla="*/ 276224 w 454288"/>
                <a:gd name="connsiteY32" fmla="*/ 1153319 h 1591350"/>
                <a:gd name="connsiteX33" fmla="*/ 285749 w 454288"/>
                <a:gd name="connsiteY33" fmla="*/ 1181894 h 1591350"/>
                <a:gd name="connsiteX34" fmla="*/ 290512 w 454288"/>
                <a:gd name="connsiteY34" fmla="*/ 1196181 h 1591350"/>
                <a:gd name="connsiteX35" fmla="*/ 300037 w 454288"/>
                <a:gd name="connsiteY35" fmla="*/ 1234281 h 1591350"/>
                <a:gd name="connsiteX36" fmla="*/ 304799 w 454288"/>
                <a:gd name="connsiteY36" fmla="*/ 1253331 h 1591350"/>
                <a:gd name="connsiteX37" fmla="*/ 314324 w 454288"/>
                <a:gd name="connsiteY37" fmla="*/ 1334294 h 1591350"/>
                <a:gd name="connsiteX38" fmla="*/ 319087 w 454288"/>
                <a:gd name="connsiteY38" fmla="*/ 1348581 h 1591350"/>
                <a:gd name="connsiteX39" fmla="*/ 323849 w 454288"/>
                <a:gd name="connsiteY39" fmla="*/ 1367631 h 1591350"/>
                <a:gd name="connsiteX40" fmla="*/ 333374 w 454288"/>
                <a:gd name="connsiteY40" fmla="*/ 1400969 h 1591350"/>
                <a:gd name="connsiteX41" fmla="*/ 347662 w 454288"/>
                <a:gd name="connsiteY41" fmla="*/ 1443831 h 1591350"/>
                <a:gd name="connsiteX42" fmla="*/ 352424 w 454288"/>
                <a:gd name="connsiteY42" fmla="*/ 1424781 h 1591350"/>
                <a:gd name="connsiteX43" fmla="*/ 357187 w 454288"/>
                <a:gd name="connsiteY43" fmla="*/ 1372394 h 1591350"/>
                <a:gd name="connsiteX44" fmla="*/ 366712 w 454288"/>
                <a:gd name="connsiteY44" fmla="*/ 1343819 h 1591350"/>
                <a:gd name="connsiteX45" fmla="*/ 371474 w 454288"/>
                <a:gd name="connsiteY45" fmla="*/ 1329531 h 1591350"/>
                <a:gd name="connsiteX46" fmla="*/ 376237 w 454288"/>
                <a:gd name="connsiteY46" fmla="*/ 1315244 h 1591350"/>
                <a:gd name="connsiteX47" fmla="*/ 390524 w 454288"/>
                <a:gd name="connsiteY47" fmla="*/ 1262856 h 1591350"/>
                <a:gd name="connsiteX48" fmla="*/ 400049 w 454288"/>
                <a:gd name="connsiteY48" fmla="*/ 1248569 h 1591350"/>
                <a:gd name="connsiteX49" fmla="*/ 409574 w 454288"/>
                <a:gd name="connsiteY49" fmla="*/ 1215231 h 1591350"/>
                <a:gd name="connsiteX50" fmla="*/ 414337 w 454288"/>
                <a:gd name="connsiteY50" fmla="*/ 1200944 h 1591350"/>
                <a:gd name="connsiteX51" fmla="*/ 419099 w 454288"/>
                <a:gd name="connsiteY51" fmla="*/ 1181894 h 1591350"/>
                <a:gd name="connsiteX52" fmla="*/ 428624 w 454288"/>
                <a:gd name="connsiteY52" fmla="*/ 1153319 h 1591350"/>
                <a:gd name="connsiteX53" fmla="*/ 433387 w 454288"/>
                <a:gd name="connsiteY53" fmla="*/ 1139031 h 1591350"/>
                <a:gd name="connsiteX54" fmla="*/ 442912 w 454288"/>
                <a:gd name="connsiteY54" fmla="*/ 1100931 h 1591350"/>
                <a:gd name="connsiteX55" fmla="*/ 438149 w 454288"/>
                <a:gd name="connsiteY55" fmla="*/ 810419 h 1591350"/>
                <a:gd name="connsiteX56" fmla="*/ 433387 w 454288"/>
                <a:gd name="connsiteY56" fmla="*/ 796131 h 1591350"/>
                <a:gd name="connsiteX57" fmla="*/ 423862 w 454288"/>
                <a:gd name="connsiteY57" fmla="*/ 781844 h 1591350"/>
                <a:gd name="connsiteX58" fmla="*/ 409574 w 454288"/>
                <a:gd name="connsiteY58" fmla="*/ 753269 h 1591350"/>
                <a:gd name="connsiteX59" fmla="*/ 395287 w 454288"/>
                <a:gd name="connsiteY59" fmla="*/ 719931 h 1591350"/>
                <a:gd name="connsiteX60" fmla="*/ 376237 w 454288"/>
                <a:gd name="connsiteY60" fmla="*/ 677069 h 1591350"/>
                <a:gd name="connsiteX61" fmla="*/ 371474 w 454288"/>
                <a:gd name="connsiteY61" fmla="*/ 653256 h 1591350"/>
                <a:gd name="connsiteX62" fmla="*/ 366712 w 454288"/>
                <a:gd name="connsiteY62" fmla="*/ 638969 h 1591350"/>
                <a:gd name="connsiteX63" fmla="*/ 357187 w 454288"/>
                <a:gd name="connsiteY63" fmla="*/ 505619 h 1591350"/>
                <a:gd name="connsiteX64" fmla="*/ 342899 w 454288"/>
                <a:gd name="connsiteY64" fmla="*/ 419894 h 1591350"/>
                <a:gd name="connsiteX65" fmla="*/ 323849 w 454288"/>
                <a:gd name="connsiteY65" fmla="*/ 386556 h 1591350"/>
                <a:gd name="connsiteX66" fmla="*/ 309562 w 454288"/>
                <a:gd name="connsiteY66" fmla="*/ 372269 h 1591350"/>
                <a:gd name="connsiteX67" fmla="*/ 300037 w 454288"/>
                <a:gd name="connsiteY67" fmla="*/ 357981 h 1591350"/>
                <a:gd name="connsiteX68" fmla="*/ 271462 w 454288"/>
                <a:gd name="connsiteY68" fmla="*/ 334169 h 1591350"/>
                <a:gd name="connsiteX69" fmla="*/ 252412 w 454288"/>
                <a:gd name="connsiteY69" fmla="*/ 310356 h 1591350"/>
                <a:gd name="connsiteX70" fmla="*/ 247649 w 454288"/>
                <a:gd name="connsiteY70" fmla="*/ 296069 h 1591350"/>
                <a:gd name="connsiteX71" fmla="*/ 228599 w 454288"/>
                <a:gd name="connsiteY71" fmla="*/ 267494 h 1591350"/>
                <a:gd name="connsiteX72" fmla="*/ 219074 w 454288"/>
                <a:gd name="connsiteY72" fmla="*/ 248444 h 1591350"/>
                <a:gd name="connsiteX73" fmla="*/ 214312 w 454288"/>
                <a:gd name="connsiteY73" fmla="*/ 234156 h 1591350"/>
                <a:gd name="connsiteX74" fmla="*/ 195262 w 454288"/>
                <a:gd name="connsiteY74" fmla="*/ 205581 h 1591350"/>
                <a:gd name="connsiteX75" fmla="*/ 171449 w 454288"/>
                <a:gd name="connsiteY75" fmla="*/ 162719 h 1591350"/>
                <a:gd name="connsiteX76" fmla="*/ 161924 w 454288"/>
                <a:gd name="connsiteY76" fmla="*/ 148431 h 1591350"/>
                <a:gd name="connsiteX77" fmla="*/ 152399 w 454288"/>
                <a:gd name="connsiteY77" fmla="*/ 134144 h 1591350"/>
                <a:gd name="connsiteX78" fmla="*/ 147637 w 454288"/>
                <a:gd name="connsiteY78" fmla="*/ 119856 h 1591350"/>
                <a:gd name="connsiteX79" fmla="*/ 128587 w 454288"/>
                <a:gd name="connsiteY79" fmla="*/ 91281 h 1591350"/>
                <a:gd name="connsiteX80" fmla="*/ 123824 w 454288"/>
                <a:gd name="connsiteY80" fmla="*/ 76994 h 1591350"/>
                <a:gd name="connsiteX81" fmla="*/ 109537 w 454288"/>
                <a:gd name="connsiteY81" fmla="*/ 67469 h 1591350"/>
                <a:gd name="connsiteX82" fmla="*/ 80962 w 454288"/>
                <a:gd name="connsiteY82" fmla="*/ 38894 h 1591350"/>
                <a:gd name="connsiteX83" fmla="*/ 52387 w 454288"/>
                <a:gd name="connsiteY83" fmla="*/ 29369 h 1591350"/>
                <a:gd name="connsiteX84" fmla="*/ 38099 w 454288"/>
                <a:gd name="connsiteY84" fmla="*/ 24606 h 1591350"/>
                <a:gd name="connsiteX85" fmla="*/ 4762 w 454288"/>
                <a:gd name="connsiteY85" fmla="*/ 794 h 159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454288" h="1591350">
                  <a:moveTo>
                    <a:pt x="4762" y="794"/>
                  </a:moveTo>
                  <a:cubicBezTo>
                    <a:pt x="0" y="0"/>
                    <a:pt x="8240" y="13426"/>
                    <a:pt x="9524" y="19844"/>
                  </a:cubicBezTo>
                  <a:cubicBezTo>
                    <a:pt x="11418" y="29313"/>
                    <a:pt x="11945" y="39051"/>
                    <a:pt x="14287" y="48419"/>
                  </a:cubicBezTo>
                  <a:cubicBezTo>
                    <a:pt x="16722" y="58159"/>
                    <a:pt x="20637" y="67469"/>
                    <a:pt x="23812" y="76994"/>
                  </a:cubicBezTo>
                  <a:cubicBezTo>
                    <a:pt x="25399" y="81756"/>
                    <a:pt x="27356" y="86411"/>
                    <a:pt x="28574" y="91281"/>
                  </a:cubicBezTo>
                  <a:cubicBezTo>
                    <a:pt x="34555" y="115201"/>
                    <a:pt x="31267" y="104121"/>
                    <a:pt x="38099" y="124619"/>
                  </a:cubicBezTo>
                  <a:cubicBezTo>
                    <a:pt x="49766" y="206277"/>
                    <a:pt x="36543" y="127919"/>
                    <a:pt x="47624" y="172244"/>
                  </a:cubicBezTo>
                  <a:cubicBezTo>
                    <a:pt x="49884" y="181284"/>
                    <a:pt x="53486" y="205338"/>
                    <a:pt x="57149" y="215106"/>
                  </a:cubicBezTo>
                  <a:cubicBezTo>
                    <a:pt x="59642" y="221754"/>
                    <a:pt x="64181" y="227509"/>
                    <a:pt x="66674" y="234156"/>
                  </a:cubicBezTo>
                  <a:cubicBezTo>
                    <a:pt x="71136" y="246053"/>
                    <a:pt x="74261" y="271122"/>
                    <a:pt x="76199" y="281781"/>
                  </a:cubicBezTo>
                  <a:cubicBezTo>
                    <a:pt x="78289" y="293274"/>
                    <a:pt x="82199" y="312892"/>
                    <a:pt x="85724" y="324644"/>
                  </a:cubicBezTo>
                  <a:cubicBezTo>
                    <a:pt x="88609" y="334261"/>
                    <a:pt x="92074" y="343694"/>
                    <a:pt x="95249" y="353219"/>
                  </a:cubicBezTo>
                  <a:lnTo>
                    <a:pt x="104774" y="381794"/>
                  </a:lnTo>
                  <a:cubicBezTo>
                    <a:pt x="106361" y="386556"/>
                    <a:pt x="108553" y="391158"/>
                    <a:pt x="109537" y="396081"/>
                  </a:cubicBezTo>
                  <a:cubicBezTo>
                    <a:pt x="111124" y="404019"/>
                    <a:pt x="112169" y="412084"/>
                    <a:pt x="114299" y="419894"/>
                  </a:cubicBezTo>
                  <a:cubicBezTo>
                    <a:pt x="123408" y="453294"/>
                    <a:pt x="123009" y="439631"/>
                    <a:pt x="128587" y="467519"/>
                  </a:cubicBezTo>
                  <a:cubicBezTo>
                    <a:pt x="140264" y="525905"/>
                    <a:pt x="127049" y="470896"/>
                    <a:pt x="138112" y="515144"/>
                  </a:cubicBezTo>
                  <a:cubicBezTo>
                    <a:pt x="140324" y="537267"/>
                    <a:pt x="147349" y="614297"/>
                    <a:pt x="152399" y="629444"/>
                  </a:cubicBezTo>
                  <a:cubicBezTo>
                    <a:pt x="159722" y="651410"/>
                    <a:pt x="156178" y="638808"/>
                    <a:pt x="161924" y="667544"/>
                  </a:cubicBezTo>
                  <a:cubicBezTo>
                    <a:pt x="162399" y="673719"/>
                    <a:pt x="167378" y="751273"/>
                    <a:pt x="171449" y="767556"/>
                  </a:cubicBezTo>
                  <a:cubicBezTo>
                    <a:pt x="173171" y="774444"/>
                    <a:pt x="178177" y="780081"/>
                    <a:pt x="180974" y="786606"/>
                  </a:cubicBezTo>
                  <a:cubicBezTo>
                    <a:pt x="185724" y="797689"/>
                    <a:pt x="188901" y="813520"/>
                    <a:pt x="190499" y="824706"/>
                  </a:cubicBezTo>
                  <a:cubicBezTo>
                    <a:pt x="192532" y="838937"/>
                    <a:pt x="193229" y="853338"/>
                    <a:pt x="195262" y="867569"/>
                  </a:cubicBezTo>
                  <a:cubicBezTo>
                    <a:pt x="199413" y="896626"/>
                    <a:pt x="198454" y="883502"/>
                    <a:pt x="204787" y="905669"/>
                  </a:cubicBezTo>
                  <a:cubicBezTo>
                    <a:pt x="206585" y="911963"/>
                    <a:pt x="206971" y="918703"/>
                    <a:pt x="209549" y="924719"/>
                  </a:cubicBezTo>
                  <a:cubicBezTo>
                    <a:pt x="211804" y="929980"/>
                    <a:pt x="215899" y="934244"/>
                    <a:pt x="219074" y="939006"/>
                  </a:cubicBezTo>
                  <a:cubicBezTo>
                    <a:pt x="220662" y="951706"/>
                    <a:pt x="221891" y="964456"/>
                    <a:pt x="223837" y="977106"/>
                  </a:cubicBezTo>
                  <a:cubicBezTo>
                    <a:pt x="225996" y="991142"/>
                    <a:pt x="234996" y="1029636"/>
                    <a:pt x="238124" y="1039019"/>
                  </a:cubicBezTo>
                  <a:cubicBezTo>
                    <a:pt x="239712" y="1043781"/>
                    <a:pt x="241508" y="1048479"/>
                    <a:pt x="242887" y="1053306"/>
                  </a:cubicBezTo>
                  <a:cubicBezTo>
                    <a:pt x="250576" y="1080218"/>
                    <a:pt x="242672" y="1064891"/>
                    <a:pt x="257174" y="1086644"/>
                  </a:cubicBezTo>
                  <a:cubicBezTo>
                    <a:pt x="258762" y="1092994"/>
                    <a:pt x="259867" y="1099484"/>
                    <a:pt x="261937" y="1105694"/>
                  </a:cubicBezTo>
                  <a:cubicBezTo>
                    <a:pt x="264640" y="1113804"/>
                    <a:pt x="269006" y="1121318"/>
                    <a:pt x="271462" y="1129506"/>
                  </a:cubicBezTo>
                  <a:cubicBezTo>
                    <a:pt x="273788" y="1137259"/>
                    <a:pt x="274094" y="1145509"/>
                    <a:pt x="276224" y="1153319"/>
                  </a:cubicBezTo>
                  <a:cubicBezTo>
                    <a:pt x="278866" y="1163005"/>
                    <a:pt x="282574" y="1172369"/>
                    <a:pt x="285749" y="1181894"/>
                  </a:cubicBezTo>
                  <a:cubicBezTo>
                    <a:pt x="287337" y="1186656"/>
                    <a:pt x="289294" y="1191311"/>
                    <a:pt x="290512" y="1196181"/>
                  </a:cubicBezTo>
                  <a:lnTo>
                    <a:pt x="300037" y="1234281"/>
                  </a:lnTo>
                  <a:lnTo>
                    <a:pt x="304799" y="1253331"/>
                  </a:lnTo>
                  <a:cubicBezTo>
                    <a:pt x="305722" y="1261634"/>
                    <a:pt x="312457" y="1324024"/>
                    <a:pt x="314324" y="1334294"/>
                  </a:cubicBezTo>
                  <a:cubicBezTo>
                    <a:pt x="315222" y="1339233"/>
                    <a:pt x="317708" y="1343754"/>
                    <a:pt x="319087" y="1348581"/>
                  </a:cubicBezTo>
                  <a:cubicBezTo>
                    <a:pt x="320885" y="1354875"/>
                    <a:pt x="322051" y="1361337"/>
                    <a:pt x="323849" y="1367631"/>
                  </a:cubicBezTo>
                  <a:cubicBezTo>
                    <a:pt x="337513" y="1415457"/>
                    <a:pt x="318488" y="1341418"/>
                    <a:pt x="333374" y="1400969"/>
                  </a:cubicBezTo>
                  <a:cubicBezTo>
                    <a:pt x="348019" y="1591350"/>
                    <a:pt x="338479" y="1540258"/>
                    <a:pt x="347662" y="1443831"/>
                  </a:cubicBezTo>
                  <a:cubicBezTo>
                    <a:pt x="348283" y="1437315"/>
                    <a:pt x="350837" y="1431131"/>
                    <a:pt x="352424" y="1424781"/>
                  </a:cubicBezTo>
                  <a:cubicBezTo>
                    <a:pt x="354012" y="1407319"/>
                    <a:pt x="354140" y="1389662"/>
                    <a:pt x="357187" y="1372394"/>
                  </a:cubicBezTo>
                  <a:cubicBezTo>
                    <a:pt x="358932" y="1362507"/>
                    <a:pt x="363537" y="1353344"/>
                    <a:pt x="366712" y="1343819"/>
                  </a:cubicBezTo>
                  <a:lnTo>
                    <a:pt x="371474" y="1329531"/>
                  </a:lnTo>
                  <a:cubicBezTo>
                    <a:pt x="373061" y="1324769"/>
                    <a:pt x="375253" y="1320167"/>
                    <a:pt x="376237" y="1315244"/>
                  </a:cubicBezTo>
                  <a:cubicBezTo>
                    <a:pt x="378793" y="1302463"/>
                    <a:pt x="383618" y="1273215"/>
                    <a:pt x="390524" y="1262856"/>
                  </a:cubicBezTo>
                  <a:cubicBezTo>
                    <a:pt x="393699" y="1258094"/>
                    <a:pt x="397489" y="1253688"/>
                    <a:pt x="400049" y="1248569"/>
                  </a:cubicBezTo>
                  <a:cubicBezTo>
                    <a:pt x="403858" y="1240952"/>
                    <a:pt x="407538" y="1222358"/>
                    <a:pt x="409574" y="1215231"/>
                  </a:cubicBezTo>
                  <a:cubicBezTo>
                    <a:pt x="410953" y="1210404"/>
                    <a:pt x="412958" y="1205771"/>
                    <a:pt x="414337" y="1200944"/>
                  </a:cubicBezTo>
                  <a:cubicBezTo>
                    <a:pt x="416135" y="1194650"/>
                    <a:pt x="417218" y="1188163"/>
                    <a:pt x="419099" y="1181894"/>
                  </a:cubicBezTo>
                  <a:cubicBezTo>
                    <a:pt x="421984" y="1172277"/>
                    <a:pt x="425449" y="1162844"/>
                    <a:pt x="428624" y="1153319"/>
                  </a:cubicBezTo>
                  <a:cubicBezTo>
                    <a:pt x="430212" y="1148556"/>
                    <a:pt x="432169" y="1143901"/>
                    <a:pt x="433387" y="1139031"/>
                  </a:cubicBezTo>
                  <a:lnTo>
                    <a:pt x="442912" y="1100931"/>
                  </a:lnTo>
                  <a:cubicBezTo>
                    <a:pt x="454288" y="975783"/>
                    <a:pt x="450990" y="1037291"/>
                    <a:pt x="438149" y="810419"/>
                  </a:cubicBezTo>
                  <a:cubicBezTo>
                    <a:pt x="437865" y="805407"/>
                    <a:pt x="435632" y="800621"/>
                    <a:pt x="433387" y="796131"/>
                  </a:cubicBezTo>
                  <a:cubicBezTo>
                    <a:pt x="430827" y="791012"/>
                    <a:pt x="426422" y="786963"/>
                    <a:pt x="423862" y="781844"/>
                  </a:cubicBezTo>
                  <a:cubicBezTo>
                    <a:pt x="404144" y="742410"/>
                    <a:pt x="436870" y="794212"/>
                    <a:pt x="409574" y="753269"/>
                  </a:cubicBezTo>
                  <a:cubicBezTo>
                    <a:pt x="394251" y="707294"/>
                    <a:pt x="418817" y="778757"/>
                    <a:pt x="395287" y="719931"/>
                  </a:cubicBezTo>
                  <a:cubicBezTo>
                    <a:pt x="378285" y="677426"/>
                    <a:pt x="394562" y="704556"/>
                    <a:pt x="376237" y="677069"/>
                  </a:cubicBezTo>
                  <a:cubicBezTo>
                    <a:pt x="374649" y="669131"/>
                    <a:pt x="373437" y="661109"/>
                    <a:pt x="371474" y="653256"/>
                  </a:cubicBezTo>
                  <a:cubicBezTo>
                    <a:pt x="370256" y="648386"/>
                    <a:pt x="367335" y="643950"/>
                    <a:pt x="366712" y="638969"/>
                  </a:cubicBezTo>
                  <a:cubicBezTo>
                    <a:pt x="364658" y="622534"/>
                    <a:pt x="358092" y="517839"/>
                    <a:pt x="357187" y="505619"/>
                  </a:cubicBezTo>
                  <a:cubicBezTo>
                    <a:pt x="354899" y="474725"/>
                    <a:pt x="356731" y="447559"/>
                    <a:pt x="342899" y="419894"/>
                  </a:cubicBezTo>
                  <a:cubicBezTo>
                    <a:pt x="337077" y="408250"/>
                    <a:pt x="332263" y="396653"/>
                    <a:pt x="323849" y="386556"/>
                  </a:cubicBezTo>
                  <a:cubicBezTo>
                    <a:pt x="319537" y="381382"/>
                    <a:pt x="313874" y="377443"/>
                    <a:pt x="309562" y="372269"/>
                  </a:cubicBezTo>
                  <a:cubicBezTo>
                    <a:pt x="305898" y="367872"/>
                    <a:pt x="303701" y="362378"/>
                    <a:pt x="300037" y="357981"/>
                  </a:cubicBezTo>
                  <a:cubicBezTo>
                    <a:pt x="288580" y="344232"/>
                    <a:pt x="285508" y="343533"/>
                    <a:pt x="271462" y="334169"/>
                  </a:cubicBezTo>
                  <a:cubicBezTo>
                    <a:pt x="259490" y="298257"/>
                    <a:pt x="277031" y="341129"/>
                    <a:pt x="252412" y="310356"/>
                  </a:cubicBezTo>
                  <a:cubicBezTo>
                    <a:pt x="249276" y="306436"/>
                    <a:pt x="250087" y="300457"/>
                    <a:pt x="247649" y="296069"/>
                  </a:cubicBezTo>
                  <a:cubicBezTo>
                    <a:pt x="242089" y="286062"/>
                    <a:pt x="233719" y="277733"/>
                    <a:pt x="228599" y="267494"/>
                  </a:cubicBezTo>
                  <a:cubicBezTo>
                    <a:pt x="225424" y="261144"/>
                    <a:pt x="221871" y="254970"/>
                    <a:pt x="219074" y="248444"/>
                  </a:cubicBezTo>
                  <a:cubicBezTo>
                    <a:pt x="217097" y="243830"/>
                    <a:pt x="216750" y="238544"/>
                    <a:pt x="214312" y="234156"/>
                  </a:cubicBezTo>
                  <a:cubicBezTo>
                    <a:pt x="208753" y="224149"/>
                    <a:pt x="198883" y="216441"/>
                    <a:pt x="195262" y="205581"/>
                  </a:cubicBezTo>
                  <a:cubicBezTo>
                    <a:pt x="186878" y="180434"/>
                    <a:pt x="193284" y="195472"/>
                    <a:pt x="171449" y="162719"/>
                  </a:cubicBezTo>
                  <a:lnTo>
                    <a:pt x="161924" y="148431"/>
                  </a:lnTo>
                  <a:lnTo>
                    <a:pt x="152399" y="134144"/>
                  </a:lnTo>
                  <a:cubicBezTo>
                    <a:pt x="150812" y="129381"/>
                    <a:pt x="150075" y="124244"/>
                    <a:pt x="147637" y="119856"/>
                  </a:cubicBezTo>
                  <a:cubicBezTo>
                    <a:pt x="142078" y="109849"/>
                    <a:pt x="132208" y="102141"/>
                    <a:pt x="128587" y="91281"/>
                  </a:cubicBezTo>
                  <a:cubicBezTo>
                    <a:pt x="126999" y="86519"/>
                    <a:pt x="126960" y="80914"/>
                    <a:pt x="123824" y="76994"/>
                  </a:cubicBezTo>
                  <a:cubicBezTo>
                    <a:pt x="120248" y="72525"/>
                    <a:pt x="114299" y="70644"/>
                    <a:pt x="109537" y="67469"/>
                  </a:cubicBezTo>
                  <a:cubicBezTo>
                    <a:pt x="99869" y="52966"/>
                    <a:pt x="98685" y="47755"/>
                    <a:pt x="80962" y="38894"/>
                  </a:cubicBezTo>
                  <a:cubicBezTo>
                    <a:pt x="71982" y="34404"/>
                    <a:pt x="61912" y="32544"/>
                    <a:pt x="52387" y="29369"/>
                  </a:cubicBezTo>
                  <a:cubicBezTo>
                    <a:pt x="47624" y="27781"/>
                    <a:pt x="42276" y="27391"/>
                    <a:pt x="38099" y="24606"/>
                  </a:cubicBezTo>
                  <a:cubicBezTo>
                    <a:pt x="22491" y="14200"/>
                    <a:pt x="9524" y="1588"/>
                    <a:pt x="4762" y="794"/>
                  </a:cubicBezTo>
                  <a:close/>
                </a:path>
              </a:pathLst>
            </a:cu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Freeform 10"/>
            <p:cNvSpPr/>
            <p:nvPr/>
          </p:nvSpPr>
          <p:spPr>
            <a:xfrm>
              <a:off x="4204900" y="3701024"/>
              <a:ext cx="504714" cy="1299724"/>
            </a:xfrm>
            <a:custGeom>
              <a:avLst/>
              <a:gdLst>
                <a:gd name="connsiteX0" fmla="*/ 214312 w 504825"/>
                <a:gd name="connsiteY0" fmla="*/ 166687 h 1300162"/>
                <a:gd name="connsiteX1" fmla="*/ 200025 w 504825"/>
                <a:gd name="connsiteY1" fmla="*/ 123825 h 1300162"/>
                <a:gd name="connsiteX2" fmla="*/ 195262 w 504825"/>
                <a:gd name="connsiteY2" fmla="*/ 109537 h 1300162"/>
                <a:gd name="connsiteX3" fmla="*/ 185737 w 504825"/>
                <a:gd name="connsiteY3" fmla="*/ 95250 h 1300162"/>
                <a:gd name="connsiteX4" fmla="*/ 171450 w 504825"/>
                <a:gd name="connsiteY4" fmla="*/ 66675 h 1300162"/>
                <a:gd name="connsiteX5" fmla="*/ 152400 w 504825"/>
                <a:gd name="connsiteY5" fmla="*/ 19050 h 1300162"/>
                <a:gd name="connsiteX6" fmla="*/ 142875 w 504825"/>
                <a:gd name="connsiteY6" fmla="*/ 4762 h 1300162"/>
                <a:gd name="connsiteX7" fmla="*/ 128587 w 504825"/>
                <a:gd name="connsiteY7" fmla="*/ 0 h 1300162"/>
                <a:gd name="connsiteX8" fmla="*/ 66675 w 504825"/>
                <a:gd name="connsiteY8" fmla="*/ 4762 h 1300162"/>
                <a:gd name="connsiteX9" fmla="*/ 0 w 504825"/>
                <a:gd name="connsiteY9" fmla="*/ 14287 h 1300162"/>
                <a:gd name="connsiteX10" fmla="*/ 9525 w 504825"/>
                <a:gd name="connsiteY10" fmla="*/ 80962 h 1300162"/>
                <a:gd name="connsiteX11" fmla="*/ 14287 w 504825"/>
                <a:gd name="connsiteY11" fmla="*/ 95250 h 1300162"/>
                <a:gd name="connsiteX12" fmla="*/ 23812 w 504825"/>
                <a:gd name="connsiteY12" fmla="*/ 114300 h 1300162"/>
                <a:gd name="connsiteX13" fmla="*/ 42862 w 504825"/>
                <a:gd name="connsiteY13" fmla="*/ 176212 h 1300162"/>
                <a:gd name="connsiteX14" fmla="*/ 52387 w 504825"/>
                <a:gd name="connsiteY14" fmla="*/ 190500 h 1300162"/>
                <a:gd name="connsiteX15" fmla="*/ 61912 w 504825"/>
                <a:gd name="connsiteY15" fmla="*/ 219075 h 1300162"/>
                <a:gd name="connsiteX16" fmla="*/ 66675 w 504825"/>
                <a:gd name="connsiteY16" fmla="*/ 233362 h 1300162"/>
                <a:gd name="connsiteX17" fmla="*/ 71437 w 504825"/>
                <a:gd name="connsiteY17" fmla="*/ 247650 h 1300162"/>
                <a:gd name="connsiteX18" fmla="*/ 90487 w 504825"/>
                <a:gd name="connsiteY18" fmla="*/ 276225 h 1300162"/>
                <a:gd name="connsiteX19" fmla="*/ 95250 w 504825"/>
                <a:gd name="connsiteY19" fmla="*/ 290512 h 1300162"/>
                <a:gd name="connsiteX20" fmla="*/ 100012 w 504825"/>
                <a:gd name="connsiteY20" fmla="*/ 309562 h 1300162"/>
                <a:gd name="connsiteX21" fmla="*/ 109537 w 504825"/>
                <a:gd name="connsiteY21" fmla="*/ 323850 h 1300162"/>
                <a:gd name="connsiteX22" fmla="*/ 119062 w 504825"/>
                <a:gd name="connsiteY22" fmla="*/ 352425 h 1300162"/>
                <a:gd name="connsiteX23" fmla="*/ 138112 w 504825"/>
                <a:gd name="connsiteY23" fmla="*/ 409575 h 1300162"/>
                <a:gd name="connsiteX24" fmla="*/ 147637 w 504825"/>
                <a:gd name="connsiteY24" fmla="*/ 438150 h 1300162"/>
                <a:gd name="connsiteX25" fmla="*/ 152400 w 504825"/>
                <a:gd name="connsiteY25" fmla="*/ 452437 h 1300162"/>
                <a:gd name="connsiteX26" fmla="*/ 133350 w 504825"/>
                <a:gd name="connsiteY26" fmla="*/ 400050 h 1300162"/>
                <a:gd name="connsiteX27" fmla="*/ 128587 w 504825"/>
                <a:gd name="connsiteY27" fmla="*/ 381000 h 1300162"/>
                <a:gd name="connsiteX28" fmla="*/ 142875 w 504825"/>
                <a:gd name="connsiteY28" fmla="*/ 385762 h 1300162"/>
                <a:gd name="connsiteX29" fmla="*/ 171450 w 504825"/>
                <a:gd name="connsiteY29" fmla="*/ 409575 h 1300162"/>
                <a:gd name="connsiteX30" fmla="*/ 190500 w 504825"/>
                <a:gd name="connsiteY30" fmla="*/ 428625 h 1300162"/>
                <a:gd name="connsiteX31" fmla="*/ 204787 w 504825"/>
                <a:gd name="connsiteY31" fmla="*/ 442912 h 1300162"/>
                <a:gd name="connsiteX32" fmla="*/ 219075 w 504825"/>
                <a:gd name="connsiteY32" fmla="*/ 447675 h 1300162"/>
                <a:gd name="connsiteX33" fmla="*/ 242887 w 504825"/>
                <a:gd name="connsiteY33" fmla="*/ 466725 h 1300162"/>
                <a:gd name="connsiteX34" fmla="*/ 252412 w 504825"/>
                <a:gd name="connsiteY34" fmla="*/ 481012 h 1300162"/>
                <a:gd name="connsiteX35" fmla="*/ 266700 w 504825"/>
                <a:gd name="connsiteY35" fmla="*/ 490537 h 1300162"/>
                <a:gd name="connsiteX36" fmla="*/ 285750 w 504825"/>
                <a:gd name="connsiteY36" fmla="*/ 504825 h 1300162"/>
                <a:gd name="connsiteX37" fmla="*/ 304800 w 504825"/>
                <a:gd name="connsiteY37" fmla="*/ 514350 h 1300162"/>
                <a:gd name="connsiteX38" fmla="*/ 333375 w 504825"/>
                <a:gd name="connsiteY38" fmla="*/ 542925 h 1300162"/>
                <a:gd name="connsiteX39" fmla="*/ 342900 w 504825"/>
                <a:gd name="connsiteY39" fmla="*/ 557212 h 1300162"/>
                <a:gd name="connsiteX40" fmla="*/ 357187 w 504825"/>
                <a:gd name="connsiteY40" fmla="*/ 566737 h 1300162"/>
                <a:gd name="connsiteX41" fmla="*/ 376237 w 504825"/>
                <a:gd name="connsiteY41" fmla="*/ 595312 h 1300162"/>
                <a:gd name="connsiteX42" fmla="*/ 371475 w 504825"/>
                <a:gd name="connsiteY42" fmla="*/ 600075 h 1300162"/>
                <a:gd name="connsiteX43" fmla="*/ 361950 w 504825"/>
                <a:gd name="connsiteY43" fmla="*/ 581025 h 1300162"/>
                <a:gd name="connsiteX44" fmla="*/ 347662 w 504825"/>
                <a:gd name="connsiteY44" fmla="*/ 576262 h 1300162"/>
                <a:gd name="connsiteX45" fmla="*/ 342900 w 504825"/>
                <a:gd name="connsiteY45" fmla="*/ 561975 h 1300162"/>
                <a:gd name="connsiteX46" fmla="*/ 319087 w 504825"/>
                <a:gd name="connsiteY46" fmla="*/ 538162 h 1300162"/>
                <a:gd name="connsiteX47" fmla="*/ 309562 w 504825"/>
                <a:gd name="connsiteY47" fmla="*/ 523875 h 1300162"/>
                <a:gd name="connsiteX48" fmla="*/ 300037 w 504825"/>
                <a:gd name="connsiteY48" fmla="*/ 504825 h 1300162"/>
                <a:gd name="connsiteX49" fmla="*/ 285750 w 504825"/>
                <a:gd name="connsiteY49" fmla="*/ 495300 h 1300162"/>
                <a:gd name="connsiteX50" fmla="*/ 261937 w 504825"/>
                <a:gd name="connsiteY50" fmla="*/ 476250 h 1300162"/>
                <a:gd name="connsiteX51" fmla="*/ 238125 w 504825"/>
                <a:gd name="connsiteY51" fmla="*/ 457200 h 1300162"/>
                <a:gd name="connsiteX52" fmla="*/ 223837 w 504825"/>
                <a:gd name="connsiteY52" fmla="*/ 447675 h 1300162"/>
                <a:gd name="connsiteX53" fmla="*/ 209550 w 504825"/>
                <a:gd name="connsiteY53" fmla="*/ 433387 h 1300162"/>
                <a:gd name="connsiteX54" fmla="*/ 176212 w 504825"/>
                <a:gd name="connsiteY54" fmla="*/ 423862 h 1300162"/>
                <a:gd name="connsiteX55" fmla="*/ 147637 w 504825"/>
                <a:gd name="connsiteY55" fmla="*/ 404812 h 1300162"/>
                <a:gd name="connsiteX56" fmla="*/ 119062 w 504825"/>
                <a:gd name="connsiteY56" fmla="*/ 385762 h 1300162"/>
                <a:gd name="connsiteX57" fmla="*/ 123825 w 504825"/>
                <a:gd name="connsiteY57" fmla="*/ 400050 h 1300162"/>
                <a:gd name="connsiteX58" fmla="*/ 138112 w 504825"/>
                <a:gd name="connsiteY58" fmla="*/ 419100 h 1300162"/>
                <a:gd name="connsiteX59" fmla="*/ 147637 w 504825"/>
                <a:gd name="connsiteY59" fmla="*/ 433387 h 1300162"/>
                <a:gd name="connsiteX60" fmla="*/ 152400 w 504825"/>
                <a:gd name="connsiteY60" fmla="*/ 452437 h 1300162"/>
                <a:gd name="connsiteX61" fmla="*/ 166687 w 504825"/>
                <a:gd name="connsiteY61" fmla="*/ 481012 h 1300162"/>
                <a:gd name="connsiteX62" fmla="*/ 180975 w 504825"/>
                <a:gd name="connsiteY62" fmla="*/ 528637 h 1300162"/>
                <a:gd name="connsiteX63" fmla="*/ 190500 w 504825"/>
                <a:gd name="connsiteY63" fmla="*/ 557212 h 1300162"/>
                <a:gd name="connsiteX64" fmla="*/ 200025 w 504825"/>
                <a:gd name="connsiteY64" fmla="*/ 571500 h 1300162"/>
                <a:gd name="connsiteX65" fmla="*/ 204787 w 504825"/>
                <a:gd name="connsiteY65" fmla="*/ 590550 h 1300162"/>
                <a:gd name="connsiteX66" fmla="*/ 209550 w 504825"/>
                <a:gd name="connsiteY66" fmla="*/ 604837 h 1300162"/>
                <a:gd name="connsiteX67" fmla="*/ 228600 w 504825"/>
                <a:gd name="connsiteY67" fmla="*/ 666750 h 1300162"/>
                <a:gd name="connsiteX68" fmla="*/ 238125 w 504825"/>
                <a:gd name="connsiteY68" fmla="*/ 704850 h 1300162"/>
                <a:gd name="connsiteX69" fmla="*/ 247650 w 504825"/>
                <a:gd name="connsiteY69" fmla="*/ 719137 h 1300162"/>
                <a:gd name="connsiteX70" fmla="*/ 252412 w 504825"/>
                <a:gd name="connsiteY70" fmla="*/ 738187 h 1300162"/>
                <a:gd name="connsiteX71" fmla="*/ 261937 w 504825"/>
                <a:gd name="connsiteY71" fmla="*/ 771525 h 1300162"/>
                <a:gd name="connsiteX72" fmla="*/ 266700 w 504825"/>
                <a:gd name="connsiteY72" fmla="*/ 809625 h 1300162"/>
                <a:gd name="connsiteX73" fmla="*/ 276225 w 504825"/>
                <a:gd name="connsiteY73" fmla="*/ 838200 h 1300162"/>
                <a:gd name="connsiteX74" fmla="*/ 280987 w 504825"/>
                <a:gd name="connsiteY74" fmla="*/ 871537 h 1300162"/>
                <a:gd name="connsiteX75" fmla="*/ 290512 w 504825"/>
                <a:gd name="connsiteY75" fmla="*/ 904875 h 1300162"/>
                <a:gd name="connsiteX76" fmla="*/ 304800 w 504825"/>
                <a:gd name="connsiteY76" fmla="*/ 952500 h 1300162"/>
                <a:gd name="connsiteX77" fmla="*/ 314325 w 504825"/>
                <a:gd name="connsiteY77" fmla="*/ 971550 h 1300162"/>
                <a:gd name="connsiteX78" fmla="*/ 323850 w 504825"/>
                <a:gd name="connsiteY78" fmla="*/ 1004887 h 1300162"/>
                <a:gd name="connsiteX79" fmla="*/ 342900 w 504825"/>
                <a:gd name="connsiteY79" fmla="*/ 1038225 h 1300162"/>
                <a:gd name="connsiteX80" fmla="*/ 357187 w 504825"/>
                <a:gd name="connsiteY80" fmla="*/ 1066800 h 1300162"/>
                <a:gd name="connsiteX81" fmla="*/ 361950 w 504825"/>
                <a:gd name="connsiteY81" fmla="*/ 1081087 h 1300162"/>
                <a:gd name="connsiteX82" fmla="*/ 376237 w 504825"/>
                <a:gd name="connsiteY82" fmla="*/ 1090612 h 1300162"/>
                <a:gd name="connsiteX83" fmla="*/ 400050 w 504825"/>
                <a:gd name="connsiteY83" fmla="*/ 1138237 h 1300162"/>
                <a:gd name="connsiteX84" fmla="*/ 409575 w 504825"/>
                <a:gd name="connsiteY84" fmla="*/ 1157287 h 1300162"/>
                <a:gd name="connsiteX85" fmla="*/ 428625 w 504825"/>
                <a:gd name="connsiteY85" fmla="*/ 1185862 h 1300162"/>
                <a:gd name="connsiteX86" fmla="*/ 433387 w 504825"/>
                <a:gd name="connsiteY86" fmla="*/ 1200150 h 1300162"/>
                <a:gd name="connsiteX87" fmla="*/ 452437 w 504825"/>
                <a:gd name="connsiteY87" fmla="*/ 1228725 h 1300162"/>
                <a:gd name="connsiteX88" fmla="*/ 461962 w 504825"/>
                <a:gd name="connsiteY88" fmla="*/ 1257300 h 1300162"/>
                <a:gd name="connsiteX89" fmla="*/ 481012 w 504825"/>
                <a:gd name="connsiteY89" fmla="*/ 1285875 h 1300162"/>
                <a:gd name="connsiteX90" fmla="*/ 490537 w 504825"/>
                <a:gd name="connsiteY90" fmla="*/ 1300162 h 1300162"/>
                <a:gd name="connsiteX91" fmla="*/ 495300 w 504825"/>
                <a:gd name="connsiteY91" fmla="*/ 1238250 h 1300162"/>
                <a:gd name="connsiteX92" fmla="*/ 504825 w 504825"/>
                <a:gd name="connsiteY92" fmla="*/ 990600 h 1300162"/>
                <a:gd name="connsiteX93" fmla="*/ 495300 w 504825"/>
                <a:gd name="connsiteY93" fmla="*/ 909637 h 1300162"/>
                <a:gd name="connsiteX94" fmla="*/ 490537 w 504825"/>
                <a:gd name="connsiteY94" fmla="*/ 895350 h 1300162"/>
                <a:gd name="connsiteX95" fmla="*/ 485775 w 504825"/>
                <a:gd name="connsiteY95" fmla="*/ 866775 h 1300162"/>
                <a:gd name="connsiteX96" fmla="*/ 466725 w 504825"/>
                <a:gd name="connsiteY96" fmla="*/ 823912 h 1300162"/>
                <a:gd name="connsiteX97" fmla="*/ 457200 w 504825"/>
                <a:gd name="connsiteY97" fmla="*/ 790575 h 1300162"/>
                <a:gd name="connsiteX98" fmla="*/ 452437 w 504825"/>
                <a:gd name="connsiteY98" fmla="*/ 790575 h 1300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504825" h="1300162">
                  <a:moveTo>
                    <a:pt x="214312" y="166687"/>
                  </a:moveTo>
                  <a:lnTo>
                    <a:pt x="200025" y="123825"/>
                  </a:lnTo>
                  <a:cubicBezTo>
                    <a:pt x="198437" y="119062"/>
                    <a:pt x="198047" y="113714"/>
                    <a:pt x="195262" y="109537"/>
                  </a:cubicBezTo>
                  <a:lnTo>
                    <a:pt x="185737" y="95250"/>
                  </a:lnTo>
                  <a:cubicBezTo>
                    <a:pt x="168374" y="43155"/>
                    <a:pt x="196063" y="122053"/>
                    <a:pt x="171450" y="66675"/>
                  </a:cubicBezTo>
                  <a:cubicBezTo>
                    <a:pt x="151933" y="22761"/>
                    <a:pt x="171893" y="53164"/>
                    <a:pt x="152400" y="19050"/>
                  </a:cubicBezTo>
                  <a:cubicBezTo>
                    <a:pt x="149560" y="14080"/>
                    <a:pt x="147345" y="8338"/>
                    <a:pt x="142875" y="4762"/>
                  </a:cubicBezTo>
                  <a:cubicBezTo>
                    <a:pt x="138955" y="1626"/>
                    <a:pt x="133350" y="1587"/>
                    <a:pt x="128587" y="0"/>
                  </a:cubicBezTo>
                  <a:cubicBezTo>
                    <a:pt x="107950" y="1587"/>
                    <a:pt x="87247" y="2476"/>
                    <a:pt x="66675" y="4762"/>
                  </a:cubicBezTo>
                  <a:cubicBezTo>
                    <a:pt x="44362" y="7241"/>
                    <a:pt x="0" y="14287"/>
                    <a:pt x="0" y="14287"/>
                  </a:cubicBezTo>
                  <a:cubicBezTo>
                    <a:pt x="3796" y="52255"/>
                    <a:pt x="1556" y="53068"/>
                    <a:pt x="9525" y="80962"/>
                  </a:cubicBezTo>
                  <a:cubicBezTo>
                    <a:pt x="10904" y="85789"/>
                    <a:pt x="12310" y="90636"/>
                    <a:pt x="14287" y="95250"/>
                  </a:cubicBezTo>
                  <a:cubicBezTo>
                    <a:pt x="17084" y="101776"/>
                    <a:pt x="21319" y="107653"/>
                    <a:pt x="23812" y="114300"/>
                  </a:cubicBezTo>
                  <a:cubicBezTo>
                    <a:pt x="32704" y="138010"/>
                    <a:pt x="25411" y="150034"/>
                    <a:pt x="42862" y="176212"/>
                  </a:cubicBezTo>
                  <a:cubicBezTo>
                    <a:pt x="46037" y="180975"/>
                    <a:pt x="50062" y="185269"/>
                    <a:pt x="52387" y="190500"/>
                  </a:cubicBezTo>
                  <a:cubicBezTo>
                    <a:pt x="56465" y="199675"/>
                    <a:pt x="58737" y="209550"/>
                    <a:pt x="61912" y="219075"/>
                  </a:cubicBezTo>
                  <a:lnTo>
                    <a:pt x="66675" y="233362"/>
                  </a:lnTo>
                  <a:cubicBezTo>
                    <a:pt x="68263" y="238125"/>
                    <a:pt x="68652" y="243473"/>
                    <a:pt x="71437" y="247650"/>
                  </a:cubicBezTo>
                  <a:cubicBezTo>
                    <a:pt x="77787" y="257175"/>
                    <a:pt x="86866" y="265365"/>
                    <a:pt x="90487" y="276225"/>
                  </a:cubicBezTo>
                  <a:cubicBezTo>
                    <a:pt x="92075" y="280987"/>
                    <a:pt x="93871" y="285685"/>
                    <a:pt x="95250" y="290512"/>
                  </a:cubicBezTo>
                  <a:cubicBezTo>
                    <a:pt x="97048" y="296806"/>
                    <a:pt x="97434" y="303546"/>
                    <a:pt x="100012" y="309562"/>
                  </a:cubicBezTo>
                  <a:cubicBezTo>
                    <a:pt x="102267" y="314823"/>
                    <a:pt x="107212" y="318619"/>
                    <a:pt x="109537" y="323850"/>
                  </a:cubicBezTo>
                  <a:cubicBezTo>
                    <a:pt x="113615" y="333025"/>
                    <a:pt x="115887" y="342900"/>
                    <a:pt x="119062" y="352425"/>
                  </a:cubicBezTo>
                  <a:lnTo>
                    <a:pt x="138112" y="409575"/>
                  </a:lnTo>
                  <a:lnTo>
                    <a:pt x="147637" y="438150"/>
                  </a:lnTo>
                  <a:cubicBezTo>
                    <a:pt x="149224" y="442912"/>
                    <a:pt x="154264" y="457098"/>
                    <a:pt x="152400" y="452437"/>
                  </a:cubicBezTo>
                  <a:cubicBezTo>
                    <a:pt x="143310" y="429712"/>
                    <a:pt x="140688" y="424510"/>
                    <a:pt x="133350" y="400050"/>
                  </a:cubicBezTo>
                  <a:cubicBezTo>
                    <a:pt x="131469" y="393781"/>
                    <a:pt x="124956" y="386446"/>
                    <a:pt x="128587" y="381000"/>
                  </a:cubicBezTo>
                  <a:cubicBezTo>
                    <a:pt x="131372" y="376823"/>
                    <a:pt x="138112" y="384175"/>
                    <a:pt x="142875" y="385762"/>
                  </a:cubicBezTo>
                  <a:cubicBezTo>
                    <a:pt x="175823" y="435185"/>
                    <a:pt x="123113" y="361238"/>
                    <a:pt x="171450" y="409575"/>
                  </a:cubicBezTo>
                  <a:cubicBezTo>
                    <a:pt x="196851" y="434976"/>
                    <a:pt x="152397" y="415923"/>
                    <a:pt x="190500" y="428625"/>
                  </a:cubicBezTo>
                  <a:cubicBezTo>
                    <a:pt x="195262" y="433387"/>
                    <a:pt x="199183" y="439176"/>
                    <a:pt x="204787" y="442912"/>
                  </a:cubicBezTo>
                  <a:cubicBezTo>
                    <a:pt x="208964" y="445697"/>
                    <a:pt x="215155" y="444539"/>
                    <a:pt x="219075" y="447675"/>
                  </a:cubicBezTo>
                  <a:cubicBezTo>
                    <a:pt x="249851" y="472295"/>
                    <a:pt x="206974" y="454752"/>
                    <a:pt x="242887" y="466725"/>
                  </a:cubicBezTo>
                  <a:cubicBezTo>
                    <a:pt x="246062" y="471487"/>
                    <a:pt x="248365" y="476965"/>
                    <a:pt x="252412" y="481012"/>
                  </a:cubicBezTo>
                  <a:cubicBezTo>
                    <a:pt x="256460" y="485059"/>
                    <a:pt x="262042" y="487210"/>
                    <a:pt x="266700" y="490537"/>
                  </a:cubicBezTo>
                  <a:cubicBezTo>
                    <a:pt x="273159" y="495151"/>
                    <a:pt x="279019" y="500618"/>
                    <a:pt x="285750" y="504825"/>
                  </a:cubicBezTo>
                  <a:cubicBezTo>
                    <a:pt x="291770" y="508588"/>
                    <a:pt x="299256" y="509915"/>
                    <a:pt x="304800" y="514350"/>
                  </a:cubicBezTo>
                  <a:cubicBezTo>
                    <a:pt x="315319" y="522765"/>
                    <a:pt x="325903" y="531717"/>
                    <a:pt x="333375" y="542925"/>
                  </a:cubicBezTo>
                  <a:cubicBezTo>
                    <a:pt x="336550" y="547687"/>
                    <a:pt x="338853" y="553165"/>
                    <a:pt x="342900" y="557212"/>
                  </a:cubicBezTo>
                  <a:cubicBezTo>
                    <a:pt x="346947" y="561259"/>
                    <a:pt x="352425" y="563562"/>
                    <a:pt x="357187" y="566737"/>
                  </a:cubicBezTo>
                  <a:lnTo>
                    <a:pt x="376237" y="595312"/>
                  </a:lnTo>
                  <a:cubicBezTo>
                    <a:pt x="388937" y="614363"/>
                    <a:pt x="390524" y="612775"/>
                    <a:pt x="371475" y="600075"/>
                  </a:cubicBezTo>
                  <a:cubicBezTo>
                    <a:pt x="368300" y="593725"/>
                    <a:pt x="366970" y="586045"/>
                    <a:pt x="361950" y="581025"/>
                  </a:cubicBezTo>
                  <a:cubicBezTo>
                    <a:pt x="358400" y="577475"/>
                    <a:pt x="351212" y="579812"/>
                    <a:pt x="347662" y="576262"/>
                  </a:cubicBezTo>
                  <a:cubicBezTo>
                    <a:pt x="344112" y="572712"/>
                    <a:pt x="345145" y="566465"/>
                    <a:pt x="342900" y="561975"/>
                  </a:cubicBezTo>
                  <a:cubicBezTo>
                    <a:pt x="334962" y="546099"/>
                    <a:pt x="333375" y="547687"/>
                    <a:pt x="319087" y="538162"/>
                  </a:cubicBezTo>
                  <a:cubicBezTo>
                    <a:pt x="315912" y="533400"/>
                    <a:pt x="312402" y="528845"/>
                    <a:pt x="309562" y="523875"/>
                  </a:cubicBezTo>
                  <a:cubicBezTo>
                    <a:pt x="306040" y="517711"/>
                    <a:pt x="304582" y="510279"/>
                    <a:pt x="300037" y="504825"/>
                  </a:cubicBezTo>
                  <a:cubicBezTo>
                    <a:pt x="296373" y="500428"/>
                    <a:pt x="290512" y="498475"/>
                    <a:pt x="285750" y="495300"/>
                  </a:cubicBezTo>
                  <a:cubicBezTo>
                    <a:pt x="275640" y="464973"/>
                    <a:pt x="290130" y="495045"/>
                    <a:pt x="261937" y="476250"/>
                  </a:cubicBezTo>
                  <a:cubicBezTo>
                    <a:pt x="218854" y="447528"/>
                    <a:pt x="284831" y="472767"/>
                    <a:pt x="238125" y="457200"/>
                  </a:cubicBezTo>
                  <a:cubicBezTo>
                    <a:pt x="233362" y="454025"/>
                    <a:pt x="228234" y="451339"/>
                    <a:pt x="223837" y="447675"/>
                  </a:cubicBezTo>
                  <a:cubicBezTo>
                    <a:pt x="218663" y="443363"/>
                    <a:pt x="215154" y="437123"/>
                    <a:pt x="209550" y="433387"/>
                  </a:cubicBezTo>
                  <a:cubicBezTo>
                    <a:pt x="205454" y="430656"/>
                    <a:pt x="178748" y="424496"/>
                    <a:pt x="176212" y="423862"/>
                  </a:cubicBezTo>
                  <a:lnTo>
                    <a:pt x="147637" y="404812"/>
                  </a:lnTo>
                  <a:lnTo>
                    <a:pt x="119062" y="385762"/>
                  </a:lnTo>
                  <a:cubicBezTo>
                    <a:pt x="120650" y="390525"/>
                    <a:pt x="121334" y="395691"/>
                    <a:pt x="123825" y="400050"/>
                  </a:cubicBezTo>
                  <a:cubicBezTo>
                    <a:pt x="127763" y="406942"/>
                    <a:pt x="133498" y="412641"/>
                    <a:pt x="138112" y="419100"/>
                  </a:cubicBezTo>
                  <a:cubicBezTo>
                    <a:pt x="141439" y="423758"/>
                    <a:pt x="144462" y="428625"/>
                    <a:pt x="147637" y="433387"/>
                  </a:cubicBezTo>
                  <a:cubicBezTo>
                    <a:pt x="149225" y="439737"/>
                    <a:pt x="149822" y="446421"/>
                    <a:pt x="152400" y="452437"/>
                  </a:cubicBezTo>
                  <a:cubicBezTo>
                    <a:pt x="170291" y="494182"/>
                    <a:pt x="155220" y="440878"/>
                    <a:pt x="166687" y="481012"/>
                  </a:cubicBezTo>
                  <a:cubicBezTo>
                    <a:pt x="181083" y="531398"/>
                    <a:pt x="158339" y="460726"/>
                    <a:pt x="180975" y="528637"/>
                  </a:cubicBezTo>
                  <a:cubicBezTo>
                    <a:pt x="180977" y="528642"/>
                    <a:pt x="190496" y="557207"/>
                    <a:pt x="190500" y="557212"/>
                  </a:cubicBezTo>
                  <a:lnTo>
                    <a:pt x="200025" y="571500"/>
                  </a:lnTo>
                  <a:cubicBezTo>
                    <a:pt x="201612" y="577850"/>
                    <a:pt x="202989" y="584256"/>
                    <a:pt x="204787" y="590550"/>
                  </a:cubicBezTo>
                  <a:cubicBezTo>
                    <a:pt x="206166" y="595377"/>
                    <a:pt x="208421" y="599946"/>
                    <a:pt x="209550" y="604837"/>
                  </a:cubicBezTo>
                  <a:cubicBezTo>
                    <a:pt x="222704" y="661834"/>
                    <a:pt x="209209" y="637662"/>
                    <a:pt x="228600" y="666750"/>
                  </a:cubicBezTo>
                  <a:cubicBezTo>
                    <a:pt x="230412" y="675811"/>
                    <a:pt x="233242" y="695085"/>
                    <a:pt x="238125" y="704850"/>
                  </a:cubicBezTo>
                  <a:cubicBezTo>
                    <a:pt x="240685" y="709969"/>
                    <a:pt x="244475" y="714375"/>
                    <a:pt x="247650" y="719137"/>
                  </a:cubicBezTo>
                  <a:cubicBezTo>
                    <a:pt x="249237" y="725487"/>
                    <a:pt x="250614" y="731893"/>
                    <a:pt x="252412" y="738187"/>
                  </a:cubicBezTo>
                  <a:cubicBezTo>
                    <a:pt x="256944" y="754049"/>
                    <a:pt x="258957" y="753648"/>
                    <a:pt x="261937" y="771525"/>
                  </a:cubicBezTo>
                  <a:cubicBezTo>
                    <a:pt x="264041" y="784150"/>
                    <a:pt x="264018" y="797110"/>
                    <a:pt x="266700" y="809625"/>
                  </a:cubicBezTo>
                  <a:cubicBezTo>
                    <a:pt x="268804" y="819442"/>
                    <a:pt x="276225" y="838200"/>
                    <a:pt x="276225" y="838200"/>
                  </a:cubicBezTo>
                  <a:cubicBezTo>
                    <a:pt x="277812" y="849312"/>
                    <a:pt x="278979" y="860493"/>
                    <a:pt x="280987" y="871537"/>
                  </a:cubicBezTo>
                  <a:cubicBezTo>
                    <a:pt x="284706" y="891992"/>
                    <a:pt x="285415" y="887035"/>
                    <a:pt x="290512" y="904875"/>
                  </a:cubicBezTo>
                  <a:cubicBezTo>
                    <a:pt x="295068" y="920822"/>
                    <a:pt x="297258" y="937416"/>
                    <a:pt x="304800" y="952500"/>
                  </a:cubicBezTo>
                  <a:cubicBezTo>
                    <a:pt x="307975" y="958850"/>
                    <a:pt x="311528" y="965024"/>
                    <a:pt x="314325" y="971550"/>
                  </a:cubicBezTo>
                  <a:cubicBezTo>
                    <a:pt x="325834" y="998405"/>
                    <a:pt x="311770" y="972676"/>
                    <a:pt x="323850" y="1004887"/>
                  </a:cubicBezTo>
                  <a:cubicBezTo>
                    <a:pt x="329029" y="1018698"/>
                    <a:pt x="335005" y="1026381"/>
                    <a:pt x="342900" y="1038225"/>
                  </a:cubicBezTo>
                  <a:cubicBezTo>
                    <a:pt x="354867" y="1074128"/>
                    <a:pt x="338726" y="1029879"/>
                    <a:pt x="357187" y="1066800"/>
                  </a:cubicBezTo>
                  <a:cubicBezTo>
                    <a:pt x="359432" y="1071290"/>
                    <a:pt x="358814" y="1077167"/>
                    <a:pt x="361950" y="1081087"/>
                  </a:cubicBezTo>
                  <a:cubicBezTo>
                    <a:pt x="365526" y="1085556"/>
                    <a:pt x="371475" y="1087437"/>
                    <a:pt x="376237" y="1090612"/>
                  </a:cubicBezTo>
                  <a:cubicBezTo>
                    <a:pt x="387019" y="1133737"/>
                    <a:pt x="371698" y="1081533"/>
                    <a:pt x="400050" y="1138237"/>
                  </a:cubicBezTo>
                  <a:cubicBezTo>
                    <a:pt x="403225" y="1144587"/>
                    <a:pt x="405922" y="1151199"/>
                    <a:pt x="409575" y="1157287"/>
                  </a:cubicBezTo>
                  <a:cubicBezTo>
                    <a:pt x="415465" y="1167103"/>
                    <a:pt x="428625" y="1185862"/>
                    <a:pt x="428625" y="1185862"/>
                  </a:cubicBezTo>
                  <a:cubicBezTo>
                    <a:pt x="430212" y="1190625"/>
                    <a:pt x="430949" y="1195762"/>
                    <a:pt x="433387" y="1200150"/>
                  </a:cubicBezTo>
                  <a:cubicBezTo>
                    <a:pt x="438946" y="1210157"/>
                    <a:pt x="448817" y="1217865"/>
                    <a:pt x="452437" y="1228725"/>
                  </a:cubicBezTo>
                  <a:cubicBezTo>
                    <a:pt x="455612" y="1238250"/>
                    <a:pt x="456393" y="1248946"/>
                    <a:pt x="461962" y="1257300"/>
                  </a:cubicBezTo>
                  <a:lnTo>
                    <a:pt x="481012" y="1285875"/>
                  </a:lnTo>
                  <a:lnTo>
                    <a:pt x="490537" y="1300162"/>
                  </a:lnTo>
                  <a:cubicBezTo>
                    <a:pt x="492125" y="1279525"/>
                    <a:pt x="494633" y="1258938"/>
                    <a:pt x="495300" y="1238250"/>
                  </a:cubicBezTo>
                  <a:cubicBezTo>
                    <a:pt x="503292" y="990485"/>
                    <a:pt x="475253" y="1079303"/>
                    <a:pt x="504825" y="990600"/>
                  </a:cubicBezTo>
                  <a:cubicBezTo>
                    <a:pt x="501650" y="963612"/>
                    <a:pt x="499331" y="936510"/>
                    <a:pt x="495300" y="909637"/>
                  </a:cubicBezTo>
                  <a:cubicBezTo>
                    <a:pt x="494555" y="904673"/>
                    <a:pt x="491626" y="900250"/>
                    <a:pt x="490537" y="895350"/>
                  </a:cubicBezTo>
                  <a:cubicBezTo>
                    <a:pt x="488442" y="885924"/>
                    <a:pt x="488117" y="876143"/>
                    <a:pt x="485775" y="866775"/>
                  </a:cubicBezTo>
                  <a:cubicBezTo>
                    <a:pt x="478974" y="839572"/>
                    <a:pt x="479234" y="842676"/>
                    <a:pt x="466725" y="823912"/>
                  </a:cubicBezTo>
                  <a:cubicBezTo>
                    <a:pt x="466091" y="821376"/>
                    <a:pt x="459931" y="794672"/>
                    <a:pt x="457200" y="790575"/>
                  </a:cubicBezTo>
                  <a:cubicBezTo>
                    <a:pt x="456319" y="789254"/>
                    <a:pt x="454025" y="790575"/>
                    <a:pt x="452437" y="790575"/>
                  </a:cubicBezTo>
                </a:path>
              </a:pathLst>
            </a:custGeom>
            <a:ln w="254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2" name="Freeform 11"/>
            <p:cNvSpPr/>
            <p:nvPr/>
          </p:nvSpPr>
          <p:spPr>
            <a:xfrm>
              <a:off x="4481064" y="3624850"/>
              <a:ext cx="430117" cy="1128332"/>
            </a:xfrm>
            <a:custGeom>
              <a:avLst/>
              <a:gdLst>
                <a:gd name="connsiteX0" fmla="*/ 305986 w 430667"/>
                <a:gd name="connsiteY0" fmla="*/ 1128712 h 1128712"/>
                <a:gd name="connsiteX1" fmla="*/ 334561 w 430667"/>
                <a:gd name="connsiteY1" fmla="*/ 1062037 h 1128712"/>
                <a:gd name="connsiteX2" fmla="*/ 344086 w 430667"/>
                <a:gd name="connsiteY2" fmla="*/ 1028700 h 1128712"/>
                <a:gd name="connsiteX3" fmla="*/ 358373 w 430667"/>
                <a:gd name="connsiteY3" fmla="*/ 1019175 h 1128712"/>
                <a:gd name="connsiteX4" fmla="*/ 348848 w 430667"/>
                <a:gd name="connsiteY4" fmla="*/ 942975 h 1128712"/>
                <a:gd name="connsiteX5" fmla="*/ 339323 w 430667"/>
                <a:gd name="connsiteY5" fmla="*/ 914400 h 1128712"/>
                <a:gd name="connsiteX6" fmla="*/ 334561 w 430667"/>
                <a:gd name="connsiteY6" fmla="*/ 895350 h 1128712"/>
                <a:gd name="connsiteX7" fmla="*/ 325036 w 430667"/>
                <a:gd name="connsiteY7" fmla="*/ 866775 h 1128712"/>
                <a:gd name="connsiteX8" fmla="*/ 315511 w 430667"/>
                <a:gd name="connsiteY8" fmla="*/ 823912 h 1128712"/>
                <a:gd name="connsiteX9" fmla="*/ 310748 w 430667"/>
                <a:gd name="connsiteY9" fmla="*/ 800100 h 1128712"/>
                <a:gd name="connsiteX10" fmla="*/ 301223 w 430667"/>
                <a:gd name="connsiteY10" fmla="*/ 771525 h 1128712"/>
                <a:gd name="connsiteX11" fmla="*/ 296461 w 430667"/>
                <a:gd name="connsiteY11" fmla="*/ 757237 h 1128712"/>
                <a:gd name="connsiteX12" fmla="*/ 291698 w 430667"/>
                <a:gd name="connsiteY12" fmla="*/ 742950 h 1128712"/>
                <a:gd name="connsiteX13" fmla="*/ 286936 w 430667"/>
                <a:gd name="connsiteY13" fmla="*/ 723900 h 1128712"/>
                <a:gd name="connsiteX14" fmla="*/ 277411 w 430667"/>
                <a:gd name="connsiteY14" fmla="*/ 709612 h 1128712"/>
                <a:gd name="connsiteX15" fmla="*/ 267886 w 430667"/>
                <a:gd name="connsiteY15" fmla="*/ 681037 h 1128712"/>
                <a:gd name="connsiteX16" fmla="*/ 253598 w 430667"/>
                <a:gd name="connsiteY16" fmla="*/ 647700 h 1128712"/>
                <a:gd name="connsiteX17" fmla="*/ 248836 w 430667"/>
                <a:gd name="connsiteY17" fmla="*/ 628650 h 1128712"/>
                <a:gd name="connsiteX18" fmla="*/ 244073 w 430667"/>
                <a:gd name="connsiteY18" fmla="*/ 604837 h 1128712"/>
                <a:gd name="connsiteX19" fmla="*/ 234548 w 430667"/>
                <a:gd name="connsiteY19" fmla="*/ 590550 h 1128712"/>
                <a:gd name="connsiteX20" fmla="*/ 229786 w 430667"/>
                <a:gd name="connsiteY20" fmla="*/ 576262 h 1128712"/>
                <a:gd name="connsiteX21" fmla="*/ 225023 w 430667"/>
                <a:gd name="connsiteY21" fmla="*/ 557212 h 1128712"/>
                <a:gd name="connsiteX22" fmla="*/ 210736 w 430667"/>
                <a:gd name="connsiteY22" fmla="*/ 542925 h 1128712"/>
                <a:gd name="connsiteX23" fmla="*/ 191686 w 430667"/>
                <a:gd name="connsiteY23" fmla="*/ 514350 h 1128712"/>
                <a:gd name="connsiteX24" fmla="*/ 186923 w 430667"/>
                <a:gd name="connsiteY24" fmla="*/ 500062 h 1128712"/>
                <a:gd name="connsiteX25" fmla="*/ 177398 w 430667"/>
                <a:gd name="connsiteY25" fmla="*/ 485775 h 1128712"/>
                <a:gd name="connsiteX26" fmla="*/ 167873 w 430667"/>
                <a:gd name="connsiteY26" fmla="*/ 466725 h 1128712"/>
                <a:gd name="connsiteX27" fmla="*/ 139298 w 430667"/>
                <a:gd name="connsiteY27" fmla="*/ 442912 h 1128712"/>
                <a:gd name="connsiteX28" fmla="*/ 120248 w 430667"/>
                <a:gd name="connsiteY28" fmla="*/ 419100 h 1128712"/>
                <a:gd name="connsiteX29" fmla="*/ 115486 w 430667"/>
                <a:gd name="connsiteY29" fmla="*/ 404812 h 1128712"/>
                <a:gd name="connsiteX30" fmla="*/ 91673 w 430667"/>
                <a:gd name="connsiteY30" fmla="*/ 376237 h 1128712"/>
                <a:gd name="connsiteX31" fmla="*/ 82148 w 430667"/>
                <a:gd name="connsiteY31" fmla="*/ 361950 h 1128712"/>
                <a:gd name="connsiteX32" fmla="*/ 77386 w 430667"/>
                <a:gd name="connsiteY32" fmla="*/ 347662 h 1128712"/>
                <a:gd name="connsiteX33" fmla="*/ 63098 w 430667"/>
                <a:gd name="connsiteY33" fmla="*/ 338137 h 1128712"/>
                <a:gd name="connsiteX34" fmla="*/ 53573 w 430667"/>
                <a:gd name="connsiteY34" fmla="*/ 309562 h 1128712"/>
                <a:gd name="connsiteX35" fmla="*/ 44048 w 430667"/>
                <a:gd name="connsiteY35" fmla="*/ 295275 h 1128712"/>
                <a:gd name="connsiteX36" fmla="*/ 24998 w 430667"/>
                <a:gd name="connsiteY36" fmla="*/ 252412 h 1128712"/>
                <a:gd name="connsiteX37" fmla="*/ 15473 w 430667"/>
                <a:gd name="connsiteY37" fmla="*/ 214312 h 1128712"/>
                <a:gd name="connsiteX38" fmla="*/ 5948 w 430667"/>
                <a:gd name="connsiteY38" fmla="*/ 180975 h 1128712"/>
                <a:gd name="connsiteX39" fmla="*/ 1186 w 430667"/>
                <a:gd name="connsiteY39" fmla="*/ 152400 h 1128712"/>
                <a:gd name="connsiteX40" fmla="*/ 5948 w 430667"/>
                <a:gd name="connsiteY40" fmla="*/ 90487 h 1128712"/>
                <a:gd name="connsiteX41" fmla="*/ 15473 w 430667"/>
                <a:gd name="connsiteY41" fmla="*/ 104775 h 1128712"/>
                <a:gd name="connsiteX42" fmla="*/ 24998 w 430667"/>
                <a:gd name="connsiteY42" fmla="*/ 128587 h 1128712"/>
                <a:gd name="connsiteX43" fmla="*/ 34523 w 430667"/>
                <a:gd name="connsiteY43" fmla="*/ 142875 h 1128712"/>
                <a:gd name="connsiteX44" fmla="*/ 53573 w 430667"/>
                <a:gd name="connsiteY44" fmla="*/ 171450 h 1128712"/>
                <a:gd name="connsiteX45" fmla="*/ 58336 w 430667"/>
                <a:gd name="connsiteY45" fmla="*/ 190500 h 1128712"/>
                <a:gd name="connsiteX46" fmla="*/ 77386 w 430667"/>
                <a:gd name="connsiteY46" fmla="*/ 223837 h 1128712"/>
                <a:gd name="connsiteX47" fmla="*/ 82148 w 430667"/>
                <a:gd name="connsiteY47" fmla="*/ 242887 h 1128712"/>
                <a:gd name="connsiteX48" fmla="*/ 115486 w 430667"/>
                <a:gd name="connsiteY48" fmla="*/ 290512 h 1128712"/>
                <a:gd name="connsiteX49" fmla="*/ 120248 w 430667"/>
                <a:gd name="connsiteY49" fmla="*/ 304800 h 1128712"/>
                <a:gd name="connsiteX50" fmla="*/ 139298 w 430667"/>
                <a:gd name="connsiteY50" fmla="*/ 333375 h 1128712"/>
                <a:gd name="connsiteX51" fmla="*/ 148823 w 430667"/>
                <a:gd name="connsiteY51" fmla="*/ 347662 h 1128712"/>
                <a:gd name="connsiteX52" fmla="*/ 172636 w 430667"/>
                <a:gd name="connsiteY52" fmla="*/ 385762 h 1128712"/>
                <a:gd name="connsiteX53" fmla="*/ 191686 w 430667"/>
                <a:gd name="connsiteY53" fmla="*/ 414337 h 1128712"/>
                <a:gd name="connsiteX54" fmla="*/ 201211 w 430667"/>
                <a:gd name="connsiteY54" fmla="*/ 428625 h 1128712"/>
                <a:gd name="connsiteX55" fmla="*/ 215498 w 430667"/>
                <a:gd name="connsiteY55" fmla="*/ 442912 h 1128712"/>
                <a:gd name="connsiteX56" fmla="*/ 234548 w 430667"/>
                <a:gd name="connsiteY56" fmla="*/ 466725 h 1128712"/>
                <a:gd name="connsiteX57" fmla="*/ 253598 w 430667"/>
                <a:gd name="connsiteY57" fmla="*/ 490537 h 1128712"/>
                <a:gd name="connsiteX58" fmla="*/ 277411 w 430667"/>
                <a:gd name="connsiteY58" fmla="*/ 528637 h 1128712"/>
                <a:gd name="connsiteX59" fmla="*/ 286936 w 430667"/>
                <a:gd name="connsiteY59" fmla="*/ 547687 h 1128712"/>
                <a:gd name="connsiteX60" fmla="*/ 291698 w 430667"/>
                <a:gd name="connsiteY60" fmla="*/ 561975 h 1128712"/>
                <a:gd name="connsiteX61" fmla="*/ 310748 w 430667"/>
                <a:gd name="connsiteY61" fmla="*/ 595312 h 1128712"/>
                <a:gd name="connsiteX62" fmla="*/ 315511 w 430667"/>
                <a:gd name="connsiteY62" fmla="*/ 609600 h 1128712"/>
                <a:gd name="connsiteX63" fmla="*/ 334561 w 430667"/>
                <a:gd name="connsiteY63" fmla="*/ 638175 h 1128712"/>
                <a:gd name="connsiteX64" fmla="*/ 348848 w 430667"/>
                <a:gd name="connsiteY64" fmla="*/ 666750 h 1128712"/>
                <a:gd name="connsiteX65" fmla="*/ 353611 w 430667"/>
                <a:gd name="connsiteY65" fmla="*/ 681037 h 1128712"/>
                <a:gd name="connsiteX66" fmla="*/ 382186 w 430667"/>
                <a:gd name="connsiteY66" fmla="*/ 719137 h 1128712"/>
                <a:gd name="connsiteX67" fmla="*/ 405998 w 430667"/>
                <a:gd name="connsiteY67" fmla="*/ 762000 h 1128712"/>
                <a:gd name="connsiteX68" fmla="*/ 415523 w 430667"/>
                <a:gd name="connsiteY68" fmla="*/ 790575 h 1128712"/>
                <a:gd name="connsiteX69" fmla="*/ 420286 w 430667"/>
                <a:gd name="connsiteY69" fmla="*/ 804862 h 1128712"/>
                <a:gd name="connsiteX70" fmla="*/ 425048 w 430667"/>
                <a:gd name="connsiteY70" fmla="*/ 842962 h 1128712"/>
                <a:gd name="connsiteX71" fmla="*/ 429811 w 430667"/>
                <a:gd name="connsiteY71" fmla="*/ 581025 h 1128712"/>
                <a:gd name="connsiteX72" fmla="*/ 420286 w 430667"/>
                <a:gd name="connsiteY72" fmla="*/ 357187 h 1128712"/>
                <a:gd name="connsiteX73" fmla="*/ 410761 w 430667"/>
                <a:gd name="connsiteY73" fmla="*/ 328612 h 1128712"/>
                <a:gd name="connsiteX74" fmla="*/ 401236 w 430667"/>
                <a:gd name="connsiteY74" fmla="*/ 314325 h 1128712"/>
                <a:gd name="connsiteX75" fmla="*/ 391711 w 430667"/>
                <a:gd name="connsiteY75" fmla="*/ 280987 h 1128712"/>
                <a:gd name="connsiteX76" fmla="*/ 382186 w 430667"/>
                <a:gd name="connsiteY76" fmla="*/ 257175 h 1128712"/>
                <a:gd name="connsiteX77" fmla="*/ 377423 w 430667"/>
                <a:gd name="connsiteY77" fmla="*/ 242887 h 1128712"/>
                <a:gd name="connsiteX78" fmla="*/ 367898 w 430667"/>
                <a:gd name="connsiteY78" fmla="*/ 228600 h 1128712"/>
                <a:gd name="connsiteX79" fmla="*/ 363136 w 430667"/>
                <a:gd name="connsiteY79" fmla="*/ 214312 h 1128712"/>
                <a:gd name="connsiteX80" fmla="*/ 348848 w 430667"/>
                <a:gd name="connsiteY80" fmla="*/ 200025 h 1128712"/>
                <a:gd name="connsiteX81" fmla="*/ 344086 w 430667"/>
                <a:gd name="connsiteY81" fmla="*/ 176212 h 1128712"/>
                <a:gd name="connsiteX82" fmla="*/ 334561 w 430667"/>
                <a:gd name="connsiteY82" fmla="*/ 161925 h 1128712"/>
                <a:gd name="connsiteX83" fmla="*/ 320273 w 430667"/>
                <a:gd name="connsiteY83" fmla="*/ 109537 h 1128712"/>
                <a:gd name="connsiteX84" fmla="*/ 310748 w 430667"/>
                <a:gd name="connsiteY84" fmla="*/ 90487 h 1128712"/>
                <a:gd name="connsiteX85" fmla="*/ 305986 w 430667"/>
                <a:gd name="connsiteY85" fmla="*/ 76200 h 1128712"/>
                <a:gd name="connsiteX86" fmla="*/ 301223 w 430667"/>
                <a:gd name="connsiteY86" fmla="*/ 0 h 1128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30667" h="1128712">
                  <a:moveTo>
                    <a:pt x="305986" y="1128712"/>
                  </a:moveTo>
                  <a:cubicBezTo>
                    <a:pt x="316403" y="1107877"/>
                    <a:pt x="329140" y="1083721"/>
                    <a:pt x="334561" y="1062037"/>
                  </a:cubicBezTo>
                  <a:cubicBezTo>
                    <a:pt x="334873" y="1060789"/>
                    <a:pt x="341600" y="1031808"/>
                    <a:pt x="344086" y="1028700"/>
                  </a:cubicBezTo>
                  <a:cubicBezTo>
                    <a:pt x="347662" y="1024231"/>
                    <a:pt x="353611" y="1022350"/>
                    <a:pt x="358373" y="1019175"/>
                  </a:cubicBezTo>
                  <a:cubicBezTo>
                    <a:pt x="355198" y="993775"/>
                    <a:pt x="353427" y="968160"/>
                    <a:pt x="348848" y="942975"/>
                  </a:cubicBezTo>
                  <a:cubicBezTo>
                    <a:pt x="347052" y="933097"/>
                    <a:pt x="341758" y="924141"/>
                    <a:pt x="339323" y="914400"/>
                  </a:cubicBezTo>
                  <a:cubicBezTo>
                    <a:pt x="337736" y="908050"/>
                    <a:pt x="336442" y="901619"/>
                    <a:pt x="334561" y="895350"/>
                  </a:cubicBezTo>
                  <a:cubicBezTo>
                    <a:pt x="331676" y="885733"/>
                    <a:pt x="326687" y="876679"/>
                    <a:pt x="325036" y="866775"/>
                  </a:cubicBezTo>
                  <a:cubicBezTo>
                    <a:pt x="311932" y="788160"/>
                    <a:pt x="327233" y="870802"/>
                    <a:pt x="315511" y="823912"/>
                  </a:cubicBezTo>
                  <a:cubicBezTo>
                    <a:pt x="313548" y="816059"/>
                    <a:pt x="312878" y="807909"/>
                    <a:pt x="310748" y="800100"/>
                  </a:cubicBezTo>
                  <a:cubicBezTo>
                    <a:pt x="308106" y="790414"/>
                    <a:pt x="304398" y="781050"/>
                    <a:pt x="301223" y="771525"/>
                  </a:cubicBezTo>
                  <a:lnTo>
                    <a:pt x="296461" y="757237"/>
                  </a:lnTo>
                  <a:cubicBezTo>
                    <a:pt x="294874" y="752475"/>
                    <a:pt x="292915" y="747820"/>
                    <a:pt x="291698" y="742950"/>
                  </a:cubicBezTo>
                  <a:cubicBezTo>
                    <a:pt x="290111" y="736600"/>
                    <a:pt x="289514" y="729916"/>
                    <a:pt x="286936" y="723900"/>
                  </a:cubicBezTo>
                  <a:cubicBezTo>
                    <a:pt x="284681" y="718639"/>
                    <a:pt x="279736" y="714843"/>
                    <a:pt x="277411" y="709612"/>
                  </a:cubicBezTo>
                  <a:cubicBezTo>
                    <a:pt x="273333" y="700437"/>
                    <a:pt x="272376" y="690017"/>
                    <a:pt x="267886" y="681037"/>
                  </a:cubicBezTo>
                  <a:cubicBezTo>
                    <a:pt x="259422" y="664110"/>
                    <a:pt x="258268" y="664046"/>
                    <a:pt x="253598" y="647700"/>
                  </a:cubicBezTo>
                  <a:cubicBezTo>
                    <a:pt x="251800" y="641406"/>
                    <a:pt x="250256" y="635040"/>
                    <a:pt x="248836" y="628650"/>
                  </a:cubicBezTo>
                  <a:cubicBezTo>
                    <a:pt x="247080" y="620748"/>
                    <a:pt x="246915" y="612416"/>
                    <a:pt x="244073" y="604837"/>
                  </a:cubicBezTo>
                  <a:cubicBezTo>
                    <a:pt x="242063" y="599478"/>
                    <a:pt x="237723" y="595312"/>
                    <a:pt x="234548" y="590550"/>
                  </a:cubicBezTo>
                  <a:cubicBezTo>
                    <a:pt x="232961" y="585787"/>
                    <a:pt x="231165" y="581089"/>
                    <a:pt x="229786" y="576262"/>
                  </a:cubicBezTo>
                  <a:cubicBezTo>
                    <a:pt x="227988" y="569968"/>
                    <a:pt x="228270" y="562895"/>
                    <a:pt x="225023" y="557212"/>
                  </a:cubicBezTo>
                  <a:cubicBezTo>
                    <a:pt x="221681" y="551364"/>
                    <a:pt x="215498" y="547687"/>
                    <a:pt x="210736" y="542925"/>
                  </a:cubicBezTo>
                  <a:cubicBezTo>
                    <a:pt x="199797" y="499174"/>
                    <a:pt x="215606" y="544250"/>
                    <a:pt x="191686" y="514350"/>
                  </a:cubicBezTo>
                  <a:cubicBezTo>
                    <a:pt x="188550" y="510430"/>
                    <a:pt x="189168" y="504552"/>
                    <a:pt x="186923" y="500062"/>
                  </a:cubicBezTo>
                  <a:cubicBezTo>
                    <a:pt x="184363" y="494943"/>
                    <a:pt x="180238" y="490745"/>
                    <a:pt x="177398" y="485775"/>
                  </a:cubicBezTo>
                  <a:cubicBezTo>
                    <a:pt x="173876" y="479611"/>
                    <a:pt x="171999" y="472502"/>
                    <a:pt x="167873" y="466725"/>
                  </a:cubicBezTo>
                  <a:cubicBezTo>
                    <a:pt x="159538" y="455055"/>
                    <a:pt x="150692" y="450508"/>
                    <a:pt x="139298" y="442912"/>
                  </a:cubicBezTo>
                  <a:cubicBezTo>
                    <a:pt x="127328" y="407000"/>
                    <a:pt x="144868" y="449875"/>
                    <a:pt x="120248" y="419100"/>
                  </a:cubicBezTo>
                  <a:cubicBezTo>
                    <a:pt x="117112" y="415180"/>
                    <a:pt x="117731" y="409302"/>
                    <a:pt x="115486" y="404812"/>
                  </a:cubicBezTo>
                  <a:cubicBezTo>
                    <a:pt x="106620" y="387079"/>
                    <a:pt x="104836" y="392033"/>
                    <a:pt x="91673" y="376237"/>
                  </a:cubicBezTo>
                  <a:cubicBezTo>
                    <a:pt x="88009" y="371840"/>
                    <a:pt x="85323" y="366712"/>
                    <a:pt x="82148" y="361950"/>
                  </a:cubicBezTo>
                  <a:cubicBezTo>
                    <a:pt x="80561" y="357187"/>
                    <a:pt x="80522" y="351582"/>
                    <a:pt x="77386" y="347662"/>
                  </a:cubicBezTo>
                  <a:cubicBezTo>
                    <a:pt x="73810" y="343192"/>
                    <a:pt x="66132" y="342991"/>
                    <a:pt x="63098" y="338137"/>
                  </a:cubicBezTo>
                  <a:cubicBezTo>
                    <a:pt x="57777" y="329623"/>
                    <a:pt x="56748" y="319087"/>
                    <a:pt x="53573" y="309562"/>
                  </a:cubicBezTo>
                  <a:cubicBezTo>
                    <a:pt x="51763" y="304132"/>
                    <a:pt x="47223" y="300037"/>
                    <a:pt x="44048" y="295275"/>
                  </a:cubicBezTo>
                  <a:cubicBezTo>
                    <a:pt x="32713" y="261270"/>
                    <a:pt x="40092" y="275054"/>
                    <a:pt x="24998" y="252412"/>
                  </a:cubicBezTo>
                  <a:cubicBezTo>
                    <a:pt x="14113" y="219754"/>
                    <a:pt x="26967" y="260288"/>
                    <a:pt x="15473" y="214312"/>
                  </a:cubicBezTo>
                  <a:cubicBezTo>
                    <a:pt x="6400" y="178018"/>
                    <a:pt x="14852" y="225493"/>
                    <a:pt x="5948" y="180975"/>
                  </a:cubicBezTo>
                  <a:cubicBezTo>
                    <a:pt x="4054" y="171506"/>
                    <a:pt x="2773" y="161925"/>
                    <a:pt x="1186" y="152400"/>
                  </a:cubicBezTo>
                  <a:cubicBezTo>
                    <a:pt x="2773" y="131762"/>
                    <a:pt x="0" y="110313"/>
                    <a:pt x="5948" y="90487"/>
                  </a:cubicBezTo>
                  <a:cubicBezTo>
                    <a:pt x="7593" y="85004"/>
                    <a:pt x="12913" y="99655"/>
                    <a:pt x="15473" y="104775"/>
                  </a:cubicBezTo>
                  <a:cubicBezTo>
                    <a:pt x="19296" y="112421"/>
                    <a:pt x="21175" y="120941"/>
                    <a:pt x="24998" y="128587"/>
                  </a:cubicBezTo>
                  <a:cubicBezTo>
                    <a:pt x="27558" y="133707"/>
                    <a:pt x="31963" y="137755"/>
                    <a:pt x="34523" y="142875"/>
                  </a:cubicBezTo>
                  <a:cubicBezTo>
                    <a:pt x="48308" y="170444"/>
                    <a:pt x="26490" y="144365"/>
                    <a:pt x="53573" y="171450"/>
                  </a:cubicBezTo>
                  <a:cubicBezTo>
                    <a:pt x="55161" y="177800"/>
                    <a:pt x="56038" y="184371"/>
                    <a:pt x="58336" y="190500"/>
                  </a:cubicBezTo>
                  <a:cubicBezTo>
                    <a:pt x="63516" y="204313"/>
                    <a:pt x="69490" y="211993"/>
                    <a:pt x="77386" y="223837"/>
                  </a:cubicBezTo>
                  <a:cubicBezTo>
                    <a:pt x="78973" y="230187"/>
                    <a:pt x="79221" y="237033"/>
                    <a:pt x="82148" y="242887"/>
                  </a:cubicBezTo>
                  <a:cubicBezTo>
                    <a:pt x="88012" y="254615"/>
                    <a:pt x="106525" y="278565"/>
                    <a:pt x="115486" y="290512"/>
                  </a:cubicBezTo>
                  <a:cubicBezTo>
                    <a:pt x="117073" y="295275"/>
                    <a:pt x="117810" y="300412"/>
                    <a:pt x="120248" y="304800"/>
                  </a:cubicBezTo>
                  <a:cubicBezTo>
                    <a:pt x="125807" y="314807"/>
                    <a:pt x="132948" y="323850"/>
                    <a:pt x="139298" y="333375"/>
                  </a:cubicBezTo>
                  <a:cubicBezTo>
                    <a:pt x="142473" y="338137"/>
                    <a:pt x="146263" y="342543"/>
                    <a:pt x="148823" y="347662"/>
                  </a:cubicBezTo>
                  <a:cubicBezTo>
                    <a:pt x="164663" y="379343"/>
                    <a:pt x="150996" y="354848"/>
                    <a:pt x="172636" y="385762"/>
                  </a:cubicBezTo>
                  <a:cubicBezTo>
                    <a:pt x="179201" y="395140"/>
                    <a:pt x="185336" y="404812"/>
                    <a:pt x="191686" y="414337"/>
                  </a:cubicBezTo>
                  <a:cubicBezTo>
                    <a:pt x="194861" y="419100"/>
                    <a:pt x="197164" y="424578"/>
                    <a:pt x="201211" y="428625"/>
                  </a:cubicBezTo>
                  <a:lnTo>
                    <a:pt x="215498" y="442912"/>
                  </a:lnTo>
                  <a:cubicBezTo>
                    <a:pt x="227470" y="478824"/>
                    <a:pt x="209929" y="435952"/>
                    <a:pt x="234548" y="466725"/>
                  </a:cubicBezTo>
                  <a:cubicBezTo>
                    <a:pt x="260838" y="499587"/>
                    <a:pt x="212654" y="463240"/>
                    <a:pt x="253598" y="490537"/>
                  </a:cubicBezTo>
                  <a:cubicBezTo>
                    <a:pt x="264933" y="524542"/>
                    <a:pt x="254769" y="513543"/>
                    <a:pt x="277411" y="528637"/>
                  </a:cubicBezTo>
                  <a:cubicBezTo>
                    <a:pt x="280586" y="534987"/>
                    <a:pt x="284139" y="541161"/>
                    <a:pt x="286936" y="547687"/>
                  </a:cubicBezTo>
                  <a:cubicBezTo>
                    <a:pt x="288913" y="552301"/>
                    <a:pt x="289453" y="557485"/>
                    <a:pt x="291698" y="561975"/>
                  </a:cubicBezTo>
                  <a:cubicBezTo>
                    <a:pt x="315623" y="609827"/>
                    <a:pt x="285686" y="536836"/>
                    <a:pt x="310748" y="595312"/>
                  </a:cubicBezTo>
                  <a:cubicBezTo>
                    <a:pt x="312726" y="599926"/>
                    <a:pt x="313073" y="605211"/>
                    <a:pt x="315511" y="609600"/>
                  </a:cubicBezTo>
                  <a:cubicBezTo>
                    <a:pt x="321070" y="619607"/>
                    <a:pt x="334561" y="638175"/>
                    <a:pt x="334561" y="638175"/>
                  </a:cubicBezTo>
                  <a:cubicBezTo>
                    <a:pt x="346528" y="674078"/>
                    <a:pt x="330387" y="629829"/>
                    <a:pt x="348848" y="666750"/>
                  </a:cubicBezTo>
                  <a:cubicBezTo>
                    <a:pt x="351093" y="671240"/>
                    <a:pt x="350916" y="676802"/>
                    <a:pt x="353611" y="681037"/>
                  </a:cubicBezTo>
                  <a:cubicBezTo>
                    <a:pt x="362134" y="694430"/>
                    <a:pt x="382186" y="719137"/>
                    <a:pt x="382186" y="719137"/>
                  </a:cubicBezTo>
                  <a:cubicBezTo>
                    <a:pt x="393841" y="754102"/>
                    <a:pt x="384612" y="740612"/>
                    <a:pt x="405998" y="762000"/>
                  </a:cubicBezTo>
                  <a:lnTo>
                    <a:pt x="415523" y="790575"/>
                  </a:lnTo>
                  <a:lnTo>
                    <a:pt x="420286" y="804862"/>
                  </a:lnTo>
                  <a:cubicBezTo>
                    <a:pt x="421873" y="817562"/>
                    <a:pt x="424504" y="855749"/>
                    <a:pt x="425048" y="842962"/>
                  </a:cubicBezTo>
                  <a:cubicBezTo>
                    <a:pt x="428761" y="755714"/>
                    <a:pt x="430667" y="668348"/>
                    <a:pt x="429811" y="581025"/>
                  </a:cubicBezTo>
                  <a:cubicBezTo>
                    <a:pt x="429079" y="506348"/>
                    <a:pt x="425906" y="431655"/>
                    <a:pt x="420286" y="357187"/>
                  </a:cubicBezTo>
                  <a:cubicBezTo>
                    <a:pt x="419530" y="347175"/>
                    <a:pt x="416330" y="336966"/>
                    <a:pt x="410761" y="328612"/>
                  </a:cubicBezTo>
                  <a:lnTo>
                    <a:pt x="401236" y="314325"/>
                  </a:lnTo>
                  <a:cubicBezTo>
                    <a:pt x="397485" y="299323"/>
                    <a:pt x="396832" y="294644"/>
                    <a:pt x="391711" y="280987"/>
                  </a:cubicBezTo>
                  <a:cubicBezTo>
                    <a:pt x="388709" y="272982"/>
                    <a:pt x="385188" y="265179"/>
                    <a:pt x="382186" y="257175"/>
                  </a:cubicBezTo>
                  <a:cubicBezTo>
                    <a:pt x="380423" y="252474"/>
                    <a:pt x="379668" y="247377"/>
                    <a:pt x="377423" y="242887"/>
                  </a:cubicBezTo>
                  <a:cubicBezTo>
                    <a:pt x="374863" y="237768"/>
                    <a:pt x="371073" y="233362"/>
                    <a:pt x="367898" y="228600"/>
                  </a:cubicBezTo>
                  <a:cubicBezTo>
                    <a:pt x="366311" y="223837"/>
                    <a:pt x="365921" y="218489"/>
                    <a:pt x="363136" y="214312"/>
                  </a:cubicBezTo>
                  <a:cubicBezTo>
                    <a:pt x="359400" y="208708"/>
                    <a:pt x="351860" y="206049"/>
                    <a:pt x="348848" y="200025"/>
                  </a:cubicBezTo>
                  <a:cubicBezTo>
                    <a:pt x="345228" y="192785"/>
                    <a:pt x="346928" y="183791"/>
                    <a:pt x="344086" y="176212"/>
                  </a:cubicBezTo>
                  <a:cubicBezTo>
                    <a:pt x="342076" y="170853"/>
                    <a:pt x="336886" y="167155"/>
                    <a:pt x="334561" y="161925"/>
                  </a:cubicBezTo>
                  <a:cubicBezTo>
                    <a:pt x="312298" y="111834"/>
                    <a:pt x="335211" y="154351"/>
                    <a:pt x="320273" y="109537"/>
                  </a:cubicBezTo>
                  <a:cubicBezTo>
                    <a:pt x="318028" y="102802"/>
                    <a:pt x="313545" y="97013"/>
                    <a:pt x="310748" y="90487"/>
                  </a:cubicBezTo>
                  <a:cubicBezTo>
                    <a:pt x="308771" y="85873"/>
                    <a:pt x="307573" y="80962"/>
                    <a:pt x="305986" y="76200"/>
                  </a:cubicBezTo>
                  <a:cubicBezTo>
                    <a:pt x="300696" y="12722"/>
                    <a:pt x="301223" y="38166"/>
                    <a:pt x="301223" y="0"/>
                  </a:cubicBezTo>
                </a:path>
              </a:pathLst>
            </a:custGeom>
            <a:ln w="254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3" name="Freeform 12"/>
            <p:cNvSpPr/>
            <p:nvPr/>
          </p:nvSpPr>
          <p:spPr>
            <a:xfrm>
              <a:off x="4928640" y="3615328"/>
              <a:ext cx="249182" cy="880765"/>
            </a:xfrm>
            <a:custGeom>
              <a:avLst/>
              <a:gdLst>
                <a:gd name="connsiteX0" fmla="*/ 53178 w 248698"/>
                <a:gd name="connsiteY0" fmla="*/ 113407 h 880850"/>
                <a:gd name="connsiteX1" fmla="*/ 43653 w 248698"/>
                <a:gd name="connsiteY1" fmla="*/ 89594 h 880850"/>
                <a:gd name="connsiteX2" fmla="*/ 38891 w 248698"/>
                <a:gd name="connsiteY2" fmla="*/ 75307 h 880850"/>
                <a:gd name="connsiteX3" fmla="*/ 19841 w 248698"/>
                <a:gd name="connsiteY3" fmla="*/ 32444 h 880850"/>
                <a:gd name="connsiteX4" fmla="*/ 15078 w 248698"/>
                <a:gd name="connsiteY4" fmla="*/ 18157 h 880850"/>
                <a:gd name="connsiteX5" fmla="*/ 5553 w 248698"/>
                <a:gd name="connsiteY5" fmla="*/ 3869 h 880850"/>
                <a:gd name="connsiteX6" fmla="*/ 53178 w 248698"/>
                <a:gd name="connsiteY6" fmla="*/ 8632 h 880850"/>
                <a:gd name="connsiteX7" fmla="*/ 110328 w 248698"/>
                <a:gd name="connsiteY7" fmla="*/ 18157 h 880850"/>
                <a:gd name="connsiteX8" fmla="*/ 124616 w 248698"/>
                <a:gd name="connsiteY8" fmla="*/ 22919 h 880850"/>
                <a:gd name="connsiteX9" fmla="*/ 191291 w 248698"/>
                <a:gd name="connsiteY9" fmla="*/ 27682 h 880850"/>
                <a:gd name="connsiteX10" fmla="*/ 229391 w 248698"/>
                <a:gd name="connsiteY10" fmla="*/ 18157 h 880850"/>
                <a:gd name="connsiteX11" fmla="*/ 243678 w 248698"/>
                <a:gd name="connsiteY11" fmla="*/ 13394 h 880850"/>
                <a:gd name="connsiteX12" fmla="*/ 191291 w 248698"/>
                <a:gd name="connsiteY12" fmla="*/ 18157 h 880850"/>
                <a:gd name="connsiteX13" fmla="*/ 177003 w 248698"/>
                <a:gd name="connsiteY13" fmla="*/ 22919 h 880850"/>
                <a:gd name="connsiteX14" fmla="*/ 138903 w 248698"/>
                <a:gd name="connsiteY14" fmla="*/ 27682 h 880850"/>
                <a:gd name="connsiteX15" fmla="*/ 143666 w 248698"/>
                <a:gd name="connsiteY15" fmla="*/ 65782 h 880850"/>
                <a:gd name="connsiteX16" fmla="*/ 153191 w 248698"/>
                <a:gd name="connsiteY16" fmla="*/ 94357 h 880850"/>
                <a:gd name="connsiteX17" fmla="*/ 167478 w 248698"/>
                <a:gd name="connsiteY17" fmla="*/ 137219 h 880850"/>
                <a:gd name="connsiteX18" fmla="*/ 177003 w 248698"/>
                <a:gd name="connsiteY18" fmla="*/ 165794 h 880850"/>
                <a:gd name="connsiteX19" fmla="*/ 181766 w 248698"/>
                <a:gd name="connsiteY19" fmla="*/ 180082 h 880850"/>
                <a:gd name="connsiteX20" fmla="*/ 186528 w 248698"/>
                <a:gd name="connsiteY20" fmla="*/ 218182 h 880850"/>
                <a:gd name="connsiteX21" fmla="*/ 210341 w 248698"/>
                <a:gd name="connsiteY21" fmla="*/ 208657 h 880850"/>
                <a:gd name="connsiteX22" fmla="*/ 200816 w 248698"/>
                <a:gd name="connsiteY22" fmla="*/ 361057 h 880850"/>
                <a:gd name="connsiteX23" fmla="*/ 196053 w 248698"/>
                <a:gd name="connsiteY23" fmla="*/ 384869 h 880850"/>
                <a:gd name="connsiteX24" fmla="*/ 181766 w 248698"/>
                <a:gd name="connsiteY24" fmla="*/ 432494 h 880850"/>
                <a:gd name="connsiteX25" fmla="*/ 177003 w 248698"/>
                <a:gd name="connsiteY25" fmla="*/ 446782 h 880850"/>
                <a:gd name="connsiteX26" fmla="*/ 172241 w 248698"/>
                <a:gd name="connsiteY26" fmla="*/ 461069 h 880850"/>
                <a:gd name="connsiteX27" fmla="*/ 162716 w 248698"/>
                <a:gd name="connsiteY27" fmla="*/ 475357 h 880850"/>
                <a:gd name="connsiteX28" fmla="*/ 157953 w 248698"/>
                <a:gd name="connsiteY28" fmla="*/ 499169 h 880850"/>
                <a:gd name="connsiteX29" fmla="*/ 138903 w 248698"/>
                <a:gd name="connsiteY29" fmla="*/ 527744 h 880850"/>
                <a:gd name="connsiteX30" fmla="*/ 119853 w 248698"/>
                <a:gd name="connsiteY30" fmla="*/ 570607 h 880850"/>
                <a:gd name="connsiteX31" fmla="*/ 110328 w 248698"/>
                <a:gd name="connsiteY31" fmla="*/ 599182 h 880850"/>
                <a:gd name="connsiteX32" fmla="*/ 105566 w 248698"/>
                <a:gd name="connsiteY32" fmla="*/ 613469 h 880850"/>
                <a:gd name="connsiteX33" fmla="*/ 86516 w 248698"/>
                <a:gd name="connsiteY33" fmla="*/ 642044 h 880850"/>
                <a:gd name="connsiteX34" fmla="*/ 76991 w 248698"/>
                <a:gd name="connsiteY34" fmla="*/ 656332 h 880850"/>
                <a:gd name="connsiteX35" fmla="*/ 62703 w 248698"/>
                <a:gd name="connsiteY35" fmla="*/ 684907 h 880850"/>
                <a:gd name="connsiteX36" fmla="*/ 48416 w 248698"/>
                <a:gd name="connsiteY36" fmla="*/ 713482 h 880850"/>
                <a:gd name="connsiteX37" fmla="*/ 34128 w 248698"/>
                <a:gd name="connsiteY37" fmla="*/ 742057 h 880850"/>
                <a:gd name="connsiteX38" fmla="*/ 29366 w 248698"/>
                <a:gd name="connsiteY38" fmla="*/ 761107 h 880850"/>
                <a:gd name="connsiteX39" fmla="*/ 15078 w 248698"/>
                <a:gd name="connsiteY39" fmla="*/ 832544 h 880850"/>
                <a:gd name="connsiteX40" fmla="*/ 10316 w 248698"/>
                <a:gd name="connsiteY40" fmla="*/ 846832 h 880850"/>
                <a:gd name="connsiteX41" fmla="*/ 5553 w 248698"/>
                <a:gd name="connsiteY41" fmla="*/ 861119 h 880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48698" h="880850">
                  <a:moveTo>
                    <a:pt x="53178" y="113407"/>
                  </a:moveTo>
                  <a:cubicBezTo>
                    <a:pt x="50003" y="105469"/>
                    <a:pt x="46655" y="97599"/>
                    <a:pt x="43653" y="89594"/>
                  </a:cubicBezTo>
                  <a:cubicBezTo>
                    <a:pt x="41890" y="84894"/>
                    <a:pt x="41136" y="79797"/>
                    <a:pt x="38891" y="75307"/>
                  </a:cubicBezTo>
                  <a:cubicBezTo>
                    <a:pt x="16247" y="30017"/>
                    <a:pt x="44419" y="106175"/>
                    <a:pt x="19841" y="32444"/>
                  </a:cubicBezTo>
                  <a:cubicBezTo>
                    <a:pt x="18253" y="27682"/>
                    <a:pt x="17863" y="22334"/>
                    <a:pt x="15078" y="18157"/>
                  </a:cubicBezTo>
                  <a:cubicBezTo>
                    <a:pt x="11903" y="13394"/>
                    <a:pt x="0" y="5257"/>
                    <a:pt x="5553" y="3869"/>
                  </a:cubicBezTo>
                  <a:cubicBezTo>
                    <a:pt x="21031" y="0"/>
                    <a:pt x="37303" y="7044"/>
                    <a:pt x="53178" y="8632"/>
                  </a:cubicBezTo>
                  <a:cubicBezTo>
                    <a:pt x="103652" y="21249"/>
                    <a:pt x="28567" y="3292"/>
                    <a:pt x="110328" y="18157"/>
                  </a:cubicBezTo>
                  <a:cubicBezTo>
                    <a:pt x="115267" y="19055"/>
                    <a:pt x="119630" y="22332"/>
                    <a:pt x="124616" y="22919"/>
                  </a:cubicBezTo>
                  <a:cubicBezTo>
                    <a:pt x="146745" y="25522"/>
                    <a:pt x="169066" y="26094"/>
                    <a:pt x="191291" y="27682"/>
                  </a:cubicBezTo>
                  <a:cubicBezTo>
                    <a:pt x="203991" y="24507"/>
                    <a:pt x="216761" y="21602"/>
                    <a:pt x="229391" y="18157"/>
                  </a:cubicBezTo>
                  <a:cubicBezTo>
                    <a:pt x="234234" y="16836"/>
                    <a:pt x="248698" y="13394"/>
                    <a:pt x="243678" y="13394"/>
                  </a:cubicBezTo>
                  <a:cubicBezTo>
                    <a:pt x="226144" y="13394"/>
                    <a:pt x="208753" y="16569"/>
                    <a:pt x="191291" y="18157"/>
                  </a:cubicBezTo>
                  <a:cubicBezTo>
                    <a:pt x="186528" y="19744"/>
                    <a:pt x="181942" y="22021"/>
                    <a:pt x="177003" y="22919"/>
                  </a:cubicBezTo>
                  <a:cubicBezTo>
                    <a:pt x="164411" y="25209"/>
                    <a:pt x="146761" y="17579"/>
                    <a:pt x="138903" y="27682"/>
                  </a:cubicBezTo>
                  <a:cubicBezTo>
                    <a:pt x="131045" y="37785"/>
                    <a:pt x="140984" y="53267"/>
                    <a:pt x="143666" y="65782"/>
                  </a:cubicBezTo>
                  <a:cubicBezTo>
                    <a:pt x="145770" y="75599"/>
                    <a:pt x="150016" y="84832"/>
                    <a:pt x="153191" y="94357"/>
                  </a:cubicBezTo>
                  <a:lnTo>
                    <a:pt x="167478" y="137219"/>
                  </a:lnTo>
                  <a:lnTo>
                    <a:pt x="177003" y="165794"/>
                  </a:lnTo>
                  <a:lnTo>
                    <a:pt x="181766" y="180082"/>
                  </a:lnTo>
                  <a:cubicBezTo>
                    <a:pt x="183353" y="192782"/>
                    <a:pt x="177478" y="209132"/>
                    <a:pt x="186528" y="218182"/>
                  </a:cubicBezTo>
                  <a:cubicBezTo>
                    <a:pt x="192573" y="224227"/>
                    <a:pt x="209490" y="200150"/>
                    <a:pt x="210341" y="208657"/>
                  </a:cubicBezTo>
                  <a:cubicBezTo>
                    <a:pt x="215406" y="259304"/>
                    <a:pt x="204930" y="310324"/>
                    <a:pt x="200816" y="361057"/>
                  </a:cubicBezTo>
                  <a:cubicBezTo>
                    <a:pt x="200162" y="369125"/>
                    <a:pt x="197809" y="376967"/>
                    <a:pt x="196053" y="384869"/>
                  </a:cubicBezTo>
                  <a:cubicBezTo>
                    <a:pt x="191253" y="406468"/>
                    <a:pt x="189684" y="408741"/>
                    <a:pt x="181766" y="432494"/>
                  </a:cubicBezTo>
                  <a:lnTo>
                    <a:pt x="177003" y="446782"/>
                  </a:lnTo>
                  <a:cubicBezTo>
                    <a:pt x="175416" y="451544"/>
                    <a:pt x="175025" y="456892"/>
                    <a:pt x="172241" y="461069"/>
                  </a:cubicBezTo>
                  <a:lnTo>
                    <a:pt x="162716" y="475357"/>
                  </a:lnTo>
                  <a:cubicBezTo>
                    <a:pt x="161128" y="483294"/>
                    <a:pt x="161303" y="491800"/>
                    <a:pt x="157953" y="499169"/>
                  </a:cubicBezTo>
                  <a:cubicBezTo>
                    <a:pt x="153216" y="509590"/>
                    <a:pt x="138903" y="527744"/>
                    <a:pt x="138903" y="527744"/>
                  </a:cubicBezTo>
                  <a:cubicBezTo>
                    <a:pt x="127568" y="561749"/>
                    <a:pt x="134947" y="547965"/>
                    <a:pt x="119853" y="570607"/>
                  </a:cubicBezTo>
                  <a:lnTo>
                    <a:pt x="110328" y="599182"/>
                  </a:lnTo>
                  <a:cubicBezTo>
                    <a:pt x="108741" y="603944"/>
                    <a:pt x="108351" y="609292"/>
                    <a:pt x="105566" y="613469"/>
                  </a:cubicBezTo>
                  <a:lnTo>
                    <a:pt x="86516" y="642044"/>
                  </a:lnTo>
                  <a:cubicBezTo>
                    <a:pt x="83341" y="646807"/>
                    <a:pt x="78801" y="650902"/>
                    <a:pt x="76991" y="656332"/>
                  </a:cubicBezTo>
                  <a:cubicBezTo>
                    <a:pt x="70418" y="676049"/>
                    <a:pt x="75013" y="666442"/>
                    <a:pt x="62703" y="684907"/>
                  </a:cubicBezTo>
                  <a:cubicBezTo>
                    <a:pt x="50736" y="720810"/>
                    <a:pt x="66877" y="676561"/>
                    <a:pt x="48416" y="713482"/>
                  </a:cubicBezTo>
                  <a:cubicBezTo>
                    <a:pt x="28697" y="752918"/>
                    <a:pt x="61426" y="701108"/>
                    <a:pt x="34128" y="742057"/>
                  </a:cubicBezTo>
                  <a:cubicBezTo>
                    <a:pt x="32541" y="748407"/>
                    <a:pt x="30537" y="754667"/>
                    <a:pt x="29366" y="761107"/>
                  </a:cubicBezTo>
                  <a:cubicBezTo>
                    <a:pt x="22984" y="796208"/>
                    <a:pt x="27054" y="796610"/>
                    <a:pt x="15078" y="832544"/>
                  </a:cubicBezTo>
                  <a:cubicBezTo>
                    <a:pt x="13491" y="837307"/>
                    <a:pt x="11534" y="841962"/>
                    <a:pt x="10316" y="846832"/>
                  </a:cubicBezTo>
                  <a:cubicBezTo>
                    <a:pt x="4930" y="868375"/>
                    <a:pt x="5553" y="880850"/>
                    <a:pt x="5553" y="861119"/>
                  </a:cubicBezTo>
                </a:path>
              </a:pathLst>
            </a:custGeom>
            <a:ln w="254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4" name="Freeform 13"/>
            <p:cNvSpPr/>
            <p:nvPr/>
          </p:nvSpPr>
          <p:spPr>
            <a:xfrm>
              <a:off x="4933401" y="3643893"/>
              <a:ext cx="357109" cy="1123572"/>
            </a:xfrm>
            <a:custGeom>
              <a:avLst/>
              <a:gdLst>
                <a:gd name="connsiteX0" fmla="*/ 358319 w 358319"/>
                <a:gd name="connsiteY0" fmla="*/ 0 h 1123950"/>
                <a:gd name="connsiteX1" fmla="*/ 353556 w 358319"/>
                <a:gd name="connsiteY1" fmla="*/ 114300 h 1123950"/>
                <a:gd name="connsiteX2" fmla="*/ 348794 w 358319"/>
                <a:gd name="connsiteY2" fmla="*/ 128587 h 1123950"/>
                <a:gd name="connsiteX3" fmla="*/ 344031 w 358319"/>
                <a:gd name="connsiteY3" fmla="*/ 166687 h 1123950"/>
                <a:gd name="connsiteX4" fmla="*/ 339269 w 358319"/>
                <a:gd name="connsiteY4" fmla="*/ 180975 h 1123950"/>
                <a:gd name="connsiteX5" fmla="*/ 334506 w 358319"/>
                <a:gd name="connsiteY5" fmla="*/ 200025 h 1123950"/>
                <a:gd name="connsiteX6" fmla="*/ 329744 w 358319"/>
                <a:gd name="connsiteY6" fmla="*/ 223837 h 1123950"/>
                <a:gd name="connsiteX7" fmla="*/ 324981 w 358319"/>
                <a:gd name="connsiteY7" fmla="*/ 252412 h 1123950"/>
                <a:gd name="connsiteX8" fmla="*/ 315456 w 358319"/>
                <a:gd name="connsiteY8" fmla="*/ 280987 h 1123950"/>
                <a:gd name="connsiteX9" fmla="*/ 301169 w 358319"/>
                <a:gd name="connsiteY9" fmla="*/ 300037 h 1123950"/>
                <a:gd name="connsiteX10" fmla="*/ 286881 w 358319"/>
                <a:gd name="connsiteY10" fmla="*/ 342900 h 1123950"/>
                <a:gd name="connsiteX11" fmla="*/ 282119 w 358319"/>
                <a:gd name="connsiteY11" fmla="*/ 357187 h 1123950"/>
                <a:gd name="connsiteX12" fmla="*/ 263069 w 358319"/>
                <a:gd name="connsiteY12" fmla="*/ 385762 h 1123950"/>
                <a:gd name="connsiteX13" fmla="*/ 258306 w 358319"/>
                <a:gd name="connsiteY13" fmla="*/ 404812 h 1123950"/>
                <a:gd name="connsiteX14" fmla="*/ 248781 w 358319"/>
                <a:gd name="connsiteY14" fmla="*/ 433387 h 1123950"/>
                <a:gd name="connsiteX15" fmla="*/ 244019 w 358319"/>
                <a:gd name="connsiteY15" fmla="*/ 447675 h 1123950"/>
                <a:gd name="connsiteX16" fmla="*/ 229731 w 358319"/>
                <a:gd name="connsiteY16" fmla="*/ 481012 h 1123950"/>
                <a:gd name="connsiteX17" fmla="*/ 205919 w 358319"/>
                <a:gd name="connsiteY17" fmla="*/ 552450 h 1123950"/>
                <a:gd name="connsiteX18" fmla="*/ 201156 w 358319"/>
                <a:gd name="connsiteY18" fmla="*/ 566737 h 1123950"/>
                <a:gd name="connsiteX19" fmla="*/ 196394 w 358319"/>
                <a:gd name="connsiteY19" fmla="*/ 581025 h 1123950"/>
                <a:gd name="connsiteX20" fmla="*/ 186869 w 358319"/>
                <a:gd name="connsiteY20" fmla="*/ 595312 h 1123950"/>
                <a:gd name="connsiteX21" fmla="*/ 177344 w 358319"/>
                <a:gd name="connsiteY21" fmla="*/ 623887 h 1123950"/>
                <a:gd name="connsiteX22" fmla="*/ 158294 w 358319"/>
                <a:gd name="connsiteY22" fmla="*/ 657225 h 1123950"/>
                <a:gd name="connsiteX23" fmla="*/ 144006 w 358319"/>
                <a:gd name="connsiteY23" fmla="*/ 671512 h 1123950"/>
                <a:gd name="connsiteX24" fmla="*/ 124956 w 358319"/>
                <a:gd name="connsiteY24" fmla="*/ 719137 h 1123950"/>
                <a:gd name="connsiteX25" fmla="*/ 120194 w 358319"/>
                <a:gd name="connsiteY25" fmla="*/ 733425 h 1123950"/>
                <a:gd name="connsiteX26" fmla="*/ 110669 w 358319"/>
                <a:gd name="connsiteY26" fmla="*/ 747712 h 1123950"/>
                <a:gd name="connsiteX27" fmla="*/ 105906 w 358319"/>
                <a:gd name="connsiteY27" fmla="*/ 762000 h 1123950"/>
                <a:gd name="connsiteX28" fmla="*/ 86856 w 358319"/>
                <a:gd name="connsiteY28" fmla="*/ 790575 h 1123950"/>
                <a:gd name="connsiteX29" fmla="*/ 72569 w 358319"/>
                <a:gd name="connsiteY29" fmla="*/ 819150 h 1123950"/>
                <a:gd name="connsiteX30" fmla="*/ 58281 w 358319"/>
                <a:gd name="connsiteY30" fmla="*/ 866775 h 1123950"/>
                <a:gd name="connsiteX31" fmla="*/ 48756 w 358319"/>
                <a:gd name="connsiteY31" fmla="*/ 895350 h 1123950"/>
                <a:gd name="connsiteX32" fmla="*/ 43994 w 358319"/>
                <a:gd name="connsiteY32" fmla="*/ 909637 h 1123950"/>
                <a:gd name="connsiteX33" fmla="*/ 29706 w 358319"/>
                <a:gd name="connsiteY33" fmla="*/ 957262 h 1123950"/>
                <a:gd name="connsiteX34" fmla="*/ 20181 w 358319"/>
                <a:gd name="connsiteY34" fmla="*/ 995362 h 1123950"/>
                <a:gd name="connsiteX35" fmla="*/ 10656 w 358319"/>
                <a:gd name="connsiteY35" fmla="*/ 1023937 h 1123950"/>
                <a:gd name="connsiteX36" fmla="*/ 5894 w 358319"/>
                <a:gd name="connsiteY36" fmla="*/ 1057275 h 1123950"/>
                <a:gd name="connsiteX37" fmla="*/ 1131 w 358319"/>
                <a:gd name="connsiteY37" fmla="*/ 1076325 h 1123950"/>
                <a:gd name="connsiteX38" fmla="*/ 1131 w 358319"/>
                <a:gd name="connsiteY38" fmla="*/ 1123950 h 112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8319" h="1123950">
                  <a:moveTo>
                    <a:pt x="358319" y="0"/>
                  </a:moveTo>
                  <a:cubicBezTo>
                    <a:pt x="356731" y="38100"/>
                    <a:pt x="356373" y="76271"/>
                    <a:pt x="353556" y="114300"/>
                  </a:cubicBezTo>
                  <a:cubicBezTo>
                    <a:pt x="353185" y="119306"/>
                    <a:pt x="349692" y="123648"/>
                    <a:pt x="348794" y="128587"/>
                  </a:cubicBezTo>
                  <a:cubicBezTo>
                    <a:pt x="346504" y="141179"/>
                    <a:pt x="346321" y="154095"/>
                    <a:pt x="344031" y="166687"/>
                  </a:cubicBezTo>
                  <a:cubicBezTo>
                    <a:pt x="343133" y="171626"/>
                    <a:pt x="340648" y="176148"/>
                    <a:pt x="339269" y="180975"/>
                  </a:cubicBezTo>
                  <a:cubicBezTo>
                    <a:pt x="337471" y="187269"/>
                    <a:pt x="335926" y="193635"/>
                    <a:pt x="334506" y="200025"/>
                  </a:cubicBezTo>
                  <a:cubicBezTo>
                    <a:pt x="332750" y="207927"/>
                    <a:pt x="331192" y="215873"/>
                    <a:pt x="329744" y="223837"/>
                  </a:cubicBezTo>
                  <a:cubicBezTo>
                    <a:pt x="328017" y="233338"/>
                    <a:pt x="327323" y="243044"/>
                    <a:pt x="324981" y="252412"/>
                  </a:cubicBezTo>
                  <a:cubicBezTo>
                    <a:pt x="322546" y="262152"/>
                    <a:pt x="321480" y="272955"/>
                    <a:pt x="315456" y="280987"/>
                  </a:cubicBezTo>
                  <a:lnTo>
                    <a:pt x="301169" y="300037"/>
                  </a:lnTo>
                  <a:lnTo>
                    <a:pt x="286881" y="342900"/>
                  </a:lnTo>
                  <a:cubicBezTo>
                    <a:pt x="285294" y="347662"/>
                    <a:pt x="284904" y="353010"/>
                    <a:pt x="282119" y="357187"/>
                  </a:cubicBezTo>
                  <a:lnTo>
                    <a:pt x="263069" y="385762"/>
                  </a:lnTo>
                  <a:cubicBezTo>
                    <a:pt x="261481" y="392112"/>
                    <a:pt x="260187" y="398543"/>
                    <a:pt x="258306" y="404812"/>
                  </a:cubicBezTo>
                  <a:cubicBezTo>
                    <a:pt x="255421" y="414429"/>
                    <a:pt x="251956" y="423862"/>
                    <a:pt x="248781" y="433387"/>
                  </a:cubicBezTo>
                  <a:cubicBezTo>
                    <a:pt x="247194" y="438150"/>
                    <a:pt x="245237" y="442805"/>
                    <a:pt x="244019" y="447675"/>
                  </a:cubicBezTo>
                  <a:cubicBezTo>
                    <a:pt x="237868" y="472278"/>
                    <a:pt x="242887" y="461279"/>
                    <a:pt x="229731" y="481012"/>
                  </a:cubicBezTo>
                  <a:lnTo>
                    <a:pt x="205919" y="552450"/>
                  </a:lnTo>
                  <a:lnTo>
                    <a:pt x="201156" y="566737"/>
                  </a:lnTo>
                  <a:cubicBezTo>
                    <a:pt x="199568" y="571500"/>
                    <a:pt x="199179" y="576848"/>
                    <a:pt x="196394" y="581025"/>
                  </a:cubicBezTo>
                  <a:cubicBezTo>
                    <a:pt x="193219" y="585787"/>
                    <a:pt x="189194" y="590082"/>
                    <a:pt x="186869" y="595312"/>
                  </a:cubicBezTo>
                  <a:cubicBezTo>
                    <a:pt x="182791" y="604487"/>
                    <a:pt x="181834" y="614907"/>
                    <a:pt x="177344" y="623887"/>
                  </a:cubicBezTo>
                  <a:cubicBezTo>
                    <a:pt x="171522" y="635530"/>
                    <a:pt x="166707" y="647129"/>
                    <a:pt x="158294" y="657225"/>
                  </a:cubicBezTo>
                  <a:cubicBezTo>
                    <a:pt x="153982" y="662399"/>
                    <a:pt x="148769" y="666750"/>
                    <a:pt x="144006" y="671512"/>
                  </a:cubicBezTo>
                  <a:cubicBezTo>
                    <a:pt x="122321" y="736568"/>
                    <a:pt x="145982" y="670073"/>
                    <a:pt x="124956" y="719137"/>
                  </a:cubicBezTo>
                  <a:cubicBezTo>
                    <a:pt x="122979" y="723751"/>
                    <a:pt x="122439" y="728935"/>
                    <a:pt x="120194" y="733425"/>
                  </a:cubicBezTo>
                  <a:cubicBezTo>
                    <a:pt x="117634" y="738544"/>
                    <a:pt x="113229" y="742593"/>
                    <a:pt x="110669" y="747712"/>
                  </a:cubicBezTo>
                  <a:cubicBezTo>
                    <a:pt x="108424" y="752202"/>
                    <a:pt x="108344" y="757611"/>
                    <a:pt x="105906" y="762000"/>
                  </a:cubicBezTo>
                  <a:cubicBezTo>
                    <a:pt x="100347" y="772007"/>
                    <a:pt x="86856" y="790575"/>
                    <a:pt x="86856" y="790575"/>
                  </a:cubicBezTo>
                  <a:cubicBezTo>
                    <a:pt x="69492" y="842672"/>
                    <a:pt x="97185" y="763764"/>
                    <a:pt x="72569" y="819150"/>
                  </a:cubicBezTo>
                  <a:cubicBezTo>
                    <a:pt x="62209" y="842459"/>
                    <a:pt x="64674" y="845466"/>
                    <a:pt x="58281" y="866775"/>
                  </a:cubicBezTo>
                  <a:cubicBezTo>
                    <a:pt x="55396" y="876392"/>
                    <a:pt x="51931" y="885825"/>
                    <a:pt x="48756" y="895350"/>
                  </a:cubicBezTo>
                  <a:cubicBezTo>
                    <a:pt x="47169" y="900112"/>
                    <a:pt x="45212" y="904767"/>
                    <a:pt x="43994" y="909637"/>
                  </a:cubicBezTo>
                  <a:cubicBezTo>
                    <a:pt x="36795" y="938432"/>
                    <a:pt x="41302" y="922471"/>
                    <a:pt x="29706" y="957262"/>
                  </a:cubicBezTo>
                  <a:cubicBezTo>
                    <a:pt x="15258" y="1000609"/>
                    <a:pt x="37420" y="932154"/>
                    <a:pt x="20181" y="995362"/>
                  </a:cubicBezTo>
                  <a:cubicBezTo>
                    <a:pt x="17539" y="1005048"/>
                    <a:pt x="10656" y="1023937"/>
                    <a:pt x="10656" y="1023937"/>
                  </a:cubicBezTo>
                  <a:cubicBezTo>
                    <a:pt x="9069" y="1035050"/>
                    <a:pt x="7902" y="1046231"/>
                    <a:pt x="5894" y="1057275"/>
                  </a:cubicBezTo>
                  <a:cubicBezTo>
                    <a:pt x="4723" y="1063715"/>
                    <a:pt x="1597" y="1069796"/>
                    <a:pt x="1131" y="1076325"/>
                  </a:cubicBezTo>
                  <a:cubicBezTo>
                    <a:pt x="0" y="1092160"/>
                    <a:pt x="1131" y="1108075"/>
                    <a:pt x="1131" y="1123950"/>
                  </a:cubicBezTo>
                </a:path>
              </a:pathLst>
            </a:custGeom>
            <a:ln w="254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5" name="Freeform 14"/>
            <p:cNvSpPr/>
            <p:nvPr/>
          </p:nvSpPr>
          <p:spPr>
            <a:xfrm>
              <a:off x="5041328" y="3915264"/>
              <a:ext cx="401550" cy="937897"/>
            </a:xfrm>
            <a:custGeom>
              <a:avLst/>
              <a:gdLst>
                <a:gd name="connsiteX0" fmla="*/ 401917 w 401917"/>
                <a:gd name="connsiteY0" fmla="*/ 390525 h 939164"/>
                <a:gd name="connsiteX1" fmla="*/ 382867 w 401917"/>
                <a:gd name="connsiteY1" fmla="*/ 361950 h 939164"/>
                <a:gd name="connsiteX2" fmla="*/ 368579 w 401917"/>
                <a:gd name="connsiteY2" fmla="*/ 319088 h 939164"/>
                <a:gd name="connsiteX3" fmla="*/ 363817 w 401917"/>
                <a:gd name="connsiteY3" fmla="*/ 304800 h 939164"/>
                <a:gd name="connsiteX4" fmla="*/ 354292 w 401917"/>
                <a:gd name="connsiteY4" fmla="*/ 266700 h 939164"/>
                <a:gd name="connsiteX5" fmla="*/ 349529 w 401917"/>
                <a:gd name="connsiteY5" fmla="*/ 157163 h 939164"/>
                <a:gd name="connsiteX6" fmla="*/ 340004 w 401917"/>
                <a:gd name="connsiteY6" fmla="*/ 71438 h 939164"/>
                <a:gd name="connsiteX7" fmla="*/ 335242 w 401917"/>
                <a:gd name="connsiteY7" fmla="*/ 0 h 939164"/>
                <a:gd name="connsiteX8" fmla="*/ 330479 w 401917"/>
                <a:gd name="connsiteY8" fmla="*/ 61913 h 939164"/>
                <a:gd name="connsiteX9" fmla="*/ 320954 w 401917"/>
                <a:gd name="connsiteY9" fmla="*/ 204788 h 939164"/>
                <a:gd name="connsiteX10" fmla="*/ 306667 w 401917"/>
                <a:gd name="connsiteY10" fmla="*/ 242888 h 939164"/>
                <a:gd name="connsiteX11" fmla="*/ 297142 w 401917"/>
                <a:gd name="connsiteY11" fmla="*/ 276225 h 939164"/>
                <a:gd name="connsiteX12" fmla="*/ 282854 w 401917"/>
                <a:gd name="connsiteY12" fmla="*/ 314325 h 939164"/>
                <a:gd name="connsiteX13" fmla="*/ 259042 w 401917"/>
                <a:gd name="connsiteY13" fmla="*/ 352425 h 939164"/>
                <a:gd name="connsiteX14" fmla="*/ 239992 w 401917"/>
                <a:gd name="connsiteY14" fmla="*/ 395288 h 939164"/>
                <a:gd name="connsiteX15" fmla="*/ 230467 w 401917"/>
                <a:gd name="connsiteY15" fmla="*/ 414338 h 939164"/>
                <a:gd name="connsiteX16" fmla="*/ 216179 w 401917"/>
                <a:gd name="connsiteY16" fmla="*/ 419100 h 939164"/>
                <a:gd name="connsiteX17" fmla="*/ 197129 w 401917"/>
                <a:gd name="connsiteY17" fmla="*/ 452438 h 939164"/>
                <a:gd name="connsiteX18" fmla="*/ 163792 w 401917"/>
                <a:gd name="connsiteY18" fmla="*/ 485775 h 939164"/>
                <a:gd name="connsiteX19" fmla="*/ 154267 w 401917"/>
                <a:gd name="connsiteY19" fmla="*/ 500063 h 939164"/>
                <a:gd name="connsiteX20" fmla="*/ 139979 w 401917"/>
                <a:gd name="connsiteY20" fmla="*/ 504825 h 939164"/>
                <a:gd name="connsiteX21" fmla="*/ 120929 w 401917"/>
                <a:gd name="connsiteY21" fmla="*/ 523875 h 939164"/>
                <a:gd name="connsiteX22" fmla="*/ 111404 w 401917"/>
                <a:gd name="connsiteY22" fmla="*/ 538163 h 939164"/>
                <a:gd name="connsiteX23" fmla="*/ 97117 w 401917"/>
                <a:gd name="connsiteY23" fmla="*/ 547688 h 939164"/>
                <a:gd name="connsiteX24" fmla="*/ 92354 w 401917"/>
                <a:gd name="connsiteY24" fmla="*/ 561975 h 939164"/>
                <a:gd name="connsiteX25" fmla="*/ 82829 w 401917"/>
                <a:gd name="connsiteY25" fmla="*/ 576263 h 939164"/>
                <a:gd name="connsiteX26" fmla="*/ 78067 w 401917"/>
                <a:gd name="connsiteY26" fmla="*/ 590550 h 939164"/>
                <a:gd name="connsiteX27" fmla="*/ 59017 w 401917"/>
                <a:gd name="connsiteY27" fmla="*/ 619125 h 939164"/>
                <a:gd name="connsiteX28" fmla="*/ 49492 w 401917"/>
                <a:gd name="connsiteY28" fmla="*/ 647700 h 939164"/>
                <a:gd name="connsiteX29" fmla="*/ 39967 w 401917"/>
                <a:gd name="connsiteY29" fmla="*/ 661988 h 939164"/>
                <a:gd name="connsiteX30" fmla="*/ 20917 w 401917"/>
                <a:gd name="connsiteY30" fmla="*/ 704850 h 939164"/>
                <a:gd name="connsiteX31" fmla="*/ 16154 w 401917"/>
                <a:gd name="connsiteY31" fmla="*/ 752475 h 939164"/>
                <a:gd name="connsiteX32" fmla="*/ 6629 w 401917"/>
                <a:gd name="connsiteY32" fmla="*/ 838200 h 939164"/>
                <a:gd name="connsiteX33" fmla="*/ 1867 w 401917"/>
                <a:gd name="connsiteY33" fmla="*/ 933450 h 939164"/>
                <a:gd name="connsiteX34" fmla="*/ 11392 w 401917"/>
                <a:gd name="connsiteY34" fmla="*/ 919163 h 939164"/>
                <a:gd name="connsiteX35" fmla="*/ 16154 w 401917"/>
                <a:gd name="connsiteY35" fmla="*/ 890588 h 939164"/>
                <a:gd name="connsiteX36" fmla="*/ 25679 w 401917"/>
                <a:gd name="connsiteY36" fmla="*/ 847725 h 939164"/>
                <a:gd name="connsiteX37" fmla="*/ 30442 w 401917"/>
                <a:gd name="connsiteY37" fmla="*/ 814388 h 939164"/>
                <a:gd name="connsiteX38" fmla="*/ 39967 w 401917"/>
                <a:gd name="connsiteY38" fmla="*/ 800100 h 939164"/>
                <a:gd name="connsiteX39" fmla="*/ 59017 w 401917"/>
                <a:gd name="connsiteY39" fmla="*/ 757238 h 939164"/>
                <a:gd name="connsiteX40" fmla="*/ 73304 w 401917"/>
                <a:gd name="connsiteY40" fmla="*/ 742950 h 939164"/>
                <a:gd name="connsiteX41" fmla="*/ 92354 w 401917"/>
                <a:gd name="connsiteY41" fmla="*/ 714375 h 939164"/>
                <a:gd name="connsiteX42" fmla="*/ 101879 w 401917"/>
                <a:gd name="connsiteY42" fmla="*/ 700088 h 939164"/>
                <a:gd name="connsiteX43" fmla="*/ 116167 w 401917"/>
                <a:gd name="connsiteY43" fmla="*/ 690563 h 939164"/>
                <a:gd name="connsiteX44" fmla="*/ 135217 w 401917"/>
                <a:gd name="connsiteY44" fmla="*/ 666750 h 939164"/>
                <a:gd name="connsiteX45" fmla="*/ 144742 w 401917"/>
                <a:gd name="connsiteY45" fmla="*/ 652463 h 939164"/>
                <a:gd name="connsiteX46" fmla="*/ 173317 w 401917"/>
                <a:gd name="connsiteY46" fmla="*/ 633413 h 939164"/>
                <a:gd name="connsiteX47" fmla="*/ 182842 w 401917"/>
                <a:gd name="connsiteY47" fmla="*/ 619125 h 939164"/>
                <a:gd name="connsiteX48" fmla="*/ 225704 w 401917"/>
                <a:gd name="connsiteY48" fmla="*/ 595313 h 939164"/>
                <a:gd name="connsiteX49" fmla="*/ 235229 w 401917"/>
                <a:gd name="connsiteY49" fmla="*/ 623888 h 939164"/>
                <a:gd name="connsiteX50" fmla="*/ 239992 w 401917"/>
                <a:gd name="connsiteY50" fmla="*/ 638175 h 939164"/>
                <a:gd name="connsiteX51" fmla="*/ 249517 w 401917"/>
                <a:gd name="connsiteY51" fmla="*/ 652463 h 939164"/>
                <a:gd name="connsiteX52" fmla="*/ 259042 w 401917"/>
                <a:gd name="connsiteY52" fmla="*/ 681038 h 939164"/>
                <a:gd name="connsiteX53" fmla="*/ 263804 w 401917"/>
                <a:gd name="connsiteY53" fmla="*/ 695325 h 939164"/>
                <a:gd name="connsiteX54" fmla="*/ 244754 w 401917"/>
                <a:gd name="connsiteY54" fmla="*/ 666750 h 939164"/>
                <a:gd name="connsiteX55" fmla="*/ 235229 w 401917"/>
                <a:gd name="connsiteY55" fmla="*/ 652463 h 939164"/>
                <a:gd name="connsiteX56" fmla="*/ 225704 w 401917"/>
                <a:gd name="connsiteY56" fmla="*/ 623888 h 939164"/>
                <a:gd name="connsiteX57" fmla="*/ 220942 w 401917"/>
                <a:gd name="connsiteY57" fmla="*/ 609600 h 939164"/>
                <a:gd name="connsiteX58" fmla="*/ 211417 w 401917"/>
                <a:gd name="connsiteY58" fmla="*/ 590550 h 939164"/>
                <a:gd name="connsiteX59" fmla="*/ 211417 w 401917"/>
                <a:gd name="connsiteY59" fmla="*/ 514350 h 939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01917" h="939164">
                  <a:moveTo>
                    <a:pt x="401917" y="390525"/>
                  </a:moveTo>
                  <a:cubicBezTo>
                    <a:pt x="395567" y="381000"/>
                    <a:pt x="386487" y="372810"/>
                    <a:pt x="382867" y="361950"/>
                  </a:cubicBezTo>
                  <a:lnTo>
                    <a:pt x="368579" y="319088"/>
                  </a:lnTo>
                  <a:cubicBezTo>
                    <a:pt x="366991" y="314325"/>
                    <a:pt x="364802" y="309723"/>
                    <a:pt x="363817" y="304800"/>
                  </a:cubicBezTo>
                  <a:cubicBezTo>
                    <a:pt x="358069" y="276065"/>
                    <a:pt x="361613" y="288667"/>
                    <a:pt x="354292" y="266700"/>
                  </a:cubicBezTo>
                  <a:cubicBezTo>
                    <a:pt x="352704" y="230188"/>
                    <a:pt x="352196" y="193612"/>
                    <a:pt x="349529" y="157163"/>
                  </a:cubicBezTo>
                  <a:cubicBezTo>
                    <a:pt x="347431" y="128489"/>
                    <a:pt x="341916" y="100125"/>
                    <a:pt x="340004" y="71438"/>
                  </a:cubicBezTo>
                  <a:lnTo>
                    <a:pt x="335242" y="0"/>
                  </a:lnTo>
                  <a:cubicBezTo>
                    <a:pt x="333654" y="20638"/>
                    <a:pt x="331770" y="41255"/>
                    <a:pt x="330479" y="61913"/>
                  </a:cubicBezTo>
                  <a:cubicBezTo>
                    <a:pt x="328638" y="91363"/>
                    <a:pt x="326221" y="167920"/>
                    <a:pt x="320954" y="204788"/>
                  </a:cubicBezTo>
                  <a:cubicBezTo>
                    <a:pt x="320118" y="210642"/>
                    <a:pt x="306767" y="242589"/>
                    <a:pt x="306667" y="242888"/>
                  </a:cubicBezTo>
                  <a:cubicBezTo>
                    <a:pt x="303012" y="253852"/>
                    <a:pt x="300183" y="265075"/>
                    <a:pt x="297142" y="276225"/>
                  </a:cubicBezTo>
                  <a:cubicBezTo>
                    <a:pt x="283884" y="324834"/>
                    <a:pt x="302652" y="264830"/>
                    <a:pt x="282854" y="314325"/>
                  </a:cubicBezTo>
                  <a:cubicBezTo>
                    <a:pt x="268428" y="350391"/>
                    <a:pt x="283445" y="336156"/>
                    <a:pt x="259042" y="352425"/>
                  </a:cubicBezTo>
                  <a:cubicBezTo>
                    <a:pt x="242412" y="402315"/>
                    <a:pt x="258105" y="363590"/>
                    <a:pt x="239992" y="395288"/>
                  </a:cubicBezTo>
                  <a:cubicBezTo>
                    <a:pt x="236470" y="401452"/>
                    <a:pt x="235487" y="409318"/>
                    <a:pt x="230467" y="414338"/>
                  </a:cubicBezTo>
                  <a:cubicBezTo>
                    <a:pt x="226917" y="417888"/>
                    <a:pt x="220942" y="417513"/>
                    <a:pt x="216179" y="419100"/>
                  </a:cubicBezTo>
                  <a:cubicBezTo>
                    <a:pt x="206625" y="466878"/>
                    <a:pt x="220747" y="425446"/>
                    <a:pt x="197129" y="452438"/>
                  </a:cubicBezTo>
                  <a:cubicBezTo>
                    <a:pt x="165661" y="488401"/>
                    <a:pt x="193164" y="475985"/>
                    <a:pt x="163792" y="485775"/>
                  </a:cubicBezTo>
                  <a:cubicBezTo>
                    <a:pt x="160617" y="490538"/>
                    <a:pt x="158737" y="496487"/>
                    <a:pt x="154267" y="500063"/>
                  </a:cubicBezTo>
                  <a:cubicBezTo>
                    <a:pt x="150347" y="503199"/>
                    <a:pt x="143529" y="501275"/>
                    <a:pt x="139979" y="504825"/>
                  </a:cubicBezTo>
                  <a:cubicBezTo>
                    <a:pt x="114579" y="530225"/>
                    <a:pt x="159030" y="511176"/>
                    <a:pt x="120929" y="523875"/>
                  </a:cubicBezTo>
                  <a:cubicBezTo>
                    <a:pt x="117754" y="528638"/>
                    <a:pt x="115451" y="534115"/>
                    <a:pt x="111404" y="538163"/>
                  </a:cubicBezTo>
                  <a:cubicBezTo>
                    <a:pt x="107357" y="542210"/>
                    <a:pt x="100693" y="543219"/>
                    <a:pt x="97117" y="547688"/>
                  </a:cubicBezTo>
                  <a:cubicBezTo>
                    <a:pt x="93981" y="551608"/>
                    <a:pt x="94599" y="557485"/>
                    <a:pt x="92354" y="561975"/>
                  </a:cubicBezTo>
                  <a:cubicBezTo>
                    <a:pt x="89794" y="567095"/>
                    <a:pt x="86004" y="571500"/>
                    <a:pt x="82829" y="576263"/>
                  </a:cubicBezTo>
                  <a:cubicBezTo>
                    <a:pt x="81242" y="581025"/>
                    <a:pt x="80505" y="586162"/>
                    <a:pt x="78067" y="590550"/>
                  </a:cubicBezTo>
                  <a:cubicBezTo>
                    <a:pt x="72508" y="600557"/>
                    <a:pt x="62637" y="608265"/>
                    <a:pt x="59017" y="619125"/>
                  </a:cubicBezTo>
                  <a:cubicBezTo>
                    <a:pt x="55842" y="628650"/>
                    <a:pt x="55061" y="639346"/>
                    <a:pt x="49492" y="647700"/>
                  </a:cubicBezTo>
                  <a:cubicBezTo>
                    <a:pt x="46317" y="652463"/>
                    <a:pt x="42292" y="656757"/>
                    <a:pt x="39967" y="661988"/>
                  </a:cubicBezTo>
                  <a:cubicBezTo>
                    <a:pt x="17299" y="712992"/>
                    <a:pt x="42472" y="672518"/>
                    <a:pt x="20917" y="704850"/>
                  </a:cubicBezTo>
                  <a:cubicBezTo>
                    <a:pt x="19329" y="720725"/>
                    <a:pt x="18133" y="736644"/>
                    <a:pt x="16154" y="752475"/>
                  </a:cubicBezTo>
                  <a:cubicBezTo>
                    <a:pt x="7680" y="820265"/>
                    <a:pt x="13321" y="731123"/>
                    <a:pt x="6629" y="838200"/>
                  </a:cubicBezTo>
                  <a:cubicBezTo>
                    <a:pt x="4646" y="869928"/>
                    <a:pt x="0" y="901715"/>
                    <a:pt x="1867" y="933450"/>
                  </a:cubicBezTo>
                  <a:cubicBezTo>
                    <a:pt x="2203" y="939164"/>
                    <a:pt x="8217" y="923925"/>
                    <a:pt x="11392" y="919163"/>
                  </a:cubicBezTo>
                  <a:cubicBezTo>
                    <a:pt x="12979" y="909638"/>
                    <a:pt x="14260" y="900057"/>
                    <a:pt x="16154" y="890588"/>
                  </a:cubicBezTo>
                  <a:cubicBezTo>
                    <a:pt x="24724" y="847736"/>
                    <a:pt x="17353" y="897681"/>
                    <a:pt x="25679" y="847725"/>
                  </a:cubicBezTo>
                  <a:cubicBezTo>
                    <a:pt x="27524" y="836653"/>
                    <a:pt x="27216" y="825140"/>
                    <a:pt x="30442" y="814388"/>
                  </a:cubicBezTo>
                  <a:cubicBezTo>
                    <a:pt x="32087" y="808905"/>
                    <a:pt x="37407" y="805220"/>
                    <a:pt x="39967" y="800100"/>
                  </a:cubicBezTo>
                  <a:cubicBezTo>
                    <a:pt x="46190" y="787653"/>
                    <a:pt x="50601" y="769021"/>
                    <a:pt x="59017" y="757238"/>
                  </a:cubicBezTo>
                  <a:cubicBezTo>
                    <a:pt x="62932" y="751757"/>
                    <a:pt x="69169" y="748266"/>
                    <a:pt x="73304" y="742950"/>
                  </a:cubicBezTo>
                  <a:cubicBezTo>
                    <a:pt x="80332" y="733914"/>
                    <a:pt x="86004" y="723900"/>
                    <a:pt x="92354" y="714375"/>
                  </a:cubicBezTo>
                  <a:cubicBezTo>
                    <a:pt x="95529" y="709613"/>
                    <a:pt x="97117" y="703263"/>
                    <a:pt x="101879" y="700088"/>
                  </a:cubicBezTo>
                  <a:lnTo>
                    <a:pt x="116167" y="690563"/>
                  </a:lnTo>
                  <a:cubicBezTo>
                    <a:pt x="125437" y="662748"/>
                    <a:pt x="113675" y="688291"/>
                    <a:pt x="135217" y="666750"/>
                  </a:cubicBezTo>
                  <a:cubicBezTo>
                    <a:pt x="139264" y="662703"/>
                    <a:pt x="140434" y="656232"/>
                    <a:pt x="144742" y="652463"/>
                  </a:cubicBezTo>
                  <a:cubicBezTo>
                    <a:pt x="153357" y="644925"/>
                    <a:pt x="173317" y="633413"/>
                    <a:pt x="173317" y="633413"/>
                  </a:cubicBezTo>
                  <a:cubicBezTo>
                    <a:pt x="176492" y="628650"/>
                    <a:pt x="178534" y="622894"/>
                    <a:pt x="182842" y="619125"/>
                  </a:cubicBezTo>
                  <a:cubicBezTo>
                    <a:pt x="202997" y="601489"/>
                    <a:pt x="206081" y="601854"/>
                    <a:pt x="225704" y="595313"/>
                  </a:cubicBezTo>
                  <a:lnTo>
                    <a:pt x="235229" y="623888"/>
                  </a:lnTo>
                  <a:cubicBezTo>
                    <a:pt x="236817" y="628650"/>
                    <a:pt x="237207" y="633998"/>
                    <a:pt x="239992" y="638175"/>
                  </a:cubicBezTo>
                  <a:lnTo>
                    <a:pt x="249517" y="652463"/>
                  </a:lnTo>
                  <a:lnTo>
                    <a:pt x="259042" y="681038"/>
                  </a:lnTo>
                  <a:cubicBezTo>
                    <a:pt x="260629" y="685800"/>
                    <a:pt x="266589" y="699502"/>
                    <a:pt x="263804" y="695325"/>
                  </a:cubicBezTo>
                  <a:lnTo>
                    <a:pt x="244754" y="666750"/>
                  </a:lnTo>
                  <a:lnTo>
                    <a:pt x="235229" y="652463"/>
                  </a:lnTo>
                  <a:lnTo>
                    <a:pt x="225704" y="623888"/>
                  </a:lnTo>
                  <a:cubicBezTo>
                    <a:pt x="224117" y="619125"/>
                    <a:pt x="223187" y="614090"/>
                    <a:pt x="220942" y="609600"/>
                  </a:cubicBezTo>
                  <a:cubicBezTo>
                    <a:pt x="217767" y="603250"/>
                    <a:pt x="212123" y="597614"/>
                    <a:pt x="211417" y="590550"/>
                  </a:cubicBezTo>
                  <a:cubicBezTo>
                    <a:pt x="208890" y="565276"/>
                    <a:pt x="211417" y="539750"/>
                    <a:pt x="211417" y="514350"/>
                  </a:cubicBezTo>
                </a:path>
              </a:pathLst>
            </a:custGeom>
            <a:ln w="254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6" name="Freeform 15"/>
            <p:cNvSpPr/>
            <p:nvPr/>
          </p:nvSpPr>
          <p:spPr>
            <a:xfrm>
              <a:off x="5069896" y="4448484"/>
              <a:ext cx="515824" cy="609395"/>
            </a:xfrm>
            <a:custGeom>
              <a:avLst/>
              <a:gdLst>
                <a:gd name="connsiteX0" fmla="*/ 478495 w 515972"/>
                <a:gd name="connsiteY0" fmla="*/ 252413 h 610425"/>
                <a:gd name="connsiteX1" fmla="*/ 497545 w 515972"/>
                <a:gd name="connsiteY1" fmla="*/ 219075 h 610425"/>
                <a:gd name="connsiteX2" fmla="*/ 483257 w 515972"/>
                <a:gd name="connsiteY2" fmla="*/ 204788 h 610425"/>
                <a:gd name="connsiteX3" fmla="*/ 459445 w 515972"/>
                <a:gd name="connsiteY3" fmla="*/ 161925 h 610425"/>
                <a:gd name="connsiteX4" fmla="*/ 449920 w 515972"/>
                <a:gd name="connsiteY4" fmla="*/ 147638 h 610425"/>
                <a:gd name="connsiteX5" fmla="*/ 426107 w 515972"/>
                <a:gd name="connsiteY5" fmla="*/ 104775 h 610425"/>
                <a:gd name="connsiteX6" fmla="*/ 416582 w 515972"/>
                <a:gd name="connsiteY6" fmla="*/ 71438 h 610425"/>
                <a:gd name="connsiteX7" fmla="*/ 402295 w 515972"/>
                <a:gd name="connsiteY7" fmla="*/ 28575 h 610425"/>
                <a:gd name="connsiteX8" fmla="*/ 397532 w 515972"/>
                <a:gd name="connsiteY8" fmla="*/ 14288 h 610425"/>
                <a:gd name="connsiteX9" fmla="*/ 392770 w 515972"/>
                <a:gd name="connsiteY9" fmla="*/ 0 h 610425"/>
                <a:gd name="connsiteX10" fmla="*/ 383245 w 515972"/>
                <a:gd name="connsiteY10" fmla="*/ 14288 h 610425"/>
                <a:gd name="connsiteX11" fmla="*/ 378482 w 515972"/>
                <a:gd name="connsiteY11" fmla="*/ 38100 h 610425"/>
                <a:gd name="connsiteX12" fmla="*/ 368957 w 515972"/>
                <a:gd name="connsiteY12" fmla="*/ 57150 h 610425"/>
                <a:gd name="connsiteX13" fmla="*/ 364195 w 515972"/>
                <a:gd name="connsiteY13" fmla="*/ 71438 h 610425"/>
                <a:gd name="connsiteX14" fmla="*/ 345145 w 515972"/>
                <a:gd name="connsiteY14" fmla="*/ 100013 h 610425"/>
                <a:gd name="connsiteX15" fmla="*/ 321332 w 515972"/>
                <a:gd name="connsiteY15" fmla="*/ 142875 h 610425"/>
                <a:gd name="connsiteX16" fmla="*/ 311807 w 515972"/>
                <a:gd name="connsiteY16" fmla="*/ 161925 h 610425"/>
                <a:gd name="connsiteX17" fmla="*/ 292757 w 515972"/>
                <a:gd name="connsiteY17" fmla="*/ 190500 h 610425"/>
                <a:gd name="connsiteX18" fmla="*/ 264182 w 515972"/>
                <a:gd name="connsiteY18" fmla="*/ 238125 h 610425"/>
                <a:gd name="connsiteX19" fmla="*/ 249895 w 515972"/>
                <a:gd name="connsiteY19" fmla="*/ 247650 h 610425"/>
                <a:gd name="connsiteX20" fmla="*/ 254657 w 515972"/>
                <a:gd name="connsiteY20" fmla="*/ 290513 h 610425"/>
                <a:gd name="connsiteX21" fmla="*/ 264182 w 515972"/>
                <a:gd name="connsiteY21" fmla="*/ 319088 h 610425"/>
                <a:gd name="connsiteX22" fmla="*/ 273707 w 515972"/>
                <a:gd name="connsiteY22" fmla="*/ 357188 h 610425"/>
                <a:gd name="connsiteX23" fmla="*/ 264182 w 515972"/>
                <a:gd name="connsiteY23" fmla="*/ 376238 h 610425"/>
                <a:gd name="connsiteX24" fmla="*/ 259420 w 515972"/>
                <a:gd name="connsiteY24" fmla="*/ 400050 h 610425"/>
                <a:gd name="connsiteX25" fmla="*/ 245132 w 515972"/>
                <a:gd name="connsiteY25" fmla="*/ 414338 h 610425"/>
                <a:gd name="connsiteX26" fmla="*/ 240370 w 515972"/>
                <a:gd name="connsiteY26" fmla="*/ 433388 h 610425"/>
                <a:gd name="connsiteX27" fmla="*/ 230845 w 515972"/>
                <a:gd name="connsiteY27" fmla="*/ 447675 h 610425"/>
                <a:gd name="connsiteX28" fmla="*/ 235607 w 515972"/>
                <a:gd name="connsiteY28" fmla="*/ 428625 h 610425"/>
                <a:gd name="connsiteX29" fmla="*/ 245132 w 515972"/>
                <a:gd name="connsiteY29" fmla="*/ 400050 h 610425"/>
                <a:gd name="connsiteX30" fmla="*/ 249895 w 515972"/>
                <a:gd name="connsiteY30" fmla="*/ 385763 h 610425"/>
                <a:gd name="connsiteX31" fmla="*/ 240370 w 515972"/>
                <a:gd name="connsiteY31" fmla="*/ 338138 h 610425"/>
                <a:gd name="connsiteX32" fmla="*/ 230845 w 515972"/>
                <a:gd name="connsiteY32" fmla="*/ 309563 h 610425"/>
                <a:gd name="connsiteX33" fmla="*/ 226082 w 515972"/>
                <a:gd name="connsiteY33" fmla="*/ 295275 h 610425"/>
                <a:gd name="connsiteX34" fmla="*/ 230845 w 515972"/>
                <a:gd name="connsiteY34" fmla="*/ 276225 h 610425"/>
                <a:gd name="connsiteX35" fmla="*/ 221320 w 515972"/>
                <a:gd name="connsiteY35" fmla="*/ 304800 h 610425"/>
                <a:gd name="connsiteX36" fmla="*/ 216557 w 515972"/>
                <a:gd name="connsiteY36" fmla="*/ 319088 h 610425"/>
                <a:gd name="connsiteX37" fmla="*/ 202270 w 515972"/>
                <a:gd name="connsiteY37" fmla="*/ 328613 h 610425"/>
                <a:gd name="connsiteX38" fmla="*/ 197507 w 515972"/>
                <a:gd name="connsiteY38" fmla="*/ 342900 h 610425"/>
                <a:gd name="connsiteX39" fmla="*/ 173695 w 515972"/>
                <a:gd name="connsiteY39" fmla="*/ 376238 h 610425"/>
                <a:gd name="connsiteX40" fmla="*/ 159407 w 515972"/>
                <a:gd name="connsiteY40" fmla="*/ 385763 h 610425"/>
                <a:gd name="connsiteX41" fmla="*/ 149882 w 515972"/>
                <a:gd name="connsiteY41" fmla="*/ 400050 h 610425"/>
                <a:gd name="connsiteX42" fmla="*/ 121307 w 515972"/>
                <a:gd name="connsiteY42" fmla="*/ 409575 h 610425"/>
                <a:gd name="connsiteX43" fmla="*/ 116545 w 515972"/>
                <a:gd name="connsiteY43" fmla="*/ 423863 h 610425"/>
                <a:gd name="connsiteX44" fmla="*/ 97495 w 515972"/>
                <a:gd name="connsiteY44" fmla="*/ 428625 h 610425"/>
                <a:gd name="connsiteX45" fmla="*/ 83207 w 515972"/>
                <a:gd name="connsiteY45" fmla="*/ 438150 h 610425"/>
                <a:gd name="connsiteX46" fmla="*/ 73682 w 515972"/>
                <a:gd name="connsiteY46" fmla="*/ 457200 h 610425"/>
                <a:gd name="connsiteX47" fmla="*/ 64157 w 515972"/>
                <a:gd name="connsiteY47" fmla="*/ 485775 h 610425"/>
                <a:gd name="connsiteX48" fmla="*/ 45107 w 515972"/>
                <a:gd name="connsiteY48" fmla="*/ 514350 h 610425"/>
                <a:gd name="connsiteX49" fmla="*/ 30820 w 515972"/>
                <a:gd name="connsiteY49" fmla="*/ 547688 h 610425"/>
                <a:gd name="connsiteX50" fmla="*/ 26057 w 515972"/>
                <a:gd name="connsiteY50" fmla="*/ 561975 h 610425"/>
                <a:gd name="connsiteX51" fmla="*/ 7007 w 515972"/>
                <a:gd name="connsiteY51" fmla="*/ 590550 h 610425"/>
                <a:gd name="connsiteX52" fmla="*/ 2245 w 515972"/>
                <a:gd name="connsiteY52" fmla="*/ 604838 h 610425"/>
                <a:gd name="connsiteX53" fmla="*/ 16532 w 515972"/>
                <a:gd name="connsiteY53" fmla="*/ 609600 h 610425"/>
                <a:gd name="connsiteX54" fmla="*/ 30820 w 515972"/>
                <a:gd name="connsiteY54" fmla="*/ 600075 h 610425"/>
                <a:gd name="connsiteX55" fmla="*/ 64157 w 515972"/>
                <a:gd name="connsiteY55" fmla="*/ 585788 h 610425"/>
                <a:gd name="connsiteX56" fmla="*/ 78445 w 515972"/>
                <a:gd name="connsiteY56" fmla="*/ 576263 h 610425"/>
                <a:gd name="connsiteX57" fmla="*/ 116545 w 515972"/>
                <a:gd name="connsiteY57" fmla="*/ 557213 h 610425"/>
                <a:gd name="connsiteX58" fmla="*/ 149882 w 515972"/>
                <a:gd name="connsiteY58" fmla="*/ 538163 h 610425"/>
                <a:gd name="connsiteX59" fmla="*/ 154645 w 515972"/>
                <a:gd name="connsiteY59" fmla="*/ 523875 h 610425"/>
                <a:gd name="connsiteX60" fmla="*/ 173695 w 515972"/>
                <a:gd name="connsiteY60" fmla="*/ 504825 h 61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15972" h="610425">
                  <a:moveTo>
                    <a:pt x="478495" y="252413"/>
                  </a:moveTo>
                  <a:cubicBezTo>
                    <a:pt x="506729" y="233591"/>
                    <a:pt x="515972" y="241187"/>
                    <a:pt x="497545" y="219075"/>
                  </a:cubicBezTo>
                  <a:cubicBezTo>
                    <a:pt x="493233" y="213901"/>
                    <a:pt x="488020" y="209550"/>
                    <a:pt x="483257" y="204788"/>
                  </a:cubicBezTo>
                  <a:cubicBezTo>
                    <a:pt x="474876" y="179640"/>
                    <a:pt x="481279" y="194676"/>
                    <a:pt x="459445" y="161925"/>
                  </a:cubicBezTo>
                  <a:cubicBezTo>
                    <a:pt x="456270" y="157163"/>
                    <a:pt x="451730" y="153068"/>
                    <a:pt x="449920" y="147638"/>
                  </a:cubicBezTo>
                  <a:cubicBezTo>
                    <a:pt x="438265" y="112673"/>
                    <a:pt x="447495" y="126163"/>
                    <a:pt x="426107" y="104775"/>
                  </a:cubicBezTo>
                  <a:cubicBezTo>
                    <a:pt x="410097" y="56742"/>
                    <a:pt x="434530" y="131263"/>
                    <a:pt x="416582" y="71438"/>
                  </a:cubicBezTo>
                  <a:cubicBezTo>
                    <a:pt x="412254" y="57013"/>
                    <a:pt x="407058" y="42863"/>
                    <a:pt x="402295" y="28575"/>
                  </a:cubicBezTo>
                  <a:lnTo>
                    <a:pt x="397532" y="14288"/>
                  </a:lnTo>
                  <a:lnTo>
                    <a:pt x="392770" y="0"/>
                  </a:lnTo>
                  <a:cubicBezTo>
                    <a:pt x="389595" y="4763"/>
                    <a:pt x="385255" y="8929"/>
                    <a:pt x="383245" y="14288"/>
                  </a:cubicBezTo>
                  <a:cubicBezTo>
                    <a:pt x="380403" y="21867"/>
                    <a:pt x="381042" y="30421"/>
                    <a:pt x="378482" y="38100"/>
                  </a:cubicBezTo>
                  <a:cubicBezTo>
                    <a:pt x="376237" y="44835"/>
                    <a:pt x="371754" y="50624"/>
                    <a:pt x="368957" y="57150"/>
                  </a:cubicBezTo>
                  <a:cubicBezTo>
                    <a:pt x="366980" y="61764"/>
                    <a:pt x="366633" y="67050"/>
                    <a:pt x="364195" y="71438"/>
                  </a:cubicBezTo>
                  <a:cubicBezTo>
                    <a:pt x="358636" y="81445"/>
                    <a:pt x="348766" y="89153"/>
                    <a:pt x="345145" y="100013"/>
                  </a:cubicBezTo>
                  <a:cubicBezTo>
                    <a:pt x="331972" y="139526"/>
                    <a:pt x="354088" y="77362"/>
                    <a:pt x="321332" y="142875"/>
                  </a:cubicBezTo>
                  <a:cubicBezTo>
                    <a:pt x="318157" y="149225"/>
                    <a:pt x="315460" y="155837"/>
                    <a:pt x="311807" y="161925"/>
                  </a:cubicBezTo>
                  <a:cubicBezTo>
                    <a:pt x="305917" y="171741"/>
                    <a:pt x="297877" y="180261"/>
                    <a:pt x="292757" y="190500"/>
                  </a:cubicBezTo>
                  <a:cubicBezTo>
                    <a:pt x="287023" y="201968"/>
                    <a:pt x="272803" y="232378"/>
                    <a:pt x="264182" y="238125"/>
                  </a:cubicBezTo>
                  <a:lnTo>
                    <a:pt x="249895" y="247650"/>
                  </a:lnTo>
                  <a:cubicBezTo>
                    <a:pt x="238240" y="282615"/>
                    <a:pt x="233271" y="269125"/>
                    <a:pt x="254657" y="290513"/>
                  </a:cubicBezTo>
                  <a:cubicBezTo>
                    <a:pt x="257832" y="300038"/>
                    <a:pt x="262213" y="309243"/>
                    <a:pt x="264182" y="319088"/>
                  </a:cubicBezTo>
                  <a:cubicBezTo>
                    <a:pt x="269930" y="347823"/>
                    <a:pt x="266386" y="335221"/>
                    <a:pt x="273707" y="357188"/>
                  </a:cubicBezTo>
                  <a:cubicBezTo>
                    <a:pt x="270532" y="363538"/>
                    <a:pt x="266427" y="369503"/>
                    <a:pt x="264182" y="376238"/>
                  </a:cubicBezTo>
                  <a:cubicBezTo>
                    <a:pt x="261622" y="383917"/>
                    <a:pt x="263040" y="392810"/>
                    <a:pt x="259420" y="400050"/>
                  </a:cubicBezTo>
                  <a:cubicBezTo>
                    <a:pt x="256408" y="406074"/>
                    <a:pt x="249895" y="409575"/>
                    <a:pt x="245132" y="414338"/>
                  </a:cubicBezTo>
                  <a:cubicBezTo>
                    <a:pt x="243545" y="420688"/>
                    <a:pt x="242948" y="427372"/>
                    <a:pt x="240370" y="433388"/>
                  </a:cubicBezTo>
                  <a:cubicBezTo>
                    <a:pt x="238115" y="438649"/>
                    <a:pt x="234892" y="451722"/>
                    <a:pt x="230845" y="447675"/>
                  </a:cubicBezTo>
                  <a:cubicBezTo>
                    <a:pt x="226217" y="443047"/>
                    <a:pt x="233726" y="434894"/>
                    <a:pt x="235607" y="428625"/>
                  </a:cubicBezTo>
                  <a:cubicBezTo>
                    <a:pt x="238492" y="419008"/>
                    <a:pt x="241957" y="409575"/>
                    <a:pt x="245132" y="400050"/>
                  </a:cubicBezTo>
                  <a:lnTo>
                    <a:pt x="249895" y="385763"/>
                  </a:lnTo>
                  <a:cubicBezTo>
                    <a:pt x="246720" y="369888"/>
                    <a:pt x="244297" y="353844"/>
                    <a:pt x="240370" y="338138"/>
                  </a:cubicBezTo>
                  <a:cubicBezTo>
                    <a:pt x="237935" y="328398"/>
                    <a:pt x="234020" y="319088"/>
                    <a:pt x="230845" y="309563"/>
                  </a:cubicBezTo>
                  <a:lnTo>
                    <a:pt x="226082" y="295275"/>
                  </a:lnTo>
                  <a:lnTo>
                    <a:pt x="230845" y="276225"/>
                  </a:lnTo>
                  <a:lnTo>
                    <a:pt x="221320" y="304800"/>
                  </a:lnTo>
                  <a:cubicBezTo>
                    <a:pt x="219732" y="309563"/>
                    <a:pt x="220734" y="316303"/>
                    <a:pt x="216557" y="319088"/>
                  </a:cubicBezTo>
                  <a:lnTo>
                    <a:pt x="202270" y="328613"/>
                  </a:lnTo>
                  <a:cubicBezTo>
                    <a:pt x="200682" y="333375"/>
                    <a:pt x="199752" y="338410"/>
                    <a:pt x="197507" y="342900"/>
                  </a:cubicBezTo>
                  <a:cubicBezTo>
                    <a:pt x="194803" y="348309"/>
                    <a:pt x="175853" y="374080"/>
                    <a:pt x="173695" y="376238"/>
                  </a:cubicBezTo>
                  <a:cubicBezTo>
                    <a:pt x="169648" y="380285"/>
                    <a:pt x="164170" y="382588"/>
                    <a:pt x="159407" y="385763"/>
                  </a:cubicBezTo>
                  <a:cubicBezTo>
                    <a:pt x="156232" y="390525"/>
                    <a:pt x="154736" y="397017"/>
                    <a:pt x="149882" y="400050"/>
                  </a:cubicBezTo>
                  <a:cubicBezTo>
                    <a:pt x="141368" y="405371"/>
                    <a:pt x="121307" y="409575"/>
                    <a:pt x="121307" y="409575"/>
                  </a:cubicBezTo>
                  <a:cubicBezTo>
                    <a:pt x="119720" y="414338"/>
                    <a:pt x="120465" y="420727"/>
                    <a:pt x="116545" y="423863"/>
                  </a:cubicBezTo>
                  <a:cubicBezTo>
                    <a:pt x="111434" y="427952"/>
                    <a:pt x="103511" y="426047"/>
                    <a:pt x="97495" y="428625"/>
                  </a:cubicBezTo>
                  <a:cubicBezTo>
                    <a:pt x="92234" y="430880"/>
                    <a:pt x="87970" y="434975"/>
                    <a:pt x="83207" y="438150"/>
                  </a:cubicBezTo>
                  <a:cubicBezTo>
                    <a:pt x="80032" y="444500"/>
                    <a:pt x="76319" y="450608"/>
                    <a:pt x="73682" y="457200"/>
                  </a:cubicBezTo>
                  <a:cubicBezTo>
                    <a:pt x="69953" y="466522"/>
                    <a:pt x="69726" y="477421"/>
                    <a:pt x="64157" y="485775"/>
                  </a:cubicBezTo>
                  <a:lnTo>
                    <a:pt x="45107" y="514350"/>
                  </a:lnTo>
                  <a:cubicBezTo>
                    <a:pt x="35198" y="553991"/>
                    <a:pt x="47263" y="514803"/>
                    <a:pt x="30820" y="547688"/>
                  </a:cubicBezTo>
                  <a:cubicBezTo>
                    <a:pt x="28575" y="552178"/>
                    <a:pt x="28495" y="557587"/>
                    <a:pt x="26057" y="561975"/>
                  </a:cubicBezTo>
                  <a:cubicBezTo>
                    <a:pt x="20497" y="571982"/>
                    <a:pt x="7007" y="590550"/>
                    <a:pt x="7007" y="590550"/>
                  </a:cubicBezTo>
                  <a:cubicBezTo>
                    <a:pt x="5420" y="595313"/>
                    <a:pt x="0" y="600348"/>
                    <a:pt x="2245" y="604838"/>
                  </a:cubicBezTo>
                  <a:cubicBezTo>
                    <a:pt x="4490" y="609328"/>
                    <a:pt x="11580" y="610425"/>
                    <a:pt x="16532" y="609600"/>
                  </a:cubicBezTo>
                  <a:cubicBezTo>
                    <a:pt x="22178" y="608659"/>
                    <a:pt x="25850" y="602915"/>
                    <a:pt x="30820" y="600075"/>
                  </a:cubicBezTo>
                  <a:cubicBezTo>
                    <a:pt x="47299" y="590658"/>
                    <a:pt x="48127" y="591131"/>
                    <a:pt x="64157" y="585788"/>
                  </a:cubicBezTo>
                  <a:cubicBezTo>
                    <a:pt x="68920" y="582613"/>
                    <a:pt x="73420" y="579004"/>
                    <a:pt x="78445" y="576263"/>
                  </a:cubicBezTo>
                  <a:cubicBezTo>
                    <a:pt x="90910" y="569464"/>
                    <a:pt x="116545" y="557213"/>
                    <a:pt x="116545" y="557213"/>
                  </a:cubicBezTo>
                  <a:cubicBezTo>
                    <a:pt x="142212" y="518711"/>
                    <a:pt x="103980" y="568765"/>
                    <a:pt x="149882" y="538163"/>
                  </a:cubicBezTo>
                  <a:cubicBezTo>
                    <a:pt x="154059" y="535378"/>
                    <a:pt x="152400" y="528365"/>
                    <a:pt x="154645" y="523875"/>
                  </a:cubicBezTo>
                  <a:cubicBezTo>
                    <a:pt x="162308" y="508550"/>
                    <a:pt x="161427" y="510960"/>
                    <a:pt x="173695" y="504825"/>
                  </a:cubicBezTo>
                </a:path>
              </a:pathLst>
            </a:custGeom>
            <a:ln w="254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7" name="Freeform 16"/>
            <p:cNvSpPr/>
            <p:nvPr/>
          </p:nvSpPr>
          <p:spPr>
            <a:xfrm>
              <a:off x="5123859" y="4803965"/>
              <a:ext cx="560265" cy="541156"/>
            </a:xfrm>
            <a:custGeom>
              <a:avLst/>
              <a:gdLst>
                <a:gd name="connsiteX0" fmla="*/ 0 w 559674"/>
                <a:gd name="connsiteY0" fmla="*/ 396409 h 540865"/>
                <a:gd name="connsiteX1" fmla="*/ 14288 w 559674"/>
                <a:gd name="connsiteY1" fmla="*/ 386884 h 540865"/>
                <a:gd name="connsiteX2" fmla="*/ 42863 w 559674"/>
                <a:gd name="connsiteY2" fmla="*/ 377359 h 540865"/>
                <a:gd name="connsiteX3" fmla="*/ 57150 w 559674"/>
                <a:gd name="connsiteY3" fmla="*/ 367834 h 540865"/>
                <a:gd name="connsiteX4" fmla="*/ 90488 w 559674"/>
                <a:gd name="connsiteY4" fmla="*/ 358309 h 540865"/>
                <a:gd name="connsiteX5" fmla="*/ 104775 w 559674"/>
                <a:gd name="connsiteY5" fmla="*/ 348784 h 540865"/>
                <a:gd name="connsiteX6" fmla="*/ 119063 w 559674"/>
                <a:gd name="connsiteY6" fmla="*/ 344022 h 540865"/>
                <a:gd name="connsiteX7" fmla="*/ 128588 w 559674"/>
                <a:gd name="connsiteY7" fmla="*/ 329734 h 540865"/>
                <a:gd name="connsiteX8" fmla="*/ 142875 w 559674"/>
                <a:gd name="connsiteY8" fmla="*/ 315447 h 540865"/>
                <a:gd name="connsiteX9" fmla="*/ 147638 w 559674"/>
                <a:gd name="connsiteY9" fmla="*/ 301159 h 540865"/>
                <a:gd name="connsiteX10" fmla="*/ 166688 w 559674"/>
                <a:gd name="connsiteY10" fmla="*/ 272584 h 540865"/>
                <a:gd name="connsiteX11" fmla="*/ 185738 w 559674"/>
                <a:gd name="connsiteY11" fmla="*/ 248772 h 540865"/>
                <a:gd name="connsiteX12" fmla="*/ 190500 w 559674"/>
                <a:gd name="connsiteY12" fmla="*/ 234484 h 540865"/>
                <a:gd name="connsiteX13" fmla="*/ 214313 w 559674"/>
                <a:gd name="connsiteY13" fmla="*/ 210672 h 540865"/>
                <a:gd name="connsiteX14" fmla="*/ 242888 w 559674"/>
                <a:gd name="connsiteY14" fmla="*/ 163047 h 540865"/>
                <a:gd name="connsiteX15" fmla="*/ 257175 w 559674"/>
                <a:gd name="connsiteY15" fmla="*/ 153522 h 540865"/>
                <a:gd name="connsiteX16" fmla="*/ 261938 w 559674"/>
                <a:gd name="connsiteY16" fmla="*/ 139234 h 540865"/>
                <a:gd name="connsiteX17" fmla="*/ 276225 w 559674"/>
                <a:gd name="connsiteY17" fmla="*/ 134472 h 540865"/>
                <a:gd name="connsiteX18" fmla="*/ 304800 w 559674"/>
                <a:gd name="connsiteY18" fmla="*/ 110659 h 540865"/>
                <a:gd name="connsiteX19" fmla="*/ 319088 w 559674"/>
                <a:gd name="connsiteY19" fmla="*/ 105897 h 540865"/>
                <a:gd name="connsiteX20" fmla="*/ 347663 w 559674"/>
                <a:gd name="connsiteY20" fmla="*/ 86847 h 540865"/>
                <a:gd name="connsiteX21" fmla="*/ 376238 w 559674"/>
                <a:gd name="connsiteY21" fmla="*/ 67797 h 540865"/>
                <a:gd name="connsiteX22" fmla="*/ 390525 w 559674"/>
                <a:gd name="connsiteY22" fmla="*/ 58272 h 540865"/>
                <a:gd name="connsiteX23" fmla="*/ 404813 w 559674"/>
                <a:gd name="connsiteY23" fmla="*/ 53509 h 540865"/>
                <a:gd name="connsiteX24" fmla="*/ 438150 w 559674"/>
                <a:gd name="connsiteY24" fmla="*/ 43984 h 540865"/>
                <a:gd name="connsiteX25" fmla="*/ 471488 w 559674"/>
                <a:gd name="connsiteY25" fmla="*/ 29697 h 540865"/>
                <a:gd name="connsiteX26" fmla="*/ 500063 w 559674"/>
                <a:gd name="connsiteY26" fmla="*/ 20172 h 540865"/>
                <a:gd name="connsiteX27" fmla="*/ 514350 w 559674"/>
                <a:gd name="connsiteY27" fmla="*/ 15409 h 540865"/>
                <a:gd name="connsiteX28" fmla="*/ 523875 w 559674"/>
                <a:gd name="connsiteY28" fmla="*/ 1122 h 540865"/>
                <a:gd name="connsiteX29" fmla="*/ 538163 w 559674"/>
                <a:gd name="connsiteY29" fmla="*/ 10647 h 540865"/>
                <a:gd name="connsiteX30" fmla="*/ 542925 w 559674"/>
                <a:gd name="connsiteY30" fmla="*/ 77322 h 540865"/>
                <a:gd name="connsiteX31" fmla="*/ 552450 w 559674"/>
                <a:gd name="connsiteY31" fmla="*/ 105897 h 540865"/>
                <a:gd name="connsiteX32" fmla="*/ 557213 w 559674"/>
                <a:gd name="connsiteY32" fmla="*/ 172572 h 540865"/>
                <a:gd name="connsiteX33" fmla="*/ 528638 w 559674"/>
                <a:gd name="connsiteY33" fmla="*/ 248772 h 540865"/>
                <a:gd name="connsiteX34" fmla="*/ 523875 w 559674"/>
                <a:gd name="connsiteY34" fmla="*/ 263059 h 540865"/>
                <a:gd name="connsiteX35" fmla="*/ 509588 w 559674"/>
                <a:gd name="connsiteY35" fmla="*/ 272584 h 540865"/>
                <a:gd name="connsiteX36" fmla="*/ 495300 w 559674"/>
                <a:gd name="connsiteY36" fmla="*/ 286872 h 540865"/>
                <a:gd name="connsiteX37" fmla="*/ 461963 w 559674"/>
                <a:gd name="connsiteY37" fmla="*/ 301159 h 540865"/>
                <a:gd name="connsiteX38" fmla="*/ 433388 w 559674"/>
                <a:gd name="connsiteY38" fmla="*/ 320209 h 540865"/>
                <a:gd name="connsiteX39" fmla="*/ 371475 w 559674"/>
                <a:gd name="connsiteY39" fmla="*/ 329734 h 540865"/>
                <a:gd name="connsiteX40" fmla="*/ 295275 w 559674"/>
                <a:gd name="connsiteY40" fmla="*/ 320209 h 540865"/>
                <a:gd name="connsiteX41" fmla="*/ 290513 w 559674"/>
                <a:gd name="connsiteY41" fmla="*/ 305922 h 540865"/>
                <a:gd name="connsiteX42" fmla="*/ 276225 w 559674"/>
                <a:gd name="connsiteY42" fmla="*/ 291634 h 540865"/>
                <a:gd name="connsiteX43" fmla="*/ 257175 w 559674"/>
                <a:gd name="connsiteY43" fmla="*/ 248772 h 540865"/>
                <a:gd name="connsiteX44" fmla="*/ 242888 w 559674"/>
                <a:gd name="connsiteY44" fmla="*/ 220197 h 540865"/>
                <a:gd name="connsiteX45" fmla="*/ 233363 w 559674"/>
                <a:gd name="connsiteY45" fmla="*/ 191622 h 540865"/>
                <a:gd name="connsiteX46" fmla="*/ 247650 w 559674"/>
                <a:gd name="connsiteY46" fmla="*/ 229722 h 540865"/>
                <a:gd name="connsiteX47" fmla="*/ 257175 w 559674"/>
                <a:gd name="connsiteY47" fmla="*/ 258297 h 540865"/>
                <a:gd name="connsiteX48" fmla="*/ 261938 w 559674"/>
                <a:gd name="connsiteY48" fmla="*/ 272584 h 540865"/>
                <a:gd name="connsiteX49" fmla="*/ 233363 w 559674"/>
                <a:gd name="connsiteY49" fmla="*/ 405934 h 540865"/>
                <a:gd name="connsiteX50" fmla="*/ 233363 w 559674"/>
                <a:gd name="connsiteY50" fmla="*/ 405934 h 540865"/>
                <a:gd name="connsiteX51" fmla="*/ 214313 w 559674"/>
                <a:gd name="connsiteY51" fmla="*/ 429747 h 540865"/>
                <a:gd name="connsiteX52" fmla="*/ 209550 w 559674"/>
                <a:gd name="connsiteY52" fmla="*/ 444034 h 540865"/>
                <a:gd name="connsiteX53" fmla="*/ 180975 w 559674"/>
                <a:gd name="connsiteY53" fmla="*/ 463084 h 540865"/>
                <a:gd name="connsiteX54" fmla="*/ 166688 w 559674"/>
                <a:gd name="connsiteY54" fmla="*/ 472609 h 540865"/>
                <a:gd name="connsiteX55" fmla="*/ 152400 w 559674"/>
                <a:gd name="connsiteY55" fmla="*/ 482134 h 540865"/>
                <a:gd name="connsiteX56" fmla="*/ 138113 w 559674"/>
                <a:gd name="connsiteY56" fmla="*/ 486897 h 540865"/>
                <a:gd name="connsiteX57" fmla="*/ 95250 w 559674"/>
                <a:gd name="connsiteY57" fmla="*/ 510709 h 540865"/>
                <a:gd name="connsiteX58" fmla="*/ 66675 w 559674"/>
                <a:gd name="connsiteY58" fmla="*/ 529759 h 540865"/>
                <a:gd name="connsiteX59" fmla="*/ 76200 w 559674"/>
                <a:gd name="connsiteY59" fmla="*/ 496422 h 540865"/>
                <a:gd name="connsiteX60" fmla="*/ 80963 w 559674"/>
                <a:gd name="connsiteY60" fmla="*/ 491659 h 540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59674" h="540865">
                  <a:moveTo>
                    <a:pt x="0" y="396409"/>
                  </a:moveTo>
                  <a:cubicBezTo>
                    <a:pt x="4763" y="393234"/>
                    <a:pt x="9057" y="389209"/>
                    <a:pt x="14288" y="386884"/>
                  </a:cubicBezTo>
                  <a:cubicBezTo>
                    <a:pt x="23463" y="382806"/>
                    <a:pt x="34509" y="382928"/>
                    <a:pt x="42863" y="377359"/>
                  </a:cubicBezTo>
                  <a:cubicBezTo>
                    <a:pt x="47625" y="374184"/>
                    <a:pt x="52031" y="370394"/>
                    <a:pt x="57150" y="367834"/>
                  </a:cubicBezTo>
                  <a:cubicBezTo>
                    <a:pt x="63978" y="364420"/>
                    <a:pt x="84391" y="359833"/>
                    <a:pt x="90488" y="358309"/>
                  </a:cubicBezTo>
                  <a:cubicBezTo>
                    <a:pt x="95250" y="355134"/>
                    <a:pt x="99656" y="351344"/>
                    <a:pt x="104775" y="348784"/>
                  </a:cubicBezTo>
                  <a:cubicBezTo>
                    <a:pt x="109265" y="346539"/>
                    <a:pt x="115143" y="347158"/>
                    <a:pt x="119063" y="344022"/>
                  </a:cubicBezTo>
                  <a:cubicBezTo>
                    <a:pt x="123533" y="340446"/>
                    <a:pt x="124924" y="334131"/>
                    <a:pt x="128588" y="329734"/>
                  </a:cubicBezTo>
                  <a:cubicBezTo>
                    <a:pt x="132900" y="324560"/>
                    <a:pt x="138113" y="320209"/>
                    <a:pt x="142875" y="315447"/>
                  </a:cubicBezTo>
                  <a:cubicBezTo>
                    <a:pt x="144463" y="310684"/>
                    <a:pt x="145200" y="305548"/>
                    <a:pt x="147638" y="301159"/>
                  </a:cubicBezTo>
                  <a:cubicBezTo>
                    <a:pt x="153197" y="291152"/>
                    <a:pt x="166688" y="272584"/>
                    <a:pt x="166688" y="272584"/>
                  </a:cubicBezTo>
                  <a:cubicBezTo>
                    <a:pt x="178658" y="236672"/>
                    <a:pt x="161118" y="279547"/>
                    <a:pt x="185738" y="248772"/>
                  </a:cubicBezTo>
                  <a:cubicBezTo>
                    <a:pt x="188874" y="244852"/>
                    <a:pt x="188255" y="238974"/>
                    <a:pt x="190500" y="234484"/>
                  </a:cubicBezTo>
                  <a:cubicBezTo>
                    <a:pt x="198437" y="218610"/>
                    <a:pt x="200026" y="220196"/>
                    <a:pt x="214313" y="210672"/>
                  </a:cubicBezTo>
                  <a:cubicBezTo>
                    <a:pt x="220047" y="199204"/>
                    <a:pt x="234267" y="168794"/>
                    <a:pt x="242888" y="163047"/>
                  </a:cubicBezTo>
                  <a:lnTo>
                    <a:pt x="257175" y="153522"/>
                  </a:lnTo>
                  <a:cubicBezTo>
                    <a:pt x="258763" y="148759"/>
                    <a:pt x="258388" y="142784"/>
                    <a:pt x="261938" y="139234"/>
                  </a:cubicBezTo>
                  <a:cubicBezTo>
                    <a:pt x="265488" y="135684"/>
                    <a:pt x="271735" y="136717"/>
                    <a:pt x="276225" y="134472"/>
                  </a:cubicBezTo>
                  <a:cubicBezTo>
                    <a:pt x="307394" y="118888"/>
                    <a:pt x="273196" y="131728"/>
                    <a:pt x="304800" y="110659"/>
                  </a:cubicBezTo>
                  <a:cubicBezTo>
                    <a:pt x="308977" y="107874"/>
                    <a:pt x="314325" y="107484"/>
                    <a:pt x="319088" y="105897"/>
                  </a:cubicBezTo>
                  <a:cubicBezTo>
                    <a:pt x="364664" y="60318"/>
                    <a:pt x="306309" y="114416"/>
                    <a:pt x="347663" y="86847"/>
                  </a:cubicBezTo>
                  <a:cubicBezTo>
                    <a:pt x="383338" y="63064"/>
                    <a:pt x="342264" y="79120"/>
                    <a:pt x="376238" y="67797"/>
                  </a:cubicBezTo>
                  <a:cubicBezTo>
                    <a:pt x="381000" y="64622"/>
                    <a:pt x="385406" y="60832"/>
                    <a:pt x="390525" y="58272"/>
                  </a:cubicBezTo>
                  <a:cubicBezTo>
                    <a:pt x="395015" y="56027"/>
                    <a:pt x="399986" y="54888"/>
                    <a:pt x="404813" y="53509"/>
                  </a:cubicBezTo>
                  <a:cubicBezTo>
                    <a:pt x="411942" y="51472"/>
                    <a:pt x="430532" y="47793"/>
                    <a:pt x="438150" y="43984"/>
                  </a:cubicBezTo>
                  <a:cubicBezTo>
                    <a:pt x="479703" y="23207"/>
                    <a:pt x="421935" y="44562"/>
                    <a:pt x="471488" y="29697"/>
                  </a:cubicBezTo>
                  <a:cubicBezTo>
                    <a:pt x="481105" y="26812"/>
                    <a:pt x="490538" y="23347"/>
                    <a:pt x="500063" y="20172"/>
                  </a:cubicBezTo>
                  <a:lnTo>
                    <a:pt x="514350" y="15409"/>
                  </a:lnTo>
                  <a:cubicBezTo>
                    <a:pt x="517525" y="10647"/>
                    <a:pt x="518262" y="2244"/>
                    <a:pt x="523875" y="1122"/>
                  </a:cubicBezTo>
                  <a:cubicBezTo>
                    <a:pt x="529488" y="0"/>
                    <a:pt x="536775" y="5094"/>
                    <a:pt x="538163" y="10647"/>
                  </a:cubicBezTo>
                  <a:cubicBezTo>
                    <a:pt x="543567" y="32263"/>
                    <a:pt x="539620" y="55287"/>
                    <a:pt x="542925" y="77322"/>
                  </a:cubicBezTo>
                  <a:cubicBezTo>
                    <a:pt x="544414" y="87251"/>
                    <a:pt x="552450" y="105897"/>
                    <a:pt x="552450" y="105897"/>
                  </a:cubicBezTo>
                  <a:cubicBezTo>
                    <a:pt x="554038" y="128122"/>
                    <a:pt x="559674" y="150427"/>
                    <a:pt x="557213" y="172572"/>
                  </a:cubicBezTo>
                  <a:cubicBezTo>
                    <a:pt x="547719" y="258023"/>
                    <a:pt x="547160" y="211728"/>
                    <a:pt x="528638" y="248772"/>
                  </a:cubicBezTo>
                  <a:cubicBezTo>
                    <a:pt x="526393" y="253262"/>
                    <a:pt x="527011" y="259139"/>
                    <a:pt x="523875" y="263059"/>
                  </a:cubicBezTo>
                  <a:cubicBezTo>
                    <a:pt x="520299" y="267528"/>
                    <a:pt x="513985" y="268920"/>
                    <a:pt x="509588" y="272584"/>
                  </a:cubicBezTo>
                  <a:cubicBezTo>
                    <a:pt x="504414" y="276896"/>
                    <a:pt x="500781" y="282957"/>
                    <a:pt x="495300" y="286872"/>
                  </a:cubicBezTo>
                  <a:cubicBezTo>
                    <a:pt x="485001" y="294229"/>
                    <a:pt x="473623" y="297273"/>
                    <a:pt x="461963" y="301159"/>
                  </a:cubicBezTo>
                  <a:cubicBezTo>
                    <a:pt x="452438" y="307509"/>
                    <a:pt x="444721" y="318590"/>
                    <a:pt x="433388" y="320209"/>
                  </a:cubicBezTo>
                  <a:cubicBezTo>
                    <a:pt x="390491" y="326338"/>
                    <a:pt x="411123" y="323127"/>
                    <a:pt x="371475" y="329734"/>
                  </a:cubicBezTo>
                  <a:cubicBezTo>
                    <a:pt x="346075" y="326559"/>
                    <a:pt x="319833" y="327432"/>
                    <a:pt x="295275" y="320209"/>
                  </a:cubicBezTo>
                  <a:cubicBezTo>
                    <a:pt x="290459" y="318793"/>
                    <a:pt x="293298" y="310099"/>
                    <a:pt x="290513" y="305922"/>
                  </a:cubicBezTo>
                  <a:cubicBezTo>
                    <a:pt x="286777" y="300318"/>
                    <a:pt x="280988" y="296397"/>
                    <a:pt x="276225" y="291634"/>
                  </a:cubicBezTo>
                  <a:cubicBezTo>
                    <a:pt x="264890" y="257629"/>
                    <a:pt x="272269" y="271413"/>
                    <a:pt x="257175" y="248772"/>
                  </a:cubicBezTo>
                  <a:cubicBezTo>
                    <a:pt x="239812" y="196677"/>
                    <a:pt x="267501" y="275575"/>
                    <a:pt x="242888" y="220197"/>
                  </a:cubicBezTo>
                  <a:cubicBezTo>
                    <a:pt x="238810" y="211022"/>
                    <a:pt x="231394" y="181777"/>
                    <a:pt x="233363" y="191622"/>
                  </a:cubicBezTo>
                  <a:cubicBezTo>
                    <a:pt x="244652" y="248070"/>
                    <a:pt x="229814" y="189589"/>
                    <a:pt x="247650" y="229722"/>
                  </a:cubicBezTo>
                  <a:cubicBezTo>
                    <a:pt x="251728" y="238897"/>
                    <a:pt x="254000" y="248772"/>
                    <a:pt x="257175" y="258297"/>
                  </a:cubicBezTo>
                  <a:lnTo>
                    <a:pt x="261938" y="272584"/>
                  </a:lnTo>
                  <a:cubicBezTo>
                    <a:pt x="251377" y="388760"/>
                    <a:pt x="271866" y="348180"/>
                    <a:pt x="233363" y="405934"/>
                  </a:cubicBezTo>
                  <a:lnTo>
                    <a:pt x="233363" y="405934"/>
                  </a:lnTo>
                  <a:cubicBezTo>
                    <a:pt x="226790" y="425652"/>
                    <a:pt x="232777" y="417437"/>
                    <a:pt x="214313" y="429747"/>
                  </a:cubicBezTo>
                  <a:cubicBezTo>
                    <a:pt x="212725" y="434509"/>
                    <a:pt x="213100" y="440484"/>
                    <a:pt x="209550" y="444034"/>
                  </a:cubicBezTo>
                  <a:cubicBezTo>
                    <a:pt x="201455" y="452129"/>
                    <a:pt x="190500" y="456734"/>
                    <a:pt x="180975" y="463084"/>
                  </a:cubicBezTo>
                  <a:lnTo>
                    <a:pt x="166688" y="472609"/>
                  </a:lnTo>
                  <a:cubicBezTo>
                    <a:pt x="161925" y="475784"/>
                    <a:pt x="157830" y="480324"/>
                    <a:pt x="152400" y="482134"/>
                  </a:cubicBezTo>
                  <a:cubicBezTo>
                    <a:pt x="147638" y="483722"/>
                    <a:pt x="142501" y="484459"/>
                    <a:pt x="138113" y="486897"/>
                  </a:cubicBezTo>
                  <a:cubicBezTo>
                    <a:pt x="88992" y="514187"/>
                    <a:pt x="127577" y="499935"/>
                    <a:pt x="95250" y="510709"/>
                  </a:cubicBezTo>
                  <a:cubicBezTo>
                    <a:pt x="85725" y="517059"/>
                    <a:pt x="63898" y="540865"/>
                    <a:pt x="66675" y="529759"/>
                  </a:cubicBezTo>
                  <a:cubicBezTo>
                    <a:pt x="68200" y="523660"/>
                    <a:pt x="72786" y="503251"/>
                    <a:pt x="76200" y="496422"/>
                  </a:cubicBezTo>
                  <a:cubicBezTo>
                    <a:pt x="77204" y="494414"/>
                    <a:pt x="79375" y="493247"/>
                    <a:pt x="80963" y="491659"/>
                  </a:cubicBezTo>
                </a:path>
              </a:pathLst>
            </a:custGeom>
            <a:ln w="254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0" y="304800"/>
            <a:ext cx="9144000" cy="6188075"/>
          </a:xfrm>
          <a:prstGeom prst="rect">
            <a:avLst/>
          </a:prstGeom>
          <a:noFill/>
          <a:ln w="9525">
            <a:noFill/>
            <a:miter lim="800000"/>
            <a:headEnd/>
            <a:tailEnd/>
          </a:ln>
        </p:spPr>
        <p:txBody>
          <a:bodyPr anchor="ctr">
            <a:spAutoFit/>
          </a:bodyPr>
          <a:lstStyle/>
          <a:p>
            <a:pPr algn="ctr"/>
            <a:r>
              <a:rPr lang="en-US" sz="8000" dirty="0">
                <a:latin typeface="Times New Roman" pitchFamily="18" charset="0"/>
                <a:cs typeface="Times New Roman" pitchFamily="18" charset="0"/>
              </a:rPr>
              <a:t>Say the actual </a:t>
            </a:r>
            <a:r>
              <a:rPr lang="en-US" sz="8000" b="1" dirty="0">
                <a:solidFill>
                  <a:srgbClr val="FF0000"/>
                </a:solidFill>
                <a:latin typeface="Times New Roman" pitchFamily="18" charset="0"/>
                <a:cs typeface="Times New Roman" pitchFamily="18" charset="0"/>
              </a:rPr>
              <a:t>c</a:t>
            </a:r>
            <a:r>
              <a:rPr lang="en-US" sz="8000" b="1" dirty="0">
                <a:solidFill>
                  <a:srgbClr val="FFFF00"/>
                </a:solidFill>
                <a:latin typeface="Times New Roman" pitchFamily="18" charset="0"/>
                <a:cs typeface="Times New Roman" pitchFamily="18" charset="0"/>
              </a:rPr>
              <a:t>o</a:t>
            </a:r>
            <a:r>
              <a:rPr lang="en-US" sz="8000" b="1" dirty="0">
                <a:solidFill>
                  <a:srgbClr val="66FF33"/>
                </a:solidFill>
                <a:latin typeface="Times New Roman" pitchFamily="18" charset="0"/>
                <a:cs typeface="Times New Roman" pitchFamily="18" charset="0"/>
              </a:rPr>
              <a:t>l</a:t>
            </a:r>
            <a:r>
              <a:rPr lang="en-US" sz="8000" b="1" dirty="0">
                <a:solidFill>
                  <a:schemeClr val="accent2"/>
                </a:solidFill>
                <a:latin typeface="Times New Roman" pitchFamily="18" charset="0"/>
                <a:cs typeface="Times New Roman" pitchFamily="18" charset="0"/>
              </a:rPr>
              <a:t>o</a:t>
            </a:r>
            <a:r>
              <a:rPr lang="en-US" sz="8000" b="1" dirty="0">
                <a:solidFill>
                  <a:srgbClr val="FF33CC"/>
                </a:solidFill>
                <a:latin typeface="Times New Roman" pitchFamily="18" charset="0"/>
                <a:cs typeface="Times New Roman" pitchFamily="18" charset="0"/>
              </a:rPr>
              <a:t>r</a:t>
            </a:r>
            <a:r>
              <a:rPr lang="en-US" sz="8000" dirty="0">
                <a:latin typeface="Times New Roman" pitchFamily="18" charset="0"/>
                <a:cs typeface="Times New Roman" pitchFamily="18" charset="0"/>
              </a:rPr>
              <a:t> of the words below (and not what the text spells).  Try to do it as fast as you can.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p:cNvSpPr>
            <a:spLocks noChangeArrowheads="1"/>
          </p:cNvSpPr>
          <p:nvPr/>
        </p:nvSpPr>
        <p:spPr bwMode="auto">
          <a:xfrm>
            <a:off x="0" y="4572000"/>
            <a:ext cx="9144000" cy="2246769"/>
          </a:xfrm>
          <a:prstGeom prst="rect">
            <a:avLst/>
          </a:prstGeom>
          <a:noFill/>
          <a:ln w="9525">
            <a:noFill/>
            <a:miter lim="800000"/>
            <a:headEnd/>
            <a:tailEnd/>
          </a:ln>
        </p:spPr>
        <p:txBody>
          <a:bodyPr wrap="square">
            <a:spAutoFit/>
          </a:bodyPr>
          <a:lstStyle/>
          <a:p>
            <a:pPr algn="ctr"/>
            <a:r>
              <a:rPr lang="en-US" sz="2800" dirty="0">
                <a:latin typeface="Times New Roman" pitchFamily="18" charset="0"/>
                <a:cs typeface="Times New Roman" pitchFamily="18" charset="0"/>
              </a:rPr>
              <a:t>When you try to say the colors aloud, it is very hard to avoid reading the word. If the two bits of information conflict, your brain struggles to work out what the correct answer is, and it takes longer. This is called ‘</a:t>
            </a:r>
            <a:r>
              <a:rPr lang="en-US" sz="2800" b="1" dirty="0">
                <a:latin typeface="Times New Roman" pitchFamily="18" charset="0"/>
                <a:cs typeface="Times New Roman" pitchFamily="18" charset="0"/>
              </a:rPr>
              <a:t>The </a:t>
            </a:r>
            <a:r>
              <a:rPr lang="en-US" sz="2800" b="1" dirty="0" err="1">
                <a:latin typeface="Times New Roman" pitchFamily="18" charset="0"/>
                <a:cs typeface="Times New Roman" pitchFamily="18" charset="0"/>
              </a:rPr>
              <a:t>Stroop</a:t>
            </a:r>
            <a:r>
              <a:rPr lang="en-US" sz="2800" b="1" dirty="0">
                <a:latin typeface="Times New Roman" pitchFamily="18" charset="0"/>
                <a:cs typeface="Times New Roman" pitchFamily="18" charset="0"/>
              </a:rPr>
              <a:t> effect</a:t>
            </a:r>
            <a:r>
              <a:rPr lang="en-US" sz="2800" dirty="0">
                <a:latin typeface="Times New Roman" pitchFamily="18" charset="0"/>
                <a:cs typeface="Times New Roman" pitchFamily="18" charset="0"/>
              </a:rPr>
              <a:t>’ and was discovered in 1935 by John Ridley </a:t>
            </a:r>
            <a:r>
              <a:rPr lang="en-US" sz="2800" dirty="0" err="1">
                <a:latin typeface="Times New Roman" pitchFamily="18" charset="0"/>
                <a:cs typeface="Times New Roman" pitchFamily="18" charset="0"/>
              </a:rPr>
              <a:t>Stroop</a:t>
            </a:r>
            <a:r>
              <a:rPr lang="en-US" sz="2800" dirty="0">
                <a:latin typeface="Times New Roman" pitchFamily="18" charset="0"/>
                <a:cs typeface="Times New Roman" pitchFamily="18" charset="0"/>
              </a:rPr>
              <a:t>.</a:t>
            </a:r>
          </a:p>
        </p:txBody>
      </p:sp>
      <p:sp>
        <p:nvSpPr>
          <p:cNvPr id="4" name="Rectangle 7"/>
          <p:cNvSpPr>
            <a:spLocks noChangeArrowheads="1"/>
          </p:cNvSpPr>
          <p:nvPr/>
        </p:nvSpPr>
        <p:spPr bwMode="auto">
          <a:xfrm>
            <a:off x="0" y="609600"/>
            <a:ext cx="9144000" cy="3508375"/>
          </a:xfrm>
          <a:prstGeom prst="rect">
            <a:avLst/>
          </a:prstGeom>
          <a:noFill/>
          <a:ln w="9525">
            <a:noFill/>
            <a:miter lim="800000"/>
            <a:headEnd/>
            <a:tailEnd/>
          </a:ln>
        </p:spPr>
        <p:txBody>
          <a:bodyPr>
            <a:spAutoFit/>
          </a:bodyPr>
          <a:lstStyle/>
          <a:p>
            <a:pPr>
              <a:spcBef>
                <a:spcPct val="50000"/>
              </a:spcBef>
            </a:pPr>
            <a:r>
              <a:rPr lang="en-US" sz="3200" b="1" dirty="0">
                <a:solidFill>
                  <a:srgbClr val="FF0000"/>
                </a:solidFill>
                <a:latin typeface="Times New Roman" pitchFamily="18" charset="0"/>
                <a:cs typeface="Times New Roman" pitchFamily="18" charset="0"/>
              </a:rPr>
              <a:t>Red</a:t>
            </a:r>
            <a:r>
              <a:rPr lang="en-US" sz="3200" b="1" dirty="0">
                <a:solidFill>
                  <a:srgbClr val="000000"/>
                </a:solidFill>
                <a:latin typeface="Times New Roman" pitchFamily="18" charset="0"/>
                <a:cs typeface="Times New Roman" pitchFamily="18" charset="0"/>
              </a:rPr>
              <a:t>		</a:t>
            </a:r>
            <a:r>
              <a:rPr lang="en-US" sz="3200" b="1" dirty="0">
                <a:solidFill>
                  <a:srgbClr val="00FF00"/>
                </a:solidFill>
                <a:latin typeface="Times New Roman" pitchFamily="18" charset="0"/>
                <a:cs typeface="Times New Roman" pitchFamily="18" charset="0"/>
              </a:rPr>
              <a:t>green</a:t>
            </a:r>
            <a:r>
              <a:rPr lang="en-US" sz="3200" b="1" dirty="0">
                <a:solidFill>
                  <a:srgbClr val="000000"/>
                </a:solidFill>
                <a:latin typeface="Times New Roman" pitchFamily="18" charset="0"/>
                <a:cs typeface="Times New Roman" pitchFamily="18" charset="0"/>
              </a:rPr>
              <a:t>	</a:t>
            </a:r>
            <a:r>
              <a:rPr lang="en-US" sz="3200" b="1" dirty="0">
                <a:solidFill>
                  <a:srgbClr val="0066FF"/>
                </a:solidFill>
                <a:latin typeface="Times New Roman" pitchFamily="18" charset="0"/>
                <a:cs typeface="Times New Roman" pitchFamily="18" charset="0"/>
              </a:rPr>
              <a:t>blue</a:t>
            </a:r>
            <a:r>
              <a:rPr lang="en-US" sz="3200" b="1" dirty="0">
                <a:solidFill>
                  <a:srgbClr val="000000"/>
                </a:solidFill>
                <a:latin typeface="Times New Roman" pitchFamily="18" charset="0"/>
                <a:cs typeface="Times New Roman" pitchFamily="18" charset="0"/>
              </a:rPr>
              <a:t> 		</a:t>
            </a:r>
            <a:r>
              <a:rPr lang="en-US" sz="3200" b="1" dirty="0">
                <a:solidFill>
                  <a:srgbClr val="6600FF"/>
                </a:solidFill>
                <a:latin typeface="Times New Roman" pitchFamily="18" charset="0"/>
                <a:cs typeface="Times New Roman" pitchFamily="18" charset="0"/>
              </a:rPr>
              <a:t>purple</a:t>
            </a:r>
            <a:r>
              <a:rPr lang="en-US" sz="3200" b="1" dirty="0">
                <a:solidFill>
                  <a:srgbClr val="000000"/>
                </a:solidFill>
                <a:latin typeface="Times New Roman" pitchFamily="18" charset="0"/>
                <a:cs typeface="Times New Roman" pitchFamily="18" charset="0"/>
              </a:rPr>
              <a:t> 	</a:t>
            </a:r>
            <a:r>
              <a:rPr lang="en-US" sz="3200" b="1" dirty="0">
                <a:solidFill>
                  <a:srgbClr val="FF9900"/>
                </a:solidFill>
                <a:latin typeface="Times New Roman" pitchFamily="18" charset="0"/>
                <a:cs typeface="Times New Roman" pitchFamily="18" charset="0"/>
              </a:rPr>
              <a:t>orange</a:t>
            </a:r>
            <a:r>
              <a:rPr lang="en-US" sz="3200" b="1" dirty="0">
                <a:solidFill>
                  <a:srgbClr val="000000"/>
                </a:solidFill>
                <a:latin typeface="Times New Roman" pitchFamily="18" charset="0"/>
                <a:cs typeface="Times New Roman" pitchFamily="18" charset="0"/>
              </a:rPr>
              <a:t> </a:t>
            </a:r>
          </a:p>
          <a:p>
            <a:pPr>
              <a:spcBef>
                <a:spcPct val="50000"/>
              </a:spcBef>
            </a:pPr>
            <a:r>
              <a:rPr lang="en-US" sz="3200" b="1" dirty="0">
                <a:solidFill>
                  <a:srgbClr val="0066FF"/>
                </a:solidFill>
                <a:latin typeface="Times New Roman" pitchFamily="18" charset="0"/>
                <a:cs typeface="Times New Roman" pitchFamily="18" charset="0"/>
              </a:rPr>
              <a:t>blue</a:t>
            </a:r>
            <a:r>
              <a:rPr lang="en-US" sz="3200" b="1" dirty="0">
                <a:solidFill>
                  <a:srgbClr val="000000"/>
                </a:solidFill>
                <a:latin typeface="Times New Roman" pitchFamily="18" charset="0"/>
                <a:cs typeface="Times New Roman" pitchFamily="18" charset="0"/>
              </a:rPr>
              <a:t> 		</a:t>
            </a:r>
            <a:r>
              <a:rPr lang="en-US" sz="3200" b="1" dirty="0">
                <a:solidFill>
                  <a:srgbClr val="FF0000"/>
                </a:solidFill>
                <a:latin typeface="Times New Roman" pitchFamily="18" charset="0"/>
                <a:cs typeface="Times New Roman" pitchFamily="18" charset="0"/>
              </a:rPr>
              <a:t>red</a:t>
            </a:r>
            <a:r>
              <a:rPr lang="en-US" sz="3200" b="1" dirty="0">
                <a:solidFill>
                  <a:srgbClr val="000000"/>
                </a:solidFill>
                <a:latin typeface="Times New Roman" pitchFamily="18" charset="0"/>
                <a:cs typeface="Times New Roman" pitchFamily="18" charset="0"/>
              </a:rPr>
              <a:t> 		</a:t>
            </a:r>
            <a:r>
              <a:rPr lang="en-US" sz="3200" b="1" dirty="0">
                <a:solidFill>
                  <a:srgbClr val="6600FF"/>
                </a:solidFill>
                <a:latin typeface="Times New Roman" pitchFamily="18" charset="0"/>
                <a:cs typeface="Times New Roman" pitchFamily="18" charset="0"/>
              </a:rPr>
              <a:t>purple</a:t>
            </a:r>
            <a:r>
              <a:rPr lang="en-US" sz="3200" b="1" dirty="0">
                <a:solidFill>
                  <a:srgbClr val="000000"/>
                </a:solidFill>
                <a:latin typeface="Times New Roman" pitchFamily="18" charset="0"/>
                <a:cs typeface="Times New Roman" pitchFamily="18" charset="0"/>
              </a:rPr>
              <a:t> 	</a:t>
            </a:r>
            <a:r>
              <a:rPr lang="en-US" sz="3200" b="1" dirty="0">
                <a:solidFill>
                  <a:srgbClr val="FF9900"/>
                </a:solidFill>
                <a:latin typeface="Times New Roman" pitchFamily="18" charset="0"/>
                <a:cs typeface="Times New Roman" pitchFamily="18" charset="0"/>
              </a:rPr>
              <a:t>orange</a:t>
            </a:r>
            <a:r>
              <a:rPr lang="en-US" sz="3200" b="1" dirty="0">
                <a:solidFill>
                  <a:srgbClr val="000000"/>
                </a:solidFill>
                <a:latin typeface="Times New Roman" pitchFamily="18" charset="0"/>
                <a:cs typeface="Times New Roman" pitchFamily="18" charset="0"/>
              </a:rPr>
              <a:t> 	</a:t>
            </a:r>
            <a:r>
              <a:rPr lang="en-US" sz="3200" b="1" dirty="0">
                <a:solidFill>
                  <a:srgbClr val="66FF33"/>
                </a:solidFill>
                <a:latin typeface="Times New Roman" pitchFamily="18" charset="0"/>
                <a:cs typeface="Times New Roman" pitchFamily="18" charset="0"/>
              </a:rPr>
              <a:t>green</a:t>
            </a:r>
            <a:r>
              <a:rPr lang="en-US" sz="3200" b="1" dirty="0">
                <a:solidFill>
                  <a:srgbClr val="000000"/>
                </a:solidFill>
                <a:latin typeface="Times New Roman" pitchFamily="18" charset="0"/>
                <a:cs typeface="Times New Roman" pitchFamily="18" charset="0"/>
              </a:rPr>
              <a:t> </a:t>
            </a:r>
          </a:p>
          <a:p>
            <a:pPr>
              <a:spcBef>
                <a:spcPct val="50000"/>
              </a:spcBef>
            </a:pPr>
            <a:r>
              <a:rPr lang="en-US" sz="3200" b="1" dirty="0">
                <a:solidFill>
                  <a:srgbClr val="6600FF"/>
                </a:solidFill>
                <a:latin typeface="Times New Roman" pitchFamily="18" charset="0"/>
                <a:cs typeface="Times New Roman" pitchFamily="18" charset="0"/>
              </a:rPr>
              <a:t>orange</a:t>
            </a:r>
            <a:r>
              <a:rPr lang="en-US" sz="3200" b="1" dirty="0">
                <a:solidFill>
                  <a:srgbClr val="000000"/>
                </a:solidFill>
                <a:latin typeface="Times New Roman" pitchFamily="18" charset="0"/>
                <a:cs typeface="Times New Roman" pitchFamily="18" charset="0"/>
              </a:rPr>
              <a:t> 	</a:t>
            </a:r>
            <a:r>
              <a:rPr lang="en-US" sz="3200" b="1" dirty="0">
                <a:solidFill>
                  <a:srgbClr val="FF9900"/>
                </a:solidFill>
                <a:latin typeface="Times New Roman" pitchFamily="18" charset="0"/>
                <a:cs typeface="Times New Roman" pitchFamily="18" charset="0"/>
              </a:rPr>
              <a:t>blue</a:t>
            </a:r>
            <a:r>
              <a:rPr lang="en-US" sz="3200" b="1" dirty="0">
                <a:solidFill>
                  <a:srgbClr val="000000"/>
                </a:solidFill>
                <a:latin typeface="Times New Roman" pitchFamily="18" charset="0"/>
                <a:cs typeface="Times New Roman" pitchFamily="18" charset="0"/>
              </a:rPr>
              <a:t> 		</a:t>
            </a:r>
            <a:r>
              <a:rPr lang="en-US" sz="3200" b="1" dirty="0">
                <a:solidFill>
                  <a:srgbClr val="66FF33"/>
                </a:solidFill>
                <a:latin typeface="Times New Roman" pitchFamily="18" charset="0"/>
                <a:cs typeface="Times New Roman" pitchFamily="18" charset="0"/>
              </a:rPr>
              <a:t>red</a:t>
            </a:r>
            <a:r>
              <a:rPr lang="en-US" sz="3200" b="1" dirty="0">
                <a:solidFill>
                  <a:srgbClr val="000000"/>
                </a:solidFill>
                <a:latin typeface="Times New Roman" pitchFamily="18" charset="0"/>
                <a:cs typeface="Times New Roman" pitchFamily="18" charset="0"/>
              </a:rPr>
              <a:t> 		</a:t>
            </a:r>
            <a:r>
              <a:rPr lang="en-US" sz="3200" b="1" dirty="0">
                <a:solidFill>
                  <a:srgbClr val="0066FF"/>
                </a:solidFill>
                <a:latin typeface="Times New Roman" pitchFamily="18" charset="0"/>
                <a:cs typeface="Times New Roman" pitchFamily="18" charset="0"/>
              </a:rPr>
              <a:t>green</a:t>
            </a:r>
            <a:r>
              <a:rPr lang="en-US" sz="3200" b="1" dirty="0">
                <a:solidFill>
                  <a:srgbClr val="000000"/>
                </a:solidFill>
                <a:latin typeface="Times New Roman" pitchFamily="18" charset="0"/>
                <a:cs typeface="Times New Roman" pitchFamily="18" charset="0"/>
              </a:rPr>
              <a:t> 	</a:t>
            </a:r>
            <a:r>
              <a:rPr lang="en-US" sz="3200" b="1" dirty="0">
                <a:solidFill>
                  <a:srgbClr val="FF0000"/>
                </a:solidFill>
                <a:latin typeface="Times New Roman" pitchFamily="18" charset="0"/>
                <a:cs typeface="Times New Roman" pitchFamily="18" charset="0"/>
              </a:rPr>
              <a:t>purple</a:t>
            </a:r>
            <a:r>
              <a:rPr lang="en-US" sz="3200" b="1" dirty="0">
                <a:solidFill>
                  <a:srgbClr val="000000"/>
                </a:solidFill>
                <a:latin typeface="Times New Roman" pitchFamily="18" charset="0"/>
                <a:cs typeface="Times New Roman" pitchFamily="18" charset="0"/>
              </a:rPr>
              <a:t> </a:t>
            </a:r>
          </a:p>
          <a:p>
            <a:pPr>
              <a:spcBef>
                <a:spcPct val="50000"/>
              </a:spcBef>
            </a:pPr>
            <a:r>
              <a:rPr lang="en-US" sz="3200" b="1" dirty="0">
                <a:solidFill>
                  <a:srgbClr val="0066FF"/>
                </a:solidFill>
                <a:latin typeface="Times New Roman" pitchFamily="18" charset="0"/>
                <a:cs typeface="Times New Roman" pitchFamily="18" charset="0"/>
              </a:rPr>
              <a:t>purple</a:t>
            </a:r>
            <a:r>
              <a:rPr lang="en-US" sz="3200" b="1" dirty="0">
                <a:solidFill>
                  <a:srgbClr val="000000"/>
                </a:solidFill>
                <a:latin typeface="Times New Roman" pitchFamily="18" charset="0"/>
                <a:cs typeface="Times New Roman" pitchFamily="18" charset="0"/>
              </a:rPr>
              <a:t> 	</a:t>
            </a:r>
            <a:r>
              <a:rPr lang="en-US" sz="3200" b="1" dirty="0">
                <a:solidFill>
                  <a:srgbClr val="FF0000"/>
                </a:solidFill>
                <a:latin typeface="Times New Roman" pitchFamily="18" charset="0"/>
                <a:cs typeface="Times New Roman" pitchFamily="18" charset="0"/>
              </a:rPr>
              <a:t>green</a:t>
            </a:r>
            <a:r>
              <a:rPr lang="en-US" sz="3200" b="1" dirty="0">
                <a:solidFill>
                  <a:srgbClr val="000000"/>
                </a:solidFill>
                <a:latin typeface="Times New Roman" pitchFamily="18" charset="0"/>
                <a:cs typeface="Times New Roman" pitchFamily="18" charset="0"/>
              </a:rPr>
              <a:t> 	</a:t>
            </a:r>
            <a:r>
              <a:rPr lang="en-US" sz="3200" b="1" dirty="0">
                <a:solidFill>
                  <a:srgbClr val="6600FF"/>
                </a:solidFill>
                <a:latin typeface="Times New Roman" pitchFamily="18" charset="0"/>
                <a:cs typeface="Times New Roman" pitchFamily="18" charset="0"/>
              </a:rPr>
              <a:t>blue</a:t>
            </a:r>
            <a:r>
              <a:rPr lang="en-US" sz="3200" b="1" dirty="0">
                <a:solidFill>
                  <a:srgbClr val="000000"/>
                </a:solidFill>
                <a:latin typeface="Times New Roman" pitchFamily="18" charset="0"/>
                <a:cs typeface="Times New Roman" pitchFamily="18" charset="0"/>
              </a:rPr>
              <a:t> 		</a:t>
            </a:r>
            <a:r>
              <a:rPr lang="en-US" sz="3200" b="1" dirty="0">
                <a:solidFill>
                  <a:srgbClr val="66FF33"/>
                </a:solidFill>
                <a:latin typeface="Times New Roman" pitchFamily="18" charset="0"/>
                <a:cs typeface="Times New Roman" pitchFamily="18" charset="0"/>
              </a:rPr>
              <a:t>orange</a:t>
            </a:r>
            <a:r>
              <a:rPr lang="en-US" sz="3200" b="1" dirty="0">
                <a:solidFill>
                  <a:srgbClr val="000000"/>
                </a:solidFill>
                <a:latin typeface="Times New Roman" pitchFamily="18" charset="0"/>
                <a:cs typeface="Times New Roman" pitchFamily="18" charset="0"/>
              </a:rPr>
              <a:t> 	</a:t>
            </a:r>
            <a:r>
              <a:rPr lang="en-US" sz="3200" b="1" dirty="0">
                <a:solidFill>
                  <a:srgbClr val="FF9900"/>
                </a:solidFill>
                <a:latin typeface="Times New Roman" pitchFamily="18" charset="0"/>
                <a:cs typeface="Times New Roman" pitchFamily="18" charset="0"/>
              </a:rPr>
              <a:t>red</a:t>
            </a:r>
          </a:p>
          <a:p>
            <a:pPr>
              <a:spcBef>
                <a:spcPct val="50000"/>
              </a:spcBef>
            </a:pPr>
            <a:r>
              <a:rPr lang="en-US" sz="3200" b="1" dirty="0">
                <a:solidFill>
                  <a:srgbClr val="66FF33"/>
                </a:solidFill>
                <a:latin typeface="Times New Roman" pitchFamily="18" charset="0"/>
                <a:cs typeface="Times New Roman" pitchFamily="18" charset="0"/>
              </a:rPr>
              <a:t>blue</a:t>
            </a:r>
            <a:r>
              <a:rPr lang="en-US" sz="3200" b="1" dirty="0">
                <a:solidFill>
                  <a:srgbClr val="000000"/>
                </a:solidFill>
                <a:latin typeface="Times New Roman" pitchFamily="18" charset="0"/>
                <a:cs typeface="Times New Roman" pitchFamily="18" charset="0"/>
              </a:rPr>
              <a:t> 		</a:t>
            </a:r>
            <a:r>
              <a:rPr lang="en-US" sz="3200" b="1" dirty="0">
                <a:solidFill>
                  <a:srgbClr val="6600FF"/>
                </a:solidFill>
                <a:latin typeface="Times New Roman" pitchFamily="18" charset="0"/>
                <a:cs typeface="Times New Roman" pitchFamily="18" charset="0"/>
              </a:rPr>
              <a:t>red</a:t>
            </a:r>
            <a:r>
              <a:rPr lang="en-US" sz="3200" b="1" dirty="0">
                <a:solidFill>
                  <a:srgbClr val="000000"/>
                </a:solidFill>
                <a:latin typeface="Times New Roman" pitchFamily="18" charset="0"/>
                <a:cs typeface="Times New Roman" pitchFamily="18" charset="0"/>
              </a:rPr>
              <a:t> 		</a:t>
            </a:r>
            <a:r>
              <a:rPr lang="en-US" sz="3200" b="1" dirty="0">
                <a:solidFill>
                  <a:srgbClr val="FF0000"/>
                </a:solidFill>
                <a:latin typeface="Times New Roman" pitchFamily="18" charset="0"/>
                <a:cs typeface="Times New Roman" pitchFamily="18" charset="0"/>
              </a:rPr>
              <a:t>purple</a:t>
            </a:r>
            <a:r>
              <a:rPr lang="en-US" sz="3200" b="1" dirty="0">
                <a:solidFill>
                  <a:srgbClr val="000000"/>
                </a:solidFill>
                <a:latin typeface="Times New Roman" pitchFamily="18" charset="0"/>
                <a:cs typeface="Times New Roman" pitchFamily="18" charset="0"/>
              </a:rPr>
              <a:t> 	</a:t>
            </a:r>
            <a:r>
              <a:rPr lang="en-US" sz="3200" b="1" dirty="0">
                <a:solidFill>
                  <a:srgbClr val="FF9900"/>
                </a:solidFill>
                <a:latin typeface="Times New Roman" pitchFamily="18" charset="0"/>
                <a:cs typeface="Times New Roman" pitchFamily="18" charset="0"/>
              </a:rPr>
              <a:t>green</a:t>
            </a:r>
            <a:r>
              <a:rPr lang="en-US" sz="3200" b="1" dirty="0">
                <a:solidFill>
                  <a:srgbClr val="000000"/>
                </a:solidFill>
                <a:latin typeface="Times New Roman" pitchFamily="18" charset="0"/>
                <a:cs typeface="Times New Roman" pitchFamily="18" charset="0"/>
              </a:rPr>
              <a:t> 	</a:t>
            </a:r>
            <a:r>
              <a:rPr lang="en-US" sz="3200" b="1" dirty="0">
                <a:solidFill>
                  <a:srgbClr val="0066FF"/>
                </a:solidFill>
                <a:latin typeface="Times New Roman" pitchFamily="18" charset="0"/>
                <a:cs typeface="Times New Roman" pitchFamily="18" charset="0"/>
              </a:rPr>
              <a:t>orange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descr="optcial-illusions-34.jpg"/>
          <p:cNvPicPr>
            <a:picLocks noChangeAspect="1" noChangeArrowheads="1"/>
          </p:cNvPicPr>
          <p:nvPr/>
        </p:nvPicPr>
        <p:blipFill>
          <a:blip r:embed="rId2" cstate="print"/>
          <a:srcRect/>
          <a:stretch>
            <a:fillRect/>
          </a:stretch>
        </p:blipFill>
        <p:spPr bwMode="auto">
          <a:xfrm>
            <a:off x="0" y="685800"/>
            <a:ext cx="9144000" cy="4953000"/>
          </a:xfrm>
          <a:prstGeom prst="rect">
            <a:avLst/>
          </a:prstGeom>
          <a:noFill/>
          <a:ln w="9525">
            <a:solidFill>
              <a:srgbClr val="000000"/>
            </a:solidFill>
            <a:miter lim="800000"/>
            <a:headEnd/>
            <a:tailEnd/>
          </a:ln>
        </p:spPr>
      </p:pic>
      <p:sp>
        <p:nvSpPr>
          <p:cNvPr id="3" name="Rectangle 2"/>
          <p:cNvSpPr>
            <a:spLocks noChangeArrowheads="1"/>
          </p:cNvSpPr>
          <p:nvPr/>
        </p:nvSpPr>
        <p:spPr bwMode="auto">
          <a:xfrm>
            <a:off x="0" y="0"/>
            <a:ext cx="9144000" cy="584775"/>
          </a:xfrm>
          <a:prstGeom prst="rect">
            <a:avLst/>
          </a:prstGeom>
          <a:noFill/>
          <a:ln w="9525">
            <a:noFill/>
            <a:miter lim="800000"/>
            <a:headEnd/>
            <a:tailEnd/>
          </a:ln>
        </p:spPr>
        <p:txBody>
          <a:bodyPr>
            <a:spAutoFit/>
          </a:bodyPr>
          <a:lstStyle/>
          <a:p>
            <a:r>
              <a:rPr lang="en-US" sz="3200" dirty="0">
                <a:solidFill>
                  <a:schemeClr val="bg1"/>
                </a:solidFill>
                <a:latin typeface="Times New Roman" pitchFamily="18" charset="0"/>
                <a:cs typeface="Times New Roman" pitchFamily="18" charset="0"/>
              </a:rPr>
              <a:t>Try reading the text below. Is it difficult to do so?</a:t>
            </a:r>
          </a:p>
        </p:txBody>
      </p:sp>
      <p:sp>
        <p:nvSpPr>
          <p:cNvPr id="4" name="Rectangle 3"/>
          <p:cNvSpPr>
            <a:spLocks noChangeArrowheads="1"/>
          </p:cNvSpPr>
          <p:nvPr/>
        </p:nvSpPr>
        <p:spPr bwMode="auto">
          <a:xfrm>
            <a:off x="0" y="5715000"/>
            <a:ext cx="9144000" cy="1066800"/>
          </a:xfrm>
          <a:prstGeom prst="rect">
            <a:avLst/>
          </a:prstGeom>
          <a:noFill/>
          <a:ln w="9525">
            <a:noFill/>
            <a:miter lim="800000"/>
            <a:headEnd/>
            <a:tailEnd/>
          </a:ln>
        </p:spPr>
        <p:txBody>
          <a:bodyPr>
            <a:spAutoFit/>
          </a:bodyPr>
          <a:lstStyle/>
          <a:p>
            <a:r>
              <a:rPr lang="en-US" sz="3200" dirty="0">
                <a:solidFill>
                  <a:schemeClr val="bg1"/>
                </a:solidFill>
                <a:latin typeface="Times New Roman" pitchFamily="18" charset="0"/>
                <a:cs typeface="Times New Roman" pitchFamily="18" charset="0"/>
              </a:rPr>
              <a:t>A person can read this text with little effort if the first and last letters of the word are correctly placed.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41982"/>
            <a:ext cx="9144000" cy="1077218"/>
          </a:xfrm>
          <a:prstGeom prst="rect">
            <a:avLst/>
          </a:prstGeom>
        </p:spPr>
        <p:txBody>
          <a:bodyPr wrap="square">
            <a:spAutoFit/>
          </a:bodyPr>
          <a:lstStyle/>
          <a:p>
            <a:pPr algn="ctr"/>
            <a:r>
              <a:rPr lang="en-US" sz="3200" b="1" dirty="0">
                <a:solidFill>
                  <a:srgbClr val="000000"/>
                </a:solidFill>
                <a:latin typeface="Times New Roman" pitchFamily="18" charset="0"/>
                <a:cs typeface="Times New Roman" pitchFamily="18" charset="0"/>
              </a:rPr>
              <a:t>Which way is the dancer spinning?</a:t>
            </a:r>
          </a:p>
          <a:p>
            <a:pPr algn="ctr"/>
            <a:r>
              <a:rPr lang="en-US" sz="3200" b="1" dirty="0">
                <a:solidFill>
                  <a:srgbClr val="000000"/>
                </a:solidFill>
                <a:latin typeface="Times New Roman" pitchFamily="18" charset="0"/>
                <a:cs typeface="Times New Roman" pitchFamily="18" charset="0"/>
              </a:rPr>
              <a:t>Clockwise or counter-clockwise?  Are you sure….?</a:t>
            </a:r>
          </a:p>
        </p:txBody>
      </p:sp>
      <p:pic>
        <p:nvPicPr>
          <p:cNvPr id="3074" name="Picture 2" descr="https://upload.wikimedia.org/wikipedia/commons/2/21/Spinning_Dancer.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143250" y="1676400"/>
            <a:ext cx="2857500" cy="3810000"/>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p:cNvGrpSpPr/>
          <p:nvPr/>
        </p:nvGrpSpPr>
        <p:grpSpPr>
          <a:xfrm>
            <a:off x="155575" y="1665890"/>
            <a:ext cx="2857500" cy="4335517"/>
            <a:chOff x="155575" y="1665890"/>
            <a:chExt cx="2857500" cy="4335517"/>
          </a:xfrm>
        </p:grpSpPr>
        <p:pic>
          <p:nvPicPr>
            <p:cNvPr id="3076" name="Picture 4" descr="File:Left spinning dancer.gif"/>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155575" y="1665890"/>
              <a:ext cx="2857500" cy="3810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937449" y="5632075"/>
              <a:ext cx="1293752" cy="369332"/>
            </a:xfrm>
            <a:prstGeom prst="rect">
              <a:avLst/>
            </a:prstGeom>
            <a:noFill/>
          </p:spPr>
          <p:txBody>
            <a:bodyPr wrap="none" rtlCol="0">
              <a:spAutoFit/>
            </a:bodyPr>
            <a:lstStyle/>
            <a:p>
              <a:r>
                <a:rPr lang="en-US" b="1" dirty="0"/>
                <a:t>CLOCKWISE</a:t>
              </a:r>
            </a:p>
          </p:txBody>
        </p:sp>
      </p:grpSp>
      <p:grpSp>
        <p:nvGrpSpPr>
          <p:cNvPr id="7" name="Group 6"/>
          <p:cNvGrpSpPr/>
          <p:nvPr/>
        </p:nvGrpSpPr>
        <p:grpSpPr>
          <a:xfrm>
            <a:off x="6096000" y="1676400"/>
            <a:ext cx="2857500" cy="4325007"/>
            <a:chOff x="6096000" y="1676400"/>
            <a:chExt cx="2857500" cy="4325007"/>
          </a:xfrm>
        </p:grpSpPr>
        <p:pic>
          <p:nvPicPr>
            <p:cNvPr id="3078" name="Picture 6" descr="File:Right spinning dancer.gif"/>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1676400"/>
              <a:ext cx="2857500" cy="38100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6375364" y="5632075"/>
              <a:ext cx="2298771" cy="369332"/>
            </a:xfrm>
            <a:prstGeom prst="rect">
              <a:avLst/>
            </a:prstGeom>
            <a:noFill/>
          </p:spPr>
          <p:txBody>
            <a:bodyPr wrap="none" rtlCol="0">
              <a:spAutoFit/>
            </a:bodyPr>
            <a:lstStyle/>
            <a:p>
              <a:r>
                <a:rPr lang="en-US" b="1" dirty="0"/>
                <a:t>COUNTER-CLOCKWISE</a:t>
              </a:r>
            </a:p>
          </p:txBody>
        </p:sp>
      </p:grpSp>
      <p:sp>
        <p:nvSpPr>
          <p:cNvPr id="8" name="Rectangle 7"/>
          <p:cNvSpPr/>
          <p:nvPr/>
        </p:nvSpPr>
        <p:spPr>
          <a:xfrm>
            <a:off x="15765" y="1326977"/>
            <a:ext cx="3090041" cy="46849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p:cNvGrpSpPr/>
          <p:nvPr/>
        </p:nvGrpSpPr>
        <p:grpSpPr>
          <a:xfrm>
            <a:off x="155575" y="1676400"/>
            <a:ext cx="2857500" cy="4335517"/>
            <a:chOff x="155575" y="1665890"/>
            <a:chExt cx="2857500" cy="4335517"/>
          </a:xfrm>
        </p:grpSpPr>
        <p:pic>
          <p:nvPicPr>
            <p:cNvPr id="14" name="Picture 4" descr="File:Left spinning dancer.gif"/>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155575" y="1665890"/>
              <a:ext cx="2857500" cy="3810000"/>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p:cNvSpPr txBox="1"/>
            <p:nvPr/>
          </p:nvSpPr>
          <p:spPr>
            <a:xfrm>
              <a:off x="937449" y="5632075"/>
              <a:ext cx="1293752" cy="369332"/>
            </a:xfrm>
            <a:prstGeom prst="rect">
              <a:avLst/>
            </a:prstGeom>
            <a:noFill/>
          </p:spPr>
          <p:txBody>
            <a:bodyPr wrap="none" rtlCol="0">
              <a:spAutoFit/>
            </a:bodyPr>
            <a:lstStyle/>
            <a:p>
              <a:r>
                <a:rPr lang="en-US" b="1" dirty="0"/>
                <a:t>CLOCKWISE</a:t>
              </a:r>
            </a:p>
          </p:txBody>
        </p:sp>
      </p:grpSp>
    </p:spTree>
    <p:extLst>
      <p:ext uri="{BB962C8B-B14F-4D97-AF65-F5344CB8AC3E}">
        <p14:creationId xmlns:p14="http://schemas.microsoft.com/office/powerpoint/2010/main" val="703996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miro.medium.com/v2/resize:fit:700/1*GeP8StH8pOZzUJflP7-8cw.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62000" y="685800"/>
            <a:ext cx="7620000" cy="5715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BAE9F01-A86D-6F87-B442-8DC4B34D193D}"/>
              </a:ext>
            </a:extLst>
          </p:cNvPr>
          <p:cNvSpPr txBox="1"/>
          <p:nvPr/>
        </p:nvSpPr>
        <p:spPr>
          <a:xfrm>
            <a:off x="0" y="0"/>
            <a:ext cx="9144000" cy="492443"/>
          </a:xfrm>
          <a:prstGeom prst="rect">
            <a:avLst/>
          </a:prstGeom>
          <a:noFill/>
        </p:spPr>
        <p:txBody>
          <a:bodyPr wrap="square">
            <a:spAutoFit/>
          </a:bodyPr>
          <a:lstStyle/>
          <a:p>
            <a:pPr algn="ctr"/>
            <a:r>
              <a:rPr lang="en-US" sz="2600" b="1" dirty="0"/>
              <a:t>Are the two rectangles the same or different shades of purple?</a:t>
            </a:r>
          </a:p>
        </p:txBody>
      </p:sp>
    </p:spTree>
    <p:extLst>
      <p:ext uri="{BB962C8B-B14F-4D97-AF65-F5344CB8AC3E}">
        <p14:creationId xmlns:p14="http://schemas.microsoft.com/office/powerpoint/2010/main" val="14322590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7000" y="1981200"/>
            <a:ext cx="3810000" cy="3810000"/>
          </a:xfrm>
          <a:prstGeom prst="rect">
            <a:avLst/>
          </a:prstGeom>
        </p:spPr>
      </p:pic>
      <p:sp>
        <p:nvSpPr>
          <p:cNvPr id="5" name="TextBox 4"/>
          <p:cNvSpPr txBox="1"/>
          <p:nvPr/>
        </p:nvSpPr>
        <p:spPr>
          <a:xfrm>
            <a:off x="0" y="0"/>
            <a:ext cx="9144000" cy="1077218"/>
          </a:xfrm>
          <a:prstGeom prst="rect">
            <a:avLst/>
          </a:prstGeom>
          <a:noFill/>
        </p:spPr>
        <p:txBody>
          <a:bodyPr wrap="square" rtlCol="0">
            <a:spAutoFit/>
          </a:bodyPr>
          <a:lstStyle/>
          <a:p>
            <a:pPr algn="ctr"/>
            <a:r>
              <a:rPr lang="en-US" sz="3200" dirty="0"/>
              <a:t>Does the orange circle remain the same size the whole time?</a:t>
            </a:r>
          </a:p>
        </p:txBody>
      </p:sp>
      <p:sp>
        <p:nvSpPr>
          <p:cNvPr id="6" name="TextBox 5"/>
          <p:cNvSpPr txBox="1"/>
          <p:nvPr/>
        </p:nvSpPr>
        <p:spPr>
          <a:xfrm>
            <a:off x="-11723" y="1077218"/>
            <a:ext cx="9144000" cy="584775"/>
          </a:xfrm>
          <a:prstGeom prst="rect">
            <a:avLst/>
          </a:prstGeom>
          <a:noFill/>
        </p:spPr>
        <p:txBody>
          <a:bodyPr wrap="square" rtlCol="0">
            <a:spAutoFit/>
          </a:bodyPr>
          <a:lstStyle/>
          <a:p>
            <a:pPr algn="ctr"/>
            <a:r>
              <a:rPr lang="en-US" sz="3200" dirty="0"/>
              <a:t>Yes!  The orange circle doesn’t actually change size.</a:t>
            </a:r>
          </a:p>
        </p:txBody>
      </p:sp>
    </p:spTree>
    <p:extLst>
      <p:ext uri="{BB962C8B-B14F-4D97-AF65-F5344CB8AC3E}">
        <p14:creationId xmlns:p14="http://schemas.microsoft.com/office/powerpoint/2010/main" val="782422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4500" y="571500"/>
            <a:ext cx="5715000" cy="5715000"/>
          </a:xfrm>
          <a:prstGeom prst="rect">
            <a:avLst/>
          </a:prstGeom>
        </p:spPr>
      </p:pic>
      <p:sp>
        <p:nvSpPr>
          <p:cNvPr id="3" name="Rectangle 2"/>
          <p:cNvSpPr/>
          <p:nvPr/>
        </p:nvSpPr>
        <p:spPr>
          <a:xfrm>
            <a:off x="2895600" y="5791200"/>
            <a:ext cx="3429000" cy="38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96261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4200" y="292194"/>
            <a:ext cx="2895599" cy="4523014"/>
          </a:xfrm>
          <a:prstGeom prst="rect">
            <a:avLst/>
          </a:prstGeom>
        </p:spPr>
      </p:pic>
      <p:sp>
        <p:nvSpPr>
          <p:cNvPr id="8" name="TextBox 7"/>
          <p:cNvSpPr txBox="1"/>
          <p:nvPr/>
        </p:nvSpPr>
        <p:spPr>
          <a:xfrm>
            <a:off x="0" y="5096782"/>
            <a:ext cx="9144000" cy="1107996"/>
          </a:xfrm>
          <a:prstGeom prst="rect">
            <a:avLst/>
          </a:prstGeom>
          <a:noFill/>
        </p:spPr>
        <p:txBody>
          <a:bodyPr wrap="square" rtlCol="0">
            <a:spAutoFit/>
          </a:bodyPr>
          <a:lstStyle/>
          <a:p>
            <a:pPr algn="ctr"/>
            <a:r>
              <a:rPr lang="en-US" sz="6600" b="1" dirty="0"/>
              <a:t>OK, so who is this guy….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down)">
                                      <p:cBhvr>
                                        <p:cTn id="23" dur="580">
                                          <p:stCondLst>
                                            <p:cond delay="0"/>
                                          </p:stCondLst>
                                        </p:cTn>
                                        <p:tgtEl>
                                          <p:spTgt spid="8"/>
                                        </p:tgtEl>
                                      </p:cBhvr>
                                    </p:animEffect>
                                    <p:anim calcmode="lin" valueType="num">
                                      <p:cBhvr>
                                        <p:cTn id="24"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29" dur="26">
                                          <p:stCondLst>
                                            <p:cond delay="650"/>
                                          </p:stCondLst>
                                        </p:cTn>
                                        <p:tgtEl>
                                          <p:spTgt spid="8"/>
                                        </p:tgtEl>
                                      </p:cBhvr>
                                      <p:to x="100000" y="60000"/>
                                    </p:animScale>
                                    <p:animScale>
                                      <p:cBhvr>
                                        <p:cTn id="30" dur="166" decel="50000">
                                          <p:stCondLst>
                                            <p:cond delay="676"/>
                                          </p:stCondLst>
                                        </p:cTn>
                                        <p:tgtEl>
                                          <p:spTgt spid="8"/>
                                        </p:tgtEl>
                                      </p:cBhvr>
                                      <p:to x="100000" y="100000"/>
                                    </p:animScale>
                                    <p:animScale>
                                      <p:cBhvr>
                                        <p:cTn id="31" dur="26">
                                          <p:stCondLst>
                                            <p:cond delay="1312"/>
                                          </p:stCondLst>
                                        </p:cTn>
                                        <p:tgtEl>
                                          <p:spTgt spid="8"/>
                                        </p:tgtEl>
                                      </p:cBhvr>
                                      <p:to x="100000" y="80000"/>
                                    </p:animScale>
                                    <p:animScale>
                                      <p:cBhvr>
                                        <p:cTn id="32" dur="166" decel="50000">
                                          <p:stCondLst>
                                            <p:cond delay="1338"/>
                                          </p:stCondLst>
                                        </p:cTn>
                                        <p:tgtEl>
                                          <p:spTgt spid="8"/>
                                        </p:tgtEl>
                                      </p:cBhvr>
                                      <p:to x="100000" y="100000"/>
                                    </p:animScale>
                                    <p:animScale>
                                      <p:cBhvr>
                                        <p:cTn id="33" dur="26">
                                          <p:stCondLst>
                                            <p:cond delay="1642"/>
                                          </p:stCondLst>
                                        </p:cTn>
                                        <p:tgtEl>
                                          <p:spTgt spid="8"/>
                                        </p:tgtEl>
                                      </p:cBhvr>
                                      <p:to x="100000" y="90000"/>
                                    </p:animScale>
                                    <p:animScale>
                                      <p:cBhvr>
                                        <p:cTn id="34" dur="166" decel="50000">
                                          <p:stCondLst>
                                            <p:cond delay="1668"/>
                                          </p:stCondLst>
                                        </p:cTn>
                                        <p:tgtEl>
                                          <p:spTgt spid="8"/>
                                        </p:tgtEl>
                                      </p:cBhvr>
                                      <p:to x="100000" y="100000"/>
                                    </p:animScale>
                                    <p:animScale>
                                      <p:cBhvr>
                                        <p:cTn id="35" dur="26">
                                          <p:stCondLst>
                                            <p:cond delay="1808"/>
                                          </p:stCondLst>
                                        </p:cTn>
                                        <p:tgtEl>
                                          <p:spTgt spid="8"/>
                                        </p:tgtEl>
                                      </p:cBhvr>
                                      <p:to x="100000" y="95000"/>
                                    </p:animScale>
                                    <p:animScale>
                                      <p:cBhvr>
                                        <p:cTn id="36"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14" y="2987637"/>
            <a:ext cx="5160485" cy="3870364"/>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7749"/>
            <a:ext cx="2601356" cy="3468475"/>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24634" y="3554343"/>
            <a:ext cx="4519366" cy="3303657"/>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88688" y="0"/>
            <a:ext cx="2855312" cy="3256840"/>
          </a:xfrm>
          <a:prstGeom prst="rect">
            <a:avLst/>
          </a:prstGeom>
        </p:spPr>
      </p:pic>
      <p:pic>
        <p:nvPicPr>
          <p:cNvPr id="5" name="Picture 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698532" y="518950"/>
            <a:ext cx="3473668" cy="2605250"/>
          </a:xfrm>
          <a:prstGeom prst="rect">
            <a:avLst/>
          </a:prstGeom>
        </p:spPr>
      </p:pic>
    </p:spTree>
    <p:extLst>
      <p:ext uri="{BB962C8B-B14F-4D97-AF65-F5344CB8AC3E}">
        <p14:creationId xmlns:p14="http://schemas.microsoft.com/office/powerpoint/2010/main" val="28421233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0" y="1066800"/>
            <a:ext cx="9144000" cy="5539978"/>
          </a:xfrm>
          <a:prstGeom prst="rect">
            <a:avLst/>
          </a:prstGeom>
          <a:noFill/>
          <a:ln w="9525">
            <a:noFill/>
            <a:miter lim="800000"/>
            <a:headEnd/>
            <a:tailEnd/>
          </a:ln>
        </p:spPr>
        <p:txBody>
          <a:bodyPr>
            <a:spAutoFit/>
          </a:bodyPr>
          <a:lstStyle/>
          <a:p>
            <a:pPr defTabSz="1138238"/>
            <a:r>
              <a:rPr lang="en-US" sz="5400" dirty="0">
                <a:latin typeface="Times New Roman" pitchFamily="18" charset="0"/>
                <a:cs typeface="Times New Roman" pitchFamily="18" charset="0"/>
              </a:rPr>
              <a:t>Dr. Adam </a:t>
            </a:r>
            <a:r>
              <a:rPr lang="en-US" sz="5400" dirty="0" err="1">
                <a:latin typeface="Times New Roman" pitchFamily="18" charset="0"/>
                <a:cs typeface="Times New Roman" pitchFamily="18" charset="0"/>
              </a:rPr>
              <a:t>Hrincevich</a:t>
            </a:r>
            <a:endParaRPr lang="en-US" sz="5400" dirty="0">
              <a:latin typeface="Times New Roman" pitchFamily="18" charset="0"/>
              <a:cs typeface="Times New Roman" pitchFamily="18" charset="0"/>
            </a:endParaRPr>
          </a:p>
          <a:p>
            <a:pPr defTabSz="1138238"/>
            <a:endParaRPr lang="en-US" sz="5400" dirty="0">
              <a:latin typeface="Times New Roman" pitchFamily="18" charset="0"/>
              <a:cs typeface="Times New Roman" pitchFamily="18" charset="0"/>
            </a:endParaRPr>
          </a:p>
          <a:p>
            <a:pPr defTabSz="1138238"/>
            <a:r>
              <a:rPr lang="en-US" sz="5400" dirty="0">
                <a:latin typeface="Times New Roman" pitchFamily="18" charset="0"/>
                <a:cs typeface="Times New Roman" pitchFamily="18" charset="0"/>
              </a:rPr>
              <a:t>Pronounced “her-IN-</a:t>
            </a:r>
            <a:r>
              <a:rPr lang="en-US" sz="5400" dirty="0" err="1">
                <a:latin typeface="Times New Roman" pitchFamily="18" charset="0"/>
                <a:cs typeface="Times New Roman" pitchFamily="18" charset="0"/>
              </a:rPr>
              <a:t>suh</a:t>
            </a:r>
            <a:r>
              <a:rPr lang="en-US" sz="5400" dirty="0">
                <a:latin typeface="Times New Roman" pitchFamily="18" charset="0"/>
                <a:cs typeface="Times New Roman" pitchFamily="18" charset="0"/>
              </a:rPr>
              <a:t>-</a:t>
            </a:r>
            <a:r>
              <a:rPr lang="en-US" sz="5400" dirty="0" err="1">
                <a:latin typeface="Times New Roman" pitchFamily="18" charset="0"/>
                <a:cs typeface="Times New Roman" pitchFamily="18" charset="0"/>
              </a:rPr>
              <a:t>vitch</a:t>
            </a:r>
            <a:r>
              <a:rPr lang="en-US" sz="5400" dirty="0">
                <a:latin typeface="Times New Roman" pitchFamily="18" charset="0"/>
                <a:cs typeface="Times New Roman" pitchFamily="18" charset="0"/>
              </a:rPr>
              <a:t>”</a:t>
            </a:r>
          </a:p>
          <a:p>
            <a:pPr defTabSz="1138238"/>
            <a:endParaRPr lang="en-US" sz="5400" dirty="0">
              <a:latin typeface="Times New Roman" pitchFamily="18" charset="0"/>
              <a:cs typeface="Times New Roman" pitchFamily="18" charset="0"/>
            </a:endParaRPr>
          </a:p>
          <a:p>
            <a:pPr defTabSz="1138238"/>
            <a:r>
              <a:rPr lang="en-US" sz="5400" b="1" dirty="0" err="1">
                <a:latin typeface="Times New Roman" pitchFamily="18" charset="0"/>
                <a:cs typeface="Times New Roman" pitchFamily="18" charset="0"/>
              </a:rPr>
              <a:t>Hrincevich</a:t>
            </a:r>
            <a:r>
              <a:rPr lang="en-US" sz="5400" dirty="0">
                <a:latin typeface="Times New Roman" pitchFamily="18" charset="0"/>
                <a:cs typeface="Times New Roman" pitchFamily="18" charset="0"/>
              </a:rPr>
              <a:t> ???   Say again????</a:t>
            </a:r>
          </a:p>
          <a:p>
            <a:pPr defTabSz="1138238"/>
            <a:endParaRPr lang="en-US" sz="2800" dirty="0">
              <a:latin typeface="Times New Roman" pitchFamily="18" charset="0"/>
              <a:cs typeface="Times New Roman" pitchFamily="18" charset="0"/>
            </a:endParaRPr>
          </a:p>
          <a:p>
            <a:pPr defTabSz="1138238"/>
            <a:r>
              <a:rPr lang="en-US" sz="2800" dirty="0">
                <a:latin typeface="Times New Roman" pitchFamily="18" charset="0"/>
                <a:cs typeface="Times New Roman" pitchFamily="18" charset="0"/>
              </a:rPr>
              <a:t>(I know…you saw my name on the list of classes and thought “there is no way this person speaks English.  Just great…”)</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76999" y="-1"/>
            <a:ext cx="2667001" cy="2667001"/>
          </a:xfrm>
          <a:prstGeom prst="rect">
            <a:avLst/>
          </a:prstGeom>
        </p:spPr>
      </p:pic>
    </p:spTree>
    <p:extLst>
      <p:ext uri="{BB962C8B-B14F-4D97-AF65-F5344CB8AC3E}">
        <p14:creationId xmlns:p14="http://schemas.microsoft.com/office/powerpoint/2010/main" val="1575689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www.theodora.com/maps/new4/world_color.gif"/>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3" name="Rectangle 2"/>
          <p:cNvSpPr/>
          <p:nvPr/>
        </p:nvSpPr>
        <p:spPr>
          <a:xfrm>
            <a:off x="2819400" y="5791200"/>
            <a:ext cx="4114800" cy="990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4800" b="1" dirty="0" err="1">
                <a:solidFill>
                  <a:srgbClr val="000000"/>
                </a:solidFill>
                <a:latin typeface="Times New Roman" pitchFamily="18" charset="0"/>
                <a:cs typeface="Times New Roman" pitchFamily="18" charset="0"/>
              </a:rPr>
              <a:t>Hrincevich</a:t>
            </a:r>
            <a:r>
              <a:rPr lang="en-US" sz="4800" b="1" dirty="0">
                <a:solidFill>
                  <a:srgbClr val="000000"/>
                </a:solidFill>
                <a:latin typeface="Times New Roman" pitchFamily="18" charset="0"/>
                <a:cs typeface="Times New Roman" pitchFamily="18" charset="0"/>
              </a:rPr>
              <a:t>???</a:t>
            </a:r>
          </a:p>
        </p:txBody>
      </p:sp>
      <p:sp>
        <p:nvSpPr>
          <p:cNvPr id="4" name="5-Point Star 3"/>
          <p:cNvSpPr/>
          <p:nvPr/>
        </p:nvSpPr>
        <p:spPr>
          <a:xfrm>
            <a:off x="8001000" y="5257800"/>
            <a:ext cx="304800" cy="30480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5-Point Star 4"/>
          <p:cNvSpPr/>
          <p:nvPr/>
        </p:nvSpPr>
        <p:spPr>
          <a:xfrm>
            <a:off x="6172200" y="1371600"/>
            <a:ext cx="304800" cy="30480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5-Point Star 5"/>
          <p:cNvSpPr/>
          <p:nvPr/>
        </p:nvSpPr>
        <p:spPr>
          <a:xfrm>
            <a:off x="3962400" y="2438400"/>
            <a:ext cx="304800" cy="30480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5-Point Star 6"/>
          <p:cNvSpPr/>
          <p:nvPr/>
        </p:nvSpPr>
        <p:spPr>
          <a:xfrm>
            <a:off x="685800" y="2362200"/>
            <a:ext cx="304800" cy="30480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5-Point Star 7"/>
          <p:cNvSpPr/>
          <p:nvPr/>
        </p:nvSpPr>
        <p:spPr>
          <a:xfrm>
            <a:off x="4114800" y="2057400"/>
            <a:ext cx="304800" cy="30480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5-Point Star 8"/>
          <p:cNvSpPr/>
          <p:nvPr/>
        </p:nvSpPr>
        <p:spPr>
          <a:xfrm>
            <a:off x="4572000" y="2209800"/>
            <a:ext cx="304800" cy="30480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5-Point Star 9"/>
          <p:cNvSpPr/>
          <p:nvPr/>
        </p:nvSpPr>
        <p:spPr>
          <a:xfrm>
            <a:off x="5562600" y="2286000"/>
            <a:ext cx="304800" cy="30480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5-Point Star 10"/>
          <p:cNvSpPr/>
          <p:nvPr/>
        </p:nvSpPr>
        <p:spPr>
          <a:xfrm>
            <a:off x="4648200" y="2743200"/>
            <a:ext cx="304800" cy="30480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5-Point Star 11"/>
          <p:cNvSpPr/>
          <p:nvPr/>
        </p:nvSpPr>
        <p:spPr>
          <a:xfrm>
            <a:off x="4267200" y="1600200"/>
            <a:ext cx="304800" cy="30480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5-Point Star 12"/>
          <p:cNvSpPr/>
          <p:nvPr/>
        </p:nvSpPr>
        <p:spPr>
          <a:xfrm>
            <a:off x="457200" y="3048000"/>
            <a:ext cx="304800" cy="30480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 name="5-Point Star 13"/>
          <p:cNvSpPr/>
          <p:nvPr/>
        </p:nvSpPr>
        <p:spPr>
          <a:xfrm>
            <a:off x="1447800" y="4267200"/>
            <a:ext cx="304800" cy="30480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7" name="Picture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7830" y="1714133"/>
            <a:ext cx="5328339" cy="354366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down)">
                                      <p:cBhvr>
                                        <p:cTn id="23" dur="580">
                                          <p:stCondLst>
                                            <p:cond delay="0"/>
                                          </p:stCondLst>
                                        </p:cTn>
                                        <p:tgtEl>
                                          <p:spTgt spid="5"/>
                                        </p:tgtEl>
                                      </p:cBhvr>
                                    </p:animEffect>
                                    <p:anim calcmode="lin" valueType="num">
                                      <p:cBhvr>
                                        <p:cTn id="24"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29" dur="26">
                                          <p:stCondLst>
                                            <p:cond delay="650"/>
                                          </p:stCondLst>
                                        </p:cTn>
                                        <p:tgtEl>
                                          <p:spTgt spid="5"/>
                                        </p:tgtEl>
                                      </p:cBhvr>
                                      <p:to x="100000" y="60000"/>
                                    </p:animScale>
                                    <p:animScale>
                                      <p:cBhvr>
                                        <p:cTn id="30" dur="166" decel="50000">
                                          <p:stCondLst>
                                            <p:cond delay="676"/>
                                          </p:stCondLst>
                                        </p:cTn>
                                        <p:tgtEl>
                                          <p:spTgt spid="5"/>
                                        </p:tgtEl>
                                      </p:cBhvr>
                                      <p:to x="100000" y="100000"/>
                                    </p:animScale>
                                    <p:animScale>
                                      <p:cBhvr>
                                        <p:cTn id="31" dur="26">
                                          <p:stCondLst>
                                            <p:cond delay="1312"/>
                                          </p:stCondLst>
                                        </p:cTn>
                                        <p:tgtEl>
                                          <p:spTgt spid="5"/>
                                        </p:tgtEl>
                                      </p:cBhvr>
                                      <p:to x="100000" y="80000"/>
                                    </p:animScale>
                                    <p:animScale>
                                      <p:cBhvr>
                                        <p:cTn id="32" dur="166" decel="50000">
                                          <p:stCondLst>
                                            <p:cond delay="1338"/>
                                          </p:stCondLst>
                                        </p:cTn>
                                        <p:tgtEl>
                                          <p:spTgt spid="5"/>
                                        </p:tgtEl>
                                      </p:cBhvr>
                                      <p:to x="100000" y="100000"/>
                                    </p:animScale>
                                    <p:animScale>
                                      <p:cBhvr>
                                        <p:cTn id="33" dur="26">
                                          <p:stCondLst>
                                            <p:cond delay="1642"/>
                                          </p:stCondLst>
                                        </p:cTn>
                                        <p:tgtEl>
                                          <p:spTgt spid="5"/>
                                        </p:tgtEl>
                                      </p:cBhvr>
                                      <p:to x="100000" y="90000"/>
                                    </p:animScale>
                                    <p:animScale>
                                      <p:cBhvr>
                                        <p:cTn id="34" dur="166" decel="50000">
                                          <p:stCondLst>
                                            <p:cond delay="1668"/>
                                          </p:stCondLst>
                                        </p:cTn>
                                        <p:tgtEl>
                                          <p:spTgt spid="5"/>
                                        </p:tgtEl>
                                      </p:cBhvr>
                                      <p:to x="100000" y="100000"/>
                                    </p:animScale>
                                    <p:animScale>
                                      <p:cBhvr>
                                        <p:cTn id="35" dur="26">
                                          <p:stCondLst>
                                            <p:cond delay="1808"/>
                                          </p:stCondLst>
                                        </p:cTn>
                                        <p:tgtEl>
                                          <p:spTgt spid="5"/>
                                        </p:tgtEl>
                                      </p:cBhvr>
                                      <p:to x="100000" y="95000"/>
                                    </p:animScale>
                                    <p:animScale>
                                      <p:cBhvr>
                                        <p:cTn id="36" dur="166" decel="50000">
                                          <p:stCondLst>
                                            <p:cond delay="1834"/>
                                          </p:stCondLst>
                                        </p:cTn>
                                        <p:tgtEl>
                                          <p:spTgt spid="5"/>
                                        </p:tgtEl>
                                      </p:cBhvr>
                                      <p:to x="100000" y="100000"/>
                                    </p:animScale>
                                  </p:childTnLst>
                                </p:cTn>
                              </p:par>
                              <p:par>
                                <p:cTn id="37" presetID="26" presetClass="entr" presetSubtype="0" fill="hold" nodeType="with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wipe(down)">
                                      <p:cBhvr>
                                        <p:cTn id="39" dur="580">
                                          <p:stCondLst>
                                            <p:cond delay="0"/>
                                          </p:stCondLst>
                                        </p:cTn>
                                        <p:tgtEl>
                                          <p:spTgt spid="6"/>
                                        </p:tgtEl>
                                      </p:cBhvr>
                                    </p:animEffect>
                                    <p:anim calcmode="lin" valueType="num">
                                      <p:cBhvr>
                                        <p:cTn id="40"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45" dur="26">
                                          <p:stCondLst>
                                            <p:cond delay="650"/>
                                          </p:stCondLst>
                                        </p:cTn>
                                        <p:tgtEl>
                                          <p:spTgt spid="6"/>
                                        </p:tgtEl>
                                      </p:cBhvr>
                                      <p:to x="100000" y="60000"/>
                                    </p:animScale>
                                    <p:animScale>
                                      <p:cBhvr>
                                        <p:cTn id="46" dur="166" decel="50000">
                                          <p:stCondLst>
                                            <p:cond delay="676"/>
                                          </p:stCondLst>
                                        </p:cTn>
                                        <p:tgtEl>
                                          <p:spTgt spid="6"/>
                                        </p:tgtEl>
                                      </p:cBhvr>
                                      <p:to x="100000" y="100000"/>
                                    </p:animScale>
                                    <p:animScale>
                                      <p:cBhvr>
                                        <p:cTn id="47" dur="26">
                                          <p:stCondLst>
                                            <p:cond delay="1312"/>
                                          </p:stCondLst>
                                        </p:cTn>
                                        <p:tgtEl>
                                          <p:spTgt spid="6"/>
                                        </p:tgtEl>
                                      </p:cBhvr>
                                      <p:to x="100000" y="80000"/>
                                    </p:animScale>
                                    <p:animScale>
                                      <p:cBhvr>
                                        <p:cTn id="48" dur="166" decel="50000">
                                          <p:stCondLst>
                                            <p:cond delay="1338"/>
                                          </p:stCondLst>
                                        </p:cTn>
                                        <p:tgtEl>
                                          <p:spTgt spid="6"/>
                                        </p:tgtEl>
                                      </p:cBhvr>
                                      <p:to x="100000" y="100000"/>
                                    </p:animScale>
                                    <p:animScale>
                                      <p:cBhvr>
                                        <p:cTn id="49" dur="26">
                                          <p:stCondLst>
                                            <p:cond delay="1642"/>
                                          </p:stCondLst>
                                        </p:cTn>
                                        <p:tgtEl>
                                          <p:spTgt spid="6"/>
                                        </p:tgtEl>
                                      </p:cBhvr>
                                      <p:to x="100000" y="90000"/>
                                    </p:animScale>
                                    <p:animScale>
                                      <p:cBhvr>
                                        <p:cTn id="50" dur="166" decel="50000">
                                          <p:stCondLst>
                                            <p:cond delay="1668"/>
                                          </p:stCondLst>
                                        </p:cTn>
                                        <p:tgtEl>
                                          <p:spTgt spid="6"/>
                                        </p:tgtEl>
                                      </p:cBhvr>
                                      <p:to x="100000" y="100000"/>
                                    </p:animScale>
                                    <p:animScale>
                                      <p:cBhvr>
                                        <p:cTn id="51" dur="26">
                                          <p:stCondLst>
                                            <p:cond delay="1808"/>
                                          </p:stCondLst>
                                        </p:cTn>
                                        <p:tgtEl>
                                          <p:spTgt spid="6"/>
                                        </p:tgtEl>
                                      </p:cBhvr>
                                      <p:to x="100000" y="95000"/>
                                    </p:animScale>
                                    <p:animScale>
                                      <p:cBhvr>
                                        <p:cTn id="52" dur="166" decel="50000">
                                          <p:stCondLst>
                                            <p:cond delay="1834"/>
                                          </p:stCondLst>
                                        </p:cTn>
                                        <p:tgtEl>
                                          <p:spTgt spid="6"/>
                                        </p:tgtEl>
                                      </p:cBhvr>
                                      <p:to x="100000" y="100000"/>
                                    </p:animScale>
                                  </p:childTnLst>
                                </p:cTn>
                              </p:par>
                              <p:par>
                                <p:cTn id="53" presetID="26" presetClass="entr" presetSubtype="0" fill="hold" nodeType="withEffect">
                                  <p:stCondLst>
                                    <p:cond delay="0"/>
                                  </p:stCondLst>
                                  <p:childTnLst>
                                    <p:set>
                                      <p:cBhvr>
                                        <p:cTn id="54" dur="1" fill="hold">
                                          <p:stCondLst>
                                            <p:cond delay="0"/>
                                          </p:stCondLst>
                                        </p:cTn>
                                        <p:tgtEl>
                                          <p:spTgt spid="7"/>
                                        </p:tgtEl>
                                        <p:attrNameLst>
                                          <p:attrName>style.visibility</p:attrName>
                                        </p:attrNameLst>
                                      </p:cBhvr>
                                      <p:to>
                                        <p:strVal val="visible"/>
                                      </p:to>
                                    </p:set>
                                    <p:animEffect transition="in" filter="wipe(down)">
                                      <p:cBhvr>
                                        <p:cTn id="55" dur="580">
                                          <p:stCondLst>
                                            <p:cond delay="0"/>
                                          </p:stCondLst>
                                        </p:cTn>
                                        <p:tgtEl>
                                          <p:spTgt spid="7"/>
                                        </p:tgtEl>
                                      </p:cBhvr>
                                    </p:animEffect>
                                    <p:anim calcmode="lin" valueType="num">
                                      <p:cBhvr>
                                        <p:cTn id="56"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61" dur="26">
                                          <p:stCondLst>
                                            <p:cond delay="650"/>
                                          </p:stCondLst>
                                        </p:cTn>
                                        <p:tgtEl>
                                          <p:spTgt spid="7"/>
                                        </p:tgtEl>
                                      </p:cBhvr>
                                      <p:to x="100000" y="60000"/>
                                    </p:animScale>
                                    <p:animScale>
                                      <p:cBhvr>
                                        <p:cTn id="62" dur="166" decel="50000">
                                          <p:stCondLst>
                                            <p:cond delay="676"/>
                                          </p:stCondLst>
                                        </p:cTn>
                                        <p:tgtEl>
                                          <p:spTgt spid="7"/>
                                        </p:tgtEl>
                                      </p:cBhvr>
                                      <p:to x="100000" y="100000"/>
                                    </p:animScale>
                                    <p:animScale>
                                      <p:cBhvr>
                                        <p:cTn id="63" dur="26">
                                          <p:stCondLst>
                                            <p:cond delay="1312"/>
                                          </p:stCondLst>
                                        </p:cTn>
                                        <p:tgtEl>
                                          <p:spTgt spid="7"/>
                                        </p:tgtEl>
                                      </p:cBhvr>
                                      <p:to x="100000" y="80000"/>
                                    </p:animScale>
                                    <p:animScale>
                                      <p:cBhvr>
                                        <p:cTn id="64" dur="166" decel="50000">
                                          <p:stCondLst>
                                            <p:cond delay="1338"/>
                                          </p:stCondLst>
                                        </p:cTn>
                                        <p:tgtEl>
                                          <p:spTgt spid="7"/>
                                        </p:tgtEl>
                                      </p:cBhvr>
                                      <p:to x="100000" y="100000"/>
                                    </p:animScale>
                                    <p:animScale>
                                      <p:cBhvr>
                                        <p:cTn id="65" dur="26">
                                          <p:stCondLst>
                                            <p:cond delay="1642"/>
                                          </p:stCondLst>
                                        </p:cTn>
                                        <p:tgtEl>
                                          <p:spTgt spid="7"/>
                                        </p:tgtEl>
                                      </p:cBhvr>
                                      <p:to x="100000" y="90000"/>
                                    </p:animScale>
                                    <p:animScale>
                                      <p:cBhvr>
                                        <p:cTn id="66" dur="166" decel="50000">
                                          <p:stCondLst>
                                            <p:cond delay="1668"/>
                                          </p:stCondLst>
                                        </p:cTn>
                                        <p:tgtEl>
                                          <p:spTgt spid="7"/>
                                        </p:tgtEl>
                                      </p:cBhvr>
                                      <p:to x="100000" y="100000"/>
                                    </p:animScale>
                                    <p:animScale>
                                      <p:cBhvr>
                                        <p:cTn id="67" dur="26">
                                          <p:stCondLst>
                                            <p:cond delay="1808"/>
                                          </p:stCondLst>
                                        </p:cTn>
                                        <p:tgtEl>
                                          <p:spTgt spid="7"/>
                                        </p:tgtEl>
                                      </p:cBhvr>
                                      <p:to x="100000" y="95000"/>
                                    </p:animScale>
                                    <p:animScale>
                                      <p:cBhvr>
                                        <p:cTn id="68" dur="166" decel="50000">
                                          <p:stCondLst>
                                            <p:cond delay="1834"/>
                                          </p:stCondLst>
                                        </p:cTn>
                                        <p:tgtEl>
                                          <p:spTgt spid="7"/>
                                        </p:tgtEl>
                                      </p:cBhvr>
                                      <p:to x="100000" y="100000"/>
                                    </p:animScale>
                                  </p:childTnLst>
                                </p:cTn>
                              </p:par>
                              <p:par>
                                <p:cTn id="69" presetID="26" presetClass="entr" presetSubtype="0" fill="hold" nodeType="withEffect">
                                  <p:stCondLst>
                                    <p:cond delay="0"/>
                                  </p:stCondLst>
                                  <p:childTnLst>
                                    <p:set>
                                      <p:cBhvr>
                                        <p:cTn id="70" dur="1" fill="hold">
                                          <p:stCondLst>
                                            <p:cond delay="0"/>
                                          </p:stCondLst>
                                        </p:cTn>
                                        <p:tgtEl>
                                          <p:spTgt spid="8"/>
                                        </p:tgtEl>
                                        <p:attrNameLst>
                                          <p:attrName>style.visibility</p:attrName>
                                        </p:attrNameLst>
                                      </p:cBhvr>
                                      <p:to>
                                        <p:strVal val="visible"/>
                                      </p:to>
                                    </p:set>
                                    <p:animEffect transition="in" filter="wipe(down)">
                                      <p:cBhvr>
                                        <p:cTn id="71" dur="580">
                                          <p:stCondLst>
                                            <p:cond delay="0"/>
                                          </p:stCondLst>
                                        </p:cTn>
                                        <p:tgtEl>
                                          <p:spTgt spid="8"/>
                                        </p:tgtEl>
                                      </p:cBhvr>
                                    </p:animEffect>
                                    <p:anim calcmode="lin" valueType="num">
                                      <p:cBhvr>
                                        <p:cTn id="72"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77" dur="26">
                                          <p:stCondLst>
                                            <p:cond delay="650"/>
                                          </p:stCondLst>
                                        </p:cTn>
                                        <p:tgtEl>
                                          <p:spTgt spid="8"/>
                                        </p:tgtEl>
                                      </p:cBhvr>
                                      <p:to x="100000" y="60000"/>
                                    </p:animScale>
                                    <p:animScale>
                                      <p:cBhvr>
                                        <p:cTn id="78" dur="166" decel="50000">
                                          <p:stCondLst>
                                            <p:cond delay="676"/>
                                          </p:stCondLst>
                                        </p:cTn>
                                        <p:tgtEl>
                                          <p:spTgt spid="8"/>
                                        </p:tgtEl>
                                      </p:cBhvr>
                                      <p:to x="100000" y="100000"/>
                                    </p:animScale>
                                    <p:animScale>
                                      <p:cBhvr>
                                        <p:cTn id="79" dur="26">
                                          <p:stCondLst>
                                            <p:cond delay="1312"/>
                                          </p:stCondLst>
                                        </p:cTn>
                                        <p:tgtEl>
                                          <p:spTgt spid="8"/>
                                        </p:tgtEl>
                                      </p:cBhvr>
                                      <p:to x="100000" y="80000"/>
                                    </p:animScale>
                                    <p:animScale>
                                      <p:cBhvr>
                                        <p:cTn id="80" dur="166" decel="50000">
                                          <p:stCondLst>
                                            <p:cond delay="1338"/>
                                          </p:stCondLst>
                                        </p:cTn>
                                        <p:tgtEl>
                                          <p:spTgt spid="8"/>
                                        </p:tgtEl>
                                      </p:cBhvr>
                                      <p:to x="100000" y="100000"/>
                                    </p:animScale>
                                    <p:animScale>
                                      <p:cBhvr>
                                        <p:cTn id="81" dur="26">
                                          <p:stCondLst>
                                            <p:cond delay="1642"/>
                                          </p:stCondLst>
                                        </p:cTn>
                                        <p:tgtEl>
                                          <p:spTgt spid="8"/>
                                        </p:tgtEl>
                                      </p:cBhvr>
                                      <p:to x="100000" y="90000"/>
                                    </p:animScale>
                                    <p:animScale>
                                      <p:cBhvr>
                                        <p:cTn id="82" dur="166" decel="50000">
                                          <p:stCondLst>
                                            <p:cond delay="1668"/>
                                          </p:stCondLst>
                                        </p:cTn>
                                        <p:tgtEl>
                                          <p:spTgt spid="8"/>
                                        </p:tgtEl>
                                      </p:cBhvr>
                                      <p:to x="100000" y="100000"/>
                                    </p:animScale>
                                    <p:animScale>
                                      <p:cBhvr>
                                        <p:cTn id="83" dur="26">
                                          <p:stCondLst>
                                            <p:cond delay="1808"/>
                                          </p:stCondLst>
                                        </p:cTn>
                                        <p:tgtEl>
                                          <p:spTgt spid="8"/>
                                        </p:tgtEl>
                                      </p:cBhvr>
                                      <p:to x="100000" y="95000"/>
                                    </p:animScale>
                                    <p:animScale>
                                      <p:cBhvr>
                                        <p:cTn id="84" dur="166" decel="50000">
                                          <p:stCondLst>
                                            <p:cond delay="1834"/>
                                          </p:stCondLst>
                                        </p:cTn>
                                        <p:tgtEl>
                                          <p:spTgt spid="8"/>
                                        </p:tgtEl>
                                      </p:cBhvr>
                                      <p:to x="100000" y="100000"/>
                                    </p:animScale>
                                  </p:childTnLst>
                                </p:cTn>
                              </p:par>
                              <p:par>
                                <p:cTn id="85" presetID="26" presetClass="entr" presetSubtype="0" fill="hold" nodeType="withEffect">
                                  <p:stCondLst>
                                    <p:cond delay="0"/>
                                  </p:stCondLst>
                                  <p:childTnLst>
                                    <p:set>
                                      <p:cBhvr>
                                        <p:cTn id="86" dur="1" fill="hold">
                                          <p:stCondLst>
                                            <p:cond delay="0"/>
                                          </p:stCondLst>
                                        </p:cTn>
                                        <p:tgtEl>
                                          <p:spTgt spid="9"/>
                                        </p:tgtEl>
                                        <p:attrNameLst>
                                          <p:attrName>style.visibility</p:attrName>
                                        </p:attrNameLst>
                                      </p:cBhvr>
                                      <p:to>
                                        <p:strVal val="visible"/>
                                      </p:to>
                                    </p:set>
                                    <p:animEffect transition="in" filter="wipe(down)">
                                      <p:cBhvr>
                                        <p:cTn id="87" dur="580">
                                          <p:stCondLst>
                                            <p:cond delay="0"/>
                                          </p:stCondLst>
                                        </p:cTn>
                                        <p:tgtEl>
                                          <p:spTgt spid="9"/>
                                        </p:tgtEl>
                                      </p:cBhvr>
                                    </p:animEffect>
                                    <p:anim calcmode="lin" valueType="num">
                                      <p:cBhvr>
                                        <p:cTn id="88"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93" dur="26">
                                          <p:stCondLst>
                                            <p:cond delay="650"/>
                                          </p:stCondLst>
                                        </p:cTn>
                                        <p:tgtEl>
                                          <p:spTgt spid="9"/>
                                        </p:tgtEl>
                                      </p:cBhvr>
                                      <p:to x="100000" y="60000"/>
                                    </p:animScale>
                                    <p:animScale>
                                      <p:cBhvr>
                                        <p:cTn id="94" dur="166" decel="50000">
                                          <p:stCondLst>
                                            <p:cond delay="676"/>
                                          </p:stCondLst>
                                        </p:cTn>
                                        <p:tgtEl>
                                          <p:spTgt spid="9"/>
                                        </p:tgtEl>
                                      </p:cBhvr>
                                      <p:to x="100000" y="100000"/>
                                    </p:animScale>
                                    <p:animScale>
                                      <p:cBhvr>
                                        <p:cTn id="95" dur="26">
                                          <p:stCondLst>
                                            <p:cond delay="1312"/>
                                          </p:stCondLst>
                                        </p:cTn>
                                        <p:tgtEl>
                                          <p:spTgt spid="9"/>
                                        </p:tgtEl>
                                      </p:cBhvr>
                                      <p:to x="100000" y="80000"/>
                                    </p:animScale>
                                    <p:animScale>
                                      <p:cBhvr>
                                        <p:cTn id="96" dur="166" decel="50000">
                                          <p:stCondLst>
                                            <p:cond delay="1338"/>
                                          </p:stCondLst>
                                        </p:cTn>
                                        <p:tgtEl>
                                          <p:spTgt spid="9"/>
                                        </p:tgtEl>
                                      </p:cBhvr>
                                      <p:to x="100000" y="100000"/>
                                    </p:animScale>
                                    <p:animScale>
                                      <p:cBhvr>
                                        <p:cTn id="97" dur="26">
                                          <p:stCondLst>
                                            <p:cond delay="1642"/>
                                          </p:stCondLst>
                                        </p:cTn>
                                        <p:tgtEl>
                                          <p:spTgt spid="9"/>
                                        </p:tgtEl>
                                      </p:cBhvr>
                                      <p:to x="100000" y="90000"/>
                                    </p:animScale>
                                    <p:animScale>
                                      <p:cBhvr>
                                        <p:cTn id="98" dur="166" decel="50000">
                                          <p:stCondLst>
                                            <p:cond delay="1668"/>
                                          </p:stCondLst>
                                        </p:cTn>
                                        <p:tgtEl>
                                          <p:spTgt spid="9"/>
                                        </p:tgtEl>
                                      </p:cBhvr>
                                      <p:to x="100000" y="100000"/>
                                    </p:animScale>
                                    <p:animScale>
                                      <p:cBhvr>
                                        <p:cTn id="99" dur="26">
                                          <p:stCondLst>
                                            <p:cond delay="1808"/>
                                          </p:stCondLst>
                                        </p:cTn>
                                        <p:tgtEl>
                                          <p:spTgt spid="9"/>
                                        </p:tgtEl>
                                      </p:cBhvr>
                                      <p:to x="100000" y="95000"/>
                                    </p:animScale>
                                    <p:animScale>
                                      <p:cBhvr>
                                        <p:cTn id="100" dur="166" decel="50000">
                                          <p:stCondLst>
                                            <p:cond delay="1834"/>
                                          </p:stCondLst>
                                        </p:cTn>
                                        <p:tgtEl>
                                          <p:spTgt spid="9"/>
                                        </p:tgtEl>
                                      </p:cBhvr>
                                      <p:to x="100000" y="100000"/>
                                    </p:animScale>
                                  </p:childTnLst>
                                </p:cTn>
                              </p:par>
                              <p:par>
                                <p:cTn id="101" presetID="26" presetClass="entr" presetSubtype="0" fill="hold" nodeType="withEffect">
                                  <p:stCondLst>
                                    <p:cond delay="0"/>
                                  </p:stCondLst>
                                  <p:childTnLst>
                                    <p:set>
                                      <p:cBhvr>
                                        <p:cTn id="102" dur="1" fill="hold">
                                          <p:stCondLst>
                                            <p:cond delay="0"/>
                                          </p:stCondLst>
                                        </p:cTn>
                                        <p:tgtEl>
                                          <p:spTgt spid="10"/>
                                        </p:tgtEl>
                                        <p:attrNameLst>
                                          <p:attrName>style.visibility</p:attrName>
                                        </p:attrNameLst>
                                      </p:cBhvr>
                                      <p:to>
                                        <p:strVal val="visible"/>
                                      </p:to>
                                    </p:set>
                                    <p:animEffect transition="in" filter="wipe(down)">
                                      <p:cBhvr>
                                        <p:cTn id="103" dur="580">
                                          <p:stCondLst>
                                            <p:cond delay="0"/>
                                          </p:stCondLst>
                                        </p:cTn>
                                        <p:tgtEl>
                                          <p:spTgt spid="10"/>
                                        </p:tgtEl>
                                      </p:cBhvr>
                                    </p:animEffect>
                                    <p:anim calcmode="lin" valueType="num">
                                      <p:cBhvr>
                                        <p:cTn id="104"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105"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6"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07"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08"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09" dur="26">
                                          <p:stCondLst>
                                            <p:cond delay="650"/>
                                          </p:stCondLst>
                                        </p:cTn>
                                        <p:tgtEl>
                                          <p:spTgt spid="10"/>
                                        </p:tgtEl>
                                      </p:cBhvr>
                                      <p:to x="100000" y="60000"/>
                                    </p:animScale>
                                    <p:animScale>
                                      <p:cBhvr>
                                        <p:cTn id="110" dur="166" decel="50000">
                                          <p:stCondLst>
                                            <p:cond delay="676"/>
                                          </p:stCondLst>
                                        </p:cTn>
                                        <p:tgtEl>
                                          <p:spTgt spid="10"/>
                                        </p:tgtEl>
                                      </p:cBhvr>
                                      <p:to x="100000" y="100000"/>
                                    </p:animScale>
                                    <p:animScale>
                                      <p:cBhvr>
                                        <p:cTn id="111" dur="26">
                                          <p:stCondLst>
                                            <p:cond delay="1312"/>
                                          </p:stCondLst>
                                        </p:cTn>
                                        <p:tgtEl>
                                          <p:spTgt spid="10"/>
                                        </p:tgtEl>
                                      </p:cBhvr>
                                      <p:to x="100000" y="80000"/>
                                    </p:animScale>
                                    <p:animScale>
                                      <p:cBhvr>
                                        <p:cTn id="112" dur="166" decel="50000">
                                          <p:stCondLst>
                                            <p:cond delay="1338"/>
                                          </p:stCondLst>
                                        </p:cTn>
                                        <p:tgtEl>
                                          <p:spTgt spid="10"/>
                                        </p:tgtEl>
                                      </p:cBhvr>
                                      <p:to x="100000" y="100000"/>
                                    </p:animScale>
                                    <p:animScale>
                                      <p:cBhvr>
                                        <p:cTn id="113" dur="26">
                                          <p:stCondLst>
                                            <p:cond delay="1642"/>
                                          </p:stCondLst>
                                        </p:cTn>
                                        <p:tgtEl>
                                          <p:spTgt spid="10"/>
                                        </p:tgtEl>
                                      </p:cBhvr>
                                      <p:to x="100000" y="90000"/>
                                    </p:animScale>
                                    <p:animScale>
                                      <p:cBhvr>
                                        <p:cTn id="114" dur="166" decel="50000">
                                          <p:stCondLst>
                                            <p:cond delay="1668"/>
                                          </p:stCondLst>
                                        </p:cTn>
                                        <p:tgtEl>
                                          <p:spTgt spid="10"/>
                                        </p:tgtEl>
                                      </p:cBhvr>
                                      <p:to x="100000" y="100000"/>
                                    </p:animScale>
                                    <p:animScale>
                                      <p:cBhvr>
                                        <p:cTn id="115" dur="26">
                                          <p:stCondLst>
                                            <p:cond delay="1808"/>
                                          </p:stCondLst>
                                        </p:cTn>
                                        <p:tgtEl>
                                          <p:spTgt spid="10"/>
                                        </p:tgtEl>
                                      </p:cBhvr>
                                      <p:to x="100000" y="95000"/>
                                    </p:animScale>
                                    <p:animScale>
                                      <p:cBhvr>
                                        <p:cTn id="116" dur="166" decel="50000">
                                          <p:stCondLst>
                                            <p:cond delay="1834"/>
                                          </p:stCondLst>
                                        </p:cTn>
                                        <p:tgtEl>
                                          <p:spTgt spid="10"/>
                                        </p:tgtEl>
                                      </p:cBhvr>
                                      <p:to x="100000" y="100000"/>
                                    </p:animScale>
                                  </p:childTnLst>
                                </p:cTn>
                              </p:par>
                              <p:par>
                                <p:cTn id="117" presetID="26" presetClass="entr" presetSubtype="0" fill="hold" nodeType="withEffect">
                                  <p:stCondLst>
                                    <p:cond delay="0"/>
                                  </p:stCondLst>
                                  <p:childTnLst>
                                    <p:set>
                                      <p:cBhvr>
                                        <p:cTn id="118" dur="1" fill="hold">
                                          <p:stCondLst>
                                            <p:cond delay="0"/>
                                          </p:stCondLst>
                                        </p:cTn>
                                        <p:tgtEl>
                                          <p:spTgt spid="11"/>
                                        </p:tgtEl>
                                        <p:attrNameLst>
                                          <p:attrName>style.visibility</p:attrName>
                                        </p:attrNameLst>
                                      </p:cBhvr>
                                      <p:to>
                                        <p:strVal val="visible"/>
                                      </p:to>
                                    </p:set>
                                    <p:animEffect transition="in" filter="wipe(down)">
                                      <p:cBhvr>
                                        <p:cTn id="119" dur="580">
                                          <p:stCondLst>
                                            <p:cond delay="0"/>
                                          </p:stCondLst>
                                        </p:cTn>
                                        <p:tgtEl>
                                          <p:spTgt spid="11"/>
                                        </p:tgtEl>
                                      </p:cBhvr>
                                    </p:animEffect>
                                    <p:anim calcmode="lin" valueType="num">
                                      <p:cBhvr>
                                        <p:cTn id="120"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121"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122"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123"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124"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125" dur="26">
                                          <p:stCondLst>
                                            <p:cond delay="650"/>
                                          </p:stCondLst>
                                        </p:cTn>
                                        <p:tgtEl>
                                          <p:spTgt spid="11"/>
                                        </p:tgtEl>
                                      </p:cBhvr>
                                      <p:to x="100000" y="60000"/>
                                    </p:animScale>
                                    <p:animScale>
                                      <p:cBhvr>
                                        <p:cTn id="126" dur="166" decel="50000">
                                          <p:stCondLst>
                                            <p:cond delay="676"/>
                                          </p:stCondLst>
                                        </p:cTn>
                                        <p:tgtEl>
                                          <p:spTgt spid="11"/>
                                        </p:tgtEl>
                                      </p:cBhvr>
                                      <p:to x="100000" y="100000"/>
                                    </p:animScale>
                                    <p:animScale>
                                      <p:cBhvr>
                                        <p:cTn id="127" dur="26">
                                          <p:stCondLst>
                                            <p:cond delay="1312"/>
                                          </p:stCondLst>
                                        </p:cTn>
                                        <p:tgtEl>
                                          <p:spTgt spid="11"/>
                                        </p:tgtEl>
                                      </p:cBhvr>
                                      <p:to x="100000" y="80000"/>
                                    </p:animScale>
                                    <p:animScale>
                                      <p:cBhvr>
                                        <p:cTn id="128" dur="166" decel="50000">
                                          <p:stCondLst>
                                            <p:cond delay="1338"/>
                                          </p:stCondLst>
                                        </p:cTn>
                                        <p:tgtEl>
                                          <p:spTgt spid="11"/>
                                        </p:tgtEl>
                                      </p:cBhvr>
                                      <p:to x="100000" y="100000"/>
                                    </p:animScale>
                                    <p:animScale>
                                      <p:cBhvr>
                                        <p:cTn id="129" dur="26">
                                          <p:stCondLst>
                                            <p:cond delay="1642"/>
                                          </p:stCondLst>
                                        </p:cTn>
                                        <p:tgtEl>
                                          <p:spTgt spid="11"/>
                                        </p:tgtEl>
                                      </p:cBhvr>
                                      <p:to x="100000" y="90000"/>
                                    </p:animScale>
                                    <p:animScale>
                                      <p:cBhvr>
                                        <p:cTn id="130" dur="166" decel="50000">
                                          <p:stCondLst>
                                            <p:cond delay="1668"/>
                                          </p:stCondLst>
                                        </p:cTn>
                                        <p:tgtEl>
                                          <p:spTgt spid="11"/>
                                        </p:tgtEl>
                                      </p:cBhvr>
                                      <p:to x="100000" y="100000"/>
                                    </p:animScale>
                                    <p:animScale>
                                      <p:cBhvr>
                                        <p:cTn id="131" dur="26">
                                          <p:stCondLst>
                                            <p:cond delay="1808"/>
                                          </p:stCondLst>
                                        </p:cTn>
                                        <p:tgtEl>
                                          <p:spTgt spid="11"/>
                                        </p:tgtEl>
                                      </p:cBhvr>
                                      <p:to x="100000" y="95000"/>
                                    </p:animScale>
                                    <p:animScale>
                                      <p:cBhvr>
                                        <p:cTn id="132" dur="166" decel="50000">
                                          <p:stCondLst>
                                            <p:cond delay="1834"/>
                                          </p:stCondLst>
                                        </p:cTn>
                                        <p:tgtEl>
                                          <p:spTgt spid="11"/>
                                        </p:tgtEl>
                                      </p:cBhvr>
                                      <p:to x="100000" y="100000"/>
                                    </p:animScale>
                                  </p:childTnLst>
                                </p:cTn>
                              </p:par>
                              <p:par>
                                <p:cTn id="133" presetID="26" presetClass="entr" presetSubtype="0" fill="hold" nodeType="withEffect">
                                  <p:stCondLst>
                                    <p:cond delay="0"/>
                                  </p:stCondLst>
                                  <p:childTnLst>
                                    <p:set>
                                      <p:cBhvr>
                                        <p:cTn id="134" dur="1" fill="hold">
                                          <p:stCondLst>
                                            <p:cond delay="0"/>
                                          </p:stCondLst>
                                        </p:cTn>
                                        <p:tgtEl>
                                          <p:spTgt spid="12"/>
                                        </p:tgtEl>
                                        <p:attrNameLst>
                                          <p:attrName>style.visibility</p:attrName>
                                        </p:attrNameLst>
                                      </p:cBhvr>
                                      <p:to>
                                        <p:strVal val="visible"/>
                                      </p:to>
                                    </p:set>
                                    <p:animEffect transition="in" filter="wipe(down)">
                                      <p:cBhvr>
                                        <p:cTn id="135" dur="580">
                                          <p:stCondLst>
                                            <p:cond delay="0"/>
                                          </p:stCondLst>
                                        </p:cTn>
                                        <p:tgtEl>
                                          <p:spTgt spid="12"/>
                                        </p:tgtEl>
                                      </p:cBhvr>
                                    </p:animEffect>
                                    <p:anim calcmode="lin" valueType="num">
                                      <p:cBhvr>
                                        <p:cTn id="136"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137"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138"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139"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140"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141" dur="26">
                                          <p:stCondLst>
                                            <p:cond delay="650"/>
                                          </p:stCondLst>
                                        </p:cTn>
                                        <p:tgtEl>
                                          <p:spTgt spid="12"/>
                                        </p:tgtEl>
                                      </p:cBhvr>
                                      <p:to x="100000" y="60000"/>
                                    </p:animScale>
                                    <p:animScale>
                                      <p:cBhvr>
                                        <p:cTn id="142" dur="166" decel="50000">
                                          <p:stCondLst>
                                            <p:cond delay="676"/>
                                          </p:stCondLst>
                                        </p:cTn>
                                        <p:tgtEl>
                                          <p:spTgt spid="12"/>
                                        </p:tgtEl>
                                      </p:cBhvr>
                                      <p:to x="100000" y="100000"/>
                                    </p:animScale>
                                    <p:animScale>
                                      <p:cBhvr>
                                        <p:cTn id="143" dur="26">
                                          <p:stCondLst>
                                            <p:cond delay="1312"/>
                                          </p:stCondLst>
                                        </p:cTn>
                                        <p:tgtEl>
                                          <p:spTgt spid="12"/>
                                        </p:tgtEl>
                                      </p:cBhvr>
                                      <p:to x="100000" y="80000"/>
                                    </p:animScale>
                                    <p:animScale>
                                      <p:cBhvr>
                                        <p:cTn id="144" dur="166" decel="50000">
                                          <p:stCondLst>
                                            <p:cond delay="1338"/>
                                          </p:stCondLst>
                                        </p:cTn>
                                        <p:tgtEl>
                                          <p:spTgt spid="12"/>
                                        </p:tgtEl>
                                      </p:cBhvr>
                                      <p:to x="100000" y="100000"/>
                                    </p:animScale>
                                    <p:animScale>
                                      <p:cBhvr>
                                        <p:cTn id="145" dur="26">
                                          <p:stCondLst>
                                            <p:cond delay="1642"/>
                                          </p:stCondLst>
                                        </p:cTn>
                                        <p:tgtEl>
                                          <p:spTgt spid="12"/>
                                        </p:tgtEl>
                                      </p:cBhvr>
                                      <p:to x="100000" y="90000"/>
                                    </p:animScale>
                                    <p:animScale>
                                      <p:cBhvr>
                                        <p:cTn id="146" dur="166" decel="50000">
                                          <p:stCondLst>
                                            <p:cond delay="1668"/>
                                          </p:stCondLst>
                                        </p:cTn>
                                        <p:tgtEl>
                                          <p:spTgt spid="12"/>
                                        </p:tgtEl>
                                      </p:cBhvr>
                                      <p:to x="100000" y="100000"/>
                                    </p:animScale>
                                    <p:animScale>
                                      <p:cBhvr>
                                        <p:cTn id="147" dur="26">
                                          <p:stCondLst>
                                            <p:cond delay="1808"/>
                                          </p:stCondLst>
                                        </p:cTn>
                                        <p:tgtEl>
                                          <p:spTgt spid="12"/>
                                        </p:tgtEl>
                                      </p:cBhvr>
                                      <p:to x="100000" y="95000"/>
                                    </p:animScale>
                                    <p:animScale>
                                      <p:cBhvr>
                                        <p:cTn id="148" dur="166" decel="50000">
                                          <p:stCondLst>
                                            <p:cond delay="1834"/>
                                          </p:stCondLst>
                                        </p:cTn>
                                        <p:tgtEl>
                                          <p:spTgt spid="12"/>
                                        </p:tgtEl>
                                      </p:cBhvr>
                                      <p:to x="100000" y="100000"/>
                                    </p:animScale>
                                  </p:childTnLst>
                                </p:cTn>
                              </p:par>
                              <p:par>
                                <p:cTn id="149" presetID="26" presetClass="entr" presetSubtype="0" fill="hold" nodeType="withEffect">
                                  <p:stCondLst>
                                    <p:cond delay="0"/>
                                  </p:stCondLst>
                                  <p:childTnLst>
                                    <p:set>
                                      <p:cBhvr>
                                        <p:cTn id="150" dur="1" fill="hold">
                                          <p:stCondLst>
                                            <p:cond delay="0"/>
                                          </p:stCondLst>
                                        </p:cTn>
                                        <p:tgtEl>
                                          <p:spTgt spid="13"/>
                                        </p:tgtEl>
                                        <p:attrNameLst>
                                          <p:attrName>style.visibility</p:attrName>
                                        </p:attrNameLst>
                                      </p:cBhvr>
                                      <p:to>
                                        <p:strVal val="visible"/>
                                      </p:to>
                                    </p:set>
                                    <p:animEffect transition="in" filter="wipe(down)">
                                      <p:cBhvr>
                                        <p:cTn id="151" dur="580">
                                          <p:stCondLst>
                                            <p:cond delay="0"/>
                                          </p:stCondLst>
                                        </p:cTn>
                                        <p:tgtEl>
                                          <p:spTgt spid="13"/>
                                        </p:tgtEl>
                                      </p:cBhvr>
                                    </p:animEffect>
                                    <p:anim calcmode="lin" valueType="num">
                                      <p:cBhvr>
                                        <p:cTn id="152"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153"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154"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155"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156"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157" dur="26">
                                          <p:stCondLst>
                                            <p:cond delay="650"/>
                                          </p:stCondLst>
                                        </p:cTn>
                                        <p:tgtEl>
                                          <p:spTgt spid="13"/>
                                        </p:tgtEl>
                                      </p:cBhvr>
                                      <p:to x="100000" y="60000"/>
                                    </p:animScale>
                                    <p:animScale>
                                      <p:cBhvr>
                                        <p:cTn id="158" dur="166" decel="50000">
                                          <p:stCondLst>
                                            <p:cond delay="676"/>
                                          </p:stCondLst>
                                        </p:cTn>
                                        <p:tgtEl>
                                          <p:spTgt spid="13"/>
                                        </p:tgtEl>
                                      </p:cBhvr>
                                      <p:to x="100000" y="100000"/>
                                    </p:animScale>
                                    <p:animScale>
                                      <p:cBhvr>
                                        <p:cTn id="159" dur="26">
                                          <p:stCondLst>
                                            <p:cond delay="1312"/>
                                          </p:stCondLst>
                                        </p:cTn>
                                        <p:tgtEl>
                                          <p:spTgt spid="13"/>
                                        </p:tgtEl>
                                      </p:cBhvr>
                                      <p:to x="100000" y="80000"/>
                                    </p:animScale>
                                    <p:animScale>
                                      <p:cBhvr>
                                        <p:cTn id="160" dur="166" decel="50000">
                                          <p:stCondLst>
                                            <p:cond delay="1338"/>
                                          </p:stCondLst>
                                        </p:cTn>
                                        <p:tgtEl>
                                          <p:spTgt spid="13"/>
                                        </p:tgtEl>
                                      </p:cBhvr>
                                      <p:to x="100000" y="100000"/>
                                    </p:animScale>
                                    <p:animScale>
                                      <p:cBhvr>
                                        <p:cTn id="161" dur="26">
                                          <p:stCondLst>
                                            <p:cond delay="1642"/>
                                          </p:stCondLst>
                                        </p:cTn>
                                        <p:tgtEl>
                                          <p:spTgt spid="13"/>
                                        </p:tgtEl>
                                      </p:cBhvr>
                                      <p:to x="100000" y="90000"/>
                                    </p:animScale>
                                    <p:animScale>
                                      <p:cBhvr>
                                        <p:cTn id="162" dur="166" decel="50000">
                                          <p:stCondLst>
                                            <p:cond delay="1668"/>
                                          </p:stCondLst>
                                        </p:cTn>
                                        <p:tgtEl>
                                          <p:spTgt spid="13"/>
                                        </p:tgtEl>
                                      </p:cBhvr>
                                      <p:to x="100000" y="100000"/>
                                    </p:animScale>
                                    <p:animScale>
                                      <p:cBhvr>
                                        <p:cTn id="163" dur="26">
                                          <p:stCondLst>
                                            <p:cond delay="1808"/>
                                          </p:stCondLst>
                                        </p:cTn>
                                        <p:tgtEl>
                                          <p:spTgt spid="13"/>
                                        </p:tgtEl>
                                      </p:cBhvr>
                                      <p:to x="100000" y="95000"/>
                                    </p:animScale>
                                    <p:animScale>
                                      <p:cBhvr>
                                        <p:cTn id="164" dur="166" decel="50000">
                                          <p:stCondLst>
                                            <p:cond delay="1834"/>
                                          </p:stCondLst>
                                        </p:cTn>
                                        <p:tgtEl>
                                          <p:spTgt spid="13"/>
                                        </p:tgtEl>
                                      </p:cBhvr>
                                      <p:to x="100000" y="100000"/>
                                    </p:animScale>
                                  </p:childTnLst>
                                </p:cTn>
                              </p:par>
                              <p:par>
                                <p:cTn id="165" presetID="26" presetClass="entr" presetSubtype="0" fill="hold" nodeType="withEffect">
                                  <p:stCondLst>
                                    <p:cond delay="0"/>
                                  </p:stCondLst>
                                  <p:childTnLst>
                                    <p:set>
                                      <p:cBhvr>
                                        <p:cTn id="166" dur="1" fill="hold">
                                          <p:stCondLst>
                                            <p:cond delay="0"/>
                                          </p:stCondLst>
                                        </p:cTn>
                                        <p:tgtEl>
                                          <p:spTgt spid="14"/>
                                        </p:tgtEl>
                                        <p:attrNameLst>
                                          <p:attrName>style.visibility</p:attrName>
                                        </p:attrNameLst>
                                      </p:cBhvr>
                                      <p:to>
                                        <p:strVal val="visible"/>
                                      </p:to>
                                    </p:set>
                                    <p:animEffect transition="in" filter="wipe(down)">
                                      <p:cBhvr>
                                        <p:cTn id="167" dur="580">
                                          <p:stCondLst>
                                            <p:cond delay="0"/>
                                          </p:stCondLst>
                                        </p:cTn>
                                        <p:tgtEl>
                                          <p:spTgt spid="14"/>
                                        </p:tgtEl>
                                      </p:cBhvr>
                                    </p:animEffect>
                                    <p:anim calcmode="lin" valueType="num">
                                      <p:cBhvr>
                                        <p:cTn id="168"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169"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170"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171"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172"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173" dur="26">
                                          <p:stCondLst>
                                            <p:cond delay="650"/>
                                          </p:stCondLst>
                                        </p:cTn>
                                        <p:tgtEl>
                                          <p:spTgt spid="14"/>
                                        </p:tgtEl>
                                      </p:cBhvr>
                                      <p:to x="100000" y="60000"/>
                                    </p:animScale>
                                    <p:animScale>
                                      <p:cBhvr>
                                        <p:cTn id="174" dur="166" decel="50000">
                                          <p:stCondLst>
                                            <p:cond delay="676"/>
                                          </p:stCondLst>
                                        </p:cTn>
                                        <p:tgtEl>
                                          <p:spTgt spid="14"/>
                                        </p:tgtEl>
                                      </p:cBhvr>
                                      <p:to x="100000" y="100000"/>
                                    </p:animScale>
                                    <p:animScale>
                                      <p:cBhvr>
                                        <p:cTn id="175" dur="26">
                                          <p:stCondLst>
                                            <p:cond delay="1312"/>
                                          </p:stCondLst>
                                        </p:cTn>
                                        <p:tgtEl>
                                          <p:spTgt spid="14"/>
                                        </p:tgtEl>
                                      </p:cBhvr>
                                      <p:to x="100000" y="80000"/>
                                    </p:animScale>
                                    <p:animScale>
                                      <p:cBhvr>
                                        <p:cTn id="176" dur="166" decel="50000">
                                          <p:stCondLst>
                                            <p:cond delay="1338"/>
                                          </p:stCondLst>
                                        </p:cTn>
                                        <p:tgtEl>
                                          <p:spTgt spid="14"/>
                                        </p:tgtEl>
                                      </p:cBhvr>
                                      <p:to x="100000" y="100000"/>
                                    </p:animScale>
                                    <p:animScale>
                                      <p:cBhvr>
                                        <p:cTn id="177" dur="26">
                                          <p:stCondLst>
                                            <p:cond delay="1642"/>
                                          </p:stCondLst>
                                        </p:cTn>
                                        <p:tgtEl>
                                          <p:spTgt spid="14"/>
                                        </p:tgtEl>
                                      </p:cBhvr>
                                      <p:to x="100000" y="90000"/>
                                    </p:animScale>
                                    <p:animScale>
                                      <p:cBhvr>
                                        <p:cTn id="178" dur="166" decel="50000">
                                          <p:stCondLst>
                                            <p:cond delay="1668"/>
                                          </p:stCondLst>
                                        </p:cTn>
                                        <p:tgtEl>
                                          <p:spTgt spid="14"/>
                                        </p:tgtEl>
                                      </p:cBhvr>
                                      <p:to x="100000" y="100000"/>
                                    </p:animScale>
                                    <p:animScale>
                                      <p:cBhvr>
                                        <p:cTn id="179" dur="26">
                                          <p:stCondLst>
                                            <p:cond delay="1808"/>
                                          </p:stCondLst>
                                        </p:cTn>
                                        <p:tgtEl>
                                          <p:spTgt spid="14"/>
                                        </p:tgtEl>
                                      </p:cBhvr>
                                      <p:to x="100000" y="95000"/>
                                    </p:animScale>
                                    <p:animScale>
                                      <p:cBhvr>
                                        <p:cTn id="180" dur="166" decel="50000">
                                          <p:stCondLst>
                                            <p:cond delay="1834"/>
                                          </p:stCondLst>
                                        </p:cTn>
                                        <p:tgtEl>
                                          <p:spTgt spid="14"/>
                                        </p:tgtEl>
                                      </p:cBhvr>
                                      <p:to x="100000" y="100000"/>
                                    </p:animScale>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nodeType="clickEffect">
                                  <p:stCondLst>
                                    <p:cond delay="0"/>
                                  </p:stCondLst>
                                  <p:childTnLst>
                                    <p:set>
                                      <p:cBhvr>
                                        <p:cTn id="18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52374"/>
            <a:ext cx="3429000" cy="67620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1905000"/>
            <a:ext cx="5257800" cy="3514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3581400" y="152400"/>
            <a:ext cx="5410200" cy="923330"/>
          </a:xfrm>
          <a:prstGeom prst="rect">
            <a:avLst/>
          </a:prstGeom>
          <a:noFill/>
        </p:spPr>
        <p:txBody>
          <a:bodyPr wrap="square" rtlCol="0">
            <a:spAutoFit/>
          </a:bodyPr>
          <a:lstStyle/>
          <a:p>
            <a:pPr algn="ctr"/>
            <a:r>
              <a:rPr lang="en-US" sz="5400" b="1" dirty="0"/>
              <a:t>23andMe results</a:t>
            </a:r>
          </a:p>
        </p:txBody>
      </p:sp>
    </p:spTree>
    <p:extLst>
      <p:ext uri="{BB962C8B-B14F-4D97-AF65-F5344CB8AC3E}">
        <p14:creationId xmlns:p14="http://schemas.microsoft.com/office/powerpoint/2010/main" val="40005487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a:spLocks noChangeArrowheads="1"/>
          </p:cNvSpPr>
          <p:nvPr/>
        </p:nvSpPr>
        <p:spPr bwMode="auto">
          <a:xfrm>
            <a:off x="0" y="685800"/>
            <a:ext cx="9144000" cy="5447645"/>
          </a:xfrm>
          <a:prstGeom prst="rect">
            <a:avLst/>
          </a:prstGeom>
          <a:noFill/>
          <a:ln w="9525">
            <a:noFill/>
            <a:miter lim="800000"/>
            <a:headEnd/>
            <a:tailEnd/>
          </a:ln>
        </p:spPr>
        <p:txBody>
          <a:bodyPr wrap="square">
            <a:spAutoFit/>
          </a:bodyPr>
          <a:lstStyle/>
          <a:p>
            <a:r>
              <a:rPr lang="en-US" sz="5400" b="1" dirty="0">
                <a:latin typeface="Times New Roman" pitchFamily="18" charset="0"/>
                <a:cs typeface="Times New Roman" pitchFamily="18" charset="0"/>
              </a:rPr>
              <a:t>Also “Adam” or “Dr. Adam” or “Dr. </a:t>
            </a:r>
            <a:r>
              <a:rPr lang="en-US" sz="5400" b="1" dirty="0" err="1">
                <a:latin typeface="Times New Roman" pitchFamily="18" charset="0"/>
                <a:cs typeface="Times New Roman" pitchFamily="18" charset="0"/>
              </a:rPr>
              <a:t>Hrincevich</a:t>
            </a:r>
            <a:r>
              <a:rPr lang="en-US" sz="5400" b="1" dirty="0">
                <a:latin typeface="Times New Roman" pitchFamily="18" charset="0"/>
                <a:cs typeface="Times New Roman" pitchFamily="18" charset="0"/>
              </a:rPr>
              <a:t>”…</a:t>
            </a:r>
          </a:p>
          <a:p>
            <a:endParaRPr lang="en-US" sz="7200" dirty="0">
              <a:solidFill>
                <a:srgbClr val="FF0000"/>
              </a:solidFill>
              <a:latin typeface="Times New Roman" pitchFamily="18" charset="0"/>
              <a:cs typeface="Times New Roman" pitchFamily="18" charset="0"/>
            </a:endParaRPr>
          </a:p>
          <a:p>
            <a:pPr algn="ctr"/>
            <a:r>
              <a:rPr lang="en-US" sz="7200" b="1" dirty="0">
                <a:solidFill>
                  <a:srgbClr val="FF0000"/>
                </a:solidFill>
                <a:latin typeface="Times New Roman" pitchFamily="18" charset="0"/>
                <a:cs typeface="Times New Roman" pitchFamily="18" charset="0"/>
              </a:rPr>
              <a:t>NEVER</a:t>
            </a:r>
            <a:r>
              <a:rPr lang="en-US" sz="4800" b="1" dirty="0">
                <a:latin typeface="Times New Roman" pitchFamily="18" charset="0"/>
                <a:cs typeface="Times New Roman" pitchFamily="18" charset="0"/>
              </a:rPr>
              <a:t> Mr. Adam!!!  I am not a kindergarten teacher.  This really drives me nuts…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026"/>
          <p:cNvSpPr txBox="1">
            <a:spLocks noChangeArrowheads="1"/>
          </p:cNvSpPr>
          <p:nvPr/>
        </p:nvSpPr>
        <p:spPr bwMode="auto">
          <a:xfrm>
            <a:off x="13138" y="-5255"/>
            <a:ext cx="9144000" cy="3170099"/>
          </a:xfrm>
          <a:prstGeom prst="rect">
            <a:avLst/>
          </a:prstGeom>
          <a:noFill/>
          <a:ln w="9525">
            <a:noFill/>
            <a:miter lim="800000"/>
            <a:headEnd/>
            <a:tailEnd/>
          </a:ln>
        </p:spPr>
        <p:txBody>
          <a:bodyPr>
            <a:spAutoFit/>
          </a:bodyPr>
          <a:lstStyle/>
          <a:p>
            <a:pPr defTabSz="1138238"/>
            <a:r>
              <a:rPr lang="en-US" sz="4000" dirty="0">
                <a:latin typeface="Times New Roman" pitchFamily="18" charset="0"/>
                <a:cs typeface="Times New Roman" pitchFamily="18" charset="0"/>
              </a:rPr>
              <a:t>Who:			Dr. Adam </a:t>
            </a:r>
            <a:r>
              <a:rPr lang="en-US" sz="4000" dirty="0" err="1">
                <a:latin typeface="Times New Roman" pitchFamily="18" charset="0"/>
                <a:cs typeface="Times New Roman" pitchFamily="18" charset="0"/>
              </a:rPr>
              <a:t>Hrincevich</a:t>
            </a:r>
            <a:endParaRPr lang="en-US" sz="4000" dirty="0">
              <a:latin typeface="Times New Roman" pitchFamily="18" charset="0"/>
              <a:cs typeface="Times New Roman" pitchFamily="18" charset="0"/>
            </a:endParaRPr>
          </a:p>
          <a:p>
            <a:pPr defTabSz="1138238"/>
            <a:r>
              <a:rPr lang="en-US" sz="4000" dirty="0">
                <a:latin typeface="Times New Roman" pitchFamily="18" charset="0"/>
                <a:cs typeface="Times New Roman" pitchFamily="18" charset="0"/>
              </a:rPr>
              <a:t>email.:		zohrin@lsu.edu</a:t>
            </a:r>
          </a:p>
          <a:p>
            <a:pPr defTabSz="1138238"/>
            <a:r>
              <a:rPr lang="en-US" sz="4000" dirty="0">
                <a:latin typeface="Times New Roman" pitchFamily="18" charset="0"/>
                <a:cs typeface="Times New Roman" pitchFamily="18" charset="0"/>
              </a:rPr>
              <a:t>phone:		578-7261 office</a:t>
            </a:r>
          </a:p>
          <a:p>
            <a:pPr defTabSz="1138238"/>
            <a:r>
              <a:rPr lang="en-US" sz="4000" dirty="0">
                <a:latin typeface="Times New Roman" pitchFamily="18" charset="0"/>
                <a:cs typeface="Times New Roman" pitchFamily="18" charset="0"/>
              </a:rPr>
              <a:t>office hours:	TBA, see syllabus</a:t>
            </a:r>
          </a:p>
          <a:p>
            <a:pPr defTabSz="1138238"/>
            <a:r>
              <a:rPr lang="en-US" sz="4000" dirty="0">
                <a:latin typeface="Times New Roman" pitchFamily="18" charset="0"/>
                <a:cs typeface="Times New Roman" pitchFamily="18" charset="0"/>
              </a:rPr>
              <a:t>office:		366 Life Sciences Bldg.</a:t>
            </a:r>
          </a:p>
        </p:txBody>
      </p:sp>
      <p:sp>
        <p:nvSpPr>
          <p:cNvPr id="3" name="TextBox 2">
            <a:extLst>
              <a:ext uri="{FF2B5EF4-FFF2-40B4-BE49-F238E27FC236}">
                <a16:creationId xmlns:a16="http://schemas.microsoft.com/office/drawing/2014/main" id="{46E632B0-9C4D-95E4-AC9F-E367126291A0}"/>
              </a:ext>
            </a:extLst>
          </p:cNvPr>
          <p:cNvSpPr txBox="1"/>
          <p:nvPr/>
        </p:nvSpPr>
        <p:spPr>
          <a:xfrm>
            <a:off x="-12192" y="3468624"/>
            <a:ext cx="9144000" cy="3323987"/>
          </a:xfrm>
          <a:prstGeom prst="rect">
            <a:avLst/>
          </a:prstGeom>
          <a:noFill/>
        </p:spPr>
        <p:txBody>
          <a:bodyPr wrap="square" rtlCol="0">
            <a:spAutoFit/>
          </a:bodyPr>
          <a:lstStyle/>
          <a:p>
            <a:pPr algn="ctr"/>
            <a:r>
              <a:rPr lang="en-US" sz="3000" dirty="0"/>
              <a:t>The </a:t>
            </a:r>
            <a:r>
              <a:rPr lang="en-US" sz="3000" b="1" dirty="0"/>
              <a:t>EASIEST</a:t>
            </a:r>
            <a:r>
              <a:rPr lang="en-US" sz="3000" dirty="0"/>
              <a:t> and </a:t>
            </a:r>
            <a:r>
              <a:rPr lang="en-US" sz="3000" b="1" dirty="0"/>
              <a:t>MOST EFFICIENT </a:t>
            </a:r>
            <a:r>
              <a:rPr lang="en-US" sz="3000" dirty="0"/>
              <a:t>way to address your questions or concerns is to see me </a:t>
            </a:r>
            <a:r>
              <a:rPr lang="en-US" sz="3000" b="1" i="1" dirty="0">
                <a:solidFill>
                  <a:srgbClr val="00B050"/>
                </a:solidFill>
              </a:rPr>
              <a:t>right before </a:t>
            </a:r>
            <a:r>
              <a:rPr lang="en-US" sz="3000" dirty="0"/>
              <a:t>lecture starts or </a:t>
            </a:r>
            <a:r>
              <a:rPr lang="en-US" sz="3000" b="1" i="1" dirty="0">
                <a:solidFill>
                  <a:srgbClr val="00B050"/>
                </a:solidFill>
              </a:rPr>
              <a:t>right after </a:t>
            </a:r>
            <a:r>
              <a:rPr lang="en-US" sz="3000" dirty="0"/>
              <a:t>our lecture ends.  I typically save time for these types of questions and can usually get you an answer at that time.  That way, I know you are also attending lecture and are not asking something I have already addressed multiple times.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a:spLocks noChangeArrowheads="1"/>
          </p:cNvSpPr>
          <p:nvPr/>
        </p:nvSpPr>
        <p:spPr bwMode="auto">
          <a:xfrm>
            <a:off x="0" y="60325"/>
            <a:ext cx="9144000" cy="731838"/>
          </a:xfrm>
          <a:prstGeom prst="rect">
            <a:avLst/>
          </a:prstGeom>
          <a:noFill/>
          <a:ln w="9525">
            <a:noFill/>
            <a:miter lim="800000"/>
            <a:headEnd/>
            <a:tailEnd/>
          </a:ln>
        </p:spPr>
        <p:txBody>
          <a:bodyPr>
            <a:spAutoFit/>
          </a:bodyPr>
          <a:lstStyle/>
          <a:p>
            <a:pPr algn="ctr">
              <a:spcBef>
                <a:spcPct val="50000"/>
              </a:spcBef>
            </a:pPr>
            <a:r>
              <a:rPr lang="en-US" sz="4200" b="1" dirty="0">
                <a:latin typeface="Times New Roman" pitchFamily="18" charset="0"/>
                <a:cs typeface="Times New Roman" pitchFamily="18" charset="0"/>
              </a:rPr>
              <a:t>BIOL 1202 sections for Dr. </a:t>
            </a:r>
            <a:r>
              <a:rPr lang="en-US" sz="4200" b="1" dirty="0" err="1">
                <a:latin typeface="Times New Roman" pitchFamily="18" charset="0"/>
                <a:cs typeface="Times New Roman" pitchFamily="18" charset="0"/>
              </a:rPr>
              <a:t>Hrincevich</a:t>
            </a:r>
            <a:endParaRPr lang="en-US" sz="4200" b="1" dirty="0">
              <a:latin typeface="Times New Roman" pitchFamily="18" charset="0"/>
              <a:cs typeface="Times New Roman" pitchFamily="18" charset="0"/>
            </a:endParaRPr>
          </a:p>
        </p:txBody>
      </p:sp>
      <p:sp>
        <p:nvSpPr>
          <p:cNvPr id="3" name="Text Box 2"/>
          <p:cNvSpPr txBox="1">
            <a:spLocks noChangeArrowheads="1"/>
          </p:cNvSpPr>
          <p:nvPr/>
        </p:nvSpPr>
        <p:spPr bwMode="auto">
          <a:xfrm>
            <a:off x="0" y="947678"/>
            <a:ext cx="9144000" cy="3200876"/>
          </a:xfrm>
          <a:prstGeom prst="rect">
            <a:avLst/>
          </a:prstGeom>
          <a:noFill/>
          <a:ln w="9525">
            <a:noFill/>
            <a:miter lim="800000"/>
            <a:headEnd/>
            <a:tailEnd/>
          </a:ln>
        </p:spPr>
        <p:txBody>
          <a:bodyPr>
            <a:spAutoFit/>
          </a:bodyPr>
          <a:lstStyle/>
          <a:p>
            <a:r>
              <a:rPr lang="en-US" sz="2400" b="1" dirty="0">
                <a:latin typeface="Times New Roman" pitchFamily="18" charset="0"/>
                <a:cs typeface="Times New Roman" pitchFamily="18" charset="0"/>
              </a:rPr>
              <a:t>Section 2:	1:30-2:50 PM		Tues/</a:t>
            </a:r>
            <a:r>
              <a:rPr lang="en-US" sz="2400" b="1" dirty="0" err="1">
                <a:latin typeface="Times New Roman" pitchFamily="18" charset="0"/>
                <a:cs typeface="Times New Roman" pitchFamily="18" charset="0"/>
              </a:rPr>
              <a:t>Thur</a:t>
            </a:r>
            <a:r>
              <a:rPr lang="en-US" sz="2400" b="1" dirty="0">
                <a:latin typeface="Times New Roman" pitchFamily="18" charset="0"/>
                <a:cs typeface="Times New Roman" pitchFamily="18" charset="0"/>
              </a:rPr>
              <a:t>	0101 OLOL ISB</a:t>
            </a:r>
          </a:p>
          <a:p>
            <a:r>
              <a:rPr lang="en-US" sz="2400" b="1" dirty="0">
                <a:latin typeface="Times New Roman" pitchFamily="18" charset="0"/>
                <a:cs typeface="Times New Roman" pitchFamily="18" charset="0"/>
              </a:rPr>
              <a:t>Section 3:	3:00-4:20 PM		Tues/</a:t>
            </a:r>
            <a:r>
              <a:rPr lang="en-US" sz="2400" b="1" dirty="0" err="1">
                <a:latin typeface="Times New Roman" pitchFamily="18" charset="0"/>
                <a:cs typeface="Times New Roman" pitchFamily="18" charset="0"/>
              </a:rPr>
              <a:t>Thur</a:t>
            </a:r>
            <a:r>
              <a:rPr lang="en-US" sz="2400" b="1" dirty="0">
                <a:latin typeface="Times New Roman" pitchFamily="18" charset="0"/>
                <a:cs typeface="Times New Roman" pitchFamily="18" charset="0"/>
              </a:rPr>
              <a:t> 	0101 OLOL ISB</a:t>
            </a:r>
          </a:p>
          <a:p>
            <a:r>
              <a:rPr lang="en-US" sz="2400" b="1" dirty="0">
                <a:latin typeface="Times New Roman" pitchFamily="18" charset="0"/>
                <a:cs typeface="Times New Roman" pitchFamily="18" charset="0"/>
              </a:rPr>
              <a:t>Section 4	12:00-1:20 PM	Tues/</a:t>
            </a:r>
            <a:r>
              <a:rPr lang="en-US" sz="2400" b="1" dirty="0" err="1">
                <a:latin typeface="Times New Roman" pitchFamily="18" charset="0"/>
                <a:cs typeface="Times New Roman" pitchFamily="18" charset="0"/>
              </a:rPr>
              <a:t>Thur</a:t>
            </a:r>
            <a:r>
              <a:rPr lang="en-US" sz="2400" b="1" dirty="0">
                <a:latin typeface="Times New Roman" pitchFamily="18" charset="0"/>
                <a:cs typeface="Times New Roman" pitchFamily="18" charset="0"/>
              </a:rPr>
              <a:t> 	</a:t>
            </a:r>
            <a:r>
              <a:rPr lang="en-US" sz="2400" b="1" dirty="0" smtClean="0">
                <a:latin typeface="Times New Roman" pitchFamily="18" charset="0"/>
                <a:cs typeface="Times New Roman" pitchFamily="18" charset="0"/>
              </a:rPr>
              <a:t>228  Tureaud Hall</a:t>
            </a:r>
            <a:endParaRPr lang="en-US" sz="2400" b="1" dirty="0">
              <a:latin typeface="Times New Roman" pitchFamily="18" charset="0"/>
              <a:cs typeface="Times New Roman" pitchFamily="18" charset="0"/>
            </a:endParaRPr>
          </a:p>
          <a:p>
            <a:pPr algn="ctr"/>
            <a:endParaRPr lang="en-US" sz="2600" b="1" dirty="0">
              <a:highlight>
                <a:srgbClr val="FFFF00"/>
              </a:highlight>
              <a:latin typeface="Times New Roman" pitchFamily="18" charset="0"/>
              <a:cs typeface="Times New Roman" pitchFamily="18" charset="0"/>
            </a:endParaRPr>
          </a:p>
          <a:p>
            <a:pPr algn="ctr"/>
            <a:r>
              <a:rPr lang="en-US" sz="2600" b="1" dirty="0">
                <a:highlight>
                  <a:srgbClr val="FFFF00"/>
                </a:highlight>
                <a:latin typeface="Times New Roman" pitchFamily="18" charset="0"/>
                <a:cs typeface="Times New Roman" pitchFamily="18" charset="0"/>
              </a:rPr>
              <a:t>NOTE: I do </a:t>
            </a:r>
            <a:r>
              <a:rPr lang="en-US" sz="2600" b="1" dirty="0">
                <a:solidFill>
                  <a:srgbClr val="FF0000"/>
                </a:solidFill>
                <a:highlight>
                  <a:srgbClr val="FFFF00"/>
                </a:highlight>
                <a:latin typeface="Times New Roman" pitchFamily="18" charset="0"/>
                <a:cs typeface="Times New Roman" pitchFamily="18" charset="0"/>
              </a:rPr>
              <a:t>NOT</a:t>
            </a:r>
            <a:r>
              <a:rPr lang="en-US" sz="2600" b="1" dirty="0">
                <a:highlight>
                  <a:srgbClr val="FFFF00"/>
                </a:highlight>
                <a:latin typeface="Times New Roman" pitchFamily="18" charset="0"/>
                <a:cs typeface="Times New Roman" pitchFamily="18" charset="0"/>
              </a:rPr>
              <a:t> broadcast my lectures using ZOOM or post my complete lecture notes to MOODLE.  You must physically attend lecture to get the notes.  If you miss lecture, please get the notes from a fellow classmate.</a:t>
            </a:r>
          </a:p>
        </p:txBody>
      </p:sp>
      <p:sp>
        <p:nvSpPr>
          <p:cNvPr id="4" name="Rectangle 6"/>
          <p:cNvSpPr>
            <a:spLocks noChangeArrowheads="1"/>
          </p:cNvSpPr>
          <p:nvPr/>
        </p:nvSpPr>
        <p:spPr bwMode="auto">
          <a:xfrm>
            <a:off x="0" y="4057233"/>
            <a:ext cx="9144000" cy="2800767"/>
          </a:xfrm>
          <a:prstGeom prst="rect">
            <a:avLst/>
          </a:prstGeom>
          <a:noFill/>
          <a:ln w="9525">
            <a:noFill/>
            <a:miter lim="800000"/>
            <a:headEnd/>
            <a:tailEnd/>
          </a:ln>
        </p:spPr>
        <p:txBody>
          <a:bodyPr>
            <a:spAutoFit/>
          </a:bodyPr>
          <a:lstStyle/>
          <a:p>
            <a:pPr algn="ctr"/>
            <a:r>
              <a:rPr lang="en-US" sz="4400" b="1" dirty="0">
                <a:latin typeface="Times New Roman" pitchFamily="18" charset="0"/>
                <a:cs typeface="Times New Roman" pitchFamily="18" charset="0"/>
              </a:rPr>
              <a:t>I do </a:t>
            </a:r>
            <a:r>
              <a:rPr lang="en-US" sz="4400" b="1" dirty="0">
                <a:solidFill>
                  <a:srgbClr val="FF0000"/>
                </a:solidFill>
                <a:latin typeface="Times New Roman" pitchFamily="18" charset="0"/>
                <a:cs typeface="Times New Roman" pitchFamily="18" charset="0"/>
              </a:rPr>
              <a:t>NOT </a:t>
            </a:r>
            <a:r>
              <a:rPr lang="en-US" sz="4400" b="1" dirty="0">
                <a:latin typeface="Times New Roman" pitchFamily="18" charset="0"/>
                <a:cs typeface="Times New Roman" pitchFamily="18" charset="0"/>
              </a:rPr>
              <a:t>suggest that you sit in on another professor’s section since they may be covering the chapters in a different order.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7"/>
          <p:cNvSpPr txBox="1">
            <a:spLocks noChangeArrowheads="1"/>
          </p:cNvSpPr>
          <p:nvPr/>
        </p:nvSpPr>
        <p:spPr bwMode="auto">
          <a:xfrm>
            <a:off x="21021" y="13068"/>
            <a:ext cx="6532179" cy="6817251"/>
          </a:xfrm>
          <a:prstGeom prst="rect">
            <a:avLst/>
          </a:prstGeom>
          <a:noFill/>
          <a:ln w="9525">
            <a:noFill/>
            <a:miter lim="800000"/>
            <a:headEnd/>
            <a:tailEnd/>
          </a:ln>
        </p:spPr>
        <p:txBody>
          <a:bodyPr wrap="square">
            <a:spAutoFit/>
          </a:bodyPr>
          <a:lstStyle/>
          <a:p>
            <a:r>
              <a:rPr lang="en-US" sz="2300" b="1" dirty="0"/>
              <a:t>REQUIRED:</a:t>
            </a:r>
          </a:p>
          <a:p>
            <a:pPr marL="457200" indent="-457200">
              <a:buAutoNum type="arabicPeriod"/>
            </a:pPr>
            <a:r>
              <a:rPr lang="en-US" sz="2300" dirty="0"/>
              <a:t>TEXT: Campbell, </a:t>
            </a:r>
            <a:r>
              <a:rPr lang="en-US" sz="2300" dirty="0" err="1"/>
              <a:t>Urry</a:t>
            </a:r>
            <a:r>
              <a:rPr lang="en-US" sz="2300" dirty="0"/>
              <a:t>, Cain, Wasserman, </a:t>
            </a:r>
            <a:r>
              <a:rPr lang="en-US" sz="2300" dirty="0" err="1"/>
              <a:t>Minorsky</a:t>
            </a:r>
            <a:r>
              <a:rPr lang="en-US" sz="2300" dirty="0"/>
              <a:t>, and Reece; Campbell Biology, 12</a:t>
            </a:r>
            <a:r>
              <a:rPr lang="en-US" sz="2300" baseline="30000" dirty="0"/>
              <a:t>th</a:t>
            </a:r>
            <a:r>
              <a:rPr lang="en-US" sz="2300" dirty="0"/>
              <a:t> edition, ©2020.  There are various formats available</a:t>
            </a:r>
          </a:p>
          <a:p>
            <a:pPr marL="914400" lvl="1" indent="-457200">
              <a:buFont typeface="+mj-lt"/>
              <a:buAutoNum type="alphaLcPeriod"/>
            </a:pPr>
            <a:r>
              <a:rPr lang="en-US" sz="2300" dirty="0"/>
              <a:t>Looseleaf</a:t>
            </a:r>
          </a:p>
          <a:p>
            <a:pPr marL="914400" lvl="1" indent="-457200">
              <a:buFont typeface="+mj-lt"/>
              <a:buAutoNum type="alphaLcPeriod"/>
            </a:pPr>
            <a:r>
              <a:rPr lang="en-US" sz="2300" dirty="0"/>
              <a:t>Hardbound</a:t>
            </a:r>
          </a:p>
          <a:p>
            <a:pPr marL="914400" lvl="1" indent="-457200">
              <a:buFont typeface="+mj-lt"/>
              <a:buAutoNum type="alphaLcPeriod"/>
            </a:pPr>
            <a:r>
              <a:rPr lang="en-US" sz="2300" dirty="0"/>
              <a:t>Electronic text (e-text)</a:t>
            </a:r>
          </a:p>
          <a:p>
            <a:pPr marL="457200" indent="-457200">
              <a:buAutoNum type="arabicPeriod"/>
            </a:pPr>
            <a:r>
              <a:rPr lang="en-US" sz="2300" dirty="0"/>
              <a:t>Mastering Biology access</a:t>
            </a:r>
          </a:p>
          <a:p>
            <a:pPr marL="457200" indent="-457200">
              <a:buAutoNum type="arabicPeriod"/>
            </a:pPr>
            <a:endParaRPr lang="en-US" sz="2300" dirty="0"/>
          </a:p>
          <a:p>
            <a:r>
              <a:rPr lang="en-US" sz="2300" dirty="0"/>
              <a:t>Available in the LSU bookstore as a </a:t>
            </a:r>
            <a:r>
              <a:rPr lang="en-US" sz="2300" b="1" dirty="0"/>
              <a:t>custom packaged edition </a:t>
            </a:r>
            <a:r>
              <a:rPr lang="en-US" sz="2300" dirty="0"/>
              <a:t>that includes the</a:t>
            </a:r>
            <a:r>
              <a:rPr lang="en-US" sz="2300" b="1" dirty="0"/>
              <a:t> MASTERING BIOLOGY ACCESS CODE.  </a:t>
            </a:r>
            <a:r>
              <a:rPr lang="en-US" sz="2300" dirty="0"/>
              <a:t>You can also purchase your Mastering Biology access code to include an electronic copy of the textbook (e-text) if you prefer that format.  Pricing will vary depending on what vendor you use.  Going through the Pearson Education publisher website is typically the cheapest option (see our syllabus for more information).</a:t>
            </a:r>
            <a:endParaRPr lang="en-US" sz="2300" b="1" dirty="0">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C0913D32-A466-4D91-8560-8F047FDE3B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80934" y="3733800"/>
            <a:ext cx="1663724" cy="2463497"/>
          </a:xfrm>
          <a:prstGeom prst="rect">
            <a:avLst/>
          </a:prstGeom>
        </p:spPr>
      </p:pic>
      <p:pic>
        <p:nvPicPr>
          <p:cNvPr id="2" name="Picture 1">
            <a:extLst>
              <a:ext uri="{FF2B5EF4-FFF2-40B4-BE49-F238E27FC236}">
                <a16:creationId xmlns:a16="http://schemas.microsoft.com/office/drawing/2014/main" id="{12B96484-8161-0C2F-5543-DC1CAB63C781}"/>
              </a:ext>
            </a:extLst>
          </p:cNvPr>
          <p:cNvPicPr>
            <a:picLocks noChangeAspect="1"/>
          </p:cNvPicPr>
          <p:nvPr/>
        </p:nvPicPr>
        <p:blipFill>
          <a:blip r:embed="rId3"/>
          <a:stretch>
            <a:fillRect/>
          </a:stretch>
        </p:blipFill>
        <p:spPr>
          <a:xfrm>
            <a:off x="6400800" y="228600"/>
            <a:ext cx="2556023" cy="3085743"/>
          </a:xfrm>
          <a:prstGeom prst="rect">
            <a:avLst/>
          </a:prstGeom>
        </p:spPr>
      </p:pic>
    </p:spTree>
    <p:extLst>
      <p:ext uri="{BB962C8B-B14F-4D97-AF65-F5344CB8AC3E}">
        <p14:creationId xmlns:p14="http://schemas.microsoft.com/office/powerpoint/2010/main" val="10017471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5638800"/>
            <a:ext cx="9144000" cy="954107"/>
          </a:xfrm>
          <a:prstGeom prst="rect">
            <a:avLst/>
          </a:prstGeom>
          <a:noFill/>
        </p:spPr>
        <p:txBody>
          <a:bodyPr wrap="square" rtlCol="0">
            <a:spAutoFit/>
          </a:bodyPr>
          <a:lstStyle/>
          <a:p>
            <a:pPr algn="ctr"/>
            <a:r>
              <a:rPr lang="en-US" sz="2800" b="1" dirty="0">
                <a:latin typeface="Times New Roman" pitchFamily="18" charset="0"/>
                <a:cs typeface="Times New Roman" pitchFamily="18" charset="0"/>
              </a:rPr>
              <a:t>I use MOODLE extensively throughout the course to minimize paper handouts</a:t>
            </a:r>
          </a:p>
        </p:txBody>
      </p:sp>
      <p:pic>
        <p:nvPicPr>
          <p:cNvPr id="5" name="Picture 4"/>
          <p:cNvPicPr>
            <a:picLocks noChangeAspect="1"/>
          </p:cNvPicPr>
          <p:nvPr/>
        </p:nvPicPr>
        <p:blipFill>
          <a:blip r:embed="rId2"/>
          <a:stretch>
            <a:fillRect/>
          </a:stretch>
        </p:blipFill>
        <p:spPr>
          <a:xfrm>
            <a:off x="0" y="762000"/>
            <a:ext cx="9144000" cy="4724400"/>
          </a:xfrm>
          <a:prstGeom prst="rect">
            <a:avLst/>
          </a:prstGeom>
        </p:spPr>
      </p:pic>
      <p:sp>
        <p:nvSpPr>
          <p:cNvPr id="4" name="TextBox 3"/>
          <p:cNvSpPr txBox="1"/>
          <p:nvPr/>
        </p:nvSpPr>
        <p:spPr>
          <a:xfrm>
            <a:off x="3186225" y="1598950"/>
            <a:ext cx="726481" cy="646331"/>
          </a:xfrm>
          <a:prstGeom prst="rect">
            <a:avLst/>
          </a:prstGeom>
          <a:noFill/>
        </p:spPr>
        <p:txBody>
          <a:bodyPr wrap="none" rtlCol="0">
            <a:spAutoFit/>
          </a:bodyPr>
          <a:lstStyle/>
          <a:p>
            <a:r>
              <a:rPr lang="en-US" sz="3600" b="1" dirty="0">
                <a:latin typeface="Bahnschrift SemiLight SemiConde" panose="020B0502040204020203" pitchFamily="34" charset="0"/>
              </a:rPr>
              <a:t>4.5</a:t>
            </a:r>
          </a:p>
        </p:txBody>
      </p:sp>
    </p:spTree>
    <p:extLst>
      <p:ext uri="{BB962C8B-B14F-4D97-AF65-F5344CB8AC3E}">
        <p14:creationId xmlns:p14="http://schemas.microsoft.com/office/powerpoint/2010/main" val="13147930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0" y="0"/>
            <a:ext cx="9144000" cy="1938992"/>
          </a:xfrm>
          <a:prstGeom prst="rect">
            <a:avLst/>
          </a:prstGeom>
          <a:noFill/>
          <a:ln w="9525">
            <a:noFill/>
            <a:miter lim="800000"/>
            <a:headEnd/>
            <a:tailEnd/>
          </a:ln>
        </p:spPr>
        <p:txBody>
          <a:bodyPr>
            <a:spAutoFit/>
          </a:bodyPr>
          <a:lstStyle/>
          <a:p>
            <a:pPr algn="ctr" eaLnBrk="0" hangingPunct="0">
              <a:tabLst>
                <a:tab pos="4051300" algn="l"/>
              </a:tabLst>
            </a:pPr>
            <a:r>
              <a:rPr lang="en-US" sz="6000" b="1" dirty="0">
                <a:latin typeface="Times New Roman" pitchFamily="18" charset="0"/>
                <a:cs typeface="Times New Roman" pitchFamily="18" charset="0"/>
              </a:rPr>
              <a:t>ALL EXAMS ARE</a:t>
            </a:r>
          </a:p>
          <a:p>
            <a:pPr algn="ctr" eaLnBrk="0" hangingPunct="0">
              <a:tabLst>
                <a:tab pos="4051300" algn="l"/>
              </a:tabLst>
            </a:pPr>
            <a:r>
              <a:rPr lang="en-US" sz="6000" b="1" dirty="0">
                <a:latin typeface="Times New Roman" pitchFamily="18" charset="0"/>
                <a:cs typeface="Times New Roman" pitchFamily="18" charset="0"/>
              </a:rPr>
              <a:t> COMPUTER-BASED</a:t>
            </a:r>
            <a:endParaRPr lang="en-US" sz="4400" b="1" dirty="0">
              <a:latin typeface="Times New Roman" pitchFamily="18" charset="0"/>
              <a:cs typeface="Times New Roman" pitchFamily="18" charset="0"/>
            </a:endParaRPr>
          </a:p>
        </p:txBody>
      </p:sp>
      <p:sp>
        <p:nvSpPr>
          <p:cNvPr id="3" name="Text Box 2"/>
          <p:cNvSpPr txBox="1">
            <a:spLocks noChangeArrowheads="1"/>
          </p:cNvSpPr>
          <p:nvPr/>
        </p:nvSpPr>
        <p:spPr bwMode="auto">
          <a:xfrm>
            <a:off x="0" y="1905000"/>
            <a:ext cx="9144000" cy="4832092"/>
          </a:xfrm>
          <a:prstGeom prst="rect">
            <a:avLst/>
          </a:prstGeom>
          <a:noFill/>
          <a:ln w="9525">
            <a:noFill/>
            <a:miter lim="800000"/>
            <a:headEnd/>
            <a:tailEnd/>
          </a:ln>
        </p:spPr>
        <p:txBody>
          <a:bodyPr>
            <a:spAutoFit/>
          </a:bodyPr>
          <a:lstStyle/>
          <a:p>
            <a:pPr>
              <a:buFont typeface="Wingdings" pitchFamily="2" charset="2"/>
              <a:buChar char="Ø"/>
              <a:tabLst>
                <a:tab pos="4051300" algn="l"/>
              </a:tabLst>
            </a:pPr>
            <a:r>
              <a:rPr lang="en-US" sz="2800" dirty="0">
                <a:latin typeface="Times New Roman" pitchFamily="18" charset="0"/>
                <a:cs typeface="Times New Roman" pitchFamily="18" charset="0"/>
              </a:rPr>
              <a:t>Can schedule any time within the 3 day window</a:t>
            </a:r>
          </a:p>
          <a:p>
            <a:pPr>
              <a:buFont typeface="Wingdings" pitchFamily="2" charset="2"/>
              <a:buChar char="Ø"/>
              <a:tabLst>
                <a:tab pos="4051300" algn="l"/>
              </a:tabLst>
            </a:pPr>
            <a:r>
              <a:rPr lang="en-US" sz="2800" dirty="0">
                <a:latin typeface="Times New Roman" pitchFamily="18" charset="0"/>
                <a:cs typeface="Times New Roman" pitchFamily="18" charset="0"/>
              </a:rPr>
              <a:t>120 minutes to take the assessment</a:t>
            </a:r>
          </a:p>
          <a:p>
            <a:pPr>
              <a:buFont typeface="Wingdings" pitchFamily="2" charset="2"/>
              <a:buChar char="Ø"/>
              <a:tabLst>
                <a:tab pos="4051300" algn="l"/>
              </a:tabLst>
            </a:pPr>
            <a:r>
              <a:rPr lang="en-US" sz="2800" dirty="0">
                <a:latin typeface="Times New Roman" pitchFamily="18" charset="0"/>
                <a:cs typeface="Times New Roman" pitchFamily="18" charset="0"/>
              </a:rPr>
              <a:t>Calculators, Whiteboards, and Markers provided</a:t>
            </a:r>
          </a:p>
          <a:p>
            <a:pPr>
              <a:buFont typeface="Wingdings" pitchFamily="2" charset="2"/>
              <a:buChar char="Ø"/>
              <a:tabLst>
                <a:tab pos="4051300" algn="l"/>
              </a:tabLst>
            </a:pPr>
            <a:r>
              <a:rPr lang="en-US" sz="2800" dirty="0">
                <a:latin typeface="Times New Roman" pitchFamily="18" charset="0"/>
                <a:cs typeface="Times New Roman" pitchFamily="18" charset="0"/>
              </a:rPr>
              <a:t>Himes Hall basement</a:t>
            </a:r>
          </a:p>
          <a:p>
            <a:pPr>
              <a:buFont typeface="Wingdings" pitchFamily="2" charset="2"/>
              <a:buChar char="Ø"/>
              <a:tabLst>
                <a:tab pos="4051300" algn="l"/>
              </a:tabLst>
            </a:pPr>
            <a:r>
              <a:rPr lang="en-US" sz="2800" dirty="0">
                <a:latin typeface="Times New Roman" pitchFamily="18" charset="0"/>
                <a:cs typeface="Times New Roman" pitchFamily="18" charset="0"/>
              </a:rPr>
              <a:t>MUST schedule assessment before taking it</a:t>
            </a:r>
          </a:p>
          <a:p>
            <a:pPr>
              <a:buFont typeface="Wingdings" pitchFamily="2" charset="2"/>
              <a:buChar char="Ø"/>
              <a:tabLst>
                <a:tab pos="4051300" algn="l"/>
              </a:tabLst>
            </a:pPr>
            <a:r>
              <a:rPr lang="en-US" sz="2800" dirty="0">
                <a:latin typeface="Times New Roman" pitchFamily="18" charset="0"/>
                <a:cs typeface="Times New Roman" pitchFamily="18" charset="0"/>
              </a:rPr>
              <a:t>Exams are scheduled through MOODLE</a:t>
            </a:r>
          </a:p>
          <a:p>
            <a:pPr>
              <a:buFont typeface="Wingdings" pitchFamily="2" charset="2"/>
              <a:buChar char="Ø"/>
              <a:tabLst>
                <a:tab pos="4051300" algn="l"/>
              </a:tabLst>
            </a:pPr>
            <a:r>
              <a:rPr lang="en-US" sz="2800" dirty="0">
                <a:latin typeface="Times New Roman" pitchFamily="18" charset="0"/>
                <a:cs typeface="Times New Roman" pitchFamily="18" charset="0"/>
              </a:rPr>
              <a:t>ADVANTAGE </a:t>
            </a:r>
            <a:r>
              <a:rPr lang="en-US" sz="2800" dirty="0">
                <a:latin typeface="Times New Roman" pitchFamily="18" charset="0"/>
                <a:cs typeface="Times New Roman" pitchFamily="18" charset="0"/>
                <a:sym typeface="Wingdings" pitchFamily="2" charset="2"/>
              </a:rPr>
              <a:t> </a:t>
            </a:r>
            <a:r>
              <a:rPr lang="en-US" sz="2800" dirty="0">
                <a:latin typeface="Times New Roman" pitchFamily="18" charset="0"/>
                <a:cs typeface="Times New Roman" pitchFamily="18" charset="0"/>
              </a:rPr>
              <a:t>Get your score immediately</a:t>
            </a:r>
          </a:p>
          <a:p>
            <a:pPr>
              <a:buFont typeface="Wingdings" pitchFamily="2" charset="2"/>
              <a:buChar char="Ø"/>
              <a:tabLst>
                <a:tab pos="4051300" algn="l"/>
              </a:tabLst>
            </a:pPr>
            <a:r>
              <a:rPr lang="en-US" sz="2800" dirty="0">
                <a:latin typeface="Times New Roman" pitchFamily="18" charset="0"/>
                <a:cs typeface="Times New Roman" pitchFamily="18" charset="0"/>
              </a:rPr>
              <a:t> BIG test bank</a:t>
            </a:r>
          </a:p>
          <a:p>
            <a:pPr>
              <a:buFont typeface="Wingdings" pitchFamily="2" charset="2"/>
              <a:buChar char="Ø"/>
              <a:tabLst>
                <a:tab pos="4051300" algn="l"/>
              </a:tabLst>
            </a:pPr>
            <a:r>
              <a:rPr lang="en-US" sz="2800" dirty="0">
                <a:latin typeface="Times New Roman" pitchFamily="18" charset="0"/>
                <a:cs typeface="Times New Roman" pitchFamily="18" charset="0"/>
              </a:rPr>
              <a:t>Students registered through Disability Service (DS) </a:t>
            </a:r>
            <a:r>
              <a:rPr lang="en-US" sz="2800" b="1" dirty="0">
                <a:latin typeface="Times New Roman" pitchFamily="18" charset="0"/>
                <a:cs typeface="Times New Roman" pitchFamily="18" charset="0"/>
              </a:rPr>
              <a:t>MUST</a:t>
            </a:r>
            <a:r>
              <a:rPr lang="en-US" sz="2800" dirty="0">
                <a:latin typeface="Times New Roman" pitchFamily="18" charset="0"/>
                <a:cs typeface="Times New Roman" pitchFamily="18" charset="0"/>
              </a:rPr>
              <a:t> take their exams through DS to receive accommodations (i.e. extended time, distraction reduced environment, etc.)</a:t>
            </a:r>
          </a:p>
        </p:txBody>
      </p:sp>
    </p:spTree>
    <p:extLst>
      <p:ext uri="{BB962C8B-B14F-4D97-AF65-F5344CB8AC3E}">
        <p14:creationId xmlns:p14="http://schemas.microsoft.com/office/powerpoint/2010/main" val="16870173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28248" y="0"/>
            <a:ext cx="9144000" cy="6247864"/>
          </a:xfrm>
          <a:prstGeom prst="rect">
            <a:avLst/>
          </a:prstGeom>
          <a:noFill/>
          <a:ln w="9525">
            <a:noFill/>
            <a:miter lim="800000"/>
            <a:headEnd/>
            <a:tailEnd/>
          </a:ln>
        </p:spPr>
        <p:txBody>
          <a:bodyPr wrap="square">
            <a:spAutoFit/>
          </a:bodyPr>
          <a:lstStyle/>
          <a:p>
            <a:pPr algn="ctr"/>
            <a:r>
              <a:rPr lang="en-US" sz="4800" b="1" dirty="0">
                <a:solidFill>
                  <a:srgbClr val="FF0000"/>
                </a:solidFill>
                <a:latin typeface="Times New Roman" pitchFamily="18" charset="0"/>
                <a:cs typeface="Times New Roman" pitchFamily="18" charset="0"/>
              </a:rPr>
              <a:t>EXAMS</a:t>
            </a:r>
          </a:p>
          <a:p>
            <a:pPr marL="514350" indent="-514350">
              <a:buFont typeface="Wingdings" pitchFamily="2" charset="2"/>
              <a:buChar char="Ø"/>
            </a:pPr>
            <a:r>
              <a:rPr lang="en-US" sz="3200" dirty="0">
                <a:latin typeface="Times New Roman" pitchFamily="18" charset="0"/>
                <a:cs typeface="Times New Roman" pitchFamily="18" charset="0"/>
              </a:rPr>
              <a:t>NOT word-for-word</a:t>
            </a:r>
          </a:p>
          <a:p>
            <a:pPr marL="514350" indent="-514350">
              <a:buFont typeface="Wingdings" pitchFamily="2" charset="2"/>
              <a:buChar char="Ø"/>
            </a:pPr>
            <a:r>
              <a:rPr lang="en-US" sz="3200" dirty="0">
                <a:latin typeface="Times New Roman" pitchFamily="18" charset="0"/>
                <a:cs typeface="Times New Roman" pitchFamily="18" charset="0"/>
              </a:rPr>
              <a:t>everything from assigned reading is fair game</a:t>
            </a:r>
          </a:p>
          <a:p>
            <a:pPr marL="514350" indent="-514350">
              <a:buFont typeface="Wingdings" pitchFamily="2" charset="2"/>
              <a:buChar char="Ø"/>
            </a:pPr>
            <a:r>
              <a:rPr lang="en-US" sz="3200" dirty="0">
                <a:latin typeface="Times New Roman" pitchFamily="18" charset="0"/>
                <a:cs typeface="Times New Roman" pitchFamily="18" charset="0"/>
              </a:rPr>
              <a:t>everything in class is fair game</a:t>
            </a:r>
          </a:p>
          <a:p>
            <a:pPr marL="514350" indent="-514350">
              <a:buFont typeface="Wingdings" pitchFamily="2" charset="2"/>
              <a:buChar char="Ø"/>
            </a:pPr>
            <a:r>
              <a:rPr lang="en-US" sz="3200" dirty="0">
                <a:latin typeface="Times New Roman" pitchFamily="18" charset="0"/>
                <a:cs typeface="Times New Roman" pitchFamily="18" charset="0"/>
              </a:rPr>
              <a:t>4 exams total, NOT cumulative</a:t>
            </a:r>
          </a:p>
          <a:p>
            <a:pPr marL="514350" indent="-514350">
              <a:buFont typeface="Wingdings" pitchFamily="2" charset="2"/>
              <a:buChar char="Ø"/>
            </a:pPr>
            <a:r>
              <a:rPr lang="en-US" sz="3200" dirty="0">
                <a:latin typeface="Times New Roman" pitchFamily="18" charset="0"/>
                <a:cs typeface="Times New Roman" pitchFamily="18" charset="0"/>
              </a:rPr>
              <a:t>We DO NOT drop an exam!!!</a:t>
            </a:r>
          </a:p>
          <a:p>
            <a:pPr marL="514350" indent="-514350">
              <a:buFont typeface="Wingdings" pitchFamily="2" charset="2"/>
              <a:buChar char="Ø"/>
            </a:pPr>
            <a:r>
              <a:rPr lang="en-US" sz="3200" dirty="0">
                <a:latin typeface="Times New Roman" pitchFamily="18" charset="0"/>
                <a:cs typeface="Times New Roman" pitchFamily="18" charset="0"/>
              </a:rPr>
              <a:t>Bring photo ID to all exams!</a:t>
            </a:r>
          </a:p>
          <a:p>
            <a:pPr marL="514350" indent="-514350">
              <a:buFont typeface="Wingdings" pitchFamily="2" charset="2"/>
              <a:buChar char="Ø"/>
            </a:pPr>
            <a:r>
              <a:rPr lang="en-US" sz="3200" dirty="0">
                <a:latin typeface="Times New Roman" pitchFamily="18" charset="0"/>
                <a:cs typeface="Times New Roman" pitchFamily="18" charset="0"/>
              </a:rPr>
              <a:t>ABSOLUTELY no cell phone use during exams.</a:t>
            </a:r>
          </a:p>
          <a:p>
            <a:pPr marL="514350" indent="-514350">
              <a:buFont typeface="Wingdings" pitchFamily="2" charset="2"/>
              <a:buChar char="Ø"/>
            </a:pPr>
            <a:r>
              <a:rPr lang="en-US" sz="3200" b="1" dirty="0">
                <a:solidFill>
                  <a:srgbClr val="FF0000"/>
                </a:solidFill>
                <a:latin typeface="Times New Roman" pitchFamily="18" charset="0"/>
                <a:cs typeface="Times New Roman" pitchFamily="18" charset="0"/>
              </a:rPr>
              <a:t>Don’t even think about CHEATING…not worth it and the Testing Center is pretty up-to-date on the newest “techniques”…</a:t>
            </a:r>
          </a:p>
          <a:p>
            <a:endParaRPr lang="en-US" sz="3200" dirty="0">
              <a:latin typeface="Times New Roman" pitchFamily="18" charset="0"/>
              <a:cs typeface="Times New Roman" pitchFamily="18" charset="0"/>
            </a:endParaRPr>
          </a:p>
        </p:txBody>
      </p:sp>
      <p:sp>
        <p:nvSpPr>
          <p:cNvPr id="9" name="Rectangle 8"/>
          <p:cNvSpPr/>
          <p:nvPr/>
        </p:nvSpPr>
        <p:spPr>
          <a:xfrm>
            <a:off x="0" y="0"/>
            <a:ext cx="9144000" cy="6858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74" name="Picture 2"/>
          <p:cNvPicPr>
            <a:picLocks noChangeAspect="1" noChangeArrowheads="1"/>
          </p:cNvPicPr>
          <p:nvPr/>
        </p:nvPicPr>
        <p:blipFill>
          <a:blip r:embed="rId3" cstate="print"/>
          <a:srcRect/>
          <a:stretch>
            <a:fillRect/>
          </a:stretch>
        </p:blipFill>
        <p:spPr bwMode="auto">
          <a:xfrm>
            <a:off x="110362" y="212834"/>
            <a:ext cx="8920430" cy="6400800"/>
          </a:xfrm>
          <a:prstGeom prst="rect">
            <a:avLst/>
          </a:prstGeom>
          <a:noFill/>
          <a:ln w="9525">
            <a:noFill/>
            <a:miter lim="800000"/>
            <a:headEnd/>
            <a:tailEnd/>
          </a:ln>
        </p:spPr>
      </p:pic>
      <p:pic>
        <p:nvPicPr>
          <p:cNvPr id="3077" name="Picture 5"/>
          <p:cNvPicPr>
            <a:picLocks noChangeAspect="1" noChangeArrowheads="1"/>
          </p:cNvPicPr>
          <p:nvPr/>
        </p:nvPicPr>
        <p:blipFill>
          <a:blip r:embed="rId4" cstate="print"/>
          <a:srcRect/>
          <a:stretch>
            <a:fillRect/>
          </a:stretch>
        </p:blipFill>
        <p:spPr bwMode="auto">
          <a:xfrm>
            <a:off x="136322" y="399396"/>
            <a:ext cx="8871044" cy="5943600"/>
          </a:xfrm>
          <a:prstGeom prst="rect">
            <a:avLst/>
          </a:prstGeom>
          <a:noFill/>
          <a:ln w="9525">
            <a:noFill/>
            <a:miter lim="800000"/>
            <a:headEnd/>
            <a:tailEnd/>
          </a:ln>
        </p:spPr>
      </p:pic>
      <p:pic>
        <p:nvPicPr>
          <p:cNvPr id="3078" name="Picture 6"/>
          <p:cNvPicPr>
            <a:picLocks noChangeAspect="1" noChangeArrowheads="1"/>
          </p:cNvPicPr>
          <p:nvPr/>
        </p:nvPicPr>
        <p:blipFill>
          <a:blip r:embed="rId5" cstate="print"/>
          <a:srcRect/>
          <a:stretch>
            <a:fillRect/>
          </a:stretch>
        </p:blipFill>
        <p:spPr bwMode="auto">
          <a:xfrm>
            <a:off x="0" y="381000"/>
            <a:ext cx="8960202" cy="5943600"/>
          </a:xfrm>
          <a:prstGeom prst="rect">
            <a:avLst/>
          </a:prstGeom>
          <a:noFill/>
          <a:ln w="9525">
            <a:noFill/>
            <a:miter lim="800000"/>
            <a:headEnd/>
            <a:tailEnd/>
          </a:ln>
        </p:spPr>
      </p:pic>
      <p:pic>
        <p:nvPicPr>
          <p:cNvPr id="3079" name="Picture 7"/>
          <p:cNvPicPr>
            <a:picLocks noChangeAspect="1" noChangeArrowheads="1"/>
          </p:cNvPicPr>
          <p:nvPr/>
        </p:nvPicPr>
        <p:blipFill>
          <a:blip r:embed="rId6" cstate="print"/>
          <a:srcRect/>
          <a:stretch>
            <a:fillRect/>
          </a:stretch>
        </p:blipFill>
        <p:spPr bwMode="auto">
          <a:xfrm>
            <a:off x="2162502" y="228600"/>
            <a:ext cx="4762500" cy="6372225"/>
          </a:xfrm>
          <a:prstGeom prst="rect">
            <a:avLst/>
          </a:prstGeom>
          <a:noFill/>
          <a:ln w="9525">
            <a:noFill/>
            <a:miter lim="800000"/>
            <a:headEnd/>
            <a:tailEnd/>
          </a:ln>
        </p:spPr>
      </p:pic>
      <p:pic>
        <p:nvPicPr>
          <p:cNvPr id="3076" name="Picture 4"/>
          <p:cNvPicPr>
            <a:picLocks noChangeAspect="1" noChangeArrowheads="1"/>
          </p:cNvPicPr>
          <p:nvPr/>
        </p:nvPicPr>
        <p:blipFill>
          <a:blip r:embed="rId7" cstate="print"/>
          <a:srcRect/>
          <a:stretch>
            <a:fillRect/>
          </a:stretch>
        </p:blipFill>
        <p:spPr bwMode="auto">
          <a:xfrm>
            <a:off x="1981200" y="0"/>
            <a:ext cx="5168995" cy="6874764"/>
          </a:xfrm>
          <a:prstGeom prst="rect">
            <a:avLst/>
          </a:prstGeom>
          <a:noFill/>
          <a:ln w="9525">
            <a:noFill/>
            <a:miter lim="800000"/>
            <a:headEnd/>
            <a:tailEnd/>
          </a:ln>
        </p:spPr>
      </p:pic>
      <p:pic>
        <p:nvPicPr>
          <p:cNvPr id="2050"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34052" y="484223"/>
            <a:ext cx="2819400" cy="5737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43368" y="436091"/>
            <a:ext cx="7800768" cy="6042848"/>
          </a:xfrm>
          <a:prstGeom prst="rect">
            <a:avLst/>
          </a:prstGeom>
        </p:spPr>
      </p:pic>
      <p:pic>
        <p:nvPicPr>
          <p:cNvPr id="4" name="Picture 3"/>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233021" y="1309391"/>
            <a:ext cx="6677957" cy="4239217"/>
          </a:xfrm>
          <a:prstGeom prst="rect">
            <a:avLst/>
          </a:prstGeom>
        </p:spPr>
      </p:pic>
    </p:spTree>
    <p:extLst>
      <p:ext uri="{BB962C8B-B14F-4D97-AF65-F5344CB8AC3E}">
        <p14:creationId xmlns:p14="http://schemas.microsoft.com/office/powerpoint/2010/main" val="2419538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3074"/>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7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307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7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3078"/>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07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3079"/>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07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nodeType="clickEffect">
                                  <p:stCondLst>
                                    <p:cond delay="0"/>
                                  </p:stCondLst>
                                  <p:childTnLst>
                                    <p:set>
                                      <p:cBhvr>
                                        <p:cTn id="46" dur="1" fill="hold">
                                          <p:stCondLst>
                                            <p:cond delay="0"/>
                                          </p:stCondLst>
                                        </p:cTn>
                                        <p:tgtEl>
                                          <p:spTgt spid="3076"/>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05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0" y="0"/>
            <a:ext cx="9144000" cy="823913"/>
          </a:xfrm>
          <a:prstGeom prst="rect">
            <a:avLst/>
          </a:prstGeom>
          <a:noFill/>
          <a:ln w="9525">
            <a:noFill/>
            <a:miter lim="800000"/>
            <a:headEnd/>
            <a:tailEnd/>
          </a:ln>
        </p:spPr>
        <p:txBody>
          <a:bodyPr>
            <a:spAutoFit/>
          </a:bodyPr>
          <a:lstStyle/>
          <a:p>
            <a:pPr algn="ctr"/>
            <a:r>
              <a:rPr lang="en-US" sz="4800" b="1" dirty="0">
                <a:latin typeface="Times New Roman" pitchFamily="18" charset="0"/>
                <a:cs typeface="Times New Roman" pitchFamily="18" charset="0"/>
              </a:rPr>
              <a:t>MAKE-UP EXAMS</a:t>
            </a:r>
          </a:p>
        </p:txBody>
      </p:sp>
      <p:sp>
        <p:nvSpPr>
          <p:cNvPr id="3" name="Rectangle 2"/>
          <p:cNvSpPr/>
          <p:nvPr/>
        </p:nvSpPr>
        <p:spPr>
          <a:xfrm>
            <a:off x="0" y="838200"/>
            <a:ext cx="9144000" cy="6001643"/>
          </a:xfrm>
          <a:prstGeom prst="rect">
            <a:avLst/>
          </a:prstGeom>
        </p:spPr>
        <p:txBody>
          <a:bodyPr wrap="square">
            <a:spAutoFit/>
          </a:bodyPr>
          <a:lstStyle/>
          <a:p>
            <a:pPr>
              <a:spcBef>
                <a:spcPct val="50000"/>
              </a:spcBef>
              <a:buFont typeface="Wingdings" pitchFamily="2" charset="2"/>
              <a:buChar char="Ø"/>
            </a:pPr>
            <a:r>
              <a:rPr lang="en-US" sz="3200" dirty="0">
                <a:latin typeface="Times New Roman" pitchFamily="18" charset="0"/>
                <a:cs typeface="Times New Roman" pitchFamily="18" charset="0"/>
              </a:rPr>
              <a:t>None except for University-approved absences</a:t>
            </a:r>
          </a:p>
          <a:p>
            <a:pPr>
              <a:spcBef>
                <a:spcPct val="50000"/>
              </a:spcBef>
              <a:buFont typeface="Wingdings" pitchFamily="2" charset="2"/>
              <a:buChar char="Ø"/>
            </a:pPr>
            <a:r>
              <a:rPr lang="en-US" sz="3200" b="1" dirty="0">
                <a:latin typeface="Times New Roman" pitchFamily="18" charset="0"/>
                <a:cs typeface="Times New Roman" pitchFamily="18" charset="0"/>
              </a:rPr>
              <a:t>EMAIL me before missing the exam or </a:t>
            </a:r>
            <a:r>
              <a:rPr lang="en-US" sz="3200" b="1" dirty="0">
                <a:solidFill>
                  <a:srgbClr val="FF0000"/>
                </a:solidFill>
                <a:latin typeface="Times New Roman" pitchFamily="18" charset="0"/>
                <a:cs typeface="Times New Roman" pitchFamily="18" charset="0"/>
              </a:rPr>
              <a:t>within 24 hours after missing the exam</a:t>
            </a:r>
            <a:r>
              <a:rPr lang="en-US" sz="3200" b="1" dirty="0">
                <a:latin typeface="Times New Roman" pitchFamily="18" charset="0"/>
                <a:cs typeface="Times New Roman" pitchFamily="18" charset="0"/>
              </a:rPr>
              <a:t>.  </a:t>
            </a:r>
            <a:r>
              <a:rPr lang="en-US" sz="3200" dirty="0">
                <a:latin typeface="Times New Roman" pitchFamily="18" charset="0"/>
                <a:cs typeface="Times New Roman" pitchFamily="18" charset="0"/>
              </a:rPr>
              <a:t>It is your responsibility to make arrangements with me if you miss (or will miss) your exam.</a:t>
            </a:r>
            <a:endParaRPr lang="en-US" sz="3200" b="1" dirty="0">
              <a:solidFill>
                <a:srgbClr val="FF0000"/>
              </a:solidFill>
              <a:latin typeface="Times New Roman" pitchFamily="18" charset="0"/>
              <a:cs typeface="Times New Roman" pitchFamily="18" charset="0"/>
            </a:endParaRPr>
          </a:p>
          <a:p>
            <a:pPr>
              <a:spcBef>
                <a:spcPct val="50000"/>
              </a:spcBef>
              <a:buFont typeface="Wingdings" pitchFamily="2" charset="2"/>
              <a:buChar char="Ø"/>
            </a:pPr>
            <a:r>
              <a:rPr lang="en-US" sz="3200" b="1" i="1" dirty="0">
                <a:latin typeface="Times New Roman" pitchFamily="18" charset="0"/>
                <a:cs typeface="Times New Roman" pitchFamily="18" charset="0"/>
              </a:rPr>
              <a:t>Documentation</a:t>
            </a:r>
            <a:r>
              <a:rPr lang="en-US" sz="3200" dirty="0">
                <a:latin typeface="Times New Roman" pitchFamily="18" charset="0"/>
                <a:cs typeface="Times New Roman" pitchFamily="18" charset="0"/>
              </a:rPr>
              <a:t> required (LEGITIMATE docs…)</a:t>
            </a:r>
          </a:p>
          <a:p>
            <a:pPr>
              <a:spcBef>
                <a:spcPct val="50000"/>
              </a:spcBef>
              <a:buFont typeface="Wingdings" pitchFamily="2" charset="2"/>
              <a:buChar char="Ø"/>
            </a:pPr>
            <a:r>
              <a:rPr lang="en-US" sz="3200" dirty="0">
                <a:latin typeface="Times New Roman" pitchFamily="18" charset="0"/>
                <a:cs typeface="Times New Roman" pitchFamily="18" charset="0"/>
              </a:rPr>
              <a:t>Make-ups may be computer or may be short answer</a:t>
            </a:r>
          </a:p>
          <a:p>
            <a:pPr>
              <a:spcBef>
                <a:spcPct val="50000"/>
              </a:spcBef>
              <a:buFont typeface="Wingdings" pitchFamily="2" charset="2"/>
              <a:buChar char="Ø"/>
            </a:pPr>
            <a:r>
              <a:rPr lang="en-US" sz="3200" dirty="0">
                <a:latin typeface="Times New Roman" pitchFamily="18" charset="0"/>
                <a:cs typeface="Times New Roman" pitchFamily="18" charset="0"/>
              </a:rPr>
              <a:t>It is your responsibility to print out and return (via email with documentation) to me the “</a:t>
            </a:r>
            <a:r>
              <a:rPr lang="en-US" sz="3200" b="1" i="1" dirty="0">
                <a:solidFill>
                  <a:srgbClr val="FF0000"/>
                </a:solidFill>
                <a:latin typeface="Times New Roman" pitchFamily="18" charset="0"/>
                <a:cs typeface="Times New Roman" pitchFamily="18" charset="0"/>
              </a:rPr>
              <a:t>MISSED EXAM FORM</a:t>
            </a:r>
            <a:r>
              <a:rPr lang="en-US" sz="3200" dirty="0">
                <a:latin typeface="Times New Roman" pitchFamily="18" charset="0"/>
                <a:cs typeface="Times New Roman" pitchFamily="18" charset="0"/>
              </a:rPr>
              <a:t>” which is located in MOODLE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0" y="0"/>
            <a:ext cx="3916928" cy="6832640"/>
          </a:xfrm>
          <a:prstGeom prst="rect">
            <a:avLst/>
          </a:prstGeom>
          <a:noFill/>
          <a:ln w="9525">
            <a:noFill/>
            <a:miter lim="800000"/>
            <a:headEnd/>
            <a:tailEnd/>
          </a:ln>
        </p:spPr>
        <p:txBody>
          <a:bodyPr wrap="square">
            <a:spAutoFit/>
          </a:bodyPr>
          <a:lstStyle/>
          <a:p>
            <a:r>
              <a:rPr lang="en-US" sz="3800" b="1" dirty="0">
                <a:latin typeface="Times New Roman" pitchFamily="18" charset="0"/>
                <a:cs typeface="Times New Roman" pitchFamily="18" charset="0"/>
              </a:rPr>
              <a:t>Make-up Exams</a:t>
            </a:r>
          </a:p>
          <a:p>
            <a:endParaRPr lang="en-US" sz="4000" dirty="0">
              <a:latin typeface="Times New Roman" pitchFamily="18" charset="0"/>
              <a:cs typeface="Times New Roman" pitchFamily="18" charset="0"/>
            </a:endParaRPr>
          </a:p>
          <a:p>
            <a:pPr>
              <a:buFont typeface="Wingdings" pitchFamily="2" charset="2"/>
              <a:buChar char="Ø"/>
            </a:pPr>
            <a:r>
              <a:rPr lang="en-US" sz="4000" dirty="0">
                <a:latin typeface="Times New Roman" pitchFamily="18" charset="0"/>
                <a:cs typeface="Times New Roman" pitchFamily="18" charset="0"/>
              </a:rPr>
              <a:t>Form is posted to MOODLE and I need a completed sheet (with supporting documentation) before any make-up exam can be scheduled</a:t>
            </a:r>
          </a:p>
        </p:txBody>
      </p:sp>
      <p:pic>
        <p:nvPicPr>
          <p:cNvPr id="4" name="Picture 3" descr="Text&#10;&#10;Description automatically generated">
            <a:extLst>
              <a:ext uri="{FF2B5EF4-FFF2-40B4-BE49-F238E27FC236}">
                <a16:creationId xmlns:a16="http://schemas.microsoft.com/office/drawing/2014/main" id="{E60BD38D-6412-4FB8-847D-577C0D5D63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40614" y="59375"/>
            <a:ext cx="5242456" cy="6756440"/>
          </a:xfrm>
          <a:prstGeom prst="rect">
            <a:avLst/>
          </a:prstGeom>
          <a:ln w="25400">
            <a:solidFill>
              <a:schemeClr val="tx1"/>
            </a:solid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0" y="0"/>
            <a:ext cx="9144000" cy="6678751"/>
          </a:xfrm>
          <a:prstGeom prst="rect">
            <a:avLst/>
          </a:prstGeom>
          <a:noFill/>
          <a:ln w="9525">
            <a:noFill/>
            <a:miter lim="800000"/>
            <a:headEnd/>
            <a:tailEnd/>
          </a:ln>
        </p:spPr>
        <p:txBody>
          <a:bodyPr>
            <a:spAutoFit/>
          </a:bodyPr>
          <a:lstStyle/>
          <a:p>
            <a:pPr algn="ctr"/>
            <a:r>
              <a:rPr lang="en-US" sz="4400" b="1" dirty="0">
                <a:latin typeface="Times New Roman" pitchFamily="18" charset="0"/>
                <a:cs typeface="Times New Roman" pitchFamily="18" charset="0"/>
              </a:rPr>
              <a:t>GRADES</a:t>
            </a:r>
          </a:p>
          <a:p>
            <a:endParaRPr lang="en-US" sz="2800" dirty="0">
              <a:latin typeface="Times New Roman" pitchFamily="18" charset="0"/>
              <a:cs typeface="Times New Roman" pitchFamily="18" charset="0"/>
            </a:endParaRPr>
          </a:p>
          <a:p>
            <a:r>
              <a:rPr lang="en-US" sz="2800" dirty="0">
                <a:latin typeface="Times New Roman" pitchFamily="18" charset="0"/>
                <a:cs typeface="Times New Roman" pitchFamily="18" charset="0"/>
              </a:rPr>
              <a:t>4 EXAMS:	</a:t>
            </a:r>
            <a:r>
              <a:rPr lang="en-US" sz="2800" b="1" dirty="0">
                <a:solidFill>
                  <a:srgbClr val="FF0000"/>
                </a:solidFill>
                <a:latin typeface="Times New Roman" pitchFamily="18" charset="0"/>
                <a:cs typeface="Times New Roman" pitchFamily="18" charset="0"/>
              </a:rPr>
              <a:t>90% of your grade </a:t>
            </a:r>
            <a:r>
              <a:rPr lang="en-US" sz="2800" dirty="0">
                <a:latin typeface="Times New Roman" pitchFamily="18" charset="0"/>
                <a:cs typeface="Times New Roman" pitchFamily="18" charset="0"/>
              </a:rPr>
              <a:t>(22.5% for each of  the 			four exams).  NONE of the exams are 	dropped!  		There are MUTIPLE resources for review 			materials which can be used to gauge how well 		you understand the material </a:t>
            </a:r>
            <a:r>
              <a:rPr lang="en-US" sz="2800" b="1" i="1" dirty="0">
                <a:latin typeface="Times New Roman" pitchFamily="18" charset="0"/>
                <a:cs typeface="Times New Roman" pitchFamily="18" charset="0"/>
              </a:rPr>
              <a:t>BEFORE</a:t>
            </a:r>
            <a:r>
              <a:rPr lang="en-US" sz="2800" dirty="0">
                <a:latin typeface="Times New Roman" pitchFamily="18" charset="0"/>
                <a:cs typeface="Times New Roman" pitchFamily="18" charset="0"/>
              </a:rPr>
              <a:t> the exam.</a:t>
            </a:r>
          </a:p>
          <a:p>
            <a:endParaRPr lang="en-US" sz="2400" dirty="0">
              <a:latin typeface="Times New Roman" pitchFamily="18" charset="0"/>
              <a:cs typeface="Times New Roman" pitchFamily="18" charset="0"/>
            </a:endParaRPr>
          </a:p>
          <a:p>
            <a:r>
              <a:rPr lang="en-US" sz="2800" dirty="0">
                <a:latin typeface="Times New Roman" pitchFamily="18" charset="0"/>
                <a:cs typeface="Times New Roman" pitchFamily="18" charset="0"/>
              </a:rPr>
              <a:t>Mastering:	</a:t>
            </a:r>
            <a:r>
              <a:rPr lang="en-US" sz="2800" b="1" dirty="0">
                <a:solidFill>
                  <a:srgbClr val="FF0000"/>
                </a:solidFill>
                <a:latin typeface="Times New Roman" pitchFamily="18" charset="0"/>
                <a:cs typeface="Times New Roman" pitchFamily="18" charset="0"/>
              </a:rPr>
              <a:t>10% of your grade</a:t>
            </a:r>
            <a:r>
              <a:rPr lang="en-US" sz="2800" dirty="0">
                <a:latin typeface="Times New Roman" pitchFamily="18" charset="0"/>
                <a:cs typeface="Times New Roman" pitchFamily="18" charset="0"/>
              </a:rPr>
              <a:t>.  At the end of the semester, I 		will drop 10% of your lowest scores (typically 		about 3 or 4 scores)</a:t>
            </a:r>
          </a:p>
          <a:p>
            <a:endParaRPr lang="en-US" sz="2400" dirty="0">
              <a:latin typeface="Times New Roman" pitchFamily="18" charset="0"/>
              <a:cs typeface="Times New Roman" pitchFamily="18" charset="0"/>
            </a:endParaRPr>
          </a:p>
          <a:p>
            <a:r>
              <a:rPr lang="en-US" sz="2800" dirty="0">
                <a:latin typeface="Times New Roman" pitchFamily="18" charset="0"/>
                <a:cs typeface="Times New Roman" pitchFamily="18" charset="0"/>
              </a:rPr>
              <a:t>BONUS:	There will be opportunities to earn bonus points 		during the semester.  These may be based on 		attendance and others will be extra problem sets.</a:t>
            </a:r>
          </a:p>
        </p:txBody>
      </p:sp>
      <p:pic>
        <p:nvPicPr>
          <p:cNvPr id="6" name="Picture 5">
            <a:extLst>
              <a:ext uri="{FF2B5EF4-FFF2-40B4-BE49-F238E27FC236}">
                <a16:creationId xmlns:a16="http://schemas.microsoft.com/office/drawing/2014/main" id="{3CBEEFA7-61BF-5F56-2651-FE92F6D847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715000"/>
            <a:ext cx="1143000" cy="1143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1" y="0"/>
            <a:ext cx="9122384" cy="6858000"/>
            <a:chOff x="-1" y="0"/>
            <a:chExt cx="9122384" cy="685800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22383" cy="6858000"/>
            </a:xfrm>
            <a:prstGeom prst="rect">
              <a:avLst/>
            </a:prstGeom>
          </p:spPr>
        </p:pic>
        <p:sp>
          <p:nvSpPr>
            <p:cNvPr id="3" name="TextBox 2"/>
            <p:cNvSpPr txBox="1"/>
            <p:nvPr/>
          </p:nvSpPr>
          <p:spPr>
            <a:xfrm>
              <a:off x="-1" y="117157"/>
              <a:ext cx="9122383" cy="492443"/>
            </a:xfrm>
            <a:prstGeom prst="rect">
              <a:avLst/>
            </a:prstGeom>
            <a:solidFill>
              <a:schemeClr val="bg1"/>
            </a:solidFill>
          </p:spPr>
          <p:txBody>
            <a:bodyPr wrap="square" rtlCol="0">
              <a:spAutoFit/>
            </a:bodyPr>
            <a:lstStyle/>
            <a:p>
              <a:pPr algn="ctr"/>
              <a:r>
                <a:rPr lang="en-US" sz="2600" b="1" dirty="0"/>
                <a:t>ATTENDANCE IS ABSOLUTELY IMPERATIVE FOR THIS COURSE!</a:t>
              </a:r>
            </a:p>
          </p:txBody>
        </p:sp>
        <p:sp>
          <p:nvSpPr>
            <p:cNvPr id="4" name="Rectangle 3"/>
            <p:cNvSpPr/>
            <p:nvPr/>
          </p:nvSpPr>
          <p:spPr>
            <a:xfrm>
              <a:off x="2533053" y="6356132"/>
              <a:ext cx="3667992" cy="461665"/>
            </a:xfrm>
            <a:prstGeom prst="rect">
              <a:avLst/>
            </a:prstGeom>
            <a:solidFill>
              <a:schemeClr val="bg1"/>
            </a:solidFill>
          </p:spPr>
          <p:txBody>
            <a:bodyPr wrap="none">
              <a:spAutoFit/>
            </a:bodyPr>
            <a:lstStyle/>
            <a:p>
              <a:r>
                <a:rPr lang="en-US" sz="2400" b="1" dirty="0"/>
                <a:t>FINAL GRADE IN BIOL 1202 </a:t>
              </a:r>
              <a:endParaRPr lang="en-US" sz="2400" dirty="0"/>
            </a:p>
          </p:txBody>
        </p:sp>
      </p:grpSp>
    </p:spTree>
    <p:extLst>
      <p:ext uri="{BB962C8B-B14F-4D97-AF65-F5344CB8AC3E}">
        <p14:creationId xmlns:p14="http://schemas.microsoft.com/office/powerpoint/2010/main" val="6858367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07DB6-9825-4F01-A2FC-EC90F975D1A4}"/>
              </a:ext>
            </a:extLst>
          </p:cNvPr>
          <p:cNvSpPr>
            <a:spLocks noGrp="1"/>
          </p:cNvSpPr>
          <p:nvPr>
            <p:ph type="title"/>
          </p:nvPr>
        </p:nvSpPr>
        <p:spPr>
          <a:xfrm>
            <a:off x="457198" y="228600"/>
            <a:ext cx="8305801" cy="3352800"/>
          </a:xfrm>
        </p:spPr>
        <p:txBody>
          <a:bodyPr>
            <a:normAutofit/>
          </a:bodyPr>
          <a:lstStyle/>
          <a:p>
            <a:r>
              <a:rPr lang="en-US" sz="10300" b="1" dirty="0">
                <a:solidFill>
                  <a:srgbClr val="FF0000"/>
                </a:solidFill>
              </a:rPr>
              <a:t>Supplemental Instruction</a:t>
            </a:r>
          </a:p>
        </p:txBody>
      </p:sp>
      <p:sp>
        <p:nvSpPr>
          <p:cNvPr id="3" name="TextBox 2"/>
          <p:cNvSpPr txBox="1"/>
          <p:nvPr/>
        </p:nvSpPr>
        <p:spPr>
          <a:xfrm>
            <a:off x="1333498" y="3733800"/>
            <a:ext cx="6553200" cy="2308324"/>
          </a:xfrm>
          <a:prstGeom prst="rect">
            <a:avLst/>
          </a:prstGeom>
          <a:noFill/>
        </p:spPr>
        <p:txBody>
          <a:bodyPr wrap="square" rtlCol="0">
            <a:spAutoFit/>
          </a:bodyPr>
          <a:lstStyle/>
          <a:p>
            <a:r>
              <a:rPr lang="en-US" sz="3600" dirty="0"/>
              <a:t>SI Leader:		</a:t>
            </a:r>
            <a:r>
              <a:rPr lang="en-US" sz="3600" dirty="0" err="1">
                <a:highlight>
                  <a:srgbClr val="FFFF00"/>
                </a:highlight>
              </a:rPr>
              <a:t>Ravyn</a:t>
            </a:r>
            <a:r>
              <a:rPr lang="en-US" sz="3600" dirty="0">
                <a:highlight>
                  <a:srgbClr val="FFFF00"/>
                </a:highlight>
              </a:rPr>
              <a:t> A. Thomas</a:t>
            </a:r>
            <a:endParaRPr lang="en-US" sz="3600" dirty="0"/>
          </a:p>
          <a:p>
            <a:r>
              <a:rPr lang="en-US" sz="3600" dirty="0"/>
              <a:t>Email:		</a:t>
            </a:r>
            <a:r>
              <a:rPr lang="en-US" sz="3600" dirty="0">
                <a:highlight>
                  <a:srgbClr val="FFFF00"/>
                </a:highlight>
              </a:rPr>
              <a:t>rtho223@lsu.edu</a:t>
            </a:r>
            <a:endParaRPr lang="en-US" sz="3600" dirty="0"/>
          </a:p>
          <a:p>
            <a:r>
              <a:rPr lang="en-US" sz="3600" dirty="0"/>
              <a:t>Office Hours:	</a:t>
            </a:r>
            <a:r>
              <a:rPr lang="en-US" sz="3600" dirty="0">
                <a:highlight>
                  <a:srgbClr val="FFFF00"/>
                </a:highlight>
              </a:rPr>
              <a:t>TBA</a:t>
            </a:r>
          </a:p>
          <a:p>
            <a:r>
              <a:rPr lang="en-US" sz="3600" dirty="0"/>
              <a:t>SI Sessions:	</a:t>
            </a:r>
            <a:r>
              <a:rPr lang="en-US" sz="3600" dirty="0">
                <a:highlight>
                  <a:srgbClr val="FFFF00"/>
                </a:highlight>
              </a:rPr>
              <a:t>TBA</a:t>
            </a:r>
          </a:p>
        </p:txBody>
      </p:sp>
    </p:spTree>
    <p:extLst>
      <p:ext uri="{BB962C8B-B14F-4D97-AF65-F5344CB8AC3E}">
        <p14:creationId xmlns:p14="http://schemas.microsoft.com/office/powerpoint/2010/main" val="5240481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6251" y="143696"/>
            <a:ext cx="3731498" cy="3201648"/>
          </a:xfrm>
          <a:prstGeom prst="rect">
            <a:avLst/>
          </a:prstGeom>
          <a:ln w="38100">
            <a:solidFill>
              <a:schemeClr val="tx1"/>
            </a:solidFill>
          </a:ln>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3677" y="3520966"/>
            <a:ext cx="5401089" cy="3211151"/>
          </a:xfrm>
          <a:prstGeom prst="rect">
            <a:avLst/>
          </a:prstGeom>
          <a:ln w="38100">
            <a:solidFill>
              <a:schemeClr val="tx1"/>
            </a:solidFill>
          </a:ln>
        </p:spPr>
      </p:pic>
    </p:spTree>
    <p:extLst>
      <p:ext uri="{BB962C8B-B14F-4D97-AF65-F5344CB8AC3E}">
        <p14:creationId xmlns:p14="http://schemas.microsoft.com/office/powerpoint/2010/main" val="22338376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0" y="0"/>
            <a:ext cx="9144000" cy="923330"/>
          </a:xfrm>
          <a:prstGeom prst="rect">
            <a:avLst/>
          </a:prstGeom>
          <a:noFill/>
          <a:ln w="9525">
            <a:noFill/>
            <a:miter lim="800000"/>
            <a:headEnd/>
            <a:tailEnd/>
          </a:ln>
        </p:spPr>
        <p:txBody>
          <a:bodyPr wrap="square">
            <a:spAutoFit/>
          </a:bodyPr>
          <a:lstStyle/>
          <a:p>
            <a:pPr algn="ctr"/>
            <a:r>
              <a:rPr lang="en-US" sz="5400" b="1" dirty="0">
                <a:solidFill>
                  <a:srgbClr val="FF0000"/>
                </a:solidFill>
                <a:latin typeface="Times New Roman" pitchFamily="18" charset="0"/>
                <a:cs typeface="Times New Roman" pitchFamily="18" charset="0"/>
              </a:rPr>
              <a:t>Grade distribution</a:t>
            </a:r>
          </a:p>
        </p:txBody>
      </p:sp>
      <p:graphicFrame>
        <p:nvGraphicFramePr>
          <p:cNvPr id="5" name="Table 4"/>
          <p:cNvGraphicFramePr>
            <a:graphicFrameLocks noGrp="1"/>
          </p:cNvGraphicFramePr>
          <p:nvPr>
            <p:extLst>
              <p:ext uri="{D42A27DB-BD31-4B8C-83A1-F6EECF244321}">
                <p14:modId xmlns:p14="http://schemas.microsoft.com/office/powerpoint/2010/main" val="3915001790"/>
              </p:ext>
            </p:extLst>
          </p:nvPr>
        </p:nvGraphicFramePr>
        <p:xfrm>
          <a:off x="2324099" y="959068"/>
          <a:ext cx="4495801" cy="5689936"/>
        </p:xfrm>
        <a:graphic>
          <a:graphicData uri="http://schemas.openxmlformats.org/drawingml/2006/table">
            <a:tbl>
              <a:tblPr firstRow="1" bandRow="1">
                <a:tableStyleId>{073A0DAA-6AF3-43AB-8588-CEC1D06C72B9}</a:tableStyleId>
              </a:tblPr>
              <a:tblGrid>
                <a:gridCol w="1066801">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406424">
                <a:tc>
                  <a:txBody>
                    <a:bodyPr/>
                    <a:lstStyle/>
                    <a:p>
                      <a:pPr algn="ctr"/>
                      <a:r>
                        <a:rPr lang="en-US" sz="2000" dirty="0">
                          <a:solidFill>
                            <a:schemeClr val="tx1"/>
                          </a:solidFill>
                          <a:latin typeface="Courier New" panose="02070309020205020404" pitchFamily="49" charset="0"/>
                          <a:cs typeface="Courier New" panose="02070309020205020404" pitchFamily="49" charset="0"/>
                        </a:rPr>
                        <a:t>GRADE</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2000" dirty="0">
                          <a:solidFill>
                            <a:schemeClr val="tx1"/>
                          </a:solidFill>
                          <a:latin typeface="Courier New" panose="02070309020205020404" pitchFamily="49" charset="0"/>
                          <a:cs typeface="Courier New" panose="02070309020205020404" pitchFamily="49" charset="0"/>
                        </a:rPr>
                        <a:t>PERCENTAGE</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406424">
                <a:tc>
                  <a:txBody>
                    <a:bodyPr/>
                    <a:lstStyle/>
                    <a:p>
                      <a:pPr algn="ctr"/>
                      <a:r>
                        <a:rPr lang="en-US" b="1" dirty="0">
                          <a:latin typeface="Courier New" panose="02070309020205020404" pitchFamily="49" charset="0"/>
                          <a:cs typeface="Courier New" panose="02070309020205020404" pitchFamily="49" charset="0"/>
                        </a:rPr>
                        <a:t>A+</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00"/>
                    </a:solidFill>
                  </a:tcPr>
                </a:tc>
                <a:tc>
                  <a:txBody>
                    <a:bodyPr/>
                    <a:lstStyle/>
                    <a:p>
                      <a:pPr algn="ctr"/>
                      <a:r>
                        <a:rPr lang="en-US" dirty="0">
                          <a:latin typeface="Courier New" panose="02070309020205020404" pitchFamily="49" charset="0"/>
                          <a:cs typeface="Courier New" panose="02070309020205020404" pitchFamily="49" charset="0"/>
                        </a:rPr>
                        <a:t>98.0% to 100.0%</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00"/>
                    </a:solidFill>
                  </a:tcPr>
                </a:tc>
                <a:extLst>
                  <a:ext uri="{0D108BD9-81ED-4DB2-BD59-A6C34878D82A}">
                    <a16:rowId xmlns:a16="http://schemas.microsoft.com/office/drawing/2014/main" val="10001"/>
                  </a:ext>
                </a:extLst>
              </a:tr>
              <a:tr h="406424">
                <a:tc>
                  <a:txBody>
                    <a:bodyPr/>
                    <a:lstStyle/>
                    <a:p>
                      <a:pPr algn="ctr"/>
                      <a:r>
                        <a:rPr lang="en-US" b="1" dirty="0">
                          <a:latin typeface="Courier New" panose="02070309020205020404" pitchFamily="49" charset="0"/>
                          <a:cs typeface="Courier New" panose="02070309020205020404" pitchFamily="49" charset="0"/>
                        </a:rPr>
                        <a:t>A‍ ‍ </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00"/>
                    </a:solidFill>
                  </a:tcPr>
                </a:tc>
                <a:tc>
                  <a:txBody>
                    <a:bodyPr/>
                    <a:lstStyle/>
                    <a:p>
                      <a:pPr algn="ctr"/>
                      <a:r>
                        <a:rPr lang="en-US" dirty="0">
                          <a:latin typeface="Courier New" panose="02070309020205020404" pitchFamily="49" charset="0"/>
                          <a:cs typeface="Courier New" panose="02070309020205020404" pitchFamily="49" charset="0"/>
                        </a:rPr>
                        <a:t>92.0% to 97.99%</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00"/>
                    </a:solidFill>
                  </a:tcPr>
                </a:tc>
                <a:extLst>
                  <a:ext uri="{0D108BD9-81ED-4DB2-BD59-A6C34878D82A}">
                    <a16:rowId xmlns:a16="http://schemas.microsoft.com/office/drawing/2014/main" val="10002"/>
                  </a:ext>
                </a:extLst>
              </a:tr>
              <a:tr h="406424">
                <a:tc>
                  <a:txBody>
                    <a:bodyPr/>
                    <a:lstStyle/>
                    <a:p>
                      <a:pPr algn="ctr"/>
                      <a:r>
                        <a:rPr lang="en-US" b="1" dirty="0">
                          <a:latin typeface="Courier New" panose="02070309020205020404" pitchFamily="49" charset="0"/>
                          <a:cs typeface="Courier New" panose="02070309020205020404" pitchFamily="49" charset="0"/>
                        </a:rPr>
                        <a:t>A-</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00FF00"/>
                    </a:solidFill>
                  </a:tcPr>
                </a:tc>
                <a:tc>
                  <a:txBody>
                    <a:bodyPr/>
                    <a:lstStyle/>
                    <a:p>
                      <a:pPr algn="ctr"/>
                      <a:r>
                        <a:rPr lang="en-US" dirty="0">
                          <a:latin typeface="Courier New" panose="02070309020205020404" pitchFamily="49" charset="0"/>
                          <a:cs typeface="Courier New" panose="02070309020205020404" pitchFamily="49" charset="0"/>
                        </a:rPr>
                        <a:t>90.0% to 91.99%</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00FF00"/>
                    </a:solidFill>
                  </a:tcPr>
                </a:tc>
                <a:extLst>
                  <a:ext uri="{0D108BD9-81ED-4DB2-BD59-A6C34878D82A}">
                    <a16:rowId xmlns:a16="http://schemas.microsoft.com/office/drawing/2014/main" val="10003"/>
                  </a:ext>
                </a:extLst>
              </a:tr>
              <a:tr h="406424">
                <a:tc>
                  <a:txBody>
                    <a:bodyPr/>
                    <a:lstStyle/>
                    <a:p>
                      <a:pPr algn="ctr"/>
                      <a:r>
                        <a:rPr lang="en-US" b="1" dirty="0">
                          <a:latin typeface="Courier New" panose="02070309020205020404" pitchFamily="49" charset="0"/>
                          <a:cs typeface="Courier New" panose="02070309020205020404" pitchFamily="49" charset="0"/>
                        </a:rPr>
                        <a:t>B+</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dirty="0">
                          <a:latin typeface="Courier New" panose="02070309020205020404" pitchFamily="49" charset="0"/>
                          <a:cs typeface="Courier New" panose="02070309020205020404" pitchFamily="49" charset="0"/>
                        </a:rPr>
                        <a:t>88.0% to 89.99%</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0004"/>
                  </a:ext>
                </a:extLst>
              </a:tr>
              <a:tr h="4064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latin typeface="Courier New" panose="02070309020205020404" pitchFamily="49" charset="0"/>
                          <a:cs typeface="Courier New" panose="02070309020205020404" pitchFamily="49" charset="0"/>
                        </a:rPr>
                        <a:t>B‍ ‍ </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dirty="0">
                          <a:latin typeface="Courier New" panose="02070309020205020404" pitchFamily="49" charset="0"/>
                          <a:cs typeface="Courier New" panose="02070309020205020404" pitchFamily="49" charset="0"/>
                        </a:rPr>
                        <a:t>82.0% to 87.99%</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0005"/>
                  </a:ext>
                </a:extLst>
              </a:tr>
              <a:tr h="406424">
                <a:tc>
                  <a:txBody>
                    <a:bodyPr/>
                    <a:lstStyle/>
                    <a:p>
                      <a:pPr algn="ctr"/>
                      <a:r>
                        <a:rPr lang="en-US" b="1" dirty="0">
                          <a:latin typeface="Courier New" panose="02070309020205020404" pitchFamily="49" charset="0"/>
                          <a:cs typeface="Courier New" panose="02070309020205020404" pitchFamily="49" charset="0"/>
                        </a:rPr>
                        <a:t>B-</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00B0F0"/>
                    </a:solidFill>
                  </a:tcPr>
                </a:tc>
                <a:tc>
                  <a:txBody>
                    <a:bodyPr/>
                    <a:lstStyle/>
                    <a:p>
                      <a:pPr algn="ctr"/>
                      <a:r>
                        <a:rPr lang="en-US" dirty="0">
                          <a:latin typeface="Courier New" panose="02070309020205020404" pitchFamily="49" charset="0"/>
                          <a:cs typeface="Courier New" panose="02070309020205020404" pitchFamily="49" charset="0"/>
                        </a:rPr>
                        <a:t>80.0% to 81.99%</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0006"/>
                  </a:ext>
                </a:extLst>
              </a:tr>
              <a:tr h="406424">
                <a:tc>
                  <a:txBody>
                    <a:bodyPr/>
                    <a:lstStyle/>
                    <a:p>
                      <a:pPr algn="ctr"/>
                      <a:r>
                        <a:rPr lang="en-US" b="1" dirty="0">
                          <a:latin typeface="Courier New" panose="02070309020205020404" pitchFamily="49" charset="0"/>
                          <a:cs typeface="Courier New" panose="02070309020205020404" pitchFamily="49" charset="0"/>
                        </a:rPr>
                        <a:t>C+</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dirty="0">
                          <a:latin typeface="Courier New" panose="02070309020205020404" pitchFamily="49" charset="0"/>
                          <a:cs typeface="Courier New" panose="02070309020205020404" pitchFamily="49" charset="0"/>
                        </a:rPr>
                        <a:t>78.0% to 79.99%</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7"/>
                  </a:ext>
                </a:extLst>
              </a:tr>
              <a:tr h="4064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latin typeface="Courier New" panose="02070309020205020404" pitchFamily="49" charset="0"/>
                          <a:cs typeface="Courier New" panose="02070309020205020404" pitchFamily="49" charset="0"/>
                        </a:rPr>
                        <a:t>C ‍ </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dirty="0">
                          <a:latin typeface="Courier New" panose="02070309020205020404" pitchFamily="49" charset="0"/>
                          <a:cs typeface="Courier New" panose="02070309020205020404" pitchFamily="49" charset="0"/>
                        </a:rPr>
                        <a:t>72.0% to 77.99%</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8"/>
                  </a:ext>
                </a:extLst>
              </a:tr>
              <a:tr h="406424">
                <a:tc>
                  <a:txBody>
                    <a:bodyPr/>
                    <a:lstStyle/>
                    <a:p>
                      <a:pPr algn="ctr"/>
                      <a:r>
                        <a:rPr lang="en-US" b="1" dirty="0">
                          <a:latin typeface="Courier New" panose="02070309020205020404" pitchFamily="49" charset="0"/>
                          <a:cs typeface="Courier New" panose="02070309020205020404" pitchFamily="49" charset="0"/>
                        </a:rPr>
                        <a:t>C-</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C000"/>
                    </a:solidFill>
                  </a:tcPr>
                </a:tc>
                <a:tc>
                  <a:txBody>
                    <a:bodyPr/>
                    <a:lstStyle/>
                    <a:p>
                      <a:pPr algn="ctr"/>
                      <a:r>
                        <a:rPr lang="en-US" dirty="0">
                          <a:latin typeface="Courier New" panose="02070309020205020404" pitchFamily="49" charset="0"/>
                          <a:cs typeface="Courier New" panose="02070309020205020404" pitchFamily="49" charset="0"/>
                        </a:rPr>
                        <a:t>70.0% to 71.99%</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9"/>
                  </a:ext>
                </a:extLst>
              </a:tr>
              <a:tr h="406424">
                <a:tc>
                  <a:txBody>
                    <a:bodyPr/>
                    <a:lstStyle/>
                    <a:p>
                      <a:pPr algn="ctr"/>
                      <a:r>
                        <a:rPr lang="en-US" b="1" dirty="0">
                          <a:latin typeface="Courier New" panose="02070309020205020404" pitchFamily="49" charset="0"/>
                          <a:cs typeface="Courier New" panose="02070309020205020404" pitchFamily="49" charset="0"/>
                        </a:rPr>
                        <a:t>D+</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a:r>
                        <a:rPr lang="en-US" dirty="0">
                          <a:latin typeface="Courier New" panose="02070309020205020404" pitchFamily="49" charset="0"/>
                          <a:cs typeface="Courier New" panose="02070309020205020404" pitchFamily="49" charset="0"/>
                        </a:rPr>
                        <a:t>68.0% to 69.99%</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10010"/>
                  </a:ext>
                </a:extLst>
              </a:tr>
              <a:tr h="4064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latin typeface="Courier New" panose="02070309020205020404" pitchFamily="49" charset="0"/>
                          <a:cs typeface="Courier New" panose="02070309020205020404" pitchFamily="49" charset="0"/>
                        </a:rPr>
                        <a:t>D‍ ‍ </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a:r>
                        <a:rPr lang="en-US" dirty="0">
                          <a:latin typeface="Courier New" panose="02070309020205020404" pitchFamily="49" charset="0"/>
                          <a:cs typeface="Courier New" panose="02070309020205020404" pitchFamily="49" charset="0"/>
                        </a:rPr>
                        <a:t>62.0% to 67.99%</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10011"/>
                  </a:ext>
                </a:extLst>
              </a:tr>
              <a:tr h="406424">
                <a:tc>
                  <a:txBody>
                    <a:bodyPr/>
                    <a:lstStyle/>
                    <a:p>
                      <a:pPr algn="ctr"/>
                      <a:r>
                        <a:rPr lang="en-US" b="1" dirty="0">
                          <a:latin typeface="Courier New" panose="02070309020205020404" pitchFamily="49" charset="0"/>
                          <a:cs typeface="Courier New" panose="02070309020205020404" pitchFamily="49" charset="0"/>
                        </a:rPr>
                        <a:t>D-</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a:r>
                        <a:rPr lang="en-US" dirty="0">
                          <a:latin typeface="Courier New" panose="02070309020205020404" pitchFamily="49" charset="0"/>
                          <a:cs typeface="Courier New" panose="02070309020205020404" pitchFamily="49" charset="0"/>
                        </a:rPr>
                        <a:t>60.0% to 61.99%</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10012"/>
                  </a:ext>
                </a:extLst>
              </a:tr>
              <a:tr h="4064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latin typeface="Courier New" panose="02070309020205020404" pitchFamily="49" charset="0"/>
                          <a:cs typeface="Courier New" panose="02070309020205020404" pitchFamily="49" charset="0"/>
                        </a:rPr>
                        <a:t>F‍ ‍ </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0000"/>
                    </a:solidFill>
                  </a:tcPr>
                </a:tc>
                <a:tc>
                  <a:txBody>
                    <a:bodyPr/>
                    <a:lstStyle/>
                    <a:p>
                      <a:pPr algn="ctr"/>
                      <a:r>
                        <a:rPr lang="en-US" dirty="0">
                          <a:latin typeface="Courier New" panose="02070309020205020404" pitchFamily="49" charset="0"/>
                          <a:cs typeface="Courier New" panose="02070309020205020404" pitchFamily="49" charset="0"/>
                        </a:rPr>
                        <a:t>59.9% or lower</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0" y="0"/>
            <a:ext cx="9144000" cy="6740307"/>
          </a:xfrm>
          <a:prstGeom prst="rect">
            <a:avLst/>
          </a:prstGeom>
          <a:noFill/>
          <a:ln w="9525">
            <a:noFill/>
            <a:miter lim="800000"/>
            <a:headEnd/>
            <a:tailEnd/>
          </a:ln>
        </p:spPr>
        <p:txBody>
          <a:bodyPr>
            <a:spAutoFit/>
          </a:bodyPr>
          <a:lstStyle/>
          <a:p>
            <a:pPr algn="ctr"/>
            <a:r>
              <a:rPr lang="en-US" sz="4800" b="1" dirty="0">
                <a:latin typeface="Times New Roman" pitchFamily="18" charset="0"/>
                <a:cs typeface="Times New Roman" pitchFamily="18" charset="0"/>
              </a:rPr>
              <a:t>If you’re having problems…</a:t>
            </a:r>
          </a:p>
          <a:p>
            <a:endParaRPr lang="en-US" sz="3200" dirty="0">
              <a:latin typeface="Times New Roman" pitchFamily="18" charset="0"/>
              <a:cs typeface="Times New Roman" pitchFamily="18" charset="0"/>
            </a:endParaRPr>
          </a:p>
          <a:p>
            <a:pPr>
              <a:buFont typeface="Wingdings" pitchFamily="2" charset="2"/>
              <a:buChar char="Ø"/>
            </a:pPr>
            <a:r>
              <a:rPr lang="en-US" sz="3200" dirty="0">
                <a:latin typeface="Times New Roman" pitchFamily="18" charset="0"/>
                <a:cs typeface="Times New Roman" pitchFamily="18" charset="0"/>
              </a:rPr>
              <a:t>Come talk to me, I am a great source of information!</a:t>
            </a:r>
          </a:p>
          <a:p>
            <a:pPr>
              <a:buFont typeface="Wingdings" pitchFamily="2" charset="2"/>
              <a:buChar char="Ø"/>
            </a:pPr>
            <a:r>
              <a:rPr lang="en-US" sz="3200" dirty="0">
                <a:latin typeface="Times New Roman" pitchFamily="18" charset="0"/>
                <a:cs typeface="Times New Roman" pitchFamily="18" charset="0"/>
              </a:rPr>
              <a:t>I can’t help you unless I know that you need help.</a:t>
            </a:r>
          </a:p>
          <a:p>
            <a:pPr>
              <a:buFont typeface="Wingdings" pitchFamily="2" charset="2"/>
              <a:buChar char="Ø"/>
            </a:pPr>
            <a:r>
              <a:rPr lang="en-US" sz="3200" dirty="0">
                <a:latin typeface="Times New Roman" pitchFamily="18" charset="0"/>
                <a:cs typeface="Times New Roman" pitchFamily="18" charset="0"/>
              </a:rPr>
              <a:t>Biology and Chemistry Tutorial Center</a:t>
            </a:r>
          </a:p>
          <a:p>
            <a:pPr>
              <a:buFont typeface="Wingdings" pitchFamily="2" charset="2"/>
              <a:buChar char="Ø"/>
            </a:pPr>
            <a:r>
              <a:rPr lang="en-US" sz="3200" dirty="0">
                <a:latin typeface="Times New Roman" pitchFamily="18" charset="0"/>
                <a:cs typeface="Times New Roman" pitchFamily="18" charset="0"/>
              </a:rPr>
              <a:t>Center for Academic Success</a:t>
            </a:r>
          </a:p>
          <a:p>
            <a:pPr>
              <a:buFont typeface="Wingdings" pitchFamily="2" charset="2"/>
              <a:buChar char="Ø"/>
            </a:pPr>
            <a:r>
              <a:rPr lang="en-US" sz="3200" dirty="0">
                <a:latin typeface="Times New Roman" pitchFamily="18" charset="0"/>
                <a:cs typeface="Times New Roman" pitchFamily="18" charset="0"/>
              </a:rPr>
              <a:t>141B Middleton Library</a:t>
            </a:r>
          </a:p>
          <a:p>
            <a:pPr>
              <a:buFont typeface="Wingdings" pitchFamily="2" charset="2"/>
              <a:buChar char="Ø"/>
            </a:pPr>
            <a:r>
              <a:rPr lang="en-US" sz="3200" dirty="0">
                <a:latin typeface="Times New Roman" pitchFamily="18" charset="0"/>
                <a:cs typeface="Times New Roman" pitchFamily="18" charset="0"/>
              </a:rPr>
              <a:t>They offer FREE TUTORING</a:t>
            </a:r>
          </a:p>
          <a:p>
            <a:pPr>
              <a:buFont typeface="Wingdings" pitchFamily="2" charset="2"/>
              <a:buChar char="Ø"/>
            </a:pPr>
            <a:r>
              <a:rPr lang="en-US" sz="3200" dirty="0">
                <a:latin typeface="Times New Roman" pitchFamily="18" charset="0"/>
                <a:cs typeface="Times New Roman" pitchFamily="18" charset="0"/>
              </a:rPr>
              <a:t>No appointment necessary</a:t>
            </a:r>
          </a:p>
          <a:p>
            <a:pPr>
              <a:buFont typeface="Wingdings" pitchFamily="2" charset="2"/>
              <a:buChar char="Ø"/>
            </a:pPr>
            <a:r>
              <a:rPr lang="en-US" sz="3200" dirty="0">
                <a:latin typeface="Times New Roman" pitchFamily="18" charset="0"/>
                <a:cs typeface="Times New Roman" pitchFamily="18" charset="0"/>
                <a:hlinkClick r:id="rId2"/>
              </a:rPr>
              <a:t>CLICK ME for their website and more information</a:t>
            </a:r>
            <a:endParaRPr lang="en-US" sz="3200" dirty="0">
              <a:latin typeface="Times New Roman" pitchFamily="18" charset="0"/>
              <a:cs typeface="Times New Roman" pitchFamily="18" charset="0"/>
            </a:endParaRPr>
          </a:p>
          <a:p>
            <a:pPr>
              <a:buFont typeface="Wingdings" pitchFamily="2" charset="2"/>
              <a:buChar char="Ø"/>
            </a:pPr>
            <a:r>
              <a:rPr lang="en-US" sz="3200" dirty="0">
                <a:latin typeface="Times New Roman" pitchFamily="18" charset="0"/>
                <a:cs typeface="Times New Roman" pitchFamily="18" charset="0"/>
              </a:rPr>
              <a:t>Monday – Thursday 9:30 AM to 7:00 PM</a:t>
            </a:r>
          </a:p>
          <a:p>
            <a:pPr>
              <a:buFont typeface="Wingdings" pitchFamily="2" charset="2"/>
              <a:buChar char="Ø"/>
            </a:pPr>
            <a:r>
              <a:rPr lang="en-US" sz="3200" dirty="0">
                <a:latin typeface="Times New Roman" pitchFamily="18" charset="0"/>
                <a:cs typeface="Times New Roman" pitchFamily="18" charset="0"/>
              </a:rPr>
              <a:t>Friday 9:30 to 3:00 PM*</a:t>
            </a:r>
          </a:p>
          <a:p>
            <a:pPr>
              <a:buFont typeface="Wingdings" pitchFamily="2" charset="2"/>
              <a:buChar char="Ø"/>
            </a:pPr>
            <a:r>
              <a:rPr lang="en-US" sz="3200" dirty="0">
                <a:latin typeface="Times New Roman" pitchFamily="18" charset="0"/>
                <a:cs typeface="Times New Roman" pitchFamily="18" charset="0"/>
              </a:rPr>
              <a:t>*times may vary, check their website for information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023" y="457200"/>
            <a:ext cx="8627061" cy="5225534"/>
          </a:xfrm>
          <a:prstGeom prst="rect">
            <a:avLst/>
          </a:prstGeom>
        </p:spPr>
      </p:pic>
      <p:sp>
        <p:nvSpPr>
          <p:cNvPr id="5" name="TextBox 4"/>
          <p:cNvSpPr txBox="1"/>
          <p:nvPr/>
        </p:nvSpPr>
        <p:spPr>
          <a:xfrm>
            <a:off x="0" y="5791200"/>
            <a:ext cx="9143999" cy="954107"/>
          </a:xfrm>
          <a:prstGeom prst="rect">
            <a:avLst/>
          </a:prstGeom>
          <a:noFill/>
        </p:spPr>
        <p:txBody>
          <a:bodyPr wrap="square" rtlCol="0">
            <a:spAutoFit/>
          </a:bodyPr>
          <a:lstStyle/>
          <a:p>
            <a:pPr algn="ctr"/>
            <a:r>
              <a:rPr lang="en-US" sz="2800" b="1" dirty="0">
                <a:solidFill>
                  <a:srgbClr val="FF0000"/>
                </a:solidFill>
              </a:rPr>
              <a:t>* Exam dates/coverage are subject to change if necessary; based on University closures or weather events</a:t>
            </a:r>
            <a:endParaRPr lang="en-US" sz="2800" dirty="0">
              <a:solidFill>
                <a:srgbClr val="FF0000"/>
              </a:solidFill>
            </a:endParaRPr>
          </a:p>
        </p:txBody>
      </p:sp>
      <p:sp>
        <p:nvSpPr>
          <p:cNvPr id="6" name="TextBox 5"/>
          <p:cNvSpPr txBox="1"/>
          <p:nvPr/>
        </p:nvSpPr>
        <p:spPr>
          <a:xfrm>
            <a:off x="-23445" y="235089"/>
            <a:ext cx="9143999" cy="5447645"/>
          </a:xfrm>
          <a:prstGeom prst="rect">
            <a:avLst/>
          </a:prstGeom>
          <a:solidFill>
            <a:schemeClr val="bg1">
              <a:alpha val="38000"/>
            </a:schemeClr>
          </a:solidFill>
        </p:spPr>
        <p:txBody>
          <a:bodyPr wrap="square" rtlCol="0" anchor="ctr">
            <a:spAutoFit/>
          </a:bodyPr>
          <a:lstStyle/>
          <a:p>
            <a:pPr algn="ctr"/>
            <a:endParaRPr lang="en-US" sz="3600" b="1" dirty="0"/>
          </a:p>
          <a:p>
            <a:pPr algn="ctr"/>
            <a:r>
              <a:rPr lang="en-US" sz="8000" b="1" dirty="0"/>
              <a:t>SAMPLE:</a:t>
            </a:r>
          </a:p>
          <a:p>
            <a:pPr algn="ctr"/>
            <a:r>
              <a:rPr lang="en-US" sz="8000" b="1" dirty="0"/>
              <a:t>See our syllabus for current dates</a:t>
            </a:r>
          </a:p>
          <a:p>
            <a:pPr algn="ctr"/>
            <a:endParaRPr lang="en-US" sz="7200" b="1"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alpha val="38000"/>
          </a:schemeClr>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9200" y="238200"/>
            <a:ext cx="2465618" cy="3190800"/>
          </a:xfrm>
          <a:prstGeom prst="rect">
            <a:avLst/>
          </a:prstGeom>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3291" y="238200"/>
            <a:ext cx="2465618" cy="3190800"/>
          </a:xfrm>
          <a:prstGeom prst="rect">
            <a:avLst/>
          </a:prstGeom>
        </p:spPr>
      </p:pic>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97382" y="238200"/>
            <a:ext cx="2465618" cy="3190800"/>
          </a:xfrm>
          <a:prstGeom prst="rect">
            <a:avLst/>
          </a:prstGeom>
        </p:spPr>
      </p:pic>
      <p:grpSp>
        <p:nvGrpSpPr>
          <p:cNvPr id="12" name="Group 11"/>
          <p:cNvGrpSpPr/>
          <p:nvPr/>
        </p:nvGrpSpPr>
        <p:grpSpPr>
          <a:xfrm>
            <a:off x="1813560" y="3591000"/>
            <a:ext cx="5548373" cy="3190800"/>
            <a:chOff x="1726727" y="3527804"/>
            <a:chExt cx="5548373" cy="3190800"/>
          </a:xfrm>
        </p:grpSpPr>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726727" y="3527804"/>
              <a:ext cx="2465618" cy="3190800"/>
            </a:xfrm>
            <a:prstGeom prst="rect">
              <a:avLst/>
            </a:prstGeom>
          </p:spPr>
        </p:pic>
        <p:pic>
          <p:nvPicPr>
            <p:cNvPr id="6" name="Picture 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809482" y="3527804"/>
              <a:ext cx="2465618" cy="3190800"/>
            </a:xfrm>
            <a:prstGeom prst="rect">
              <a:avLst/>
            </a:prstGeom>
          </p:spPr>
        </p:pic>
      </p:grpSp>
      <p:sp>
        <p:nvSpPr>
          <p:cNvPr id="23" name="TextBox 22"/>
          <p:cNvSpPr txBox="1"/>
          <p:nvPr/>
        </p:nvSpPr>
        <p:spPr>
          <a:xfrm>
            <a:off x="17637" y="1585576"/>
            <a:ext cx="9126363" cy="3785652"/>
          </a:xfrm>
          <a:prstGeom prst="rect">
            <a:avLst/>
          </a:prstGeom>
          <a:solidFill>
            <a:schemeClr val="bg1">
              <a:alpha val="25000"/>
            </a:schemeClr>
          </a:solidFill>
        </p:spPr>
        <p:txBody>
          <a:bodyPr wrap="square" rtlCol="0" anchor="ctr">
            <a:spAutoFit/>
          </a:bodyPr>
          <a:lstStyle/>
          <a:p>
            <a:pPr algn="ctr"/>
            <a:r>
              <a:rPr lang="en-US" sz="8000" b="1" dirty="0"/>
              <a:t>SAMPLE:</a:t>
            </a:r>
          </a:p>
          <a:p>
            <a:pPr algn="ctr"/>
            <a:r>
              <a:rPr lang="en-US" sz="8000" b="1" dirty="0"/>
              <a:t>See our syllabus for current dates</a:t>
            </a:r>
            <a:endParaRPr lang="en-US" sz="7200" b="1" dirty="0"/>
          </a:p>
        </p:txBody>
      </p:sp>
    </p:spTree>
    <p:extLst>
      <p:ext uri="{BB962C8B-B14F-4D97-AF65-F5344CB8AC3E}">
        <p14:creationId xmlns:p14="http://schemas.microsoft.com/office/powerpoint/2010/main" val="8231985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7063472"/>
          </a:xfrm>
          <a:prstGeom prst="rect">
            <a:avLst/>
          </a:prstGeom>
        </p:spPr>
        <p:txBody>
          <a:bodyPr wrap="square">
            <a:spAutoFit/>
          </a:bodyPr>
          <a:lstStyle/>
          <a:p>
            <a:pPr algn="ctr"/>
            <a:r>
              <a:rPr lang="en-US" sz="2400" b="1" dirty="0"/>
              <a:t>SELECTED TOPICS TO COVER FOR BIOL 1202</a:t>
            </a:r>
            <a:endParaRPr lang="en-US" dirty="0"/>
          </a:p>
          <a:p>
            <a:r>
              <a:rPr lang="en-US" sz="1250" dirty="0"/>
              <a:t>CH 22	Descent With Modification: A Darwinian View of Life	</a:t>
            </a:r>
          </a:p>
          <a:p>
            <a:r>
              <a:rPr lang="en-US" sz="1250" dirty="0"/>
              <a:t>CH 23	Evolution of Populations					</a:t>
            </a:r>
          </a:p>
          <a:p>
            <a:r>
              <a:rPr lang="en-US" sz="1250" dirty="0"/>
              <a:t>CH 24	Origin of Species						</a:t>
            </a:r>
          </a:p>
          <a:p>
            <a:r>
              <a:rPr lang="en-US" sz="1250" dirty="0"/>
              <a:t>CH 25	History of Life on Earth					</a:t>
            </a:r>
          </a:p>
          <a:p>
            <a:r>
              <a:rPr lang="en-US" sz="1250" i="1" dirty="0"/>
              <a:t>CH 26	Phylogeny and the Tree of Life				</a:t>
            </a:r>
          </a:p>
          <a:p>
            <a:r>
              <a:rPr lang="en-US" sz="1250" i="1" dirty="0"/>
              <a:t>CH 27	Bacteria and Archaea						</a:t>
            </a:r>
          </a:p>
          <a:p>
            <a:r>
              <a:rPr lang="en-US" sz="1250" i="1" dirty="0"/>
              <a:t>CH 19	Viruses							</a:t>
            </a:r>
          </a:p>
          <a:p>
            <a:r>
              <a:rPr lang="en-US" sz="1250" i="1" dirty="0"/>
              <a:t>CH 28	Protists							</a:t>
            </a:r>
          </a:p>
          <a:p>
            <a:r>
              <a:rPr lang="en-US" sz="1250" i="1" dirty="0"/>
              <a:t>CH 29	Plant Diversity I: How Plants Colonized Land		</a:t>
            </a:r>
          </a:p>
          <a:p>
            <a:r>
              <a:rPr lang="en-US" sz="1250" i="1" dirty="0"/>
              <a:t>CH 30 	Plant Diversity II: The Evolution of Seed Plants		</a:t>
            </a:r>
          </a:p>
          <a:p>
            <a:r>
              <a:rPr lang="en-US" sz="1250" i="1" dirty="0"/>
              <a:t>CH 31 	Fungi								</a:t>
            </a:r>
          </a:p>
          <a:p>
            <a:r>
              <a:rPr lang="en-US" sz="1250" i="1" dirty="0"/>
              <a:t>CH 32 	An Overview of Animal Diversity				</a:t>
            </a:r>
          </a:p>
          <a:p>
            <a:r>
              <a:rPr lang="en-US" sz="1250" i="1" dirty="0"/>
              <a:t>CH 33 	An Introduction to Invertebrates				</a:t>
            </a:r>
          </a:p>
          <a:p>
            <a:r>
              <a:rPr lang="en-US" sz="1250" i="1" dirty="0"/>
              <a:t>CH 34 	The Origin and Evolution of Vertebrates</a:t>
            </a:r>
          </a:p>
          <a:p>
            <a:r>
              <a:rPr lang="en-US" sz="1250" dirty="0"/>
              <a:t>CH 35	Vascular Plant Structure, Growth, and Development</a:t>
            </a:r>
          </a:p>
          <a:p>
            <a:r>
              <a:rPr lang="en-US" sz="1250" dirty="0"/>
              <a:t>CH 36	Resource Acquisition and Transport in Vascular Plants</a:t>
            </a:r>
          </a:p>
          <a:p>
            <a:r>
              <a:rPr lang="en-US" sz="1250" dirty="0"/>
              <a:t>CH 37	Soil and Plant Nutrition</a:t>
            </a:r>
          </a:p>
          <a:p>
            <a:r>
              <a:rPr lang="en-US" sz="1250" dirty="0"/>
              <a:t>CH 38	Angiosperm Reproduction and Biotechnology</a:t>
            </a:r>
          </a:p>
          <a:p>
            <a:r>
              <a:rPr lang="en-US" sz="1250" i="1" dirty="0"/>
              <a:t>CH 40 	Basic Principles of Animal Form and Function</a:t>
            </a:r>
          </a:p>
          <a:p>
            <a:r>
              <a:rPr lang="en-US" sz="1250" i="1" dirty="0"/>
              <a:t>CH 41	Animal Nutrition</a:t>
            </a:r>
          </a:p>
          <a:p>
            <a:r>
              <a:rPr lang="en-US" sz="1250" i="1" dirty="0"/>
              <a:t>CH 42	Circulation and Gas Exchange</a:t>
            </a:r>
          </a:p>
          <a:p>
            <a:r>
              <a:rPr lang="en-US" sz="1250" i="1" dirty="0"/>
              <a:t>CH 43	The Immune System</a:t>
            </a:r>
          </a:p>
          <a:p>
            <a:r>
              <a:rPr lang="en-US" sz="1250" i="1" dirty="0"/>
              <a:t>CH 44	Osmoregulation and Excretion</a:t>
            </a:r>
          </a:p>
          <a:p>
            <a:r>
              <a:rPr lang="en-US" sz="1250" i="1" dirty="0"/>
              <a:t>CH 45	Hormones and the Endocrine System</a:t>
            </a:r>
          </a:p>
          <a:p>
            <a:r>
              <a:rPr lang="en-US" sz="1250" i="1" dirty="0"/>
              <a:t>CH 46	Animal Reproduction</a:t>
            </a:r>
          </a:p>
          <a:p>
            <a:r>
              <a:rPr lang="en-US" sz="1250" i="1" dirty="0"/>
              <a:t>CH 47	Animal Development</a:t>
            </a:r>
          </a:p>
          <a:p>
            <a:r>
              <a:rPr lang="en-US" sz="1250" dirty="0"/>
              <a:t>CH 50	Sensory and Motor Mechanisms</a:t>
            </a:r>
          </a:p>
          <a:p>
            <a:r>
              <a:rPr lang="en-US" sz="1250" dirty="0"/>
              <a:t>CH 51	Animal Behavior</a:t>
            </a:r>
          </a:p>
          <a:p>
            <a:r>
              <a:rPr lang="en-US" sz="1250" dirty="0"/>
              <a:t>CH 52	An Introduction to Ecology and the Biosphere</a:t>
            </a:r>
          </a:p>
          <a:p>
            <a:r>
              <a:rPr lang="en-US" sz="1250" dirty="0"/>
              <a:t>CH 53	Population Ecology</a:t>
            </a:r>
          </a:p>
          <a:p>
            <a:r>
              <a:rPr lang="en-US" sz="1250" dirty="0"/>
              <a:t>CH 54	Community Ecology</a:t>
            </a:r>
          </a:p>
          <a:p>
            <a:r>
              <a:rPr lang="en-US" sz="1250" dirty="0"/>
              <a:t>CH 55	Ecosystems and Restoration Ecology</a:t>
            </a:r>
          </a:p>
          <a:p>
            <a:r>
              <a:rPr lang="en-US" sz="1250" dirty="0"/>
              <a:t>CH 56	Conservation Biology and Global Change</a:t>
            </a:r>
          </a:p>
        </p:txBody>
      </p:sp>
      <p:sp>
        <p:nvSpPr>
          <p:cNvPr id="3" name="TextBox 2"/>
          <p:cNvSpPr txBox="1"/>
          <p:nvPr/>
        </p:nvSpPr>
        <p:spPr>
          <a:xfrm>
            <a:off x="0" y="997089"/>
            <a:ext cx="9144000" cy="5016758"/>
          </a:xfrm>
          <a:prstGeom prst="rect">
            <a:avLst/>
          </a:prstGeom>
          <a:solidFill>
            <a:schemeClr val="bg1">
              <a:alpha val="38000"/>
            </a:schemeClr>
          </a:solidFill>
        </p:spPr>
        <p:txBody>
          <a:bodyPr wrap="square" rtlCol="0" anchor="ctr">
            <a:spAutoFit/>
          </a:bodyPr>
          <a:lstStyle/>
          <a:p>
            <a:pPr algn="ctr"/>
            <a:r>
              <a:rPr lang="en-US" sz="8000" b="1" dirty="0"/>
              <a:t>SAMPLE:</a:t>
            </a:r>
          </a:p>
          <a:p>
            <a:pPr algn="ctr"/>
            <a:r>
              <a:rPr lang="en-US" sz="8000" b="1" dirty="0"/>
              <a:t>See our syllabus for current coverage topics</a:t>
            </a:r>
          </a:p>
        </p:txBody>
      </p:sp>
    </p:spTree>
    <p:extLst>
      <p:ext uri="{BB962C8B-B14F-4D97-AF65-F5344CB8AC3E}">
        <p14:creationId xmlns:p14="http://schemas.microsoft.com/office/powerpoint/2010/main" val="42099127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ChangeArrowheads="1"/>
          </p:cNvSpPr>
          <p:nvPr/>
        </p:nvSpPr>
        <p:spPr bwMode="auto">
          <a:xfrm>
            <a:off x="0" y="0"/>
            <a:ext cx="9144000" cy="6858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en-US" sz="9600" dirty="0"/>
          </a:p>
        </p:txBody>
      </p:sp>
      <p:sp>
        <p:nvSpPr>
          <p:cNvPr id="35843"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a:r>
              <a:rPr lang="en-US" sz="1400" b="1">
                <a:latin typeface="Tahoma" pitchFamily="34" charset="0"/>
              </a:rPr>
              <a:t>0</a:t>
            </a:r>
          </a:p>
        </p:txBody>
      </p:sp>
      <p:sp>
        <p:nvSpPr>
          <p:cNvPr id="35844" name="Text Box 95"/>
          <p:cNvSpPr txBox="1">
            <a:spLocks noChangeArrowheads="1"/>
          </p:cNvSpPr>
          <p:nvPr/>
        </p:nvSpPr>
        <p:spPr bwMode="auto">
          <a:xfrm>
            <a:off x="0" y="0"/>
            <a:ext cx="914400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algn="ctr" eaLnBrk="1" hangingPunct="1">
              <a:spcBef>
                <a:spcPct val="50000"/>
              </a:spcBef>
            </a:pPr>
            <a:r>
              <a:rPr lang="en-US" sz="4800" b="1" dirty="0">
                <a:solidFill>
                  <a:srgbClr val="FF0000"/>
                </a:solidFill>
                <a:cs typeface="Times New Roman" pitchFamily="18" charset="0"/>
              </a:rPr>
              <a:t>BIOL 1202 Lecture Schedule</a:t>
            </a:r>
            <a:r>
              <a:rPr lang="en-US" sz="4800" b="1" dirty="0">
                <a:solidFill>
                  <a:srgbClr val="FF0000"/>
                </a:solidFill>
              </a:rPr>
              <a:t> </a:t>
            </a:r>
          </a:p>
        </p:txBody>
      </p:sp>
      <p:sp>
        <p:nvSpPr>
          <p:cNvPr id="4" name="TextBox 3"/>
          <p:cNvSpPr txBox="1"/>
          <p:nvPr/>
        </p:nvSpPr>
        <p:spPr>
          <a:xfrm>
            <a:off x="0" y="4611231"/>
            <a:ext cx="9103575" cy="2246769"/>
          </a:xfrm>
          <a:prstGeom prst="rect">
            <a:avLst/>
          </a:prstGeom>
          <a:noFill/>
        </p:spPr>
        <p:txBody>
          <a:bodyPr wrap="square" rtlCol="0">
            <a:spAutoFit/>
          </a:bodyPr>
          <a:lstStyle/>
          <a:p>
            <a:pPr algn="ctr"/>
            <a:r>
              <a:rPr lang="en-US" sz="2000" dirty="0">
                <a:latin typeface="Sylfaen" panose="010A0502050306030303" pitchFamily="18" charset="0"/>
              </a:rPr>
              <a:t>In general, I try to cover the chapters in the order that they appear in the textbook.  However, we may change the order depending on several circumstances (University closures, severe weather events, MOODLE technical problems, etc.).  I like to add material from outside sources to our lectures, so it is imperative that you use my CHAPTER LECTURES that I post to MOODLE.  If you try to create your own lectures outlines from the text, you may not be emphasizing the materials that I feel are the most important in order to perform well on the exam.</a:t>
            </a:r>
          </a:p>
        </p:txBody>
      </p:sp>
      <p:pic>
        <p:nvPicPr>
          <p:cNvPr id="6" name="Picture 5" descr="Table&#10;&#10;Description automatically generated">
            <a:extLst>
              <a:ext uri="{FF2B5EF4-FFF2-40B4-BE49-F238E27FC236}">
                <a16:creationId xmlns:a16="http://schemas.microsoft.com/office/drawing/2014/main" id="{42B5902D-9FEE-4E5A-A0CF-E94D195121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6300" y="845277"/>
            <a:ext cx="7391400" cy="3716879"/>
          </a:xfrm>
          <a:prstGeom prst="rect">
            <a:avLst/>
          </a:prstGeom>
        </p:spPr>
      </p:pic>
    </p:spTree>
    <p:extLst>
      <p:ext uri="{BB962C8B-B14F-4D97-AF65-F5344CB8AC3E}">
        <p14:creationId xmlns:p14="http://schemas.microsoft.com/office/powerpoint/2010/main" val="3842773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 Glass Of Frozen Lemon Black Tea On A White Background Stock Photo -  Download Image Now - iStock">
            <a:extLst>
              <a:ext uri="{FF2B5EF4-FFF2-40B4-BE49-F238E27FC236}">
                <a16:creationId xmlns:a16="http://schemas.microsoft.com/office/drawing/2014/main" id="{3CFBD539-0647-4DEC-9155-EA3546E030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7450" y="838200"/>
            <a:ext cx="4229100" cy="58293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4F05BBF-48E6-44DA-9530-0874AACC1240}"/>
              </a:ext>
            </a:extLst>
          </p:cNvPr>
          <p:cNvSpPr txBox="1"/>
          <p:nvPr/>
        </p:nvSpPr>
        <p:spPr>
          <a:xfrm>
            <a:off x="0" y="0"/>
            <a:ext cx="9144000" cy="1107996"/>
          </a:xfrm>
          <a:prstGeom prst="rect">
            <a:avLst/>
          </a:prstGeom>
          <a:noFill/>
        </p:spPr>
        <p:txBody>
          <a:bodyPr wrap="square" rtlCol="0">
            <a:spAutoFit/>
          </a:bodyPr>
          <a:lstStyle/>
          <a:p>
            <a:pPr algn="ctr"/>
            <a:r>
              <a:rPr lang="en-US" sz="6600" dirty="0"/>
              <a:t>Iced tea incident…</a:t>
            </a:r>
          </a:p>
        </p:txBody>
      </p:sp>
    </p:spTree>
    <p:extLst>
      <p:ext uri="{BB962C8B-B14F-4D97-AF65-F5344CB8AC3E}">
        <p14:creationId xmlns:p14="http://schemas.microsoft.com/office/powerpoint/2010/main" val="35298813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0" y="0"/>
            <a:ext cx="9144000" cy="692497"/>
          </a:xfrm>
          <a:prstGeom prst="rect">
            <a:avLst/>
          </a:prstGeom>
          <a:noFill/>
          <a:ln w="9525">
            <a:noFill/>
            <a:miter lim="800000"/>
            <a:headEnd/>
            <a:tailEnd/>
          </a:ln>
        </p:spPr>
        <p:txBody>
          <a:bodyPr wrap="square">
            <a:spAutoFit/>
          </a:bodyPr>
          <a:lstStyle/>
          <a:p>
            <a:pPr algn="ctr"/>
            <a:r>
              <a:rPr lang="en-US" sz="3900" b="1" dirty="0">
                <a:solidFill>
                  <a:srgbClr val="FF0000"/>
                </a:solidFill>
                <a:latin typeface="Times New Roman" pitchFamily="18" charset="0"/>
                <a:cs typeface="Times New Roman" pitchFamily="18" charset="0"/>
              </a:rPr>
              <a:t>Relax…We’ll have some fun this semester</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6247" y="619153"/>
            <a:ext cx="4431506" cy="61941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AutoShape 2" descr="a glass of frozen lemon black tea on a white background a glass of frozen lemon black tea on a white background，Many ice cubes and lemon slices. Ice Tea Stock Photo">
            <a:extLst>
              <a:ext uri="{FF2B5EF4-FFF2-40B4-BE49-F238E27FC236}">
                <a16:creationId xmlns:a16="http://schemas.microsoft.com/office/drawing/2014/main" id="{5909D817-7340-49F9-AE02-1882A21E84E2}"/>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6570001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7261</TotalTime>
  <Words>1985</Words>
  <Application>Microsoft Office PowerPoint</Application>
  <PresentationFormat>On-screen Show (4:3)</PresentationFormat>
  <Paragraphs>209</Paragraphs>
  <Slides>47</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47</vt:i4>
      </vt:variant>
    </vt:vector>
  </HeadingPairs>
  <TitlesOfParts>
    <vt:vector size="57" baseType="lpstr">
      <vt:lpstr>Arial</vt:lpstr>
      <vt:lpstr>Bahnschrift SemiLight SemiConde</vt:lpstr>
      <vt:lpstr>Calibri</vt:lpstr>
      <vt:lpstr>Courier New</vt:lpstr>
      <vt:lpstr>Footlight MT Light</vt:lpstr>
      <vt:lpstr>Sylfaen</vt:lpstr>
      <vt:lpstr>Tahoma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Supplemental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Brent</dc:creator>
  <cp:lastModifiedBy>Adam Hrincevich</cp:lastModifiedBy>
  <cp:revision>192</cp:revision>
  <cp:lastPrinted>2025-08-25T18:53:40Z</cp:lastPrinted>
  <dcterms:created xsi:type="dcterms:W3CDTF">2012-01-11T22:13:06Z</dcterms:created>
  <dcterms:modified xsi:type="dcterms:W3CDTF">2026-09-04T21:21:14Z</dcterms:modified>
</cp:coreProperties>
</file>