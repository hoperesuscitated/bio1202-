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5" d="100"/>
          <a:sy n="85" d="100"/>
        </p:scale>
        <p:origin x="1002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BD7A4-9C0D-49CC-A444-9DC651E13200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203B-3C0A-4894-A6D4-3B43E7336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98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BD7A4-9C0D-49CC-A444-9DC651E13200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203B-3C0A-4894-A6D4-3B43E7336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728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BD7A4-9C0D-49CC-A444-9DC651E13200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203B-3C0A-4894-A6D4-3B43E7336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42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BD7A4-9C0D-49CC-A444-9DC651E13200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203B-3C0A-4894-A6D4-3B43E7336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94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BD7A4-9C0D-49CC-A444-9DC651E13200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203B-3C0A-4894-A6D4-3B43E7336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260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BD7A4-9C0D-49CC-A444-9DC651E13200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203B-3C0A-4894-A6D4-3B43E7336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474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BD7A4-9C0D-49CC-A444-9DC651E13200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203B-3C0A-4894-A6D4-3B43E7336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102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BD7A4-9C0D-49CC-A444-9DC651E13200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203B-3C0A-4894-A6D4-3B43E7336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721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BD7A4-9C0D-49CC-A444-9DC651E13200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203B-3C0A-4894-A6D4-3B43E7336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611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BD7A4-9C0D-49CC-A444-9DC651E13200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203B-3C0A-4894-A6D4-3B43E7336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18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BD7A4-9C0D-49CC-A444-9DC651E13200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A203B-3C0A-4894-A6D4-3B43E7336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659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BD7A4-9C0D-49CC-A444-9DC651E13200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4A203B-3C0A-4894-A6D4-3B43E7336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030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ounded Rectangle 84"/>
          <p:cNvSpPr/>
          <p:nvPr/>
        </p:nvSpPr>
        <p:spPr>
          <a:xfrm>
            <a:off x="33051" y="867271"/>
            <a:ext cx="4252511" cy="1409112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ounded Rectangle 85"/>
          <p:cNvSpPr/>
          <p:nvPr/>
        </p:nvSpPr>
        <p:spPr>
          <a:xfrm>
            <a:off x="340723" y="4994242"/>
            <a:ext cx="3350958" cy="1626981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19120" y="4939164"/>
            <a:ext cx="388071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How can we group these coins using different characteristics such as size, color, metal, etc.?</a:t>
            </a:r>
            <a:endParaRPr lang="en-US" sz="2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649917"/>
              </p:ext>
            </p:extLst>
          </p:nvPr>
        </p:nvGraphicFramePr>
        <p:xfrm>
          <a:off x="4401555" y="0"/>
          <a:ext cx="4742445" cy="6858000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745857">
                  <a:extLst>
                    <a:ext uri="{9D8B030D-6E8A-4147-A177-3AD203B41FA5}">
                      <a16:colId xmlns:a16="http://schemas.microsoft.com/office/drawing/2014/main" val="221581213"/>
                    </a:ext>
                  </a:extLst>
                </a:gridCol>
                <a:gridCol w="1266940">
                  <a:extLst>
                    <a:ext uri="{9D8B030D-6E8A-4147-A177-3AD203B41FA5}">
                      <a16:colId xmlns:a16="http://schemas.microsoft.com/office/drawing/2014/main" val="4263394557"/>
                    </a:ext>
                  </a:extLst>
                </a:gridCol>
                <a:gridCol w="1233889">
                  <a:extLst>
                    <a:ext uri="{9D8B030D-6E8A-4147-A177-3AD203B41FA5}">
                      <a16:colId xmlns:a16="http://schemas.microsoft.com/office/drawing/2014/main" val="2206307203"/>
                    </a:ext>
                  </a:extLst>
                </a:gridCol>
                <a:gridCol w="495759">
                  <a:extLst>
                    <a:ext uri="{9D8B030D-6E8A-4147-A177-3AD203B41FA5}">
                      <a16:colId xmlns:a16="http://schemas.microsoft.com/office/drawing/2014/main" val="1238048601"/>
                    </a:ext>
                  </a:extLst>
                </a:gridCol>
              </a:tblGrid>
              <a:tr h="311850"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DICHOTOMOUS KEY FOR THE COINS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8831925"/>
                  </a:ext>
                </a:extLst>
              </a:tr>
              <a:tr h="3118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CHARACTER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COINS</a:t>
                      </a:r>
                      <a:endParaRPr lang="en-US" sz="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GO TO?</a:t>
                      </a:r>
                      <a:endParaRPr lang="en-US" sz="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solidFill>
                            <a:schemeClr val="tx1"/>
                          </a:solidFill>
                          <a:effectLst/>
                        </a:rPr>
                        <a:t>ID</a:t>
                      </a:r>
                      <a:endParaRPr lang="en-US" sz="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491150"/>
                  </a:ext>
                </a:extLst>
              </a:tr>
              <a:tr h="3117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1A: 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674865"/>
                  </a:ext>
                </a:extLst>
              </a:tr>
              <a:tr h="3117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1B: 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871485"/>
                  </a:ext>
                </a:extLst>
              </a:tr>
              <a:tr h="3117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2A: 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7903236"/>
                  </a:ext>
                </a:extLst>
              </a:tr>
              <a:tr h="3117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2B: 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509178"/>
                  </a:ext>
                </a:extLst>
              </a:tr>
              <a:tr h="3117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3A: 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956937"/>
                  </a:ext>
                </a:extLst>
              </a:tr>
              <a:tr h="3117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3B: 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036853"/>
                  </a:ext>
                </a:extLst>
              </a:tr>
              <a:tr h="3117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4A: 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348236"/>
                  </a:ext>
                </a:extLst>
              </a:tr>
              <a:tr h="3117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4B: 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112951"/>
                  </a:ext>
                </a:extLst>
              </a:tr>
              <a:tr h="3117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5A: 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672559"/>
                  </a:ext>
                </a:extLst>
              </a:tr>
              <a:tr h="3117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5B: 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141440"/>
                  </a:ext>
                </a:extLst>
              </a:tr>
              <a:tr h="3117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6A: 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41220"/>
                  </a:ext>
                </a:extLst>
              </a:tr>
              <a:tr h="3117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6B: 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763533"/>
                  </a:ext>
                </a:extLst>
              </a:tr>
              <a:tr h="3117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7A: 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033788"/>
                  </a:ext>
                </a:extLst>
              </a:tr>
              <a:tr h="3117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7B: 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449045"/>
                  </a:ext>
                </a:extLst>
              </a:tr>
              <a:tr h="3117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8A: 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622418"/>
                  </a:ext>
                </a:extLst>
              </a:tr>
              <a:tr h="3117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8B: 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279041"/>
                  </a:ext>
                </a:extLst>
              </a:tr>
              <a:tr h="3117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9A: 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456773"/>
                  </a:ext>
                </a:extLst>
              </a:tr>
              <a:tr h="3117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9B: 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593490"/>
                  </a:ext>
                </a:extLst>
              </a:tr>
              <a:tr h="3117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10A: 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42179"/>
                  </a:ext>
                </a:extLst>
              </a:tr>
              <a:tr h="3117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10B: 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34" marR="4623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6251873"/>
                  </a:ext>
                </a:extLst>
              </a:tr>
            </a:tbl>
          </a:graphicData>
        </a:graphic>
      </p:graphicFrame>
      <p:pic>
        <p:nvPicPr>
          <p:cNvPr id="10" name="Picture 9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51" y="0"/>
            <a:ext cx="1645698" cy="933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0" y="1894834"/>
            <a:ext cx="1842199" cy="1105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0" y="3036324"/>
            <a:ext cx="1215852" cy="1743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151" y="31282"/>
            <a:ext cx="1866762" cy="1142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7589" y="2058571"/>
            <a:ext cx="1903606" cy="1215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911" y="3140715"/>
            <a:ext cx="1854481" cy="1535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5"/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51" y="962126"/>
            <a:ext cx="1657979" cy="896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7976" y="1100627"/>
            <a:ext cx="1743949" cy="95794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Rectangle 16"/>
          <p:cNvSpPr/>
          <p:nvPr/>
        </p:nvSpPr>
        <p:spPr>
          <a:xfrm>
            <a:off x="15351" y="-16762"/>
            <a:ext cx="4307595" cy="6786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8573" y="1293234"/>
            <a:ext cx="803511" cy="83141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94628" y="3938769"/>
            <a:ext cx="972514" cy="95332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33478" y="5486744"/>
            <a:ext cx="793366" cy="78057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78812" y="5350017"/>
            <a:ext cx="1126069" cy="1062088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30252" y="3958097"/>
            <a:ext cx="1074884" cy="106208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07092" y="1086333"/>
            <a:ext cx="1151661" cy="119005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9889" y="3812449"/>
            <a:ext cx="1260429" cy="1247633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74639" y="5137601"/>
            <a:ext cx="1567539" cy="156114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15545" y="287665"/>
            <a:ext cx="29761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NOT SILVER vs. SILVER</a:t>
            </a:r>
            <a:endParaRPr lang="en-US"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4773088" y="592148"/>
            <a:ext cx="16387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NOT silver</a:t>
            </a:r>
            <a:endParaRPr lang="en-US" sz="1600" dirty="0"/>
          </a:p>
        </p:txBody>
      </p:sp>
      <p:sp>
        <p:nvSpPr>
          <p:cNvPr id="29" name="TextBox 28"/>
          <p:cNvSpPr txBox="1"/>
          <p:nvPr/>
        </p:nvSpPr>
        <p:spPr>
          <a:xfrm>
            <a:off x="4773088" y="933381"/>
            <a:ext cx="16387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silver</a:t>
            </a:r>
            <a:endParaRPr lang="en-US" sz="1600" dirty="0"/>
          </a:p>
        </p:txBody>
      </p:sp>
      <p:sp>
        <p:nvSpPr>
          <p:cNvPr id="30" name="TextBox 29"/>
          <p:cNvSpPr txBox="1"/>
          <p:nvPr/>
        </p:nvSpPr>
        <p:spPr>
          <a:xfrm>
            <a:off x="6147411" y="603165"/>
            <a:ext cx="12779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C,S</a:t>
            </a:r>
            <a:endParaRPr lang="en-US" sz="1600" dirty="0"/>
          </a:p>
        </p:txBody>
      </p:sp>
      <p:sp>
        <p:nvSpPr>
          <p:cNvPr id="31" name="TextBox 30"/>
          <p:cNvSpPr txBox="1"/>
          <p:nvPr/>
        </p:nvSpPr>
        <p:spPr>
          <a:xfrm>
            <a:off x="6147411" y="921305"/>
            <a:ext cx="12779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N,D,Q,H,B,P</a:t>
            </a:r>
            <a:endParaRPr lang="en-US" sz="1600" dirty="0"/>
          </a:p>
        </p:txBody>
      </p:sp>
      <p:sp>
        <p:nvSpPr>
          <p:cNvPr id="32" name="TextBox 31"/>
          <p:cNvSpPr txBox="1"/>
          <p:nvPr/>
        </p:nvSpPr>
        <p:spPr>
          <a:xfrm>
            <a:off x="7425368" y="602364"/>
            <a:ext cx="12118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Go to #2</a:t>
            </a:r>
            <a:endParaRPr lang="en-US" sz="1600" dirty="0"/>
          </a:p>
        </p:txBody>
      </p:sp>
      <p:sp>
        <p:nvSpPr>
          <p:cNvPr id="33" name="TextBox 32"/>
          <p:cNvSpPr txBox="1"/>
          <p:nvPr/>
        </p:nvSpPr>
        <p:spPr>
          <a:xfrm>
            <a:off x="7425368" y="920416"/>
            <a:ext cx="12118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Go to #3</a:t>
            </a:r>
            <a:endParaRPr lang="en-US" sz="1600" dirty="0"/>
          </a:p>
        </p:txBody>
      </p:sp>
      <p:sp>
        <p:nvSpPr>
          <p:cNvPr id="34" name="TextBox 33"/>
          <p:cNvSpPr txBox="1"/>
          <p:nvPr/>
        </p:nvSpPr>
        <p:spPr>
          <a:xfrm>
            <a:off x="8616681" y="601475"/>
            <a:ext cx="527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-----</a:t>
            </a:r>
            <a:endParaRPr lang="en-US" sz="1600" dirty="0"/>
          </a:p>
        </p:txBody>
      </p:sp>
      <p:sp>
        <p:nvSpPr>
          <p:cNvPr id="35" name="TextBox 34"/>
          <p:cNvSpPr txBox="1"/>
          <p:nvPr/>
        </p:nvSpPr>
        <p:spPr>
          <a:xfrm>
            <a:off x="8616680" y="917666"/>
            <a:ext cx="527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-----</a:t>
            </a:r>
            <a:endParaRPr lang="en-US" sz="1600" dirty="0"/>
          </a:p>
        </p:txBody>
      </p:sp>
      <p:sp>
        <p:nvSpPr>
          <p:cNvPr id="36" name="TextBox 35"/>
          <p:cNvSpPr txBox="1"/>
          <p:nvPr/>
        </p:nvSpPr>
        <p:spPr>
          <a:xfrm>
            <a:off x="4773087" y="1241117"/>
            <a:ext cx="13743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Brown</a:t>
            </a:r>
            <a:endParaRPr lang="en-US" sz="1600" dirty="0"/>
          </a:p>
        </p:txBody>
      </p:sp>
      <p:sp>
        <p:nvSpPr>
          <p:cNvPr id="37" name="TextBox 36"/>
          <p:cNvSpPr txBox="1"/>
          <p:nvPr/>
        </p:nvSpPr>
        <p:spPr>
          <a:xfrm>
            <a:off x="4773087" y="1559257"/>
            <a:ext cx="13743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Gold</a:t>
            </a:r>
            <a:endParaRPr lang="en-US" sz="1600" dirty="0"/>
          </a:p>
        </p:txBody>
      </p:sp>
      <p:sp>
        <p:nvSpPr>
          <p:cNvPr id="38" name="TextBox 37"/>
          <p:cNvSpPr txBox="1"/>
          <p:nvPr/>
        </p:nvSpPr>
        <p:spPr>
          <a:xfrm>
            <a:off x="6147410" y="1237667"/>
            <a:ext cx="12779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C</a:t>
            </a:r>
            <a:endParaRPr lang="en-US" sz="1600" dirty="0"/>
          </a:p>
        </p:txBody>
      </p:sp>
      <p:sp>
        <p:nvSpPr>
          <p:cNvPr id="39" name="TextBox 38"/>
          <p:cNvSpPr txBox="1"/>
          <p:nvPr/>
        </p:nvSpPr>
        <p:spPr>
          <a:xfrm>
            <a:off x="6147410" y="1563256"/>
            <a:ext cx="12779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S</a:t>
            </a:r>
            <a:endParaRPr lang="en-US" sz="1600" dirty="0"/>
          </a:p>
        </p:txBody>
      </p:sp>
      <p:sp>
        <p:nvSpPr>
          <p:cNvPr id="40" name="TextBox 39"/>
          <p:cNvSpPr txBox="1"/>
          <p:nvPr/>
        </p:nvSpPr>
        <p:spPr>
          <a:xfrm>
            <a:off x="7425367" y="1235718"/>
            <a:ext cx="11913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00B050"/>
                </a:solidFill>
              </a:rPr>
              <a:t>KEYED OUT</a:t>
            </a:r>
            <a:endParaRPr lang="en-US" sz="1600" b="1" dirty="0">
              <a:solidFill>
                <a:srgbClr val="00B05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425366" y="1576221"/>
            <a:ext cx="11913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00B050"/>
                </a:solidFill>
              </a:rPr>
              <a:t>KEYED OUT</a:t>
            </a:r>
            <a:endParaRPr lang="en-US" sz="1600" b="1" dirty="0">
              <a:solidFill>
                <a:srgbClr val="00B05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692308" y="1225987"/>
            <a:ext cx="4186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FF0000"/>
                </a:solidFill>
              </a:rPr>
              <a:t>C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692308" y="1551576"/>
            <a:ext cx="4186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FF0000"/>
                </a:solidFill>
              </a:rPr>
              <a:t>S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369889" y="917666"/>
            <a:ext cx="3629949" cy="1561129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ounded Rectangle 44"/>
          <p:cNvSpPr/>
          <p:nvPr/>
        </p:nvSpPr>
        <p:spPr>
          <a:xfrm>
            <a:off x="244504" y="3711703"/>
            <a:ext cx="3833943" cy="3009073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33051" y="4205"/>
            <a:ext cx="4307595" cy="6786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8717" y="1424226"/>
            <a:ext cx="803511" cy="831411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17360" y="3804192"/>
            <a:ext cx="1151661" cy="119005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34052" y="295720"/>
            <a:ext cx="2894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Do the NOT SILVER coins first</a:t>
            </a:r>
            <a:endParaRPr lang="en-US" dirty="0"/>
          </a:p>
        </p:txBody>
      </p:sp>
      <p:sp>
        <p:nvSpPr>
          <p:cNvPr id="51" name="Rectangle 50"/>
          <p:cNvSpPr/>
          <p:nvPr/>
        </p:nvSpPr>
        <p:spPr>
          <a:xfrm>
            <a:off x="-22033" y="31282"/>
            <a:ext cx="4307595" cy="6786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867959" y="451857"/>
            <a:ext cx="2481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Do the SILVER coins next</a:t>
            </a:r>
            <a:endParaRPr lang="en-US" dirty="0"/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39" y="1109459"/>
            <a:ext cx="972514" cy="953320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2544" y="1201418"/>
            <a:ext cx="793366" cy="780570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54266" y="5360924"/>
            <a:ext cx="1126069" cy="1062088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60943" y="1050962"/>
            <a:ext cx="1074884" cy="1062088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47984" y="947009"/>
            <a:ext cx="1260429" cy="1247633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1920" y="5060082"/>
            <a:ext cx="1567539" cy="1561141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4622401" y="1879498"/>
            <a:ext cx="1525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Male on front</a:t>
            </a:r>
            <a:endParaRPr lang="en-US" sz="1600" dirty="0"/>
          </a:p>
        </p:txBody>
      </p:sp>
      <p:sp>
        <p:nvSpPr>
          <p:cNvPr id="59" name="TextBox 58"/>
          <p:cNvSpPr txBox="1"/>
          <p:nvPr/>
        </p:nvSpPr>
        <p:spPr>
          <a:xfrm>
            <a:off x="4622401" y="2197638"/>
            <a:ext cx="1525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Female on front</a:t>
            </a:r>
            <a:endParaRPr lang="en-US" sz="1600" dirty="0"/>
          </a:p>
        </p:txBody>
      </p:sp>
      <p:sp>
        <p:nvSpPr>
          <p:cNvPr id="60" name="TextBox 59"/>
          <p:cNvSpPr txBox="1"/>
          <p:nvPr/>
        </p:nvSpPr>
        <p:spPr>
          <a:xfrm>
            <a:off x="6147410" y="1876048"/>
            <a:ext cx="12779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N,D,Q,H</a:t>
            </a:r>
            <a:endParaRPr lang="en-US" sz="1600" dirty="0"/>
          </a:p>
        </p:txBody>
      </p:sp>
      <p:sp>
        <p:nvSpPr>
          <p:cNvPr id="61" name="TextBox 60"/>
          <p:cNvSpPr txBox="1"/>
          <p:nvPr/>
        </p:nvSpPr>
        <p:spPr>
          <a:xfrm>
            <a:off x="6147410" y="2201637"/>
            <a:ext cx="12779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B,P</a:t>
            </a:r>
            <a:endParaRPr lang="en-US" sz="1600" dirty="0"/>
          </a:p>
        </p:txBody>
      </p:sp>
      <p:sp>
        <p:nvSpPr>
          <p:cNvPr id="62" name="TextBox 61"/>
          <p:cNvSpPr txBox="1"/>
          <p:nvPr/>
        </p:nvSpPr>
        <p:spPr>
          <a:xfrm>
            <a:off x="7425367" y="1874099"/>
            <a:ext cx="11913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Go to </a:t>
            </a:r>
            <a:r>
              <a:rPr lang="en-US" sz="1600" dirty="0" smtClean="0"/>
              <a:t>#4</a:t>
            </a:r>
            <a:endParaRPr lang="en-US" sz="1600" dirty="0"/>
          </a:p>
        </p:txBody>
      </p:sp>
      <p:sp>
        <p:nvSpPr>
          <p:cNvPr id="63" name="TextBox 62"/>
          <p:cNvSpPr txBox="1"/>
          <p:nvPr/>
        </p:nvSpPr>
        <p:spPr>
          <a:xfrm>
            <a:off x="7425366" y="2214602"/>
            <a:ext cx="11913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Go to </a:t>
            </a:r>
            <a:r>
              <a:rPr lang="en-US" sz="1600" dirty="0" smtClean="0"/>
              <a:t>#5</a:t>
            </a:r>
            <a:endParaRPr lang="en-US" sz="1600" dirty="0"/>
          </a:p>
        </p:txBody>
      </p:sp>
      <p:sp>
        <p:nvSpPr>
          <p:cNvPr id="64" name="TextBox 63"/>
          <p:cNvSpPr txBox="1"/>
          <p:nvPr/>
        </p:nvSpPr>
        <p:spPr>
          <a:xfrm>
            <a:off x="8616680" y="1864368"/>
            <a:ext cx="527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-----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8637224" y="2189957"/>
            <a:ext cx="5177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-----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74487" y="-24053"/>
            <a:ext cx="4307595" cy="6786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/>
          <p:cNvSpPr txBox="1"/>
          <p:nvPr/>
        </p:nvSpPr>
        <p:spPr>
          <a:xfrm>
            <a:off x="340723" y="497939"/>
            <a:ext cx="357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r>
              <a:rPr lang="en-US" dirty="0" smtClean="0"/>
              <a:t>idges on side vs. NO ridges on side</a:t>
            </a:r>
            <a:endParaRPr lang="en-US" dirty="0"/>
          </a:p>
        </p:txBody>
      </p:sp>
      <p:grpSp>
        <p:nvGrpSpPr>
          <p:cNvPr id="74" name="Group 73"/>
          <p:cNvGrpSpPr/>
          <p:nvPr/>
        </p:nvGrpSpPr>
        <p:grpSpPr>
          <a:xfrm>
            <a:off x="387508" y="1534923"/>
            <a:ext cx="3258493" cy="1247633"/>
            <a:chOff x="-3445590" y="1500413"/>
            <a:chExt cx="3258493" cy="1247633"/>
          </a:xfrm>
        </p:grpSpPr>
        <p:pic>
          <p:nvPicPr>
            <p:cNvPr id="67" name="Picture 66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-3445590" y="1743642"/>
              <a:ext cx="793366" cy="780570"/>
            </a:xfrm>
            <a:prstGeom prst="rect">
              <a:avLst/>
            </a:prstGeom>
          </p:spPr>
        </p:pic>
        <p:pic>
          <p:nvPicPr>
            <p:cNvPr id="69" name="Picture 68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-2578566" y="1582006"/>
              <a:ext cx="1074884" cy="1062088"/>
            </a:xfrm>
            <a:prstGeom prst="rect">
              <a:avLst/>
            </a:prstGeom>
          </p:spPr>
        </p:pic>
        <p:pic>
          <p:nvPicPr>
            <p:cNvPr id="70" name="Picture 69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-1447526" y="1500413"/>
              <a:ext cx="1260429" cy="1247633"/>
            </a:xfrm>
            <a:prstGeom prst="rect">
              <a:avLst/>
            </a:prstGeom>
          </p:spPr>
        </p:pic>
      </p:grpSp>
      <p:pic>
        <p:nvPicPr>
          <p:cNvPr id="66" name="Picture 6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89562" y="4252295"/>
            <a:ext cx="972514" cy="95332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4628823" y="2487061"/>
            <a:ext cx="1525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Ridges on side</a:t>
            </a:r>
            <a:endParaRPr lang="en-US" sz="1600" dirty="0"/>
          </a:p>
        </p:txBody>
      </p:sp>
      <p:sp>
        <p:nvSpPr>
          <p:cNvPr id="76" name="TextBox 75"/>
          <p:cNvSpPr txBox="1"/>
          <p:nvPr/>
        </p:nvSpPr>
        <p:spPr>
          <a:xfrm>
            <a:off x="4578029" y="2811846"/>
            <a:ext cx="17327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NO ridges on side</a:t>
            </a:r>
            <a:endParaRPr lang="en-US" sz="1600" dirty="0"/>
          </a:p>
        </p:txBody>
      </p:sp>
      <p:sp>
        <p:nvSpPr>
          <p:cNvPr id="77" name="TextBox 76"/>
          <p:cNvSpPr txBox="1"/>
          <p:nvPr/>
        </p:nvSpPr>
        <p:spPr>
          <a:xfrm>
            <a:off x="6153151" y="2489954"/>
            <a:ext cx="12779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D,Q,H</a:t>
            </a:r>
            <a:endParaRPr lang="en-US" sz="1600" dirty="0"/>
          </a:p>
        </p:txBody>
      </p:sp>
      <p:sp>
        <p:nvSpPr>
          <p:cNvPr id="78" name="TextBox 77"/>
          <p:cNvSpPr txBox="1"/>
          <p:nvPr/>
        </p:nvSpPr>
        <p:spPr>
          <a:xfrm>
            <a:off x="6158891" y="2799587"/>
            <a:ext cx="12779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30425" y="2515714"/>
            <a:ext cx="11913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Go to </a:t>
            </a:r>
            <a:r>
              <a:rPr lang="en-US" sz="1600" dirty="0" smtClean="0"/>
              <a:t>#6</a:t>
            </a:r>
            <a:endParaRPr lang="en-US" sz="1600" dirty="0"/>
          </a:p>
        </p:txBody>
      </p:sp>
      <p:sp>
        <p:nvSpPr>
          <p:cNvPr id="80" name="TextBox 79"/>
          <p:cNvSpPr txBox="1"/>
          <p:nvPr/>
        </p:nvSpPr>
        <p:spPr>
          <a:xfrm>
            <a:off x="7422619" y="2820376"/>
            <a:ext cx="11913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00B050"/>
                </a:solidFill>
              </a:rPr>
              <a:t>KEYED OUT</a:t>
            </a:r>
            <a:endParaRPr lang="en-US" sz="1600" b="1" dirty="0">
              <a:solidFill>
                <a:srgbClr val="00B050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8665742" y="2807776"/>
            <a:ext cx="4186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FF0000"/>
                </a:solidFill>
              </a:rPr>
              <a:t>N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8626796" y="2502749"/>
            <a:ext cx="527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-----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244504" y="1370662"/>
            <a:ext cx="3755334" cy="1629492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ounded Rectangle 83"/>
          <p:cNvSpPr/>
          <p:nvPr/>
        </p:nvSpPr>
        <p:spPr>
          <a:xfrm>
            <a:off x="242661" y="3969732"/>
            <a:ext cx="3755334" cy="1629492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45764" y="81846"/>
            <a:ext cx="4307595" cy="6786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/>
          <p:cNvSpPr txBox="1"/>
          <p:nvPr/>
        </p:nvSpPr>
        <p:spPr>
          <a:xfrm>
            <a:off x="227916" y="299728"/>
            <a:ext cx="3848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&lt; 0.50 cent piece vs. &gt; 0.50 cent piece</a:t>
            </a:r>
            <a:endParaRPr lang="en-US" dirty="0"/>
          </a:p>
        </p:txBody>
      </p:sp>
      <p:pic>
        <p:nvPicPr>
          <p:cNvPr id="68" name="Picture 6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95523" y="1428410"/>
            <a:ext cx="1126069" cy="1062088"/>
          </a:xfrm>
          <a:prstGeom prst="rect">
            <a:avLst/>
          </a:prstGeom>
        </p:spPr>
      </p:pic>
      <p:pic>
        <p:nvPicPr>
          <p:cNvPr id="71" name="Picture 7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33441" y="3903971"/>
            <a:ext cx="1567539" cy="1561141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4578029" y="3101795"/>
            <a:ext cx="17327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&lt;0.50 cent piece</a:t>
            </a:r>
            <a:endParaRPr lang="en-US" sz="1600" dirty="0"/>
          </a:p>
        </p:txBody>
      </p:sp>
      <p:sp>
        <p:nvSpPr>
          <p:cNvPr id="90" name="TextBox 89"/>
          <p:cNvSpPr txBox="1"/>
          <p:nvPr/>
        </p:nvSpPr>
        <p:spPr>
          <a:xfrm>
            <a:off x="4585177" y="3427390"/>
            <a:ext cx="17327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&gt;0.50 </a:t>
            </a:r>
            <a:r>
              <a:rPr lang="en-US" sz="1600" dirty="0"/>
              <a:t>cent piece</a:t>
            </a:r>
            <a:endParaRPr lang="en-US" sz="1600" dirty="0"/>
          </a:p>
        </p:txBody>
      </p:sp>
      <p:sp>
        <p:nvSpPr>
          <p:cNvPr id="91" name="TextBox 90"/>
          <p:cNvSpPr txBox="1"/>
          <p:nvPr/>
        </p:nvSpPr>
        <p:spPr>
          <a:xfrm>
            <a:off x="6153833" y="3121488"/>
            <a:ext cx="12779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B</a:t>
            </a:r>
            <a:endParaRPr lang="en-US" sz="1600" dirty="0"/>
          </a:p>
        </p:txBody>
      </p:sp>
      <p:sp>
        <p:nvSpPr>
          <p:cNvPr id="92" name="TextBox 91"/>
          <p:cNvSpPr txBox="1"/>
          <p:nvPr/>
        </p:nvSpPr>
        <p:spPr>
          <a:xfrm>
            <a:off x="6158891" y="3440349"/>
            <a:ext cx="12779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P</a:t>
            </a:r>
            <a:endParaRPr lang="en-US" sz="1600" dirty="0"/>
          </a:p>
        </p:txBody>
      </p:sp>
      <p:sp>
        <p:nvSpPr>
          <p:cNvPr id="93" name="TextBox 92"/>
          <p:cNvSpPr txBox="1"/>
          <p:nvPr/>
        </p:nvSpPr>
        <p:spPr>
          <a:xfrm>
            <a:off x="7430425" y="3105227"/>
            <a:ext cx="11913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00B050"/>
                </a:solidFill>
              </a:rPr>
              <a:t>KEYED OUT</a:t>
            </a:r>
            <a:endParaRPr lang="en-US" sz="1600" b="1" dirty="0">
              <a:solidFill>
                <a:srgbClr val="00B050"/>
              </a:solidFill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7451263" y="3413707"/>
            <a:ext cx="11913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00B050"/>
                </a:solidFill>
              </a:rPr>
              <a:t>KEYED OUT</a:t>
            </a:r>
            <a:endParaRPr lang="en-US" sz="1600" b="1" dirty="0">
              <a:solidFill>
                <a:srgbClr val="00B050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8673548" y="3103608"/>
            <a:ext cx="4186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FF0000"/>
                </a:solidFill>
              </a:rPr>
              <a:t>B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8673547" y="3441472"/>
            <a:ext cx="4186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P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73699" y="22059"/>
            <a:ext cx="4307595" cy="6786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101"/>
          <p:cNvSpPr txBox="1"/>
          <p:nvPr/>
        </p:nvSpPr>
        <p:spPr>
          <a:xfrm>
            <a:off x="413242" y="373047"/>
            <a:ext cx="343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“Liberty” above vs “Liberty” below</a:t>
            </a:r>
            <a:endParaRPr lang="en-US" dirty="0"/>
          </a:p>
        </p:txBody>
      </p:sp>
      <p:pic>
        <p:nvPicPr>
          <p:cNvPr id="98" name="Picture 9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3138" y="1595592"/>
            <a:ext cx="793366" cy="780570"/>
          </a:xfrm>
          <a:prstGeom prst="rect">
            <a:avLst/>
          </a:prstGeom>
        </p:spPr>
      </p:pic>
      <p:pic>
        <p:nvPicPr>
          <p:cNvPr id="99" name="Picture 9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76767" y="4889015"/>
            <a:ext cx="1074884" cy="1062088"/>
          </a:xfrm>
          <a:prstGeom prst="rect">
            <a:avLst/>
          </a:prstGeom>
        </p:spPr>
      </p:pic>
      <p:pic>
        <p:nvPicPr>
          <p:cNvPr id="100" name="Picture 9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98324" y="1340431"/>
            <a:ext cx="1260429" cy="1247633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4601704" y="3725943"/>
            <a:ext cx="17327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“Liberty” above</a:t>
            </a:r>
            <a:endParaRPr lang="en-US" sz="1600" dirty="0"/>
          </a:p>
        </p:txBody>
      </p:sp>
      <p:sp>
        <p:nvSpPr>
          <p:cNvPr id="104" name="TextBox 103"/>
          <p:cNvSpPr txBox="1"/>
          <p:nvPr/>
        </p:nvSpPr>
        <p:spPr>
          <a:xfrm>
            <a:off x="4601704" y="4026609"/>
            <a:ext cx="17327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“Liberty” below</a:t>
            </a:r>
            <a:endParaRPr lang="en-US" sz="1600" dirty="0"/>
          </a:p>
        </p:txBody>
      </p:sp>
      <p:sp>
        <p:nvSpPr>
          <p:cNvPr id="105" name="TextBox 104"/>
          <p:cNvSpPr txBox="1"/>
          <p:nvPr/>
        </p:nvSpPr>
        <p:spPr>
          <a:xfrm>
            <a:off x="6173306" y="3738755"/>
            <a:ext cx="12779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D,H</a:t>
            </a:r>
            <a:endParaRPr lang="en-US" sz="1600" dirty="0"/>
          </a:p>
        </p:txBody>
      </p:sp>
      <p:sp>
        <p:nvSpPr>
          <p:cNvPr id="106" name="TextBox 105"/>
          <p:cNvSpPr txBox="1"/>
          <p:nvPr/>
        </p:nvSpPr>
        <p:spPr>
          <a:xfrm>
            <a:off x="6173306" y="4037894"/>
            <a:ext cx="12779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Q</a:t>
            </a:r>
            <a:endParaRPr lang="en-US" sz="1600" dirty="0"/>
          </a:p>
        </p:txBody>
      </p:sp>
      <p:sp>
        <p:nvSpPr>
          <p:cNvPr id="107" name="TextBox 106"/>
          <p:cNvSpPr txBox="1"/>
          <p:nvPr/>
        </p:nvSpPr>
        <p:spPr>
          <a:xfrm>
            <a:off x="7445911" y="3727524"/>
            <a:ext cx="11913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Go to </a:t>
            </a:r>
            <a:r>
              <a:rPr lang="en-US" sz="1600" dirty="0" smtClean="0"/>
              <a:t>#7</a:t>
            </a:r>
            <a:endParaRPr lang="en-US" sz="1600" dirty="0"/>
          </a:p>
        </p:txBody>
      </p:sp>
      <p:sp>
        <p:nvSpPr>
          <p:cNvPr id="108" name="TextBox 107"/>
          <p:cNvSpPr txBox="1"/>
          <p:nvPr/>
        </p:nvSpPr>
        <p:spPr>
          <a:xfrm>
            <a:off x="7436848" y="4051400"/>
            <a:ext cx="11913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00B050"/>
                </a:solidFill>
              </a:rPr>
              <a:t>KEYED OUT</a:t>
            </a:r>
            <a:endParaRPr lang="en-US" sz="1600" b="1" dirty="0">
              <a:solidFill>
                <a:srgbClr val="00B050"/>
              </a:solidFill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8656697" y="3688055"/>
            <a:ext cx="527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-----</a:t>
            </a:r>
            <a:endParaRPr lang="en-US" sz="1600" dirty="0"/>
          </a:p>
        </p:txBody>
      </p:sp>
      <p:sp>
        <p:nvSpPr>
          <p:cNvPr id="110" name="TextBox 109"/>
          <p:cNvSpPr txBox="1"/>
          <p:nvPr/>
        </p:nvSpPr>
        <p:spPr>
          <a:xfrm>
            <a:off x="8681135" y="4038085"/>
            <a:ext cx="4186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rgbClr val="FF0000"/>
                </a:solidFill>
              </a:rPr>
              <a:t>Q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34824" y="14897"/>
            <a:ext cx="4307595" cy="6786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/>
          <p:cNvSpPr txBox="1"/>
          <p:nvPr/>
        </p:nvSpPr>
        <p:spPr>
          <a:xfrm>
            <a:off x="352189" y="629608"/>
            <a:ext cx="3917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Small coin (&lt; 1 in.) vs Large coin (&gt; 1 in.)</a:t>
            </a:r>
            <a:endParaRPr lang="en-US" dirty="0"/>
          </a:p>
        </p:txBody>
      </p:sp>
      <p:pic>
        <p:nvPicPr>
          <p:cNvPr id="112" name="Picture 1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03626" y="1533031"/>
            <a:ext cx="793366" cy="780570"/>
          </a:xfrm>
          <a:prstGeom prst="rect">
            <a:avLst/>
          </a:prstGeom>
        </p:spPr>
      </p:pic>
      <p:pic>
        <p:nvPicPr>
          <p:cNvPr id="113" name="Picture 11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61407" y="4710323"/>
            <a:ext cx="1260429" cy="1247633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4561635" y="4348050"/>
            <a:ext cx="17327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Small coin (&lt;1 in.)</a:t>
            </a:r>
            <a:endParaRPr lang="en-US" sz="1600" dirty="0"/>
          </a:p>
        </p:txBody>
      </p:sp>
      <p:sp>
        <p:nvSpPr>
          <p:cNvPr id="116" name="TextBox 115"/>
          <p:cNvSpPr txBox="1"/>
          <p:nvPr/>
        </p:nvSpPr>
        <p:spPr>
          <a:xfrm>
            <a:off x="6178393" y="4359335"/>
            <a:ext cx="12779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D</a:t>
            </a:r>
            <a:endParaRPr lang="en-US" sz="1600" dirty="0"/>
          </a:p>
        </p:txBody>
      </p:sp>
      <p:sp>
        <p:nvSpPr>
          <p:cNvPr id="117" name="TextBox 116"/>
          <p:cNvSpPr txBox="1"/>
          <p:nvPr/>
        </p:nvSpPr>
        <p:spPr>
          <a:xfrm>
            <a:off x="7441935" y="4372841"/>
            <a:ext cx="11913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00B050"/>
                </a:solidFill>
              </a:rPr>
              <a:t>KEYED OUT</a:t>
            </a:r>
            <a:endParaRPr lang="en-US" sz="1600" b="1" dirty="0">
              <a:solidFill>
                <a:srgbClr val="00B050"/>
              </a:solidFill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8686222" y="4359526"/>
            <a:ext cx="4186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D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4556548" y="4681158"/>
            <a:ext cx="17327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Large </a:t>
            </a:r>
            <a:r>
              <a:rPr lang="en-US" sz="1600" dirty="0"/>
              <a:t>coin </a:t>
            </a:r>
            <a:r>
              <a:rPr lang="en-US" sz="1600" dirty="0" smtClean="0"/>
              <a:t>(&gt;1 </a:t>
            </a:r>
            <a:r>
              <a:rPr lang="en-US" sz="1600" dirty="0"/>
              <a:t>in.)</a:t>
            </a:r>
            <a:endParaRPr lang="en-US" sz="1600" dirty="0"/>
          </a:p>
        </p:txBody>
      </p:sp>
      <p:sp>
        <p:nvSpPr>
          <p:cNvPr id="120" name="TextBox 119"/>
          <p:cNvSpPr txBox="1"/>
          <p:nvPr/>
        </p:nvSpPr>
        <p:spPr>
          <a:xfrm>
            <a:off x="6173306" y="4692443"/>
            <a:ext cx="12779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</a:t>
            </a:r>
            <a:endParaRPr lang="en-US" sz="1600" dirty="0"/>
          </a:p>
        </p:txBody>
      </p:sp>
      <p:sp>
        <p:nvSpPr>
          <p:cNvPr id="121" name="TextBox 120"/>
          <p:cNvSpPr txBox="1"/>
          <p:nvPr/>
        </p:nvSpPr>
        <p:spPr>
          <a:xfrm>
            <a:off x="7436848" y="4705949"/>
            <a:ext cx="11913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00B050"/>
                </a:solidFill>
              </a:rPr>
              <a:t>KEYED OUT</a:t>
            </a:r>
            <a:endParaRPr lang="en-US" sz="1600" b="1" dirty="0">
              <a:solidFill>
                <a:srgbClr val="00B050"/>
              </a:solidFill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8681135" y="4692634"/>
            <a:ext cx="4186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H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119789" y="2862621"/>
            <a:ext cx="410259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00B050"/>
                </a:solidFill>
              </a:rPr>
              <a:t>DONE,</a:t>
            </a:r>
          </a:p>
          <a:p>
            <a:pPr algn="ctr"/>
            <a:r>
              <a:rPr lang="en-US" sz="3200" b="1" dirty="0" smtClean="0">
                <a:solidFill>
                  <a:srgbClr val="00B050"/>
                </a:solidFill>
              </a:rPr>
              <a:t>ALL COINS KEYED OUT!</a:t>
            </a:r>
            <a:endParaRPr lang="en-US" sz="32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3555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  <p:bldP spid="86" grpId="0" animBg="1"/>
      <p:bldP spid="26" grpId="0"/>
      <p:bldP spid="17" grpId="0" animBg="1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 animBg="1"/>
      <p:bldP spid="45" grpId="0" animBg="1"/>
      <p:bldP spid="46" grpId="0" animBg="1"/>
      <p:bldP spid="49" grpId="0"/>
      <p:bldP spid="51" grpId="0" animBg="1"/>
      <p:bldP spid="50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73" grpId="0" animBg="1"/>
      <p:bldP spid="72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 animBg="1"/>
      <p:bldP spid="84" grpId="0" animBg="1"/>
      <p:bldP spid="88" grpId="0" animBg="1"/>
      <p:bldP spid="87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101" grpId="0" animBg="1"/>
      <p:bldP spid="102" grpId="0"/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4" grpId="0" animBg="1"/>
      <p:bldP spid="111" grpId="0"/>
      <p:bldP spid="115" grpId="0"/>
      <p:bldP spid="116" grpId="0"/>
      <p:bldP spid="117" grpId="0"/>
      <p:bldP spid="118" grpId="0"/>
      <p:bldP spid="119" grpId="0"/>
      <p:bldP spid="120" grpId="0"/>
      <p:bldP spid="121" grpId="0"/>
      <p:bldP spid="122" grpId="0"/>
      <p:bldP spid="123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113</TotalTime>
  <Words>307</Words>
  <Application>Microsoft Office PowerPoint</Application>
  <PresentationFormat>On-screen Show (4:3)</PresentationFormat>
  <Paragraphs>150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Adam Hrincevich</dc:creator>
  <cp:lastModifiedBy>Adam Hrincevich</cp:lastModifiedBy>
  <cp:revision>14</cp:revision>
  <dcterms:created xsi:type="dcterms:W3CDTF">2026-01-20T00:57:45Z</dcterms:created>
  <dcterms:modified xsi:type="dcterms:W3CDTF">2026-01-20T02:51:08Z</dcterms:modified>
</cp:coreProperties>
</file>