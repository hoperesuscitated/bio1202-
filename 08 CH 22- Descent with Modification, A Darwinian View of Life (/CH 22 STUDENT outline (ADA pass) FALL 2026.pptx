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theme/theme8.xml" ContentType="application/vnd.openxmlformats-officedocument.theme+xml"/>
  <Override PartName="/ppt/slideLayouts/slideLayout14.xml" ContentType="application/vnd.openxmlformats-officedocument.presentationml.slideLayout+xml"/>
  <Override PartName="/ppt/theme/theme9.xml" ContentType="application/vnd.openxmlformats-officedocument.theme+xml"/>
  <Override PartName="/ppt/slideLayouts/slideLayout15.xml" ContentType="application/vnd.openxmlformats-officedocument.presentationml.slideLayout+xml"/>
  <Override PartName="/ppt/theme/theme10.xml" ContentType="application/vnd.openxmlformats-officedocument.theme+xml"/>
  <Override PartName="/ppt/slideLayouts/slideLayout16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1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00" r:id="rId1"/>
    <p:sldMasterId id="2147483905" r:id="rId2"/>
    <p:sldMasterId id="2147483931" r:id="rId3"/>
    <p:sldMasterId id="2147483933" r:id="rId4"/>
    <p:sldMasterId id="2147483951" r:id="rId5"/>
    <p:sldMasterId id="2147483953" r:id="rId6"/>
    <p:sldMasterId id="2147483977" r:id="rId7"/>
    <p:sldMasterId id="2147483983" r:id="rId8"/>
    <p:sldMasterId id="2147483987" r:id="rId9"/>
    <p:sldMasterId id="2147483997" r:id="rId10"/>
    <p:sldMasterId id="2147483999" r:id="rId11"/>
  </p:sldMasterIdLst>
  <p:notesMasterIdLst>
    <p:notesMasterId r:id="rId59"/>
  </p:notesMasterIdLst>
  <p:handoutMasterIdLst>
    <p:handoutMasterId r:id="rId60"/>
  </p:handoutMasterIdLst>
  <p:sldIdLst>
    <p:sldId id="702" r:id="rId12"/>
    <p:sldId id="703" r:id="rId13"/>
    <p:sldId id="259" r:id="rId14"/>
    <p:sldId id="262" r:id="rId15"/>
    <p:sldId id="264" r:id="rId16"/>
    <p:sldId id="266" r:id="rId17"/>
    <p:sldId id="268" r:id="rId18"/>
    <p:sldId id="566" r:id="rId19"/>
    <p:sldId id="272" r:id="rId20"/>
    <p:sldId id="274" r:id="rId21"/>
    <p:sldId id="567" r:id="rId22"/>
    <p:sldId id="710" r:id="rId23"/>
    <p:sldId id="280" r:id="rId24"/>
    <p:sldId id="285" r:id="rId25"/>
    <p:sldId id="286" r:id="rId26"/>
    <p:sldId id="287" r:id="rId27"/>
    <p:sldId id="576" r:id="rId28"/>
    <p:sldId id="577" r:id="rId29"/>
    <p:sldId id="292" r:id="rId30"/>
    <p:sldId id="294" r:id="rId31"/>
    <p:sldId id="299" r:id="rId32"/>
    <p:sldId id="301" r:id="rId33"/>
    <p:sldId id="302" r:id="rId34"/>
    <p:sldId id="589" r:id="rId35"/>
    <p:sldId id="307" r:id="rId36"/>
    <p:sldId id="309" r:id="rId37"/>
    <p:sldId id="313" r:id="rId38"/>
    <p:sldId id="592" r:id="rId39"/>
    <p:sldId id="314" r:id="rId40"/>
    <p:sldId id="704" r:id="rId41"/>
    <p:sldId id="315" r:id="rId42"/>
    <p:sldId id="594" r:id="rId43"/>
    <p:sldId id="317" r:id="rId44"/>
    <p:sldId id="327" r:id="rId45"/>
    <p:sldId id="329" r:id="rId46"/>
    <p:sldId id="333" r:id="rId47"/>
    <p:sldId id="334" r:id="rId48"/>
    <p:sldId id="599" r:id="rId49"/>
    <p:sldId id="336" r:id="rId50"/>
    <p:sldId id="600" r:id="rId51"/>
    <p:sldId id="318" r:id="rId52"/>
    <p:sldId id="322" r:id="rId53"/>
    <p:sldId id="705" r:id="rId54"/>
    <p:sldId id="706" r:id="rId55"/>
    <p:sldId id="707" r:id="rId56"/>
    <p:sldId id="708" r:id="rId57"/>
    <p:sldId id="339" r:id="rId5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87E"/>
    <a:srgbClr val="D1300D"/>
    <a:srgbClr val="B9B9B9"/>
    <a:srgbClr val="AA2B15"/>
    <a:srgbClr val="AEB9B1"/>
    <a:srgbClr val="4F6F92"/>
    <a:srgbClr val="F7F7F7"/>
    <a:srgbClr val="004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86458" autoAdjust="0"/>
  </p:normalViewPr>
  <p:slideViewPr>
    <p:cSldViewPr>
      <p:cViewPr varScale="1">
        <p:scale>
          <a:sx n="75" d="100"/>
          <a:sy n="75" d="100"/>
        </p:scale>
        <p:origin x="1830" y="72"/>
      </p:cViewPr>
      <p:guideLst>
        <p:guide orient="horz" pos="1296"/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3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30" d="100"/>
          <a:sy n="130" d="100"/>
        </p:scale>
        <p:origin x="-1968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63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5" Type="http://schemas.openxmlformats.org/officeDocument/2006/relationships/slideMaster" Target="slideMasters/slideMaster5.xml"/><Relationship Id="rId61" Type="http://schemas.openxmlformats.org/officeDocument/2006/relationships/presProps" Target="presProps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slide" Target="slides/slide45.xml"/><Relationship Id="rId64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FDBCFE6-7A80-4E41-8712-1C12F7B6050B}" type="datetimeFigureOut">
              <a:rPr lang="en-US" altLang="en-US"/>
              <a:pPr>
                <a:defRPr/>
              </a:pPr>
              <a:t>8/18/2026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1A23EEE-2F46-4732-8626-99218F3EFA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027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957CC8-6916-4659-8D61-C81A523E19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750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22.1 How is its resemblance to a fallen leaf helpful to this moth?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957CC8-6916-4659-8D61-C81A523E194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6304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D4B83355-E63B-4127-8942-22C9A301C3DD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1533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818B1468-6A57-4B4B-BDEC-61B60A4BA81D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22.2 The intellectual context of Darwin’s ideas</a:t>
            </a:r>
          </a:p>
        </p:txBody>
      </p:sp>
    </p:spTree>
    <p:extLst>
      <p:ext uri="{BB962C8B-B14F-4D97-AF65-F5344CB8AC3E}">
        <p14:creationId xmlns:p14="http://schemas.microsoft.com/office/powerpoint/2010/main" val="128560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E08BC32B-7C36-4E8C-A838-002955A3A4C5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0771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53673BD6-9D80-4F98-B8EE-60ED52653012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22.3 Formation of sedimentary strata with fossils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2707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46C7B439-624D-4981-8EC2-EC613DEB9B52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6970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2880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1994568F-8A12-4761-9374-2574356E8802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9687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47640601-5050-4A61-8692-E1F34BCD29F5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6153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22.5 The voyage of HMS </a:t>
            </a:r>
            <a:r>
              <a:rPr lang="en-US" i="1" dirty="0">
                <a:latin typeface="Arial"/>
              </a:rPr>
              <a:t>Beagle</a:t>
            </a:r>
            <a:r>
              <a:rPr lang="en-US" dirty="0">
                <a:latin typeface="Arial"/>
              </a:rPr>
              <a:t> (December 1831–October 1836)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364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Voyage of the HMS Beagle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57CC8-6916-4659-8D61-C81A523E1943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43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67C41D13-2C80-4AE6-BA3F-B662BBDA0DE8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22.6 Three examples of beak variation in Galápagos finches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9332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EB019C86-B669-441B-8727-44B4F8CCCDB6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9574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CB840B1B-FED3-47D8-878A-4493E9A6ED70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6347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D3D7EE3A-FB3E-4442-988A-CBBD21155685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19841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22.7 “I think. . . .” In this 1837 sketch, Darwin envisioned the branching pattern of evolution.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7231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22.8 Descent with modification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6820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318D7F7D-DFCA-4261-B139-9B57FD445D8A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22.9 Artificial selection</a:t>
            </a:r>
          </a:p>
        </p:txBody>
      </p:sp>
    </p:spTree>
    <p:extLst>
      <p:ext uri="{BB962C8B-B14F-4D97-AF65-F5344CB8AC3E}">
        <p14:creationId xmlns:p14="http://schemas.microsoft.com/office/powerpoint/2010/main" val="1932137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8D7EBAEF-D535-4558-92F0-FC2F511EE1E0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22.10 Variation in a population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22.11 Overproduction of offspring</a:t>
            </a:r>
          </a:p>
        </p:txBody>
      </p:sp>
    </p:spTree>
    <p:extLst>
      <p:ext uri="{BB962C8B-B14F-4D97-AF65-F5344CB8AC3E}">
        <p14:creationId xmlns:p14="http://schemas.microsoft.com/office/powerpoint/2010/main" val="3918835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49FB954E-B8F0-4D30-BA20-549CABFA2CA4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6451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6BBAA96E-3068-45FD-85E3-D3D2B479B7A0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8307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E50F233E-3CC2-4370-9CB0-CAC94C450D3A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8789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22.12 Camouflage as an example of evolutionary adaptation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1040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B0FA4787-EE38-43BB-83E2-27FA4BCFC0C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07940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B060380D-8A5D-4724-A6D2-195C59633AA3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31740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9983F63D-C5BC-4542-BCFA-EC988137603E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6746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22.13 Inquiry: Can a change in a population’s food source result in evolution by natural selection?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50383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64212689-81B6-450F-8B1B-E5BEE4ACCA2C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2473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C7E6383E-2199-47D2-B0D6-24E05A414523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15013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22.14 Clone USA300: a virulent strain of methicillin-resistant </a:t>
            </a:r>
            <a:r>
              <a:rPr lang="en-US" i="1" dirty="0">
                <a:latin typeface="Arial"/>
              </a:rPr>
              <a:t>Staphylococcus </a:t>
            </a:r>
            <a:r>
              <a:rPr lang="en-US" i="1" dirty="0" err="1">
                <a:latin typeface="Arial"/>
              </a:rPr>
              <a:t>aureus</a:t>
            </a:r>
            <a:r>
              <a:rPr lang="en-US" dirty="0">
                <a:latin typeface="Arial"/>
              </a:rPr>
              <a:t> (MRSA)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801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252A0B4B-FCA7-4B48-A9EA-8E3D5068A60A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68043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22EAB35A-CD0A-4C03-9EC8-9D869261CE39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22.15 Mammalian forelimbs: homologous structures</a:t>
            </a:r>
          </a:p>
        </p:txBody>
      </p:sp>
    </p:spTree>
    <p:extLst>
      <p:ext uri="{BB962C8B-B14F-4D97-AF65-F5344CB8AC3E}">
        <p14:creationId xmlns:p14="http://schemas.microsoft.com/office/powerpoint/2010/main" val="4916992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B2060AB8-F102-4FE2-898C-59D7015CC12C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22.16 Anatomical similarities in vertebrate embryos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18012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0C85C4C4-4A49-4156-B3C4-29D09E11659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84309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91A5FA60-FA59-4A5B-89A2-27494EF0F075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37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45294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22.17 Tree thinking: information provided in an evolutionary tree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7166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53EF9614-C5B1-43F5-B65A-607957AB1D49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39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83572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22.18 Convergent evolution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12832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7EB00532-05EF-46EF-B350-B08F361E89E2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22.19 Ankle bones: one piece of the puzzle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88271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7823E65F-D80C-4BFB-8E0E-8ED73E7FD2EE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42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22.20 The transition to life in the sea</a:t>
            </a:r>
          </a:p>
        </p:txBody>
      </p:sp>
    </p:spTree>
    <p:extLst>
      <p:ext uri="{BB962C8B-B14F-4D97-AF65-F5344CB8AC3E}">
        <p14:creationId xmlns:p14="http://schemas.microsoft.com/office/powerpoint/2010/main" val="9638213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cs typeface="Arial" charset="0"/>
              </a:defRPr>
            </a:lvl9pPr>
          </a:lstStyle>
          <a:p>
            <a:fld id="{7E90C12A-82A5-4596-B767-7016DDC9AAFE}" type="slidenum">
              <a:rPr lang="en-US" altLang="en-US" sz="1200" smtClean="0">
                <a:latin typeface="Arial" charset="0"/>
              </a:rPr>
              <a:pPr/>
              <a:t>45</a:t>
            </a:fld>
            <a:endParaRPr lang="en-US" altLang="en-US" sz="1200">
              <a:latin typeface="Arial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62180A78-9CD1-496A-92A7-44C9F0281BA3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46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20883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</a:pPr>
            <a:fld id="{B1D40CA6-9211-467A-800D-5FF0EFEBCDF2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47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8829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F2B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0" y="649009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1" t="-1" b="-1"/>
          <a:stretch/>
        </p:blipFill>
        <p:spPr>
          <a:xfrm>
            <a:off x="152400" y="152400"/>
            <a:ext cx="4495800" cy="635636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4876800" y="152400"/>
            <a:ext cx="4114800" cy="57912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US" sz="4000" b="1" dirty="0">
                <a:solidFill>
                  <a:srgbClr val="DF4A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22</a:t>
            </a:r>
            <a:r>
              <a:rPr lang="en-US" sz="3200" b="1" dirty="0">
                <a:solidFill>
                  <a:srgbClr val="DF4A20"/>
                </a:solidFill>
              </a:rPr>
              <a:t/>
            </a:r>
            <a:br>
              <a:rPr lang="en-US" sz="3200" b="1" dirty="0">
                <a:solidFill>
                  <a:srgbClr val="DF4A20"/>
                </a:solidFill>
              </a:rPr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Descent with Modification: </a:t>
            </a: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Darwinian </a:t>
            </a:r>
            <a:b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 of Life</a:t>
            </a:r>
          </a:p>
        </p:txBody>
      </p:sp>
    </p:spTree>
    <p:extLst>
      <p:ext uri="{BB962C8B-B14F-4D97-AF65-F5344CB8AC3E}">
        <p14:creationId xmlns:p14="http://schemas.microsoft.com/office/powerpoint/2010/main" val="180828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and 2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0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839199" cy="4737496"/>
          </a:xfrm>
        </p:spPr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32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0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73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6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57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825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947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8416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0807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3704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591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0223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046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3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4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5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72910"/>
            <a:ext cx="8839199" cy="521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82880" tIns="91440" rIns="228600" bIns="9144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21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8" r:id="rId3"/>
    <p:sldLayoutId id="2147483907" r:id="rId4"/>
    <p:sldLayoutId id="2147483903" r:id="rId5"/>
    <p:sldLayoutId id="2147483904" r:id="rId6"/>
  </p:sldLayoutIdLst>
  <p:hf sldNum="0" hdr="0" ftr="0" dt="0"/>
  <p:txStyles>
    <p:titleStyle>
      <a:lvl1pPr marL="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/>
          <a:ea typeface="Arial" panose="020B0604020202020204" pitchFamily="34" charset="0"/>
          <a:cs typeface="Arial"/>
        </a:defRPr>
      </a:lvl1pPr>
      <a:lvl2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2pPr>
      <a:lvl3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3pPr>
      <a:lvl4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4pPr>
      <a:lvl5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5pPr>
      <a:lvl6pPr marL="9080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6pPr>
      <a:lvl7pPr marL="13652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7pPr>
      <a:lvl8pPr marL="18224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8pPr>
      <a:lvl9pPr marL="22796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9pPr>
    </p:titleStyle>
    <p:bodyStyle>
      <a:lvl1pPr marL="347472" indent="-347472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800">
          <a:solidFill>
            <a:schemeClr val="tx1"/>
          </a:solidFill>
          <a:latin typeface="Arial" charset="0"/>
          <a:ea typeface="Arial" panose="020B0604020202020204" pitchFamily="34" charset="0"/>
          <a:cs typeface="+mn-cs"/>
        </a:defRPr>
      </a:lvl1pPr>
      <a:lvl2pPr marL="740664" indent="-283464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6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4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5pPr>
      <a:lvl6pPr marL="33162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37734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42306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46878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© 2014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3037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093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549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432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542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910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052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083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641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267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cam.ac.uk/stories/darwins-tree-of-lif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ometers.info/world-population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file:///C:\Documents%20and%20Settings\rajesh.ACEPRO\Desktop\06-July\Unlabeled\22_13_FoodSourceChange-U.jpg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file:///C:\Documents%20and%20Settings\rajesh.ACEPRO\Desktop\06-July\Unlabeled\22_19_AnkleBones-U.jpg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5" Type="http://schemas.openxmlformats.org/officeDocument/2006/relationships/image" Target="../media/image36.png"/><Relationship Id="rId4" Type="http://schemas.openxmlformats.org/officeDocument/2006/relationships/hyperlink" Target="file:///C:\Program%20Files\TurningPoint\2003\Questions.html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TK_bC00ilg?si=QTeLamLC7QvuW5oO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51D56-4B25-42E5-96E6-1EA8A658E9D5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cs typeface="Arial" panose="020B0604020202020204" pitchFamily="34" charset="0"/>
              </a:rPr>
              <a:t>LSU BIOL 1202</a:t>
            </a:r>
          </a:p>
          <a:p>
            <a:pPr algn="ctr"/>
            <a:r>
              <a:rPr lang="en-US" sz="3600" b="1">
                <a:cs typeface="Arial" panose="020B0604020202020204" pitchFamily="34" charset="0"/>
              </a:rPr>
              <a:t>General </a:t>
            </a:r>
            <a:r>
              <a:rPr lang="en-US" sz="3600" b="1" smtClean="0">
                <a:cs typeface="Arial" panose="020B0604020202020204" pitchFamily="34" charset="0"/>
              </a:rPr>
              <a:t>Biology </a:t>
            </a:r>
            <a:r>
              <a:rPr lang="en-US" sz="3600" b="1" dirty="0">
                <a:cs typeface="Arial" panose="020B0604020202020204" pitchFamily="34" charset="0"/>
              </a:rPr>
              <a:t>II </a:t>
            </a:r>
            <a:r>
              <a:rPr lang="en-US" sz="3600" b="1" dirty="0" smtClean="0">
                <a:cs typeface="Arial" panose="020B0604020202020204" pitchFamily="34" charset="0"/>
              </a:rPr>
              <a:t>Lecture</a:t>
            </a:r>
            <a:endParaRPr lang="en-US" sz="36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r>
              <a:rPr lang="en-US" sz="3000" b="1" dirty="0">
                <a:cs typeface="Arial" panose="020B0604020202020204" pitchFamily="34" charset="0"/>
              </a:rPr>
              <a:t>CHAPTER 22</a:t>
            </a:r>
          </a:p>
          <a:p>
            <a:pPr algn="ctr"/>
            <a:r>
              <a:rPr lang="en-US" sz="3000" b="1" i="1" dirty="0">
                <a:cs typeface="Arial" panose="020B0604020202020204" pitchFamily="34" charset="0"/>
              </a:rPr>
              <a:t>Descent with Modification, A Darwinian View of Life</a:t>
            </a:r>
          </a:p>
          <a:p>
            <a:pPr algn="ctr"/>
            <a:r>
              <a:rPr lang="en-US" sz="3000" b="1" dirty="0">
                <a:cs typeface="Arial" panose="020B0604020202020204" pitchFamily="34" charset="0"/>
              </a:rPr>
              <a:t>Dr. Adam Hrincevich </a:t>
            </a:r>
          </a:p>
        </p:txBody>
      </p:sp>
      <p:pic>
        <p:nvPicPr>
          <p:cNvPr id="4" name="Picture 3" descr="Figure 22.1 How is its resemblance to a fallen leaf helpful to this moth?&#10;" title="Figure 22.1 How is its resemblance to a fallen leaf helpful to this moth?">
            <a:extLst>
              <a:ext uri="{FF2B5EF4-FFF2-40B4-BE49-F238E27FC236}">
                <a16:creationId xmlns:a16="http://schemas.microsoft.com/office/drawing/2014/main" id="{974FBEFC-7B30-4EAE-A660-3B005DB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296" y="1295400"/>
            <a:ext cx="5769407" cy="335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92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F93F-1521-445C-8CC2-2099C8AD6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75" y="0"/>
            <a:ext cx="9144000" cy="800219"/>
          </a:xfrm>
        </p:spPr>
        <p:txBody>
          <a:bodyPr/>
          <a:lstStyle/>
          <a:p>
            <a:pPr algn="ctr"/>
            <a:r>
              <a:rPr lang="en-US" sz="4000" dirty="0"/>
              <a:t>CH 22 Learning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60591-B5D1-410A-8B8C-92FD2A2A31B5}"/>
              </a:ext>
            </a:extLst>
          </p:cNvPr>
          <p:cNvSpPr txBox="1"/>
          <p:nvPr/>
        </p:nvSpPr>
        <p:spPr>
          <a:xfrm>
            <a:off x="9041" y="1164134"/>
            <a:ext cx="91401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Compare Darwin's concept of descent with modification to the prevailing ideas of his 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Explain how, over time, natural selection results in organisms' adaptation to their environment.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Use examples to show how evolution is supported by scientific evidence.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 would suggest completing the crossword puzzle to help you understand the terminology and correlate how the terms relate to topics covered in this chapter.</a:t>
            </a:r>
          </a:p>
        </p:txBody>
      </p:sp>
    </p:spTree>
    <p:extLst>
      <p:ext uri="{BB962C8B-B14F-4D97-AF65-F5344CB8AC3E}">
        <p14:creationId xmlns:p14="http://schemas.microsoft.com/office/powerpoint/2010/main" val="409010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42" y="7345"/>
            <a:ext cx="9138557" cy="600164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A Darwinian View of Life</a:t>
            </a:r>
            <a:endParaRPr lang="en-US" dirty="0"/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" y="838200"/>
            <a:ext cx="6324600" cy="6019800"/>
          </a:xfrm>
        </p:spPr>
        <p:txBody>
          <a:bodyPr/>
          <a:lstStyle/>
          <a:p>
            <a:r>
              <a:rPr lang="en-US" altLang="en-US" dirty="0"/>
              <a:t>A new era of biology began in 1859 when Charles Darwin published </a:t>
            </a:r>
            <a:r>
              <a:rPr lang="en-US" altLang="en-US" i="1" dirty="0"/>
              <a:t>The Origin of Species, </a:t>
            </a:r>
            <a:r>
              <a:rPr lang="en-US" altLang="en-US" dirty="0"/>
              <a:t>which focused on </a:t>
            </a:r>
            <a:r>
              <a:rPr lang="en-US" altLang="ja-JP" dirty="0"/>
              <a:t>the </a:t>
            </a:r>
          </a:p>
          <a:p>
            <a:r>
              <a:rPr lang="en-US" altLang="en-US" dirty="0"/>
              <a:t>Darwin noted that current species are descendants of </a:t>
            </a:r>
          </a:p>
          <a:p>
            <a:endParaRPr lang="en-US" altLang="en-US" dirty="0"/>
          </a:p>
          <a:p>
            <a:r>
              <a:rPr lang="en-US" altLang="en-US" b="1" dirty="0"/>
              <a:t>Evolution</a:t>
            </a:r>
            <a:r>
              <a:rPr lang="en-US" altLang="en-US" dirty="0"/>
              <a:t> can be defined by Darwin’</a:t>
            </a:r>
            <a:r>
              <a:rPr lang="en-US" altLang="ja-JP" dirty="0"/>
              <a:t>s phrase </a:t>
            </a:r>
          </a:p>
          <a:p>
            <a:endParaRPr lang="en-US" altLang="ja-JP" i="1" dirty="0"/>
          </a:p>
          <a:p>
            <a:r>
              <a:rPr lang="en-US" altLang="en-US" dirty="0"/>
              <a:t>Evolution can be viewed as both a </a:t>
            </a:r>
          </a:p>
        </p:txBody>
      </p:sp>
      <p:pic>
        <p:nvPicPr>
          <p:cNvPr id="3" name="Picture 2" descr="Picture of Darwin" title="Picture of Darwin">
            <a:extLst>
              <a:ext uri="{FF2B5EF4-FFF2-40B4-BE49-F238E27FC236}">
                <a16:creationId xmlns:a16="http://schemas.microsoft.com/office/drawing/2014/main" id="{4AFBF776-19FA-481E-9670-0DF8B4AF1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99" y="76200"/>
            <a:ext cx="2522247" cy="3313316"/>
          </a:xfrm>
          <a:prstGeom prst="rect">
            <a:avLst/>
          </a:prstGeom>
        </p:spPr>
      </p:pic>
      <p:pic>
        <p:nvPicPr>
          <p:cNvPr id="5" name="Picture 4" descr="Origin of Species manuscript" title="Origin of Species manuscript">
            <a:extLst>
              <a:ext uri="{FF2B5EF4-FFF2-40B4-BE49-F238E27FC236}">
                <a16:creationId xmlns:a16="http://schemas.microsoft.com/office/drawing/2014/main" id="{9A7912DD-E8AD-4078-9836-E654A876A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871" y="3533895"/>
            <a:ext cx="1971702" cy="31636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22.1: The Darwinian revolution challenged traditional views of a young Earth inhabited by unchanging species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Darwin’</a:t>
            </a:r>
            <a:r>
              <a:rPr lang="en-US" altLang="ja-JP" dirty="0"/>
              <a:t>s ideas had </a:t>
            </a:r>
            <a:endParaRPr lang="en-US" altLang="en-US" dirty="0"/>
          </a:p>
        </p:txBody>
      </p:sp>
      <p:pic>
        <p:nvPicPr>
          <p:cNvPr id="1026" name="Picture 2" descr="Figure 22.2 The intellectual context of Darwin’s ideas&#10;" title="Figure 22.2 The intellectual context of Darwin’s ide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649" y="2301766"/>
            <a:ext cx="5982151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Scala</a:t>
            </a:r>
            <a:r>
              <a:rPr lang="en-US" altLang="en-US" dirty="0"/>
              <a:t> </a:t>
            </a:r>
            <a:r>
              <a:rPr lang="en-US" altLang="en-US" i="1" dirty="0" err="1"/>
              <a:t>Naturae</a:t>
            </a:r>
            <a:r>
              <a:rPr lang="en-US" altLang="en-US" dirty="0"/>
              <a:t> and Classification of Species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762000"/>
            <a:ext cx="8991599" cy="5969876"/>
          </a:xfrm>
        </p:spPr>
        <p:txBody>
          <a:bodyPr/>
          <a:lstStyle/>
          <a:p>
            <a:r>
              <a:rPr lang="en-US" altLang="en-US" dirty="0"/>
              <a:t>The Greek philosopher Aristotle viewed species as fixed and </a:t>
            </a:r>
            <a:endParaRPr lang="en-US" altLang="en-US" i="1" dirty="0"/>
          </a:p>
          <a:p>
            <a:r>
              <a:rPr lang="en-US" altLang="en-US" dirty="0"/>
              <a:t>The Old Testament holds that species were individually </a:t>
            </a:r>
          </a:p>
          <a:p>
            <a:r>
              <a:rPr lang="en-US" altLang="en-US" dirty="0"/>
              <a:t>Carolus Linnaeus interpreted organismal adaptations as evidence that the Creator had designed each species for </a:t>
            </a:r>
          </a:p>
          <a:p>
            <a:r>
              <a:rPr lang="en-US" altLang="en-US" dirty="0"/>
              <a:t>Linnaeus was the founder of taxonomy, the branch of biology concerned with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“</a:t>
            </a:r>
            <a:r>
              <a:rPr lang="en-US" altLang="en-US" b="1" dirty="0">
                <a:solidFill>
                  <a:srgbClr val="FF0000"/>
                </a:solidFill>
              </a:rPr>
              <a:t>HANDS ON</a:t>
            </a:r>
            <a:r>
              <a:rPr lang="en-US" altLang="en-US" dirty="0"/>
              <a:t>” ACTIVITY &gt;&gt;&gt; Balls and coins</a:t>
            </a:r>
          </a:p>
          <a:p>
            <a:r>
              <a:rPr lang="en-US" altLang="en-US" dirty="0"/>
              <a:t>He developed the binomial format for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Ideas About Change over Time</a:t>
            </a:r>
          </a:p>
        </p:txBody>
      </p:sp>
      <p:sp>
        <p:nvSpPr>
          <p:cNvPr id="14339" name="Content Placeholder 1"/>
          <p:cNvSpPr>
            <a:spLocks noGrp="1"/>
          </p:cNvSpPr>
          <p:nvPr>
            <p:ph idx="1"/>
          </p:nvPr>
        </p:nvSpPr>
        <p:spPr>
          <a:xfrm>
            <a:off x="152400" y="780938"/>
            <a:ext cx="8839199" cy="5391262"/>
          </a:xfrm>
        </p:spPr>
        <p:txBody>
          <a:bodyPr/>
          <a:lstStyle/>
          <a:p>
            <a:r>
              <a:rPr lang="en-US" altLang="en-US" dirty="0"/>
              <a:t>The study of </a:t>
            </a:r>
            <a:r>
              <a:rPr lang="en-US" altLang="en-US" b="1" dirty="0"/>
              <a:t>fossils</a:t>
            </a:r>
            <a:r>
              <a:rPr lang="en-US" altLang="en-US" dirty="0"/>
              <a:t> helped to lay the </a:t>
            </a:r>
          </a:p>
          <a:p>
            <a:endParaRPr lang="en-US" altLang="ja-JP" dirty="0"/>
          </a:p>
          <a:p>
            <a:r>
              <a:rPr lang="en-US" altLang="en-US" dirty="0"/>
              <a:t>Fossils are remains or traces of organisms from the past, usually found in sedimentary rock, which appears in </a:t>
            </a:r>
            <a:endParaRPr lang="en-US" altLang="en-US" b="1" dirty="0"/>
          </a:p>
        </p:txBody>
      </p:sp>
      <p:pic>
        <p:nvPicPr>
          <p:cNvPr id="2" name="Picture 1" descr="Figure 22.3 Formation of sedimentary strata with fossils&#10;" title="Figure 22.3 Formation of sedimentary strata with fossils">
            <a:extLst>
              <a:ext uri="{FF2B5EF4-FFF2-40B4-BE49-F238E27FC236}">
                <a16:creationId xmlns:a16="http://schemas.microsoft.com/office/drawing/2014/main" id="{56AA4E39-D339-4E9D-95F4-8340C551A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921" y="3429000"/>
            <a:ext cx="5792157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152400"/>
            <a:ext cx="8991600" cy="6705600"/>
          </a:xfrm>
        </p:spPr>
        <p:txBody>
          <a:bodyPr/>
          <a:lstStyle/>
          <a:p>
            <a:r>
              <a:rPr lang="en-US" altLang="en-US" b="1" dirty="0"/>
              <a:t>Paleontology</a:t>
            </a:r>
            <a:r>
              <a:rPr lang="en-US" altLang="en-US" dirty="0"/>
              <a:t>, the study of fossils, was largely developed by </a:t>
            </a:r>
          </a:p>
          <a:p>
            <a:r>
              <a:rPr lang="en-US" altLang="en-US" dirty="0"/>
              <a:t>Cuvier speculated that the boundaries between strata represent </a:t>
            </a:r>
          </a:p>
          <a:p>
            <a:r>
              <a:rPr lang="en-US" altLang="en-US" dirty="0"/>
              <a:t>Geologists James Hutton &amp; Charles Lyell thought that changes in Earth’</a:t>
            </a:r>
            <a:r>
              <a:rPr lang="en-US" altLang="ja-JP" dirty="0"/>
              <a:t>s surface resulted from slow, steady actions still </a:t>
            </a:r>
          </a:p>
          <a:p>
            <a:r>
              <a:rPr lang="en-US" altLang="en-US" dirty="0"/>
              <a:t>This view strongly </a:t>
            </a:r>
            <a:endParaRPr lang="en-US" altLang="ja-JP" dirty="0"/>
          </a:p>
          <a:p>
            <a:r>
              <a:rPr lang="en-US" altLang="en-US" dirty="0"/>
              <a:t>French biologist Jean-Baptiste de Lamarck hypothesized that species evolve through use and disuse of</a:t>
            </a:r>
          </a:p>
          <a:p>
            <a:endParaRPr lang="en-US" altLang="en-US" dirty="0"/>
          </a:p>
          <a:p>
            <a:r>
              <a:rPr lang="en-US" altLang="en-US" dirty="0"/>
              <a:t>Proposed mechanisms are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95216E4B-C80D-49CC-8A6E-9D3EAEDCA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5669"/>
            <a:ext cx="9144000" cy="646331"/>
          </a:xfrm>
        </p:spPr>
        <p:txBody>
          <a:bodyPr/>
          <a:lstStyle/>
          <a:p>
            <a:pPr algn="ctr"/>
            <a:r>
              <a:rPr lang="en-US" altLang="en-US" sz="3000" b="1" dirty="0"/>
              <a:t>Lamarck vs. Darwin</a:t>
            </a:r>
          </a:p>
        </p:txBody>
      </p:sp>
      <p:pic>
        <p:nvPicPr>
          <p:cNvPr id="10" name="Picture 9" descr="Lamarck's theory" title="Lamarck's theory">
            <a:extLst>
              <a:ext uri="{FF2B5EF4-FFF2-40B4-BE49-F238E27FC236}">
                <a16:creationId xmlns:a16="http://schemas.microsoft.com/office/drawing/2014/main" id="{759AB543-5236-42A2-892A-ECD4C6C5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" y="790575"/>
            <a:ext cx="8410575" cy="2181225"/>
          </a:xfrm>
          <a:prstGeom prst="rect">
            <a:avLst/>
          </a:prstGeom>
        </p:spPr>
      </p:pic>
      <p:pic>
        <p:nvPicPr>
          <p:cNvPr id="11" name="Picture 10" descr="Darwin's theory" title="Darwin's theory">
            <a:extLst>
              <a:ext uri="{FF2B5EF4-FFF2-40B4-BE49-F238E27FC236}">
                <a16:creationId xmlns:a16="http://schemas.microsoft.com/office/drawing/2014/main" id="{BB94B0B0-D2A0-4838-B0F8-96F52A342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12" y="3857625"/>
            <a:ext cx="8410575" cy="22383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D82BDD-B233-4E45-B44B-7EE4709BCF49}"/>
              </a:ext>
            </a:extLst>
          </p:cNvPr>
          <p:cNvSpPr txBox="1"/>
          <p:nvPr/>
        </p:nvSpPr>
        <p:spPr>
          <a:xfrm>
            <a:off x="0" y="2826603"/>
            <a:ext cx="9144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Lamarck's</a:t>
            </a:r>
            <a:r>
              <a:rPr lang="en-US" dirty="0"/>
              <a:t> theory held that species underwent changes in response to changes in their environment.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5DB1F2-C7EB-4664-91BA-6EEEB8A60D63}"/>
              </a:ext>
            </a:extLst>
          </p:cNvPr>
          <p:cNvSpPr txBox="1"/>
          <p:nvPr/>
        </p:nvSpPr>
        <p:spPr>
          <a:xfrm>
            <a:off x="4011" y="6027003"/>
            <a:ext cx="9144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Darwin's</a:t>
            </a:r>
            <a:r>
              <a:rPr lang="en-US" dirty="0"/>
              <a:t> theory was one of natural selection and survival of the fittest.</a:t>
            </a:r>
          </a:p>
        </p:txBody>
      </p:sp>
    </p:spTree>
    <p:extLst>
      <p:ext uri="{BB962C8B-B14F-4D97-AF65-F5344CB8AC3E}">
        <p14:creationId xmlns:p14="http://schemas.microsoft.com/office/powerpoint/2010/main" val="3850959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22.2: Descent with modification by natural selection explains the adaptations of organisms and the unity and diversity of life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752600"/>
            <a:ext cx="8839199" cy="4953000"/>
          </a:xfrm>
        </p:spPr>
        <p:txBody>
          <a:bodyPr/>
          <a:lstStyle/>
          <a:p>
            <a:r>
              <a:rPr lang="en-US" altLang="en-US" dirty="0"/>
              <a:t>Some doubt about the permanence of species </a:t>
            </a:r>
          </a:p>
          <a:p>
            <a:endParaRPr lang="en-US" altLang="ja-JP" dirty="0"/>
          </a:p>
          <a:p>
            <a:r>
              <a:rPr lang="en-US" altLang="en-US" dirty="0"/>
              <a:t>As a boy and into adulthood, Charles Darwin had a consuming </a:t>
            </a:r>
          </a:p>
          <a:p>
            <a:r>
              <a:rPr lang="en-US" altLang="en-US" dirty="0"/>
              <a:t>Darwin first studied medicine (unsuccessfully) and then theology at </a:t>
            </a:r>
          </a:p>
          <a:p>
            <a:r>
              <a:rPr lang="en-US" altLang="en-US" dirty="0"/>
              <a:t>After graduating, he took an unpaid position as naturalist and companion to Captain Robert Fitzroy for a five-year, </a:t>
            </a:r>
            <a:endParaRPr lang="en-US" altLang="en-US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The Voyage of the</a:t>
            </a:r>
            <a:r>
              <a:rPr lang="en-US" altLang="en-US" dirty="0"/>
              <a:t> Beagle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04274" y="646331"/>
            <a:ext cx="8991600" cy="6211669"/>
          </a:xfrm>
        </p:spPr>
        <p:txBody>
          <a:bodyPr/>
          <a:lstStyle/>
          <a:p>
            <a:r>
              <a:rPr lang="en-US" altLang="en-US" dirty="0"/>
              <a:t>During his travels on the </a:t>
            </a:r>
            <a:r>
              <a:rPr lang="en-US" altLang="en-US" i="1" dirty="0"/>
              <a:t>Beagle</a:t>
            </a:r>
            <a:r>
              <a:rPr lang="en-US" altLang="en-US" dirty="0"/>
              <a:t>, Darwin collected specimens of </a:t>
            </a:r>
          </a:p>
          <a:p>
            <a:r>
              <a:rPr lang="en-US" altLang="en-US" dirty="0"/>
              <a:t>He observed that fossils resembled living species from the same region, and living species resembled </a:t>
            </a:r>
          </a:p>
          <a:p>
            <a:endParaRPr lang="en-US" altLang="en-US" dirty="0"/>
          </a:p>
          <a:p>
            <a:r>
              <a:rPr lang="en-US" altLang="en-US" dirty="0"/>
              <a:t>He experienced an earthquake in Chile and </a:t>
            </a:r>
          </a:p>
          <a:p>
            <a:endParaRPr lang="en-US" altLang="en-US" dirty="0"/>
          </a:p>
          <a:p>
            <a:r>
              <a:rPr lang="en-US" altLang="en-US" dirty="0"/>
              <a:t>Darwin was influenced by Lyell’</a:t>
            </a:r>
            <a:r>
              <a:rPr lang="en-US" altLang="ja-JP" dirty="0"/>
              <a:t>s </a:t>
            </a:r>
            <a:r>
              <a:rPr lang="en-US" altLang="ja-JP" i="1" dirty="0"/>
              <a:t>Principles of Geology</a:t>
            </a:r>
            <a:r>
              <a:rPr lang="en-US" altLang="ja-JP" dirty="0"/>
              <a:t> and thought that Earth </a:t>
            </a:r>
          </a:p>
          <a:p>
            <a:r>
              <a:rPr lang="en-US" altLang="en-US" dirty="0"/>
              <a:t>He stopped at the Galápagos Islands and hypothesized that species from South America had colonized the Galápagos and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22.5</a:t>
            </a:r>
          </a:p>
        </p:txBody>
      </p:sp>
      <p:pic>
        <p:nvPicPr>
          <p:cNvPr id="2" name="Picture 1" descr="Figure 22.5 The voyage of HMS Beagle (December 1831–October 1836)&#10;" title="Figure 22.5 The voyage of HMS Beagle (December 1831–October 183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471612"/>
            <a:ext cx="86106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40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p&#10;&#10;Description automatically generated">
            <a:extLst>
              <a:ext uri="{FF2B5EF4-FFF2-40B4-BE49-F238E27FC236}">
                <a16:creationId xmlns:a16="http://schemas.microsoft.com/office/drawing/2014/main" id="{1E96D036-C7CC-482D-AAE8-CC4F419FB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9" y="914400"/>
            <a:ext cx="8969691" cy="504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77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Darwin</a:t>
            </a:r>
            <a:r>
              <a:rPr lang="en-US" altLang="ja-JP" i="1" dirty="0"/>
              <a:t>’s Focus on Adaptation</a:t>
            </a:r>
            <a:endParaRPr lang="en-US" altLang="en-US" i="1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33235"/>
            <a:ext cx="8839199" cy="5843765"/>
          </a:xfrm>
        </p:spPr>
        <p:txBody>
          <a:bodyPr/>
          <a:lstStyle/>
          <a:p>
            <a:r>
              <a:rPr lang="en-US" altLang="en-US" dirty="0"/>
              <a:t>In reassessing his observations, Darwin perceived </a:t>
            </a:r>
            <a:r>
              <a:rPr lang="en-US" altLang="en-US" b="1" dirty="0"/>
              <a:t>adaptation</a:t>
            </a:r>
            <a:r>
              <a:rPr lang="en-US" altLang="en-US" dirty="0"/>
              <a:t> to the environment and the </a:t>
            </a:r>
          </a:p>
          <a:p>
            <a:endParaRPr lang="en-US" altLang="en-US" dirty="0"/>
          </a:p>
          <a:p>
            <a:r>
              <a:rPr lang="en-US" altLang="en-US" dirty="0"/>
              <a:t>From studies made years after Darwin’</a:t>
            </a:r>
            <a:r>
              <a:rPr lang="en-US" altLang="ja-JP" dirty="0"/>
              <a:t>s voyage, biologists have concluded that </a:t>
            </a:r>
            <a:endParaRPr lang="en-US" altLang="en-US" dirty="0"/>
          </a:p>
        </p:txBody>
      </p:sp>
      <p:pic>
        <p:nvPicPr>
          <p:cNvPr id="2" name="Picture 1" descr="Figure 22.6 Three examples of beak variation in Galápagos finches&#10;" title="Figure 22.6 Three examples of beak variation in Galápagos finches">
            <a:extLst>
              <a:ext uri="{FF2B5EF4-FFF2-40B4-BE49-F238E27FC236}">
                <a16:creationId xmlns:a16="http://schemas.microsoft.com/office/drawing/2014/main" id="{1725FDB2-FD4F-4419-8C3F-5382EC70F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566" y="3733800"/>
            <a:ext cx="3876069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43" y="4718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13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304800"/>
            <a:ext cx="8839200" cy="5867400"/>
          </a:xfrm>
        </p:spPr>
        <p:txBody>
          <a:bodyPr/>
          <a:lstStyle/>
          <a:p>
            <a:r>
              <a:rPr lang="en-US" altLang="en-US" dirty="0"/>
              <a:t>In 1844, Darwin wrote an essay on </a:t>
            </a:r>
            <a:r>
              <a:rPr lang="en-US" altLang="en-US" b="1" dirty="0"/>
              <a:t>natural</a:t>
            </a:r>
            <a:r>
              <a:rPr lang="en-US" altLang="en-US" dirty="0"/>
              <a:t> </a:t>
            </a:r>
            <a:r>
              <a:rPr lang="en-US" altLang="en-US" b="1" dirty="0"/>
              <a:t>selection</a:t>
            </a:r>
            <a:r>
              <a:rPr lang="en-US" altLang="en-US" dirty="0"/>
              <a:t> as the mechanism of </a:t>
            </a:r>
          </a:p>
          <a:p>
            <a:endParaRPr lang="en-US" altLang="en-US" dirty="0"/>
          </a:p>
          <a:p>
            <a:r>
              <a:rPr lang="en-US" altLang="en-US" dirty="0"/>
              <a:t>Natural selection is a process in which individuals with favorable inherited traits are</a:t>
            </a:r>
          </a:p>
          <a:p>
            <a:endParaRPr lang="en-US" altLang="en-US" dirty="0"/>
          </a:p>
          <a:p>
            <a:r>
              <a:rPr lang="en-US" altLang="en-US" dirty="0"/>
              <a:t>In June 1858, Darwin received a manuscript from Alfred Russel Wallace, who had developed a theory of </a:t>
            </a:r>
            <a:endParaRPr lang="en-US" altLang="ja-JP" dirty="0"/>
          </a:p>
          <a:p>
            <a:r>
              <a:rPr lang="en-US" altLang="en-US" dirty="0"/>
              <a:t>Darwin quickly finished </a:t>
            </a:r>
            <a:r>
              <a:rPr lang="en-US" altLang="en-US" i="1" dirty="0"/>
              <a:t>The Origin of Species</a:t>
            </a:r>
            <a:r>
              <a:rPr lang="en-US" altLang="en-US" dirty="0"/>
              <a:t> and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Ideas from </a:t>
            </a:r>
            <a:r>
              <a:rPr lang="en-US" altLang="en-US" i="1" dirty="0"/>
              <a:t>The Origin of Species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Darwin explained three broad observations: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Descent with Modification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20406"/>
            <a:ext cx="8839199" cy="6037593"/>
          </a:xfrm>
        </p:spPr>
        <p:txBody>
          <a:bodyPr/>
          <a:lstStyle/>
          <a:p>
            <a:r>
              <a:rPr lang="en-US" altLang="en-US" dirty="0"/>
              <a:t>Darwin never used the word </a:t>
            </a:r>
          </a:p>
          <a:p>
            <a:endParaRPr lang="en-US" altLang="en-US" i="1" dirty="0"/>
          </a:p>
          <a:p>
            <a:r>
              <a:rPr lang="en-US" altLang="en-US" dirty="0"/>
              <a:t>The phrase </a:t>
            </a:r>
            <a:r>
              <a:rPr lang="en-US" altLang="en-US" i="1" dirty="0"/>
              <a:t>descent with modification</a:t>
            </a:r>
            <a:r>
              <a:rPr lang="en-US" altLang="en-US" dirty="0"/>
              <a:t> summarized Darwin’</a:t>
            </a:r>
            <a:r>
              <a:rPr lang="en-US" altLang="ja-JP" dirty="0"/>
              <a:t>s </a:t>
            </a:r>
          </a:p>
          <a:p>
            <a:r>
              <a:rPr lang="en-US" altLang="en-US" dirty="0"/>
              <a:t>The phrase refers to the view that all organisms are related through descent from an </a:t>
            </a:r>
          </a:p>
          <a:p>
            <a:endParaRPr lang="en-US" altLang="en-US" dirty="0"/>
          </a:p>
          <a:p>
            <a:r>
              <a:rPr lang="en-US" altLang="en-US" dirty="0"/>
              <a:t>In the Darwinian view, the history of life is like a tree with branches </a:t>
            </a:r>
            <a:endParaRPr lang="en-US" altLang="ja-JP" dirty="0"/>
          </a:p>
          <a:p>
            <a:r>
              <a:rPr lang="en-US" altLang="en-US" dirty="0"/>
              <a:t>Darwin reasoned that large morphological gaps between related groups could be explained by this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 22.7 “I think. . . .” In this 1837 sketch, Darwin envisioned the branching pattern of evolution.&#10;" title="Figure 22.7 “I think. . . .” In this 1837 sketch, Darwin envisioned the branching pattern of evolution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776" y="1316736"/>
            <a:ext cx="4346448" cy="4224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34C926-5F34-8010-1D21-E257D7498347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/>
                <a:latin typeface="Open Sans" panose="020F0502020204030204" pitchFamily="34" charset="0"/>
                <a:hlinkClick r:id="rId4"/>
              </a:rPr>
              <a:t>Missing Darwin notebooks returned to Cambridge University Library</a:t>
            </a:r>
            <a:endParaRPr lang="en-US" b="1" dirty="0">
              <a:effectLst/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49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22.8</a:t>
            </a:r>
          </a:p>
        </p:txBody>
      </p:sp>
      <p:pic>
        <p:nvPicPr>
          <p:cNvPr id="2" name="Picture 1" descr="Figure 22.8 Descent with modification&#10;" title="Figure 22.8 Descent with modific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" y="204787"/>
            <a:ext cx="6962775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58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2.9 Artificial selection&#10;" title="Figure 22.9 Artificial selection">
            <a:extLst>
              <a:ext uri="{FF2B5EF4-FFF2-40B4-BE49-F238E27FC236}">
                <a16:creationId xmlns:a16="http://schemas.microsoft.com/office/drawing/2014/main" id="{05549631-4716-47F1-BBDC-77B9D8271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99" y="2437393"/>
            <a:ext cx="6629402" cy="4392533"/>
          </a:xfrm>
          <a:prstGeom prst="rect">
            <a:avLst/>
          </a:prstGeom>
        </p:spPr>
      </p:pic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i="1" dirty="0"/>
              <a:t>Artificial Selection, Natural Selection, and Adaptation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07996"/>
            <a:ext cx="8839199" cy="5382100"/>
          </a:xfrm>
        </p:spPr>
        <p:txBody>
          <a:bodyPr/>
          <a:lstStyle/>
          <a:p>
            <a:r>
              <a:rPr lang="en-US" altLang="en-US" dirty="0"/>
              <a:t>Darwin noted that humans have modified other species by selecting and breeding individuals with desired traits, a 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" y="21771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19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228600" y="152400"/>
            <a:ext cx="8839200" cy="6477000"/>
          </a:xfrm>
        </p:spPr>
        <p:txBody>
          <a:bodyPr/>
          <a:lstStyle/>
          <a:p>
            <a:r>
              <a:rPr lang="en-US" altLang="en-US" dirty="0"/>
              <a:t>Darwin drew two inferences from two observations</a:t>
            </a:r>
          </a:p>
          <a:p>
            <a:r>
              <a:rPr lang="en-US" altLang="en-US" b="1" dirty="0"/>
              <a:t>Observation #1</a:t>
            </a:r>
            <a:r>
              <a:rPr lang="en-US" altLang="en-US" dirty="0"/>
              <a:t>: </a:t>
            </a:r>
          </a:p>
          <a:p>
            <a:endParaRPr lang="en-US" altLang="en-US" b="1" dirty="0"/>
          </a:p>
          <a:p>
            <a:r>
              <a:rPr lang="en-US" altLang="en-US" b="1" dirty="0"/>
              <a:t>Observation #2</a:t>
            </a:r>
            <a:r>
              <a:rPr lang="en-US" altLang="en-US" dirty="0"/>
              <a:t>: All species can produce more offspring than the environment can support, and </a:t>
            </a:r>
          </a:p>
          <a:p>
            <a:endParaRPr lang="en-US" altLang="en-US" dirty="0"/>
          </a:p>
        </p:txBody>
      </p:sp>
      <p:pic>
        <p:nvPicPr>
          <p:cNvPr id="4" name="Picture 3" descr="Figure 22.10 Variation in a population&#10;" title="Figure 22.10 Variation in a populatio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352800"/>
            <a:ext cx="5181600" cy="3005424"/>
          </a:xfrm>
          <a:prstGeom prst="rect">
            <a:avLst/>
          </a:prstGeom>
        </p:spPr>
      </p:pic>
      <p:pic>
        <p:nvPicPr>
          <p:cNvPr id="1026" name="Picture 2" descr="Figure 22.11 Overproduction of offspring&#10;" title="Figure 22.11 Overproduction of offspr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352800"/>
            <a:ext cx="2373313" cy="2989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144000" cy="600075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20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152400"/>
            <a:ext cx="8839200" cy="6337300"/>
          </a:xfrm>
        </p:spPr>
        <p:txBody>
          <a:bodyPr/>
          <a:lstStyle/>
          <a:p>
            <a:r>
              <a:rPr lang="en-US" altLang="en-US" b="1" dirty="0"/>
              <a:t>Inference #1</a:t>
            </a:r>
            <a:r>
              <a:rPr lang="en-US" altLang="en-US" dirty="0"/>
              <a:t>: Individuals whose inherited traits give them a higher probability of surviving and reproducing in a given environment tend to </a:t>
            </a:r>
          </a:p>
          <a:p>
            <a:endParaRPr lang="en-US" altLang="en-US" dirty="0"/>
          </a:p>
          <a:p>
            <a:r>
              <a:rPr lang="en-US" altLang="en-US" b="1" dirty="0"/>
              <a:t>Inference #2</a:t>
            </a:r>
            <a:r>
              <a:rPr lang="en-US" altLang="en-US" dirty="0"/>
              <a:t>: This unequal ability of individuals to survive and reproduce will lead to the accumulation of </a:t>
            </a:r>
          </a:p>
        </p:txBody>
      </p:sp>
      <p:pic>
        <p:nvPicPr>
          <p:cNvPr id="2" name="Picture 1" descr="Survival and unequal reproduction" title="Survival and unequal reprodu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9" y="3747407"/>
            <a:ext cx="8763000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21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22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304800"/>
            <a:ext cx="8839200" cy="6184900"/>
          </a:xfrm>
        </p:spPr>
        <p:txBody>
          <a:bodyPr/>
          <a:lstStyle/>
          <a:p>
            <a:r>
              <a:rPr lang="en-US" altLang="en-US" dirty="0"/>
              <a:t>Darwin was influenced by Thomas Malthus, who noted the potential for the human population to increase faster than </a:t>
            </a:r>
          </a:p>
          <a:p>
            <a:endParaRPr lang="en-US" altLang="en-US" dirty="0"/>
          </a:p>
          <a:p>
            <a:r>
              <a:rPr lang="en-US" altLang="en-US" dirty="0"/>
              <a:t>World Population </a:t>
            </a:r>
            <a:r>
              <a:rPr lang="en-US" altLang="en-US" dirty="0">
                <a:hlinkClick r:id="rId3"/>
              </a:rPr>
              <a:t>now</a:t>
            </a:r>
            <a:r>
              <a:rPr lang="en-US" altLang="en-US" dirty="0"/>
              <a:t>??? </a:t>
            </a:r>
          </a:p>
          <a:p>
            <a:r>
              <a:rPr lang="en-US" altLang="en-US" dirty="0"/>
              <a:t>If some heritable traits are advantageous, individuals with these traits will produce more offspring that survive to reproduce, and this will increase the frequency of </a:t>
            </a:r>
          </a:p>
          <a:p>
            <a:r>
              <a:rPr lang="en-US" altLang="en-US" dirty="0"/>
              <a:t>This process increases the frequency of individuals with favorable adaptations and explains how organisms become increasingly well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Key Features of Natural Selection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46330"/>
            <a:ext cx="8991600" cy="6211669"/>
          </a:xfrm>
        </p:spPr>
        <p:txBody>
          <a:bodyPr/>
          <a:lstStyle/>
          <a:p>
            <a:r>
              <a:rPr lang="en-US" altLang="en-US" dirty="0"/>
              <a:t>Individuals with certain heritable traits survive and reproduce at </a:t>
            </a:r>
          </a:p>
          <a:p>
            <a:r>
              <a:rPr lang="en-US" altLang="en-US" dirty="0"/>
              <a:t>Natural selection increases the frequency of adaptations that are </a:t>
            </a:r>
          </a:p>
          <a:p>
            <a:r>
              <a:rPr lang="en-US" altLang="en-US" dirty="0"/>
              <a:t>If an environment changes over time, natural selection may result in adaptation to these new conditions and may </a:t>
            </a:r>
          </a:p>
          <a:p>
            <a:r>
              <a:rPr lang="en-US" altLang="en-US" dirty="0"/>
              <a:t>Note that individuals do </a:t>
            </a:r>
          </a:p>
          <a:p>
            <a:endParaRPr lang="en-US" altLang="en-US" dirty="0"/>
          </a:p>
          <a:p>
            <a:r>
              <a:rPr lang="en-US" altLang="en-US" dirty="0"/>
              <a:t>Natural selection can only increase or decrease </a:t>
            </a:r>
          </a:p>
          <a:p>
            <a:endParaRPr lang="en-US" altLang="en-US" dirty="0"/>
          </a:p>
          <a:p>
            <a:r>
              <a:rPr lang="en-US" altLang="en-US" dirty="0"/>
              <a:t>Adaptations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22.12</a:t>
            </a:r>
          </a:p>
        </p:txBody>
      </p:sp>
      <p:pic>
        <p:nvPicPr>
          <p:cNvPr id="3" name="Picture 2" descr="Figure 22.12 Camouflage as an example of evolutionary adaptation&#10;" title="Figure 22.12 Camouflage as an example of evolutionary adaptatio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488" y="137160"/>
            <a:ext cx="5145024" cy="65836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FDCFD1-9B18-487D-AEC2-A69772877DC9}"/>
              </a:ext>
            </a:extLst>
          </p:cNvPr>
          <p:cNvSpPr txBox="1"/>
          <p:nvPr/>
        </p:nvSpPr>
        <p:spPr>
          <a:xfrm>
            <a:off x="7772400" y="2828835"/>
            <a:ext cx="12298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Praying</a:t>
            </a:r>
          </a:p>
          <a:p>
            <a:r>
              <a:rPr lang="en-US" dirty="0"/>
              <a:t>mantis</a:t>
            </a:r>
          </a:p>
          <a:p>
            <a:r>
              <a:rPr lang="en-US" dirty="0"/>
              <a:t>insects</a:t>
            </a:r>
          </a:p>
        </p:txBody>
      </p:sp>
      <p:cxnSp>
        <p:nvCxnSpPr>
          <p:cNvPr id="6" name="Straight Arrow Connector 5" descr="Arrow" title="Arrow">
            <a:extLst>
              <a:ext uri="{FF2B5EF4-FFF2-40B4-BE49-F238E27FC236}">
                <a16:creationId xmlns:a16="http://schemas.microsoft.com/office/drawing/2014/main" id="{6DC8F876-46E4-4271-B139-F575C20C9D5F}"/>
              </a:ext>
            </a:extLst>
          </p:cNvPr>
          <p:cNvCxnSpPr>
            <a:stCxn id="2" idx="1"/>
          </p:cNvCxnSpPr>
          <p:nvPr/>
        </p:nvCxnSpPr>
        <p:spPr bwMode="auto">
          <a:xfrm flipH="1" flipV="1">
            <a:off x="5029200" y="1600200"/>
            <a:ext cx="2743200" cy="182880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Straight Arrow Connector 6" descr="Arrow" title="Arrow">
            <a:extLst>
              <a:ext uri="{FF2B5EF4-FFF2-40B4-BE49-F238E27FC236}">
                <a16:creationId xmlns:a16="http://schemas.microsoft.com/office/drawing/2014/main" id="{40C2BEAF-642A-4E7E-A54D-D0085BA4F14D}"/>
              </a:ext>
            </a:extLst>
          </p:cNvPr>
          <p:cNvCxnSpPr>
            <a:cxnSpLocks/>
            <a:stCxn id="2" idx="1"/>
          </p:cNvCxnSpPr>
          <p:nvPr/>
        </p:nvCxnSpPr>
        <p:spPr bwMode="auto">
          <a:xfrm flipH="1">
            <a:off x="5419808" y="3429000"/>
            <a:ext cx="2352592" cy="737324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95306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22.3: Evolution is supported by an overwhelming amount of scientific evidence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839199" cy="5715000"/>
          </a:xfrm>
        </p:spPr>
        <p:txBody>
          <a:bodyPr/>
          <a:lstStyle/>
          <a:p>
            <a:r>
              <a:rPr lang="en-US" altLang="en-US" dirty="0"/>
              <a:t>New discoveries continue to fill the </a:t>
            </a:r>
          </a:p>
          <a:p>
            <a:endParaRPr lang="en-US" altLang="en-US" i="1" dirty="0"/>
          </a:p>
          <a:p>
            <a:r>
              <a:rPr lang="en-US" altLang="en-US" dirty="0"/>
              <a:t>Four types of data document the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578358" indent="-514350"/>
            <a:r>
              <a:rPr lang="en-US" altLang="en-US" dirty="0"/>
              <a:t>Two examples provide evidence for natural selection: natural selection in response to introduced species and the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i="1" dirty="0"/>
              <a:t>Natural Selection in Response to Introduced Species</a:t>
            </a:r>
            <a:r>
              <a:rPr lang="en-US" altLang="en-US" dirty="0"/>
              <a:t>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72910"/>
            <a:ext cx="8991600" cy="5217186"/>
          </a:xfrm>
        </p:spPr>
        <p:txBody>
          <a:bodyPr/>
          <a:lstStyle/>
          <a:p>
            <a:r>
              <a:rPr lang="en-US" altLang="en-US" dirty="0"/>
              <a:t>Soapberry bugs use their </a:t>
            </a:r>
            <a:r>
              <a:rPr lang="ja-JP" altLang="en-US" dirty="0"/>
              <a:t>“</a:t>
            </a:r>
            <a:r>
              <a:rPr lang="en-US" altLang="ja-JP" dirty="0"/>
              <a:t>beak</a:t>
            </a:r>
            <a:r>
              <a:rPr lang="ja-JP" altLang="en-US" dirty="0"/>
              <a:t>”</a:t>
            </a:r>
            <a:r>
              <a:rPr lang="en-US" altLang="ja-JP" dirty="0"/>
              <a:t> to </a:t>
            </a:r>
          </a:p>
          <a:p>
            <a:endParaRPr lang="en-US" altLang="ja-JP" dirty="0"/>
          </a:p>
          <a:p>
            <a:r>
              <a:rPr lang="en-US" altLang="en-US" dirty="0"/>
              <a:t>Feeding is most effective when beak length is closely matched to </a:t>
            </a:r>
          </a:p>
          <a:p>
            <a:r>
              <a:rPr lang="en-US" altLang="en-US" dirty="0"/>
              <a:t>In southern Florida, they feed on the native balloon vine with larger fruit; they have </a:t>
            </a:r>
          </a:p>
          <a:p>
            <a:r>
              <a:rPr lang="en-US" altLang="en-US" dirty="0"/>
              <a:t>In central Florida, they feed on the introduced </a:t>
            </a:r>
            <a:r>
              <a:rPr lang="en-US" altLang="en-US" dirty="0" err="1"/>
              <a:t>goldenrain</a:t>
            </a:r>
            <a:r>
              <a:rPr lang="en-US" altLang="en-US" dirty="0"/>
              <a:t> tree with smaller fruit; they have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72" y="0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228600" y="152400"/>
            <a:ext cx="8839200" cy="3429000"/>
          </a:xfrm>
        </p:spPr>
        <p:txBody>
          <a:bodyPr/>
          <a:lstStyle/>
          <a:p>
            <a:r>
              <a:rPr lang="en-US" altLang="en-US" dirty="0"/>
              <a:t>In all cases, beak size has evolved in populations that feed on introduced plants with fruits that are </a:t>
            </a:r>
          </a:p>
          <a:p>
            <a:endParaRPr lang="en-US" altLang="en-US" dirty="0"/>
          </a:p>
          <a:p>
            <a:r>
              <a:rPr lang="en-US" altLang="en-US" dirty="0"/>
              <a:t>These cases are examples of </a:t>
            </a:r>
          </a:p>
          <a:p>
            <a:endParaRPr lang="en-US" altLang="en-US" dirty="0"/>
          </a:p>
          <a:p>
            <a:r>
              <a:rPr lang="en-US" altLang="en-US" dirty="0"/>
              <a:t>In Florida, this evolution in beak size occurred </a:t>
            </a:r>
          </a:p>
        </p:txBody>
      </p:sp>
      <p:pic>
        <p:nvPicPr>
          <p:cNvPr id="5" name="Picture 4" descr="Soapberry bug" title="Soapberry bug">
            <a:extLst>
              <a:ext uri="{FF2B5EF4-FFF2-40B4-BE49-F238E27FC236}">
                <a16:creationId xmlns:a16="http://schemas.microsoft.com/office/drawing/2014/main" id="{93DB2842-D5D3-49F1-8A90-BB3037F12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57" y="4123125"/>
            <a:ext cx="3974543" cy="262977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2.13 Inquiry: Can a change in a population’s food source result in evolution by natural selection?&#10;" title="Figure 22.13 Inquiry: Can a change in a population’s food source result in evolution by natural selection?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10"/>
          <a:stretch>
            <a:fillRect/>
          </a:stretch>
        </p:blipFill>
        <p:spPr>
          <a:xfrm>
            <a:off x="298704" y="585216"/>
            <a:ext cx="8546592" cy="568756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22.13</a:t>
            </a:r>
          </a:p>
        </p:txBody>
      </p:sp>
      <p:sp>
        <p:nvSpPr>
          <p:cNvPr id="6" name="Freeform 5" descr="Average beak lengths in museum specimens&#10;" title="Average beak lengths in museum specimens"/>
          <p:cNvSpPr/>
          <p:nvPr/>
        </p:nvSpPr>
        <p:spPr>
          <a:xfrm>
            <a:off x="6507480" y="2788920"/>
            <a:ext cx="952500" cy="2430780"/>
          </a:xfrm>
          <a:custGeom>
            <a:avLst/>
            <a:gdLst>
              <a:gd name="connsiteX0" fmla="*/ 0 w 952500"/>
              <a:gd name="connsiteY0" fmla="*/ 2430780 h 2430780"/>
              <a:gd name="connsiteX1" fmla="*/ 952500 w 952500"/>
              <a:gd name="connsiteY1" fmla="*/ 1303020 h 2430780"/>
              <a:gd name="connsiteX2" fmla="*/ 106680 w 952500"/>
              <a:gd name="connsiteY2" fmla="*/ 0 h 243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2430780">
                <a:moveTo>
                  <a:pt x="0" y="2430780"/>
                </a:moveTo>
                <a:lnTo>
                  <a:pt x="952500" y="1303020"/>
                </a:lnTo>
                <a:lnTo>
                  <a:pt x="10668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7" name="TextBox 16"/>
          <p:cNvSpPr txBox="1">
            <a:spLocks noChangeArrowheads="1"/>
          </p:cNvSpPr>
          <p:nvPr/>
        </p:nvSpPr>
        <p:spPr bwMode="auto">
          <a:xfrm>
            <a:off x="4173714" y="996597"/>
            <a:ext cx="202619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On native species,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balloon vine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(southern Florida)</a:t>
            </a:r>
          </a:p>
        </p:txBody>
      </p:sp>
      <p:sp>
        <p:nvSpPr>
          <p:cNvPr id="8" name="TextBox 23"/>
          <p:cNvSpPr txBox="1">
            <a:spLocks noChangeArrowheads="1"/>
          </p:cNvSpPr>
          <p:nvPr/>
        </p:nvSpPr>
        <p:spPr bwMode="auto">
          <a:xfrm>
            <a:off x="5364339" y="3461985"/>
            <a:ext cx="1744067" cy="102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On introduced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species,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goldenrain tree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(central Florida)</a:t>
            </a:r>
          </a:p>
        </p:txBody>
      </p:sp>
      <p:sp>
        <p:nvSpPr>
          <p:cNvPr id="9" name="TextBox 27"/>
          <p:cNvSpPr txBox="1">
            <a:spLocks noChangeArrowheads="1"/>
          </p:cNvSpPr>
          <p:nvPr/>
        </p:nvSpPr>
        <p:spPr bwMode="auto">
          <a:xfrm>
            <a:off x="7563027" y="3446110"/>
            <a:ext cx="1218282" cy="128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Average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beak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lengths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 museum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specimens</a:t>
            </a:r>
          </a:p>
        </p:txBody>
      </p:sp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330454" y="587871"/>
            <a:ext cx="124393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C06635"/>
                </a:solidFill>
                <a:latin typeface="Arial"/>
                <a:ea typeface="ＭＳ Ｐゴシック" charset="0"/>
              </a:rPr>
              <a:t>Field Study</a:t>
            </a: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3449892" y="587871"/>
            <a:ext cx="83356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C06635"/>
                </a:solidFill>
                <a:latin typeface="Arial"/>
                <a:ea typeface="ＭＳ Ｐゴシック" charset="0"/>
              </a:rPr>
              <a:t>Results</a:t>
            </a:r>
          </a:p>
        </p:txBody>
      </p:sp>
      <p:sp>
        <p:nvSpPr>
          <p:cNvPr id="12" name="TextBox 20"/>
          <p:cNvSpPr txBox="1">
            <a:spLocks noChangeArrowheads="1"/>
          </p:cNvSpPr>
          <p:nvPr/>
        </p:nvSpPr>
        <p:spPr bwMode="auto">
          <a:xfrm>
            <a:off x="333629" y="4112122"/>
            <a:ext cx="274434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Soapberry bug with beak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inserted in balloon vine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fruit</a:t>
            </a:r>
          </a:p>
        </p:txBody>
      </p:sp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3970592" y="5563097"/>
            <a:ext cx="193642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Beak length (mm)</a:t>
            </a:r>
          </a:p>
        </p:txBody>
      </p: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3617079" y="944807"/>
            <a:ext cx="2564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/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3745319" y="128770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8</a:t>
            </a:r>
          </a:p>
        </p:txBody>
      </p:sp>
      <p:sp>
        <p:nvSpPr>
          <p:cNvPr id="16" name="TextBox 6"/>
          <p:cNvSpPr txBox="1">
            <a:spLocks noChangeArrowheads="1"/>
          </p:cNvSpPr>
          <p:nvPr/>
        </p:nvSpPr>
        <p:spPr bwMode="auto">
          <a:xfrm>
            <a:off x="3745319" y="161631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6</a:t>
            </a:r>
          </a:p>
        </p:txBody>
      </p:sp>
      <p:sp>
        <p:nvSpPr>
          <p:cNvPr id="17" name="TextBox 7"/>
          <p:cNvSpPr txBox="1">
            <a:spLocks noChangeArrowheads="1"/>
          </p:cNvSpPr>
          <p:nvPr/>
        </p:nvSpPr>
        <p:spPr bwMode="auto">
          <a:xfrm>
            <a:off x="3745319" y="1936994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4</a:t>
            </a:r>
          </a:p>
        </p:txBody>
      </p:sp>
      <p:sp>
        <p:nvSpPr>
          <p:cNvPr id="18" name="TextBox 8"/>
          <p:cNvSpPr txBox="1">
            <a:spLocks noChangeArrowheads="1"/>
          </p:cNvSpPr>
          <p:nvPr/>
        </p:nvSpPr>
        <p:spPr bwMode="auto">
          <a:xfrm>
            <a:off x="3745319" y="2300532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</a:p>
        </p:txBody>
      </p:sp>
      <p:sp>
        <p:nvSpPr>
          <p:cNvPr id="19" name="TextBox 9"/>
          <p:cNvSpPr txBox="1">
            <a:spLocks noChangeArrowheads="1"/>
          </p:cNvSpPr>
          <p:nvPr/>
        </p:nvSpPr>
        <p:spPr bwMode="auto">
          <a:xfrm>
            <a:off x="3745319" y="262755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20" name="TextBox 10"/>
          <p:cNvSpPr txBox="1">
            <a:spLocks noChangeArrowheads="1"/>
          </p:cNvSpPr>
          <p:nvPr/>
        </p:nvSpPr>
        <p:spPr bwMode="auto">
          <a:xfrm>
            <a:off x="3616731" y="3400669"/>
            <a:ext cx="2564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</a:p>
        </p:txBody>
      </p:sp>
      <p:sp>
        <p:nvSpPr>
          <p:cNvPr id="21" name="TextBox 11"/>
          <p:cNvSpPr txBox="1">
            <a:spLocks noChangeArrowheads="1"/>
          </p:cNvSpPr>
          <p:nvPr/>
        </p:nvSpPr>
        <p:spPr bwMode="auto">
          <a:xfrm>
            <a:off x="3745319" y="3734044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8</a:t>
            </a:r>
          </a:p>
        </p:txBody>
      </p:sp>
      <p:sp>
        <p:nvSpPr>
          <p:cNvPr id="22" name="TextBox 12"/>
          <p:cNvSpPr txBox="1">
            <a:spLocks noChangeArrowheads="1"/>
          </p:cNvSpPr>
          <p:nvPr/>
        </p:nvSpPr>
        <p:spPr bwMode="auto">
          <a:xfrm>
            <a:off x="3745319" y="406900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6</a:t>
            </a:r>
          </a:p>
        </p:txBody>
      </p:sp>
      <p:sp>
        <p:nvSpPr>
          <p:cNvPr id="23" name="TextBox 13"/>
          <p:cNvSpPr txBox="1">
            <a:spLocks noChangeArrowheads="1"/>
          </p:cNvSpPr>
          <p:nvPr/>
        </p:nvSpPr>
        <p:spPr bwMode="auto">
          <a:xfrm>
            <a:off x="3745319" y="440396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4</a:t>
            </a:r>
          </a:p>
        </p:txBody>
      </p:sp>
      <p:sp>
        <p:nvSpPr>
          <p:cNvPr id="24" name="TextBox 14"/>
          <p:cNvSpPr txBox="1">
            <a:spLocks noChangeArrowheads="1"/>
          </p:cNvSpPr>
          <p:nvPr/>
        </p:nvSpPr>
        <p:spPr bwMode="auto">
          <a:xfrm>
            <a:off x="3745319" y="4737344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</a:p>
        </p:txBody>
      </p:sp>
      <p:sp>
        <p:nvSpPr>
          <p:cNvPr id="25" name="TextBox 15"/>
          <p:cNvSpPr txBox="1">
            <a:spLocks noChangeArrowheads="1"/>
          </p:cNvSpPr>
          <p:nvPr/>
        </p:nvSpPr>
        <p:spPr bwMode="auto">
          <a:xfrm>
            <a:off x="3745319" y="507230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0046" y="1837106"/>
            <a:ext cx="276999" cy="2423740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Number of individuals</a:t>
            </a:r>
          </a:p>
        </p:txBody>
      </p:sp>
      <p:sp>
        <p:nvSpPr>
          <p:cNvPr id="27" name="TextBox 32"/>
          <p:cNvSpPr txBox="1">
            <a:spLocks noChangeArrowheads="1"/>
          </p:cNvSpPr>
          <p:nvPr/>
        </p:nvSpPr>
        <p:spPr bwMode="auto">
          <a:xfrm>
            <a:off x="4969281" y="529455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7</a:t>
            </a: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5888444" y="529455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8</a:t>
            </a:r>
          </a:p>
        </p:txBody>
      </p:sp>
      <p:sp>
        <p:nvSpPr>
          <p:cNvPr id="29" name="TextBox 34"/>
          <p:cNvSpPr txBox="1">
            <a:spLocks noChangeArrowheads="1"/>
          </p:cNvSpPr>
          <p:nvPr/>
        </p:nvSpPr>
        <p:spPr bwMode="auto">
          <a:xfrm>
            <a:off x="4056469" y="529455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6</a:t>
            </a:r>
          </a:p>
        </p:txBody>
      </p:sp>
      <p:sp>
        <p:nvSpPr>
          <p:cNvPr id="30" name="TextBox 37"/>
          <p:cNvSpPr txBox="1">
            <a:spLocks noChangeArrowheads="1"/>
          </p:cNvSpPr>
          <p:nvPr/>
        </p:nvSpPr>
        <p:spPr bwMode="auto">
          <a:xfrm>
            <a:off x="6801256" y="529455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9</a:t>
            </a:r>
          </a:p>
        </p:txBody>
      </p:sp>
      <p:sp>
        <p:nvSpPr>
          <p:cNvPr id="31" name="TextBox 38"/>
          <p:cNvSpPr txBox="1">
            <a:spLocks noChangeArrowheads="1"/>
          </p:cNvSpPr>
          <p:nvPr/>
        </p:nvSpPr>
        <p:spPr bwMode="auto">
          <a:xfrm>
            <a:off x="7639456" y="5294557"/>
            <a:ext cx="2564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</a:p>
        </p:txBody>
      </p:sp>
      <p:sp>
        <p:nvSpPr>
          <p:cNvPr id="32" name="TextBox 39"/>
          <p:cNvSpPr txBox="1">
            <a:spLocks noChangeArrowheads="1"/>
          </p:cNvSpPr>
          <p:nvPr/>
        </p:nvSpPr>
        <p:spPr bwMode="auto">
          <a:xfrm>
            <a:off x="8547506" y="5294557"/>
            <a:ext cx="2437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11</a:t>
            </a:r>
          </a:p>
        </p:txBody>
      </p:sp>
      <p:sp>
        <p:nvSpPr>
          <p:cNvPr id="33" name="TextBox 40"/>
          <p:cNvSpPr txBox="1">
            <a:spLocks noChangeArrowheads="1"/>
          </p:cNvSpPr>
          <p:nvPr/>
        </p:nvSpPr>
        <p:spPr bwMode="auto">
          <a:xfrm>
            <a:off x="3318280" y="5885108"/>
            <a:ext cx="52765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Data from S. P. Carroll and C. Boyd, Host race radiation in the soapberry</a:t>
            </a:r>
          </a:p>
          <a:p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bug: natural history with the history, </a:t>
            </a: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Evolution</a:t>
            </a: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46:1052–1069 (1992).</a:t>
            </a:r>
          </a:p>
        </p:txBody>
      </p:sp>
    </p:spTree>
    <p:extLst>
      <p:ext uri="{BB962C8B-B14F-4D97-AF65-F5344CB8AC3E}">
        <p14:creationId xmlns:p14="http://schemas.microsoft.com/office/powerpoint/2010/main" val="1694488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The Evolution of Drug-Resistant Bacteria</a:t>
            </a:r>
          </a:p>
        </p:txBody>
      </p:sp>
      <p:pic>
        <p:nvPicPr>
          <p:cNvPr id="4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id="{1A0B0F3A-ADAC-4478-A9A9-70CC5E88E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629516"/>
            <a:ext cx="2171700" cy="2171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515802-AF71-434A-A25A-88504DFEA95E}"/>
              </a:ext>
            </a:extLst>
          </p:cNvPr>
          <p:cNvSpPr txBox="1"/>
          <p:nvPr/>
        </p:nvSpPr>
        <p:spPr>
          <a:xfrm>
            <a:off x="4229100" y="5299867"/>
            <a:ext cx="3333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mechanism in which antibiotics work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762000"/>
            <a:ext cx="8991600" cy="5728096"/>
          </a:xfrm>
        </p:spPr>
        <p:txBody>
          <a:bodyPr/>
          <a:lstStyle/>
          <a:p>
            <a:r>
              <a:rPr lang="en-US" altLang="en-US" dirty="0"/>
              <a:t>The bacterium </a:t>
            </a:r>
            <a:r>
              <a:rPr lang="en-US" altLang="en-US" i="1" dirty="0"/>
              <a:t>Staphylococcus</a:t>
            </a:r>
            <a:r>
              <a:rPr lang="en-US" altLang="en-US" dirty="0"/>
              <a:t> </a:t>
            </a:r>
            <a:r>
              <a:rPr lang="en-US" altLang="en-US" i="1" dirty="0"/>
              <a:t>aureus</a:t>
            </a:r>
            <a:r>
              <a:rPr lang="en-US" altLang="en-US" dirty="0"/>
              <a:t> is </a:t>
            </a:r>
          </a:p>
          <a:p>
            <a:endParaRPr lang="en-US" altLang="en-US" dirty="0"/>
          </a:p>
          <a:p>
            <a:r>
              <a:rPr lang="en-US" altLang="en-US" dirty="0"/>
              <a:t>One strain, </a:t>
            </a:r>
          </a:p>
          <a:p>
            <a:endParaRPr lang="en-US" altLang="en-US" dirty="0"/>
          </a:p>
          <a:p>
            <a:r>
              <a:rPr lang="en-US" altLang="en-US" dirty="0"/>
              <a:t>Resistance to penicillin evolved in </a:t>
            </a:r>
            <a:r>
              <a:rPr lang="en-US" altLang="en-US" i="1" dirty="0"/>
              <a:t>S. aureus</a:t>
            </a:r>
            <a:r>
              <a:rPr lang="en-US" altLang="en-US" dirty="0"/>
              <a:t> by </a:t>
            </a:r>
          </a:p>
          <a:p>
            <a:endParaRPr lang="en-US" altLang="en-US" dirty="0"/>
          </a:p>
          <a:p>
            <a:r>
              <a:rPr lang="en-US" altLang="en-US" dirty="0"/>
              <a:t>Resistance to methicillin evolved in </a:t>
            </a:r>
            <a:r>
              <a:rPr lang="en-US" altLang="en-US" i="1" dirty="0"/>
              <a:t>S. aureus</a:t>
            </a:r>
            <a:r>
              <a:rPr lang="en-US" altLang="en-US" dirty="0"/>
              <a:t> by 1961,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29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455341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152" y="152399"/>
            <a:ext cx="3531437" cy="264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733800"/>
            <a:ext cx="4085478" cy="276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RSA infection" title="MRSA infec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66" y="3733800"/>
            <a:ext cx="3778469" cy="2758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2908736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MRSA INFECTIONS</a:t>
            </a:r>
          </a:p>
        </p:txBody>
      </p:sp>
    </p:spTree>
    <p:extLst>
      <p:ext uri="{BB962C8B-B14F-4D97-AF65-F5344CB8AC3E}">
        <p14:creationId xmlns:p14="http://schemas.microsoft.com/office/powerpoint/2010/main" val="3539102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30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553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88900"/>
            <a:ext cx="8991600" cy="6705600"/>
          </a:xfrm>
        </p:spPr>
        <p:txBody>
          <a:bodyPr/>
          <a:lstStyle/>
          <a:p>
            <a:r>
              <a:rPr lang="en-US" altLang="en-US" dirty="0"/>
              <a:t>Methicillin works by inhibiting an </a:t>
            </a:r>
          </a:p>
          <a:p>
            <a:endParaRPr lang="en-US" altLang="en-US" dirty="0"/>
          </a:p>
          <a:p>
            <a:r>
              <a:rPr lang="en-US" altLang="en-US" dirty="0"/>
              <a:t>MRSA bacteria use a different enzyme in </a:t>
            </a:r>
          </a:p>
          <a:p>
            <a:endParaRPr lang="en-US" altLang="en-US" dirty="0"/>
          </a:p>
          <a:p>
            <a:r>
              <a:rPr lang="en-US" altLang="en-US" dirty="0"/>
              <a:t>When exposed to methicillin, MRSA strains are more likely to survive and</a:t>
            </a:r>
          </a:p>
          <a:p>
            <a:endParaRPr lang="en-US" altLang="en-US" dirty="0"/>
          </a:p>
          <a:p>
            <a:r>
              <a:rPr lang="en-US" altLang="en-US" dirty="0"/>
              <a:t>MRSA strains are now </a:t>
            </a:r>
          </a:p>
          <a:p>
            <a:r>
              <a:rPr lang="en-US" altLang="en-US" dirty="0"/>
              <a:t>In recent decades, antibiotic resistance has spread faster than </a:t>
            </a:r>
          </a:p>
          <a:p>
            <a:r>
              <a:rPr lang="en-US" altLang="en-US" dirty="0"/>
              <a:t>A new antibiotic, “</a:t>
            </a:r>
            <a:r>
              <a:rPr lang="en-US" altLang="ja-JP" dirty="0" err="1"/>
              <a:t>teixobactin</a:t>
            </a:r>
            <a:r>
              <a:rPr lang="en-US" altLang="ja-JP" dirty="0"/>
              <a:t>,</a:t>
            </a:r>
            <a:r>
              <a:rPr lang="en-US" altLang="en-US" dirty="0"/>
              <a:t>”</a:t>
            </a:r>
            <a:r>
              <a:rPr lang="en-US" altLang="ja-JP" dirty="0"/>
              <a:t> was discovered in 2015 and shows 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 22.14 Clone USA300: a virulent strain of methicillin-resistant Staphylococcus aureus (MRSA)&#10;" title="Figure 22.14 Clone USA300: a virulent strain of methicillin-resistant Staphylococcus aureus (MRSA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9537"/>
            <a:ext cx="8077200" cy="663892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22.14</a:t>
            </a:r>
          </a:p>
        </p:txBody>
      </p:sp>
    </p:spTree>
    <p:extLst>
      <p:ext uri="{BB962C8B-B14F-4D97-AF65-F5344CB8AC3E}">
        <p14:creationId xmlns:p14="http://schemas.microsoft.com/office/powerpoint/2010/main" val="3764341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5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32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8610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28575"/>
            <a:ext cx="8991600" cy="6781800"/>
          </a:xfrm>
        </p:spPr>
        <p:txBody>
          <a:bodyPr/>
          <a:lstStyle/>
          <a:p>
            <a:r>
              <a:rPr lang="en-US" altLang="en-US" dirty="0"/>
              <a:t>Natural selection does not create new traits, but edits or selects for traits </a:t>
            </a:r>
          </a:p>
          <a:p>
            <a:r>
              <a:rPr lang="en-US" altLang="en-US" dirty="0"/>
              <a:t>Evolution by natural selection can occur rapidly in species with </a:t>
            </a:r>
          </a:p>
          <a:p>
            <a:r>
              <a:rPr lang="en-US" altLang="en-US" dirty="0"/>
              <a:t>The current, local environment determines which traits will be selected for or selected </a:t>
            </a:r>
          </a:p>
          <a:p>
            <a:endParaRPr lang="en-US" altLang="en-US" dirty="0"/>
          </a:p>
          <a:p>
            <a:r>
              <a:rPr lang="en-US" altLang="en-US" dirty="0"/>
              <a:t>Individuals do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evolve, it is </a:t>
            </a:r>
          </a:p>
          <a:p>
            <a:endParaRPr lang="en-US" altLang="en-US" dirty="0"/>
          </a:p>
          <a:p>
            <a:r>
              <a:rPr lang="en-US" altLang="en-US" dirty="0"/>
              <a:t>Evolution relies on mutations, or</a:t>
            </a:r>
          </a:p>
          <a:p>
            <a:endParaRPr lang="en-US" altLang="en-US" dirty="0"/>
          </a:p>
          <a:p>
            <a:r>
              <a:rPr lang="en-US" altLang="en-US" dirty="0"/>
              <a:t>Mutations can be single nucleotides all the way through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Anatomical and Molecular Homologies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741577"/>
            <a:ext cx="8991600" cy="2456193"/>
          </a:xfrm>
        </p:spPr>
        <p:txBody>
          <a:bodyPr/>
          <a:lstStyle/>
          <a:p>
            <a:r>
              <a:rPr lang="en-US" altLang="en-US" b="1" dirty="0"/>
              <a:t>Homology</a:t>
            </a:r>
            <a:r>
              <a:rPr lang="en-US" altLang="en-US" dirty="0"/>
              <a:t> is</a:t>
            </a:r>
          </a:p>
          <a:p>
            <a:endParaRPr lang="en-US" altLang="en-US" dirty="0"/>
          </a:p>
          <a:p>
            <a:r>
              <a:rPr lang="en-US" altLang="en-US" b="1" dirty="0"/>
              <a:t>Homologous</a:t>
            </a:r>
            <a:r>
              <a:rPr lang="en-US" altLang="en-US" dirty="0"/>
              <a:t> </a:t>
            </a:r>
            <a:r>
              <a:rPr lang="en-US" altLang="en-US" b="1" dirty="0"/>
              <a:t>structures</a:t>
            </a:r>
            <a:r>
              <a:rPr lang="en-US" altLang="en-US" dirty="0"/>
              <a:t> are anatomical resemblances that represent </a:t>
            </a:r>
          </a:p>
        </p:txBody>
      </p:sp>
      <p:pic>
        <p:nvPicPr>
          <p:cNvPr id="2" name="Picture 1" descr="Figure 22.15 Mammalian forelimbs: homologous structures&#10;" title="Figure 22.15 Mammalian forelimbs: homologous structures">
            <a:extLst>
              <a:ext uri="{FF2B5EF4-FFF2-40B4-BE49-F238E27FC236}">
                <a16:creationId xmlns:a16="http://schemas.microsoft.com/office/drawing/2014/main" id="{9F87A5CB-1F42-4A64-9618-4DBB4AF6D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990" y="3250328"/>
            <a:ext cx="6246019" cy="354466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214" y="32657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34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270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228600"/>
            <a:ext cx="8839200" cy="5216525"/>
          </a:xfrm>
        </p:spPr>
        <p:txBody>
          <a:bodyPr/>
          <a:lstStyle/>
          <a:p>
            <a:r>
              <a:rPr lang="en-US" altLang="en-US" dirty="0"/>
              <a:t>Comparative embryology reveals anatomical homologies </a:t>
            </a:r>
          </a:p>
          <a:p>
            <a:pPr lvl="1"/>
            <a:r>
              <a:rPr lang="en-US" altLang="en-US" dirty="0"/>
              <a:t>EX: All vertebrate embryos have </a:t>
            </a:r>
          </a:p>
        </p:txBody>
      </p:sp>
      <p:pic>
        <p:nvPicPr>
          <p:cNvPr id="2" name="Picture 1" descr="Figure 22.16 Anatomical similarities in vertebrate embryos&#10;" title="Figure 22.16 Anatomical similarities in vertebrate embryos">
            <a:extLst>
              <a:ext uri="{FF2B5EF4-FFF2-40B4-BE49-F238E27FC236}">
                <a16:creationId xmlns:a16="http://schemas.microsoft.com/office/drawing/2014/main" id="{8976666C-5C96-454D-B28E-9510491CB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361" y="2362200"/>
            <a:ext cx="639127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35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4754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152400"/>
            <a:ext cx="8839200" cy="2438400"/>
          </a:xfrm>
        </p:spPr>
        <p:txBody>
          <a:bodyPr/>
          <a:lstStyle/>
          <a:p>
            <a:r>
              <a:rPr lang="en-US" altLang="en-US" b="1" dirty="0"/>
              <a:t>Vestigial</a:t>
            </a:r>
            <a:r>
              <a:rPr lang="en-US" altLang="en-US" dirty="0"/>
              <a:t> </a:t>
            </a:r>
            <a:r>
              <a:rPr lang="en-US" altLang="en-US" b="1" dirty="0"/>
              <a:t>structures</a:t>
            </a:r>
            <a:r>
              <a:rPr lang="en-US" altLang="en-US" dirty="0"/>
              <a:t> are remnants of features that served </a:t>
            </a:r>
            <a:endParaRPr lang="en-US" altLang="ja-JP" dirty="0"/>
          </a:p>
          <a:p>
            <a:r>
              <a:rPr lang="en-US" altLang="en-US" dirty="0"/>
              <a:t>Examples of homologies at the molecular level are genes shared among </a:t>
            </a:r>
          </a:p>
        </p:txBody>
      </p:sp>
      <p:pic>
        <p:nvPicPr>
          <p:cNvPr id="3" name="Picture 2" descr="Vestigial examples" title="Vestigial examples">
            <a:extLst>
              <a:ext uri="{FF2B5EF4-FFF2-40B4-BE49-F238E27FC236}">
                <a16:creationId xmlns:a16="http://schemas.microsoft.com/office/drawing/2014/main" id="{881AB15A-9529-44BD-BA0C-43FFA724A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1" y="2676525"/>
            <a:ext cx="8791575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Homologies and </a:t>
            </a:r>
            <a:r>
              <a:rPr lang="ja-JP" altLang="en-US" i="1" dirty="0"/>
              <a:t>“</a:t>
            </a:r>
            <a:r>
              <a:rPr lang="en-US" altLang="ja-JP" i="1" dirty="0"/>
              <a:t>Tree Thinking</a:t>
            </a:r>
            <a:r>
              <a:rPr lang="ja-JP" altLang="en-US" i="1" dirty="0"/>
              <a:t>”</a:t>
            </a:r>
            <a:endParaRPr lang="en-US" altLang="en-US" i="1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Evolutionary</a:t>
            </a:r>
            <a:r>
              <a:rPr lang="en-US" altLang="en-US" dirty="0"/>
              <a:t> </a:t>
            </a:r>
            <a:r>
              <a:rPr lang="en-US" altLang="en-US" b="1" dirty="0"/>
              <a:t>trees</a:t>
            </a:r>
            <a:r>
              <a:rPr lang="en-US" altLang="en-US" dirty="0"/>
              <a:t> are diagrams that reflect hypotheses about</a:t>
            </a:r>
          </a:p>
          <a:p>
            <a:endParaRPr lang="en-US" altLang="en-US" dirty="0"/>
          </a:p>
          <a:p>
            <a:r>
              <a:rPr lang="en-US" altLang="en-US" dirty="0"/>
              <a:t>Homologies form </a:t>
            </a:r>
          </a:p>
          <a:p>
            <a:endParaRPr lang="en-US" altLang="en-US" dirty="0"/>
          </a:p>
          <a:p>
            <a:r>
              <a:rPr lang="en-US" altLang="en-US" dirty="0"/>
              <a:t>Evolutionary trees can be made using different types of data, for example,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22.17</a:t>
            </a:r>
          </a:p>
        </p:txBody>
      </p:sp>
      <p:pic>
        <p:nvPicPr>
          <p:cNvPr id="2" name="Picture 1" descr="Figure 22.17 Tree thinking: information provided in an evolutionary tree&#10;" title="Figure 22.17 Tree thinking: information provided in an evolutionary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519112"/>
            <a:ext cx="874395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04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i="1" dirty="0"/>
              <a:t>A Different Cause of Resemblance: Convergent Evolution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Convergent</a:t>
            </a:r>
            <a:r>
              <a:rPr lang="en-US" altLang="en-US" dirty="0"/>
              <a:t> </a:t>
            </a:r>
            <a:r>
              <a:rPr lang="en-US" altLang="en-US" b="1" dirty="0"/>
              <a:t>evolution</a:t>
            </a:r>
            <a:r>
              <a:rPr lang="en-US" altLang="en-US" dirty="0"/>
              <a:t> is the evolution of similar, or </a:t>
            </a:r>
            <a:r>
              <a:rPr lang="en-US" altLang="en-US" b="1" dirty="0"/>
              <a:t>analogous</a:t>
            </a:r>
            <a:r>
              <a:rPr lang="en-US" altLang="en-US" dirty="0"/>
              <a:t>, </a:t>
            </a:r>
          </a:p>
          <a:p>
            <a:r>
              <a:rPr lang="en-US" altLang="en-US" dirty="0"/>
              <a:t>Analogous traits arise when groups independently adapt to </a:t>
            </a:r>
          </a:p>
          <a:p>
            <a:r>
              <a:rPr lang="en-US" altLang="en-US" dirty="0"/>
              <a:t>Convergent evolution does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22.18</a:t>
            </a:r>
          </a:p>
        </p:txBody>
      </p:sp>
      <p:pic>
        <p:nvPicPr>
          <p:cNvPr id="2" name="Picture 1" descr="Figure 22.18 Convergent evolution&#10;" title="Figure 22.18 Convergent evol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428625"/>
            <a:ext cx="75819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35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Fossil Record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199" cy="1524000"/>
          </a:xfrm>
        </p:spPr>
        <p:txBody>
          <a:bodyPr/>
          <a:lstStyle/>
          <a:p>
            <a:r>
              <a:rPr lang="en-US" altLang="en-US" dirty="0"/>
              <a:t>The fossil record provides evidence of the extinction of species, the origin of </a:t>
            </a:r>
          </a:p>
        </p:txBody>
      </p:sp>
      <p:pic>
        <p:nvPicPr>
          <p:cNvPr id="5" name="Picture 4" descr="Figure 22.19 Ankle bones: one piece of the puzzle&#10;" title="Figure 22.19 Ankle bones: one piece of the puzzle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2"/>
          <a:stretch>
            <a:fillRect/>
          </a:stretch>
        </p:blipFill>
        <p:spPr>
          <a:xfrm>
            <a:off x="298704" y="2410968"/>
            <a:ext cx="8546592" cy="3608832"/>
          </a:xfrm>
          <a:prstGeom prst="rect">
            <a:avLst/>
          </a:prstGeom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84835" y="2501907"/>
            <a:ext cx="16671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Most mammals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626372" y="2501907"/>
            <a:ext cx="39369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Cetaceans and even-toed ungulates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548335" y="5618170"/>
            <a:ext cx="16158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(a) </a:t>
            </a:r>
            <a:r>
              <a:rPr lang="en-US" sz="1800" b="1" i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Canis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(dog)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2654947" y="5618170"/>
            <a:ext cx="143629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(b) </a:t>
            </a:r>
            <a:r>
              <a:rPr lang="en-US" sz="1800" b="1" i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Pakicetus</a:t>
            </a:r>
            <a:endParaRPr lang="en-US" sz="1800" b="1" i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4675835" y="5618170"/>
            <a:ext cx="13336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(c)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Sus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(pig)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6452247" y="5618170"/>
            <a:ext cx="23211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(d) </a:t>
            </a:r>
            <a:r>
              <a:rPr lang="en-US" sz="1800" b="1" i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Odocoileus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(deer)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720"/>
            <a:ext cx="9144000" cy="600164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41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Figure 22.20 The transition to life in the sea&#10;" title="Figure 22.20 The transition to life in the se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631538"/>
            <a:ext cx="877252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85738" y="152400"/>
            <a:ext cx="8653462" cy="1524000"/>
          </a:xfrm>
        </p:spPr>
        <p:txBody>
          <a:bodyPr/>
          <a:lstStyle/>
          <a:p>
            <a:r>
              <a:rPr lang="en-US" altLang="en-US" dirty="0"/>
              <a:t>Fossils can document important </a:t>
            </a:r>
          </a:p>
          <a:p>
            <a:pPr lvl="1"/>
            <a:r>
              <a:rPr lang="en-US" altLang="en-US" dirty="0"/>
              <a:t>EX: The transition from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Homologous Structures </a:t>
            </a:r>
          </a:p>
        </p:txBody>
      </p:sp>
      <p:sp>
        <p:nvSpPr>
          <p:cNvPr id="30757" name="TextBox 1"/>
          <p:cNvSpPr txBox="1">
            <a:spLocks noChangeArrowheads="1"/>
          </p:cNvSpPr>
          <p:nvPr/>
        </p:nvSpPr>
        <p:spPr bwMode="auto">
          <a:xfrm>
            <a:off x="0" y="5969000"/>
            <a:ext cx="9180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C10"/>
              </a:buClr>
              <a:buFont typeface="Wingdings" pitchFamily="2" charset="2"/>
              <a:buChar char="§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Times" charset="0"/>
              </a:rPr>
              <a:t>***Similar anatomy/structure, but different uses***</a:t>
            </a:r>
          </a:p>
        </p:txBody>
      </p:sp>
      <p:pic>
        <p:nvPicPr>
          <p:cNvPr id="2" name="Picture 1" descr="Examples of homologous structures" title="Examples of homologous structu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919162"/>
            <a:ext cx="825817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559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Analogous Structures </a:t>
            </a:r>
          </a:p>
        </p:txBody>
      </p:sp>
      <p:pic>
        <p:nvPicPr>
          <p:cNvPr id="24579" name="Picture 10" descr="Examples of analogous structures" title="Examples of analogous structu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30"/>
          <a:stretch>
            <a:fillRect/>
          </a:stretch>
        </p:blipFill>
        <p:spPr bwMode="auto">
          <a:xfrm>
            <a:off x="303213" y="1597025"/>
            <a:ext cx="8535987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1"/>
          <p:cNvSpPr txBox="1">
            <a:spLocks noChangeArrowheads="1"/>
          </p:cNvSpPr>
          <p:nvPr/>
        </p:nvSpPr>
        <p:spPr bwMode="auto">
          <a:xfrm>
            <a:off x="0" y="5194300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C10"/>
              </a:buClr>
              <a:buFont typeface="Wingdings" pitchFamily="2" charset="2"/>
              <a:buChar char="§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Times" charset="0"/>
              </a:rPr>
              <a:t>***Different anatomy/structure, but similar uses***</a:t>
            </a:r>
          </a:p>
        </p:txBody>
      </p:sp>
    </p:spTree>
    <p:extLst>
      <p:ext uri="{BB962C8B-B14F-4D97-AF65-F5344CB8AC3E}">
        <p14:creationId xmlns:p14="http://schemas.microsoft.com/office/powerpoint/2010/main" val="2885071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FlagCount" hidden="1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9C10"/>
              </a:buClr>
              <a:buFont typeface="Wingdings" pitchFamily="2" charset="2"/>
              <a:buChar char="§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ahoma" pitchFamily="34" charset="0"/>
              </a:rPr>
              <a:t>0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xfrm>
            <a:off x="17463" y="0"/>
            <a:ext cx="9112250" cy="683264"/>
          </a:xfrm>
        </p:spPr>
        <p:txBody>
          <a:bodyPr/>
          <a:lstStyle/>
          <a:p>
            <a:pPr algn="ctr" eaLnBrk="1" hangingPunct="1"/>
            <a:r>
              <a:rPr lang="en-US" altLang="en-US" sz="3600" dirty="0">
                <a:solidFill>
                  <a:schemeClr val="tx1"/>
                </a:solidFill>
              </a:rPr>
              <a:t>Analogous &amp; Homologous Structures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pic>
        <p:nvPicPr>
          <p:cNvPr id="2" name="Picture 1" descr="Comparing Analogous &amp; Homologous Structures" title="Comparing Analogous &amp; Homologous Structur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9" y="857250"/>
            <a:ext cx="9080764" cy="55435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631927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Biogeography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65316" y="609600"/>
            <a:ext cx="9054664" cy="3962400"/>
          </a:xfrm>
        </p:spPr>
        <p:txBody>
          <a:bodyPr/>
          <a:lstStyle/>
          <a:p>
            <a:r>
              <a:rPr lang="en-US" altLang="en-US" b="1" dirty="0">
                <a:hlinkClick r:id="rId3"/>
              </a:rPr>
              <a:t>Biogeography</a:t>
            </a:r>
            <a:r>
              <a:rPr lang="en-US" altLang="en-US" dirty="0"/>
              <a:t>, the scientific study of the geographic distribution of </a:t>
            </a:r>
          </a:p>
          <a:p>
            <a:r>
              <a:rPr lang="en-US" altLang="en-US" dirty="0"/>
              <a:t>Earth’</a:t>
            </a:r>
            <a:r>
              <a:rPr lang="en-US" altLang="ja-JP" dirty="0"/>
              <a:t>s continents were formerly united in a single large continent called </a:t>
            </a:r>
          </a:p>
          <a:p>
            <a:endParaRPr lang="en-US" altLang="ja-JP" dirty="0"/>
          </a:p>
          <a:p>
            <a:r>
              <a:rPr lang="en-US" altLang="en-US" dirty="0"/>
              <a:t>An understanding of continent movement and modern distribution of species allows us to </a:t>
            </a:r>
          </a:p>
        </p:txBody>
      </p:sp>
      <p:pic>
        <p:nvPicPr>
          <p:cNvPr id="4" name="Picture 5" descr="Biogeography examples and Earth plate formation" title="Biogeography examples and Earth plate form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34" y="4511566"/>
            <a:ext cx="8382000" cy="2334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652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amples of endemic species" title="Examples of endemic spec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" y="1133467"/>
            <a:ext cx="7705725" cy="26438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3" y="38100"/>
            <a:ext cx="9144000" cy="600164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46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704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152400"/>
            <a:ext cx="8839200" cy="6705599"/>
          </a:xfrm>
        </p:spPr>
        <p:txBody>
          <a:bodyPr/>
          <a:lstStyle/>
          <a:p>
            <a:r>
              <a:rPr lang="en-US" altLang="en-US" b="1" dirty="0"/>
              <a:t>Endemic</a:t>
            </a:r>
            <a:r>
              <a:rPr lang="en-US" altLang="en-US" dirty="0"/>
              <a:t> species are species that are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Islands have many endemic species that are often closely related to</a:t>
            </a:r>
          </a:p>
          <a:p>
            <a:endParaRPr lang="en-US" altLang="en-US" dirty="0"/>
          </a:p>
          <a:p>
            <a:r>
              <a:rPr lang="en-US" altLang="en-US" dirty="0"/>
              <a:t>Darwin suggested that species from the mainland colonized islands and gave rise to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Campbell11e_LectureDesign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mpbell11e_LectureDesign" id="{1E29558D-F693-462F-BFE8-09589E69881C}" vid="{70B05F25-2FB3-4FD4-980B-A633ABC17E0B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3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3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3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0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4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4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Campbell11e_LectureDesign</Template>
  <TotalTime>6064</TotalTime>
  <Words>1769</Words>
  <Application>Microsoft Office PowerPoint</Application>
  <PresentationFormat>On-screen Show (4:3)</PresentationFormat>
  <Paragraphs>326</Paragraphs>
  <Slides>47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47</vt:i4>
      </vt:variant>
    </vt:vector>
  </HeadingPairs>
  <TitlesOfParts>
    <vt:vector size="67" baseType="lpstr">
      <vt:lpstr>ＭＳ Ｐゴシック</vt:lpstr>
      <vt:lpstr>Arial</vt:lpstr>
      <vt:lpstr>Geneva</vt:lpstr>
      <vt:lpstr>Open Sans</vt:lpstr>
      <vt:lpstr>Tahoma</vt:lpstr>
      <vt:lpstr>Times</vt:lpstr>
      <vt:lpstr>Times New Roman</vt:lpstr>
      <vt:lpstr>Wingdings</vt:lpstr>
      <vt:lpstr>ヒラギノ角ゴ Pro W3</vt:lpstr>
      <vt:lpstr>Campbell11e_LectureDesign</vt:lpstr>
      <vt:lpstr>Blank</vt:lpstr>
      <vt:lpstr>12_Blank</vt:lpstr>
      <vt:lpstr>13_Blank</vt:lpstr>
      <vt:lpstr>22_Blank</vt:lpstr>
      <vt:lpstr>23_Blank</vt:lpstr>
      <vt:lpstr>35_Blank</vt:lpstr>
      <vt:lpstr>38_Blank</vt:lpstr>
      <vt:lpstr>40_Blank</vt:lpstr>
      <vt:lpstr>45_Blank</vt:lpstr>
      <vt:lpstr>46_Blank</vt:lpstr>
      <vt:lpstr>Introduction</vt:lpstr>
      <vt:lpstr>CH 22 Learning Objectives</vt:lpstr>
      <vt:lpstr>A Darwinian View of Life</vt:lpstr>
      <vt:lpstr>Concept 22.1: The Darwinian revolution challenged traditional views of a young Earth inhabited by unchanging species</vt:lpstr>
      <vt:lpstr>Scala Naturae and Classification of Species</vt:lpstr>
      <vt:lpstr>Ideas About Change over Time</vt:lpstr>
      <vt:lpstr>7</vt:lpstr>
      <vt:lpstr>Lamarck vs. Darwin</vt:lpstr>
      <vt:lpstr>Concept 22.2: Descent with modification by natural selection explains the adaptations of organisms and the unity and diversity of life</vt:lpstr>
      <vt:lpstr>The Voyage of the Beagle</vt:lpstr>
      <vt:lpstr>Figure 22.5</vt:lpstr>
      <vt:lpstr>PowerPoint Presentation</vt:lpstr>
      <vt:lpstr>Darwin’s Focus on Adaptation</vt:lpstr>
      <vt:lpstr>13</vt:lpstr>
      <vt:lpstr>Ideas from The Origin of Species</vt:lpstr>
      <vt:lpstr>Descent with Modification</vt:lpstr>
      <vt:lpstr>PowerPoint Presentation</vt:lpstr>
      <vt:lpstr>Figure 22.8</vt:lpstr>
      <vt:lpstr>Artificial Selection, Natural Selection, and Adaptation</vt:lpstr>
      <vt:lpstr>19</vt:lpstr>
      <vt:lpstr>20</vt:lpstr>
      <vt:lpstr>21</vt:lpstr>
      <vt:lpstr>Key Features of Natural Selection</vt:lpstr>
      <vt:lpstr>Figure 22.12</vt:lpstr>
      <vt:lpstr>Concept 22.3: Evolution is supported by an overwhelming amount of scientific evidence</vt:lpstr>
      <vt:lpstr>Natural Selection in Response to Introduced Species </vt:lpstr>
      <vt:lpstr>26</vt:lpstr>
      <vt:lpstr>Figure 22.13</vt:lpstr>
      <vt:lpstr>The Evolution of Drug-Resistant Bacteria</vt:lpstr>
      <vt:lpstr>29</vt:lpstr>
      <vt:lpstr>30</vt:lpstr>
      <vt:lpstr>Figure 22.14</vt:lpstr>
      <vt:lpstr>32</vt:lpstr>
      <vt:lpstr>Anatomical and Molecular Homologies</vt:lpstr>
      <vt:lpstr>34</vt:lpstr>
      <vt:lpstr>35</vt:lpstr>
      <vt:lpstr>Homologies and “Tree Thinking”</vt:lpstr>
      <vt:lpstr>Figure 22.17</vt:lpstr>
      <vt:lpstr>A Different Cause of Resemblance: Convergent Evolution</vt:lpstr>
      <vt:lpstr>Figure 22.18</vt:lpstr>
      <vt:lpstr>The Fossil Record</vt:lpstr>
      <vt:lpstr>41</vt:lpstr>
      <vt:lpstr>Homologous Structures </vt:lpstr>
      <vt:lpstr>Analogous Structures </vt:lpstr>
      <vt:lpstr>Analogous &amp; Homologous Structures</vt:lpstr>
      <vt:lpstr>Biogeography</vt:lpstr>
      <vt:lpstr>46</vt:lpstr>
    </vt:vector>
  </TitlesOfParts>
  <Company>Jerome 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Adam W. Hrincevich</dc:creator>
  <cp:lastModifiedBy>Adam Hrincevich</cp:lastModifiedBy>
  <cp:revision>175</cp:revision>
  <dcterms:created xsi:type="dcterms:W3CDTF">2010-08-06T18:35:02Z</dcterms:created>
  <dcterms:modified xsi:type="dcterms:W3CDTF">2026-08-18T18:21:10Z</dcterms:modified>
</cp:coreProperties>
</file>