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00" r:id="rId1"/>
    <p:sldMasterId id="2147483905" r:id="rId2"/>
    <p:sldMasterId id="2147483910" r:id="rId3"/>
  </p:sldMasterIdLst>
  <p:notesMasterIdLst>
    <p:notesMasterId r:id="rId42"/>
  </p:notesMasterIdLst>
  <p:handoutMasterIdLst>
    <p:handoutMasterId r:id="rId43"/>
  </p:handoutMasterIdLst>
  <p:sldIdLst>
    <p:sldId id="772" r:id="rId4"/>
    <p:sldId id="773" r:id="rId5"/>
    <p:sldId id="508" r:id="rId6"/>
    <p:sldId id="509" r:id="rId7"/>
    <p:sldId id="512" r:id="rId8"/>
    <p:sldId id="535" r:id="rId9"/>
    <p:sldId id="546" r:id="rId10"/>
    <p:sldId id="548" r:id="rId11"/>
    <p:sldId id="774" r:id="rId12"/>
    <p:sldId id="552" r:id="rId13"/>
    <p:sldId id="555" r:id="rId14"/>
    <p:sldId id="702" r:id="rId15"/>
    <p:sldId id="559" r:id="rId16"/>
    <p:sldId id="564" r:id="rId17"/>
    <p:sldId id="566" r:id="rId18"/>
    <p:sldId id="568" r:id="rId19"/>
    <p:sldId id="572" r:id="rId20"/>
    <p:sldId id="575" r:id="rId21"/>
    <p:sldId id="708" r:id="rId22"/>
    <p:sldId id="584" r:id="rId23"/>
    <p:sldId id="587" r:id="rId24"/>
    <p:sldId id="592" r:id="rId25"/>
    <p:sldId id="719" r:id="rId26"/>
    <p:sldId id="598" r:id="rId27"/>
    <p:sldId id="610" r:id="rId28"/>
    <p:sldId id="611" r:id="rId29"/>
    <p:sldId id="613" r:id="rId30"/>
    <p:sldId id="619" r:id="rId31"/>
    <p:sldId id="621" r:id="rId32"/>
    <p:sldId id="627" r:id="rId33"/>
    <p:sldId id="629" r:id="rId34"/>
    <p:sldId id="640" r:id="rId35"/>
    <p:sldId id="643" r:id="rId36"/>
    <p:sldId id="644" r:id="rId37"/>
    <p:sldId id="656" r:id="rId38"/>
    <p:sldId id="659" r:id="rId39"/>
    <p:sldId id="660" r:id="rId40"/>
    <p:sldId id="664" r:id="rId4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sz="2400"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sz="2400"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sz="2400"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sz="2400"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1296">
          <p15:clr>
            <a:srgbClr val="A4A3A4"/>
          </p15:clr>
        </p15:guide>
        <p15:guide id="2" orient="horz" pos="2160">
          <p15:clr>
            <a:srgbClr val="A4A3A4"/>
          </p15:clr>
        </p15:guide>
        <p15:guide id="3"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hleen Fitzpatrick"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887E"/>
    <a:srgbClr val="D1300D"/>
    <a:srgbClr val="B9B9B9"/>
    <a:srgbClr val="AA2B15"/>
    <a:srgbClr val="AEB9B1"/>
    <a:srgbClr val="4F6F92"/>
    <a:srgbClr val="F7F7F7"/>
    <a:srgbClr val="0047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29" autoAdjust="0"/>
  </p:normalViewPr>
  <p:slideViewPr>
    <p:cSldViewPr>
      <p:cViewPr varScale="1">
        <p:scale>
          <a:sx n="81" d="100"/>
          <a:sy n="81" d="100"/>
        </p:scale>
        <p:origin x="1596" y="108"/>
      </p:cViewPr>
      <p:guideLst>
        <p:guide orient="horz" pos="1296"/>
        <p:guide orient="horz" pos="2160"/>
        <p:guide pos="2880"/>
      </p:guideLst>
    </p:cSldViewPr>
  </p:slideViewPr>
  <p:outlineViewPr>
    <p:cViewPr>
      <p:scale>
        <a:sx n="33" d="100"/>
        <a:sy n="33" d="100"/>
      </p:scale>
      <p:origin x="0" y="30444"/>
    </p:cViewPr>
  </p:outlineViewPr>
  <p:notesTextViewPr>
    <p:cViewPr>
      <p:scale>
        <a:sx n="125" d="100"/>
        <a:sy n="125" d="100"/>
      </p:scale>
      <p:origin x="0" y="0"/>
    </p:cViewPr>
  </p:notesTextViewPr>
  <p:sorterViewPr>
    <p:cViewPr>
      <p:scale>
        <a:sx n="100" d="100"/>
        <a:sy n="100" d="100"/>
      </p:scale>
      <p:origin x="0" y="0"/>
    </p:cViewPr>
  </p:sorterViewPr>
  <p:notesViewPr>
    <p:cSldViewPr>
      <p:cViewPr varScale="1">
        <p:scale>
          <a:sx n="70" d="100"/>
          <a:sy n="70" d="100"/>
        </p:scale>
        <p:origin x="-329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ea typeface="ヒラギノ角ゴ Pro W3" pitchFamily="123" charset="-128"/>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2FDBCFE6-7A80-4E41-8712-1C12F7B6050B}" type="datetimeFigureOut">
              <a:rPr lang="en-US" altLang="en-US"/>
              <a:pPr>
                <a:defRPr/>
              </a:pPr>
              <a:t>9/27/2026</a:t>
            </a:fld>
            <a:endParaRPr lang="en-US" alt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ea typeface="ヒラギノ角ゴ Pro W3" pitchFamily="123" charset="-128"/>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1A23EEE-2F46-4732-8626-99218F3EFA81}" type="slidenum">
              <a:rPr lang="en-US" altLang="en-US"/>
              <a:pPr/>
              <a:t>‹#›</a:t>
            </a:fld>
            <a:endParaRPr lang="en-US" altLang="en-US" dirty="0"/>
          </a:p>
        </p:txBody>
      </p:sp>
    </p:spTree>
    <p:extLst>
      <p:ext uri="{BB962C8B-B14F-4D97-AF65-F5344CB8AC3E}">
        <p14:creationId xmlns:p14="http://schemas.microsoft.com/office/powerpoint/2010/main" val="1435027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dirty="0"/>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atin typeface="Arial" charset="0"/>
                <a:ea typeface="ヒラギノ角ゴ Pro W3" pitchFamily="84" charset="-128"/>
                <a:cs typeface="+mn-cs"/>
              </a:defRPr>
            </a:lvl1pPr>
          </a:lstStyle>
          <a:p>
            <a:pPr>
              <a:defRPr/>
            </a:pPr>
            <a:endParaRPr lang="en-US" dirty="0"/>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dirty="0"/>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6D957CC8-6916-4659-8D61-C81A523E1943}" type="slidenum">
              <a:rPr lang="en-US" altLang="en-US"/>
              <a:pPr/>
              <a:t>‹#›</a:t>
            </a:fld>
            <a:endParaRPr lang="en-US" altLang="en-US" dirty="0"/>
          </a:p>
        </p:txBody>
      </p:sp>
    </p:spTree>
    <p:extLst>
      <p:ext uri="{BB962C8B-B14F-4D97-AF65-F5344CB8AC3E}">
        <p14:creationId xmlns:p14="http://schemas.microsoft.com/office/powerpoint/2010/main" val="1954750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1pPr>
    <a:lvl2pPr marL="4572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2pPr>
    <a:lvl3pPr marL="9144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3pPr>
    <a:lvl4pPr marL="13716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4pPr>
    <a:lvl5pPr marL="18288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28.1 Which of these organisms are prokaryotes and which are eukaryotes?</a:t>
            </a:r>
          </a:p>
        </p:txBody>
      </p:sp>
      <p:sp>
        <p:nvSpPr>
          <p:cNvPr id="4" name="Slide Number Placeholder 3"/>
          <p:cNvSpPr>
            <a:spLocks noGrp="1"/>
          </p:cNvSpPr>
          <p:nvPr>
            <p:ph type="sldNum" sz="quarter" idx="10"/>
          </p:nvPr>
        </p:nvSpPr>
        <p:spPr/>
        <p:txBody>
          <a:bodyPr/>
          <a:lstStyle/>
          <a:p>
            <a:fld id="{6D957CC8-6916-4659-8D61-C81A523E1943}" type="slidenum">
              <a:rPr lang="en-US" altLang="en-US" smtClean="0"/>
              <a:pPr/>
              <a:t>1</a:t>
            </a:fld>
            <a:endParaRPr lang="en-US" altLang="en-US" dirty="0"/>
          </a:p>
        </p:txBody>
      </p:sp>
    </p:spTree>
    <p:extLst>
      <p:ext uri="{BB962C8B-B14F-4D97-AF65-F5344CB8AC3E}">
        <p14:creationId xmlns:p14="http://schemas.microsoft.com/office/powerpoint/2010/main" val="1099595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7BDAF8A8-3E90-4D01-B51C-6DD5794D4E21}" type="slidenum">
              <a:rPr lang="en-US" sz="1200">
                <a:latin typeface="Arial" panose="020B0604020202020204" pitchFamily="34" charset="0"/>
              </a:rPr>
              <a:pPr/>
              <a:t>3</a:t>
            </a:fld>
            <a:endParaRPr lang="en-US" sz="1200" dirty="0">
              <a:latin typeface="Arial" panose="020B0604020202020204" pitchFamily="34" charset="0"/>
            </a:endParaRPr>
          </a:p>
        </p:txBody>
      </p:sp>
      <p:sp>
        <p:nvSpPr>
          <p:cNvPr id="109571" name="Rectangle 2"/>
          <p:cNvSpPr>
            <a:spLocks noGrp="1" noRot="1" noChangeAspect="1" noChangeArrowheads="1" noTextEdit="1"/>
          </p:cNvSpPr>
          <p:nvPr>
            <p:ph type="sldImg"/>
          </p:nvPr>
        </p:nvSpPr>
        <p:spPr>
          <a:solidFill>
            <a:srgbClr val="FFFFFF"/>
          </a:solidFill>
          <a:ln/>
        </p:spPr>
      </p:sp>
      <p:sp>
        <p:nvSpPr>
          <p:cNvPr id="2457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4180468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8E151DC4-F52F-4373-8C31-4E6C6E7D6930}" type="slidenum">
              <a:rPr lang="en-US" sz="1200">
                <a:latin typeface="Arial" panose="020B0604020202020204" pitchFamily="34" charset="0"/>
              </a:rPr>
              <a:pPr/>
              <a:t>4</a:t>
            </a:fld>
            <a:endParaRPr lang="en-US" sz="1200" dirty="0">
              <a:latin typeface="Arial" panose="020B0604020202020204" pitchFamily="34" charset="0"/>
            </a:endParaRPr>
          </a:p>
        </p:txBody>
      </p:sp>
      <p:sp>
        <p:nvSpPr>
          <p:cNvPr id="110595" name="Rectangle 2"/>
          <p:cNvSpPr>
            <a:spLocks noGrp="1" noRot="1" noChangeAspect="1" noChangeArrowheads="1" noTextEdit="1"/>
          </p:cNvSpPr>
          <p:nvPr>
            <p:ph type="sldImg"/>
          </p:nvPr>
        </p:nvSpPr>
        <p:spPr>
          <a:solidFill>
            <a:srgbClr val="FFFFFF"/>
          </a:solidFill>
          <a:ln/>
        </p:spPr>
      </p:sp>
      <p:sp>
        <p:nvSpPr>
          <p:cNvPr id="266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425737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E81B4719-AE0F-4966-AA2D-FCECB47CF9AA}" type="slidenum">
              <a:rPr lang="en-US" sz="1200">
                <a:latin typeface="Arial" panose="020B0604020202020204" pitchFamily="34" charset="0"/>
              </a:rPr>
              <a:pPr/>
              <a:t>5</a:t>
            </a:fld>
            <a:endParaRPr lang="en-US" sz="1200" dirty="0">
              <a:latin typeface="Arial" panose="020B0604020202020204" pitchFamily="34" charset="0"/>
            </a:endParaRPr>
          </a:p>
        </p:txBody>
      </p:sp>
      <p:sp>
        <p:nvSpPr>
          <p:cNvPr id="113667" name="Rectangle 2"/>
          <p:cNvSpPr>
            <a:spLocks noGrp="1" noRot="1" noChangeAspect="1" noChangeArrowheads="1" noTextEdit="1"/>
          </p:cNvSpPr>
          <p:nvPr>
            <p:ph type="sldImg"/>
          </p:nvPr>
        </p:nvSpPr>
        <p:spPr>
          <a:solidFill>
            <a:srgbClr val="FFFFFF"/>
          </a:solidFill>
          <a:ln/>
        </p:spPr>
      </p:sp>
      <p:sp>
        <p:nvSpPr>
          <p:cNvPr id="3277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728820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3AAF6FD9-E62D-4A69-A108-DC82D6A108F9}" type="slidenum">
              <a:rPr lang="en-US" sz="1200">
                <a:latin typeface="Arial" panose="020B0604020202020204" pitchFamily="34" charset="0"/>
              </a:rPr>
              <a:pPr/>
              <a:t>6</a:t>
            </a:fld>
            <a:endParaRPr lang="en-US" sz="1200" dirty="0">
              <a:latin typeface="Arial" panose="020B0604020202020204" pitchFamily="34" charset="0"/>
            </a:endParaRPr>
          </a:p>
        </p:txBody>
      </p:sp>
      <p:sp>
        <p:nvSpPr>
          <p:cNvPr id="115715" name="Rectangle 2"/>
          <p:cNvSpPr>
            <a:spLocks noGrp="1" noRot="1" noChangeAspect="1" noChangeArrowheads="1" noTextEdit="1"/>
          </p:cNvSpPr>
          <p:nvPr>
            <p:ph type="sldImg"/>
          </p:nvPr>
        </p:nvSpPr>
        <p:spPr>
          <a:solidFill>
            <a:srgbClr val="FFFFFF"/>
          </a:solidFill>
          <a:ln/>
        </p:spPr>
      </p:sp>
      <p:sp>
        <p:nvSpPr>
          <p:cNvPr id="3686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785937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463494AB-3E09-414E-876F-1AF482132C0F}" type="slidenum">
              <a:rPr lang="en-US" sz="1200">
                <a:latin typeface="Arial" panose="020B0604020202020204" pitchFamily="34" charset="0"/>
              </a:rPr>
              <a:pPr/>
              <a:t>7</a:t>
            </a:fld>
            <a:endParaRPr lang="en-US" sz="1200" dirty="0">
              <a:latin typeface="Arial" panose="020B0604020202020204" pitchFamily="34" charset="0"/>
            </a:endParaRPr>
          </a:p>
        </p:txBody>
      </p:sp>
      <p:sp>
        <p:nvSpPr>
          <p:cNvPr id="122883" name="Rectangle 2"/>
          <p:cNvSpPr>
            <a:spLocks noGrp="1" noRot="1" noChangeAspect="1" noChangeArrowheads="1" noTextEdit="1"/>
          </p:cNvSpPr>
          <p:nvPr>
            <p:ph type="sldImg"/>
          </p:nvPr>
        </p:nvSpPr>
        <p:spPr>
          <a:solidFill>
            <a:srgbClr val="FFFFFF"/>
          </a:solidFill>
          <a:ln/>
        </p:spPr>
      </p:sp>
      <p:sp>
        <p:nvSpPr>
          <p:cNvPr id="5120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28.UN02 In-text figure, Excavata, p. 597</a:t>
            </a:r>
          </a:p>
        </p:txBody>
      </p:sp>
    </p:spTree>
    <p:extLst>
      <p:ext uri="{BB962C8B-B14F-4D97-AF65-F5344CB8AC3E}">
        <p14:creationId xmlns:p14="http://schemas.microsoft.com/office/powerpoint/2010/main" val="1365452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EBA61C01-8472-4529-9C6D-37BA6970F1DC}" type="slidenum">
              <a:rPr lang="en-US" sz="1200">
                <a:latin typeface="Arial" panose="020B0604020202020204" pitchFamily="34" charset="0"/>
              </a:rPr>
              <a:pPr/>
              <a:t>8</a:t>
            </a:fld>
            <a:endParaRPr lang="en-US" sz="1200" dirty="0">
              <a:latin typeface="Arial" panose="020B0604020202020204" pitchFamily="34" charset="0"/>
            </a:endParaRPr>
          </a:p>
        </p:txBody>
      </p:sp>
      <p:sp>
        <p:nvSpPr>
          <p:cNvPr id="124931" name="Rectangle 2"/>
          <p:cNvSpPr>
            <a:spLocks noGrp="1" noRot="1" noChangeAspect="1" noChangeArrowheads="1" noTextEdit="1"/>
          </p:cNvSpPr>
          <p:nvPr>
            <p:ph type="sldImg"/>
          </p:nvPr>
        </p:nvSpPr>
        <p:spPr>
          <a:solidFill>
            <a:srgbClr val="FFFFFF"/>
          </a:solidFill>
          <a:ln/>
        </p:spPr>
      </p:sp>
      <p:sp>
        <p:nvSpPr>
          <p:cNvPr id="5529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dirty="0">
                <a:latin typeface="Times New Roman" panose="02020603050405020304" pitchFamily="18" charset="0"/>
                <a:ea typeface="ヒラギノ角ゴ Pro W3" pitchFamily="123" charset="-128"/>
              </a:rPr>
              <a:t>Giardia </a:t>
            </a:r>
            <a:r>
              <a:rPr lang="en-US" dirty="0" err="1">
                <a:latin typeface="Times New Roman" panose="02020603050405020304" pitchFamily="18" charset="0"/>
                <a:ea typeface="ヒラギノ角ゴ Pro W3" pitchFamily="123" charset="-128"/>
              </a:rPr>
              <a:t>intestinalis</a:t>
            </a:r>
            <a:r>
              <a:rPr lang="en-US" dirty="0">
                <a:latin typeface="Times New Roman" panose="02020603050405020304" pitchFamily="18" charset="0"/>
                <a:ea typeface="ヒラギノ角ゴ Pro W3" pitchFamily="123" charset="-128"/>
              </a:rPr>
              <a:t> is also know as “Beaver Fever”</a:t>
            </a:r>
          </a:p>
        </p:txBody>
      </p:sp>
    </p:spTree>
    <p:extLst>
      <p:ext uri="{BB962C8B-B14F-4D97-AF65-F5344CB8AC3E}">
        <p14:creationId xmlns:p14="http://schemas.microsoft.com/office/powerpoint/2010/main" val="4146220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1495BB00-E7E2-4D0B-A951-C8F717822B8B}" type="slidenum">
              <a:rPr lang="en-US" sz="1200">
                <a:latin typeface="Arial" panose="020B0604020202020204" pitchFamily="34" charset="0"/>
              </a:rPr>
              <a:pPr/>
              <a:t>10</a:t>
            </a:fld>
            <a:endParaRPr lang="en-US" sz="1200" dirty="0">
              <a:latin typeface="Arial" panose="020B0604020202020204" pitchFamily="34" charset="0"/>
            </a:endParaRPr>
          </a:p>
        </p:txBody>
      </p:sp>
      <p:sp>
        <p:nvSpPr>
          <p:cNvPr id="128003" name="Rectangle 2"/>
          <p:cNvSpPr>
            <a:spLocks noGrp="1" noRot="1" noChangeAspect="1" noChangeArrowheads="1" noTextEdit="1"/>
          </p:cNvSpPr>
          <p:nvPr>
            <p:ph type="sldImg"/>
          </p:nvPr>
        </p:nvSpPr>
        <p:spPr>
          <a:solidFill>
            <a:srgbClr val="FFFFFF"/>
          </a:solidFill>
          <a:ln/>
        </p:spPr>
      </p:sp>
      <p:sp>
        <p:nvSpPr>
          <p:cNvPr id="6144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28.6 Euglenozoan flagellum</a:t>
            </a:r>
          </a:p>
        </p:txBody>
      </p:sp>
    </p:spTree>
    <p:extLst>
      <p:ext uri="{BB962C8B-B14F-4D97-AF65-F5344CB8AC3E}">
        <p14:creationId xmlns:p14="http://schemas.microsoft.com/office/powerpoint/2010/main" val="2978400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D7148F7A-7341-4953-867B-9E4EA7EDEA3C}" type="slidenum">
              <a:rPr lang="en-US" sz="1200">
                <a:latin typeface="Arial" panose="020B0604020202020204" pitchFamily="34" charset="0"/>
              </a:rPr>
              <a:pPr/>
              <a:t>11</a:t>
            </a:fld>
            <a:endParaRPr lang="en-US" sz="1200" dirty="0">
              <a:latin typeface="Arial" panose="020B0604020202020204" pitchFamily="34" charset="0"/>
            </a:endParaRPr>
          </a:p>
        </p:txBody>
      </p:sp>
      <p:sp>
        <p:nvSpPr>
          <p:cNvPr id="130051" name="Rectangle 2"/>
          <p:cNvSpPr>
            <a:spLocks noGrp="1" noRot="1" noChangeAspect="1" noChangeArrowheads="1" noTextEdit="1"/>
          </p:cNvSpPr>
          <p:nvPr>
            <p:ph type="sldImg"/>
          </p:nvPr>
        </p:nvSpPr>
        <p:spPr>
          <a:solidFill>
            <a:srgbClr val="FFFFFF"/>
          </a:solidFill>
          <a:ln/>
        </p:spPr>
      </p:sp>
      <p:sp>
        <p:nvSpPr>
          <p:cNvPr id="6553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927031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28.7 </a:t>
            </a:r>
            <a:r>
              <a:rPr lang="en-US" i="1" dirty="0">
                <a:latin typeface="Arial"/>
              </a:rPr>
              <a:t>Trypanosoma</a:t>
            </a:r>
            <a:r>
              <a:rPr lang="en-US" dirty="0">
                <a:latin typeface="Arial"/>
              </a:rPr>
              <a:t>, the kinetoplastid that causes sleeping sickness</a:t>
            </a:r>
          </a:p>
          <a:p>
            <a:endParaRPr lang="en-US" dirty="0">
              <a:latin typeface="Arial"/>
            </a:endParaRPr>
          </a:p>
        </p:txBody>
      </p:sp>
    </p:spTree>
    <p:extLst>
      <p:ext uri="{BB962C8B-B14F-4D97-AF65-F5344CB8AC3E}">
        <p14:creationId xmlns:p14="http://schemas.microsoft.com/office/powerpoint/2010/main" val="2662384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74F074E6-577A-4061-ABD4-F13807EBDCF2}" type="slidenum">
              <a:rPr lang="en-US" sz="1200">
                <a:latin typeface="Arial" panose="020B0604020202020204" pitchFamily="34" charset="0"/>
              </a:rPr>
              <a:pPr/>
              <a:t>13</a:t>
            </a:fld>
            <a:endParaRPr lang="en-US" sz="1200" dirty="0">
              <a:latin typeface="Arial" panose="020B0604020202020204" pitchFamily="34" charset="0"/>
            </a:endParaRPr>
          </a:p>
        </p:txBody>
      </p:sp>
      <p:sp>
        <p:nvSpPr>
          <p:cNvPr id="134147" name="Rectangle 2"/>
          <p:cNvSpPr>
            <a:spLocks noGrp="1" noRot="1" noChangeAspect="1" noChangeArrowheads="1" noTextEdit="1"/>
          </p:cNvSpPr>
          <p:nvPr>
            <p:ph type="sldImg"/>
          </p:nvPr>
        </p:nvSpPr>
        <p:spPr>
          <a:solidFill>
            <a:srgbClr val="FFFFFF"/>
          </a:solidFill>
          <a:ln/>
        </p:spPr>
      </p:sp>
      <p:sp>
        <p:nvSpPr>
          <p:cNvPr id="7373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28.8 </a:t>
            </a:r>
            <a:r>
              <a:rPr lang="en-US" i="1" dirty="0">
                <a:latin typeface="Arial"/>
              </a:rPr>
              <a:t>Euglena</a:t>
            </a:r>
            <a:r>
              <a:rPr lang="en-US" dirty="0">
                <a:latin typeface="Arial"/>
              </a:rPr>
              <a:t>, a euglenid commonly found in pond water</a:t>
            </a:r>
          </a:p>
        </p:txBody>
      </p:sp>
    </p:spTree>
    <p:extLst>
      <p:ext uri="{BB962C8B-B14F-4D97-AF65-F5344CB8AC3E}">
        <p14:creationId xmlns:p14="http://schemas.microsoft.com/office/powerpoint/2010/main" val="1444241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67193613-78F5-4AC7-815B-6FF5DEF98491}" type="slidenum">
              <a:rPr lang="en-US" sz="1200">
                <a:latin typeface="Arial" panose="020B0604020202020204" pitchFamily="34" charset="0"/>
              </a:rPr>
              <a:pPr/>
              <a:t>14</a:t>
            </a:fld>
            <a:endParaRPr lang="en-US" sz="1200" dirty="0">
              <a:latin typeface="Arial" panose="020B0604020202020204" pitchFamily="34" charset="0"/>
            </a:endParaRPr>
          </a:p>
        </p:txBody>
      </p:sp>
      <p:sp>
        <p:nvSpPr>
          <p:cNvPr id="136195" name="Rectangle 2"/>
          <p:cNvSpPr>
            <a:spLocks noGrp="1" noRot="1" noChangeAspect="1" noChangeArrowheads="1" noTextEdit="1"/>
          </p:cNvSpPr>
          <p:nvPr>
            <p:ph type="sldImg"/>
          </p:nvPr>
        </p:nvSpPr>
        <p:spPr>
          <a:solidFill>
            <a:srgbClr val="FFFFFF"/>
          </a:solidFill>
          <a:ln/>
        </p:spPr>
      </p:sp>
      <p:sp>
        <p:nvSpPr>
          <p:cNvPr id="778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28.UN03 In-text figure, the SAR clade, p. 599</a:t>
            </a:r>
          </a:p>
        </p:txBody>
      </p:sp>
    </p:spTree>
    <p:extLst>
      <p:ext uri="{BB962C8B-B14F-4D97-AF65-F5344CB8AC3E}">
        <p14:creationId xmlns:p14="http://schemas.microsoft.com/office/powerpoint/2010/main" val="3515433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A3E7E338-9EB2-4DA6-9A44-9AA93887DA05}" type="slidenum">
              <a:rPr lang="en-US" sz="1200">
                <a:latin typeface="Arial" panose="020B0604020202020204" pitchFamily="34" charset="0"/>
              </a:rPr>
              <a:pPr/>
              <a:t>15</a:t>
            </a:fld>
            <a:endParaRPr lang="en-US" sz="1200" dirty="0">
              <a:latin typeface="Arial" panose="020B0604020202020204" pitchFamily="34" charset="0"/>
            </a:endParaRPr>
          </a:p>
        </p:txBody>
      </p:sp>
      <p:sp>
        <p:nvSpPr>
          <p:cNvPr id="138243" name="Rectangle 2"/>
          <p:cNvSpPr>
            <a:spLocks noGrp="1" noRot="1" noChangeAspect="1" noChangeArrowheads="1" noTextEdit="1"/>
          </p:cNvSpPr>
          <p:nvPr>
            <p:ph type="sldImg"/>
          </p:nvPr>
        </p:nvSpPr>
        <p:spPr>
          <a:solidFill>
            <a:srgbClr val="FFFFFF"/>
          </a:solidFill>
          <a:ln/>
        </p:spPr>
      </p:sp>
      <p:sp>
        <p:nvSpPr>
          <p:cNvPr id="8192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28.9 Stramenopile flagella</a:t>
            </a:r>
          </a:p>
        </p:txBody>
      </p:sp>
    </p:spTree>
    <p:extLst>
      <p:ext uri="{BB962C8B-B14F-4D97-AF65-F5344CB8AC3E}">
        <p14:creationId xmlns:p14="http://schemas.microsoft.com/office/powerpoint/2010/main" val="4148631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C20C5D24-F713-4650-B856-55BE44050408}" type="slidenum">
              <a:rPr lang="en-US" sz="1200">
                <a:latin typeface="Arial" panose="020B0604020202020204" pitchFamily="34" charset="0"/>
              </a:rPr>
              <a:pPr/>
              <a:t>16</a:t>
            </a:fld>
            <a:endParaRPr lang="en-US" sz="1200" dirty="0">
              <a:latin typeface="Arial" panose="020B0604020202020204" pitchFamily="34" charset="0"/>
            </a:endParaRPr>
          </a:p>
        </p:txBody>
      </p:sp>
      <p:sp>
        <p:nvSpPr>
          <p:cNvPr id="140291" name="Rectangle 2"/>
          <p:cNvSpPr>
            <a:spLocks noGrp="1" noRot="1" noChangeAspect="1" noChangeArrowheads="1" noTextEdit="1"/>
          </p:cNvSpPr>
          <p:nvPr>
            <p:ph type="sldImg"/>
          </p:nvPr>
        </p:nvSpPr>
        <p:spPr>
          <a:solidFill>
            <a:srgbClr val="FFFFFF"/>
          </a:solidFill>
          <a:ln/>
        </p:spPr>
      </p:sp>
      <p:sp>
        <p:nvSpPr>
          <p:cNvPr id="8601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latin typeface="Arial"/>
            </a:endParaRPr>
          </a:p>
        </p:txBody>
      </p:sp>
    </p:spTree>
    <p:extLst>
      <p:ext uri="{BB962C8B-B14F-4D97-AF65-F5344CB8AC3E}">
        <p14:creationId xmlns:p14="http://schemas.microsoft.com/office/powerpoint/2010/main" val="899048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6DAAB7C0-7BF2-4A48-AA1B-17355995172C}" type="slidenum">
              <a:rPr lang="en-US" sz="1200">
                <a:latin typeface="Arial" panose="020B0604020202020204" pitchFamily="34" charset="0"/>
              </a:rPr>
              <a:pPr/>
              <a:t>17</a:t>
            </a:fld>
            <a:endParaRPr lang="en-US" sz="1200" dirty="0">
              <a:latin typeface="Arial" panose="020B0604020202020204" pitchFamily="34" charset="0"/>
            </a:endParaRPr>
          </a:p>
        </p:txBody>
      </p:sp>
      <p:sp>
        <p:nvSpPr>
          <p:cNvPr id="142339" name="Rectangle 2"/>
          <p:cNvSpPr>
            <a:spLocks noGrp="1" noRot="1" noChangeAspect="1" noChangeArrowheads="1" noTextEdit="1"/>
          </p:cNvSpPr>
          <p:nvPr>
            <p:ph type="sldImg"/>
          </p:nvPr>
        </p:nvSpPr>
        <p:spPr>
          <a:solidFill>
            <a:srgbClr val="FFFFFF"/>
          </a:solidFill>
          <a:ln/>
        </p:spPr>
      </p:sp>
      <p:sp>
        <p:nvSpPr>
          <p:cNvPr id="9011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28.10 The diatom </a:t>
            </a:r>
            <a:r>
              <a:rPr lang="en-US" i="1" dirty="0">
                <a:latin typeface="Arial"/>
              </a:rPr>
              <a:t>Triceratium morlandii </a:t>
            </a:r>
            <a:r>
              <a:rPr lang="en-US" dirty="0">
                <a:latin typeface="Arial"/>
              </a:rPr>
              <a:t>(colorized SEM)</a:t>
            </a:r>
          </a:p>
        </p:txBody>
      </p:sp>
    </p:spTree>
    <p:extLst>
      <p:ext uri="{BB962C8B-B14F-4D97-AF65-F5344CB8AC3E}">
        <p14:creationId xmlns:p14="http://schemas.microsoft.com/office/powerpoint/2010/main" val="2391083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F1505A8D-9296-4347-B807-BCCBF7A7D1EB}" type="slidenum">
              <a:rPr lang="en-US" sz="1200">
                <a:latin typeface="Arial" panose="020B0604020202020204" pitchFamily="34" charset="0"/>
              </a:rPr>
              <a:pPr/>
              <a:t>18</a:t>
            </a:fld>
            <a:endParaRPr lang="en-US" sz="1200" dirty="0">
              <a:latin typeface="Arial" panose="020B0604020202020204" pitchFamily="34" charset="0"/>
            </a:endParaRPr>
          </a:p>
        </p:txBody>
      </p:sp>
      <p:sp>
        <p:nvSpPr>
          <p:cNvPr id="146435" name="Rectangle 2"/>
          <p:cNvSpPr>
            <a:spLocks noGrp="1" noRot="1" noChangeAspect="1" noChangeArrowheads="1" noTextEdit="1"/>
          </p:cNvSpPr>
          <p:nvPr>
            <p:ph type="sldImg"/>
          </p:nvPr>
        </p:nvSpPr>
        <p:spPr>
          <a:solidFill>
            <a:srgbClr val="FFFFFF"/>
          </a:solidFill>
          <a:ln/>
        </p:spPr>
      </p:sp>
      <p:sp>
        <p:nvSpPr>
          <p:cNvPr id="9830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775927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28.12 Seaweeds: adapted to life at the ocean’s margins</a:t>
            </a:r>
          </a:p>
          <a:p>
            <a:endParaRPr lang="en-US" dirty="0">
              <a:latin typeface="Arial"/>
            </a:endParaRPr>
          </a:p>
        </p:txBody>
      </p:sp>
    </p:spTree>
    <p:extLst>
      <p:ext uri="{BB962C8B-B14F-4D97-AF65-F5344CB8AC3E}">
        <p14:creationId xmlns:p14="http://schemas.microsoft.com/office/powerpoint/2010/main" val="2980561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CCDED80B-E769-4BF8-92F6-21F8979A1C27}" type="slidenum">
              <a:rPr lang="en-US" sz="1200">
                <a:latin typeface="Arial" panose="020B0604020202020204" pitchFamily="34" charset="0"/>
              </a:rPr>
              <a:pPr/>
              <a:t>20</a:t>
            </a:fld>
            <a:endParaRPr lang="en-US" sz="1200" dirty="0">
              <a:latin typeface="Arial" panose="020B0604020202020204" pitchFamily="34" charset="0"/>
            </a:endParaRPr>
          </a:p>
        </p:txBody>
      </p:sp>
      <p:sp>
        <p:nvSpPr>
          <p:cNvPr id="152579" name="Rectangle 2"/>
          <p:cNvSpPr>
            <a:spLocks noGrp="1" noRot="1" noChangeAspect="1" noChangeArrowheads="1" noTextEdit="1"/>
          </p:cNvSpPr>
          <p:nvPr>
            <p:ph type="sldImg"/>
          </p:nvPr>
        </p:nvSpPr>
        <p:spPr>
          <a:solidFill>
            <a:srgbClr val="FFFFFF"/>
          </a:solidFill>
          <a:ln/>
        </p:spPr>
      </p:sp>
      <p:sp>
        <p:nvSpPr>
          <p:cNvPr id="11059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28.14 Alveoli</a:t>
            </a:r>
          </a:p>
        </p:txBody>
      </p:sp>
    </p:spTree>
    <p:extLst>
      <p:ext uri="{BB962C8B-B14F-4D97-AF65-F5344CB8AC3E}">
        <p14:creationId xmlns:p14="http://schemas.microsoft.com/office/powerpoint/2010/main" val="1398807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4FDD4E7B-210B-44C5-B480-6763CCFF71A0}" type="slidenum">
              <a:rPr lang="en-US" sz="1200">
                <a:latin typeface="Arial" panose="020B0604020202020204" pitchFamily="34" charset="0"/>
              </a:rPr>
              <a:pPr/>
              <a:t>21</a:t>
            </a:fld>
            <a:endParaRPr lang="en-US" sz="1200" dirty="0">
              <a:latin typeface="Arial" panose="020B0604020202020204" pitchFamily="34" charset="0"/>
            </a:endParaRPr>
          </a:p>
        </p:txBody>
      </p:sp>
      <p:sp>
        <p:nvSpPr>
          <p:cNvPr id="154627" name="Rectangle 2"/>
          <p:cNvSpPr>
            <a:spLocks noGrp="1" noRot="1" noChangeAspect="1" noChangeArrowheads="1" noTextEdit="1"/>
          </p:cNvSpPr>
          <p:nvPr>
            <p:ph type="sldImg"/>
          </p:nvPr>
        </p:nvSpPr>
        <p:spPr>
          <a:solidFill>
            <a:srgbClr val="FFFFFF"/>
          </a:solidFill>
          <a:ln/>
        </p:spPr>
      </p:sp>
      <p:sp>
        <p:nvSpPr>
          <p:cNvPr id="11469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28.15 Dinoflagellates</a:t>
            </a:r>
          </a:p>
        </p:txBody>
      </p:sp>
    </p:spTree>
    <p:extLst>
      <p:ext uri="{BB962C8B-B14F-4D97-AF65-F5344CB8AC3E}">
        <p14:creationId xmlns:p14="http://schemas.microsoft.com/office/powerpoint/2010/main" val="3677020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FF71B085-F775-4ACE-83F5-E58E76017FF7}" type="slidenum">
              <a:rPr lang="en-US" sz="1200">
                <a:latin typeface="Arial" panose="020B0604020202020204" pitchFamily="34" charset="0"/>
              </a:rPr>
              <a:pPr/>
              <a:t>22</a:t>
            </a:fld>
            <a:endParaRPr lang="en-US" sz="1200" dirty="0">
              <a:latin typeface="Arial" panose="020B0604020202020204" pitchFamily="34" charset="0"/>
            </a:endParaRPr>
          </a:p>
        </p:txBody>
      </p:sp>
      <p:sp>
        <p:nvSpPr>
          <p:cNvPr id="156675" name="Rectangle 2"/>
          <p:cNvSpPr>
            <a:spLocks noGrp="1" noRot="1" noChangeAspect="1" noChangeArrowheads="1" noTextEdit="1"/>
          </p:cNvSpPr>
          <p:nvPr>
            <p:ph type="sldImg"/>
          </p:nvPr>
        </p:nvSpPr>
        <p:spPr>
          <a:solidFill>
            <a:srgbClr val="FFFFFF"/>
          </a:solidFill>
          <a:ln/>
        </p:spPr>
      </p:sp>
      <p:sp>
        <p:nvSpPr>
          <p:cNvPr id="11878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3785933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28.16_3 The two-host life cycle of </a:t>
            </a:r>
            <a:r>
              <a:rPr lang="en-US" i="1" dirty="0">
                <a:latin typeface="Arial"/>
              </a:rPr>
              <a:t>Plasmodium</a:t>
            </a:r>
            <a:r>
              <a:rPr lang="en-US" dirty="0">
                <a:latin typeface="Arial"/>
              </a:rPr>
              <a:t>, the apicomplexan that causes malaria (step 3)</a:t>
            </a:r>
          </a:p>
          <a:p>
            <a:endParaRPr lang="en-US" dirty="0">
              <a:latin typeface="Arial"/>
            </a:endParaRPr>
          </a:p>
        </p:txBody>
      </p:sp>
    </p:spTree>
    <p:extLst>
      <p:ext uri="{BB962C8B-B14F-4D97-AF65-F5344CB8AC3E}">
        <p14:creationId xmlns:p14="http://schemas.microsoft.com/office/powerpoint/2010/main" val="1723603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C05FE651-1E6B-4590-A3F6-6C465212BFF1}" type="slidenum">
              <a:rPr lang="en-US" sz="1200">
                <a:latin typeface="Arial" panose="020B0604020202020204" pitchFamily="34" charset="0"/>
              </a:rPr>
              <a:pPr/>
              <a:t>24</a:t>
            </a:fld>
            <a:endParaRPr lang="en-US" sz="1200" dirty="0">
              <a:latin typeface="Arial" panose="020B0604020202020204" pitchFamily="34" charset="0"/>
            </a:endParaRPr>
          </a:p>
        </p:txBody>
      </p:sp>
      <p:sp>
        <p:nvSpPr>
          <p:cNvPr id="159747" name="Rectangle 2"/>
          <p:cNvSpPr>
            <a:spLocks noGrp="1" noRot="1" noChangeAspect="1" noChangeArrowheads="1" noTextEdit="1"/>
          </p:cNvSpPr>
          <p:nvPr>
            <p:ph type="sldImg"/>
          </p:nvPr>
        </p:nvSpPr>
        <p:spPr>
          <a:solidFill>
            <a:srgbClr val="FFFFFF"/>
          </a:solidFill>
          <a:ln/>
        </p:spPr>
      </p:sp>
      <p:sp>
        <p:nvSpPr>
          <p:cNvPr id="12493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1909177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72CD1AF0-D627-4556-ABBB-D645662E7564}" type="slidenum">
              <a:rPr lang="en-US" sz="1200">
                <a:latin typeface="Arial" panose="020B0604020202020204" pitchFamily="34" charset="0"/>
              </a:rPr>
              <a:pPr/>
              <a:t>25</a:t>
            </a:fld>
            <a:endParaRPr lang="en-US" sz="1200" dirty="0">
              <a:latin typeface="Arial" panose="020B0604020202020204" pitchFamily="34" charset="0"/>
            </a:endParaRPr>
          </a:p>
        </p:txBody>
      </p:sp>
      <p:sp>
        <p:nvSpPr>
          <p:cNvPr id="161795" name="Rectangle 2"/>
          <p:cNvSpPr>
            <a:spLocks noGrp="1" noRot="1" noChangeAspect="1" noChangeArrowheads="1" noTextEdit="1"/>
          </p:cNvSpPr>
          <p:nvPr>
            <p:ph type="sldImg"/>
          </p:nvPr>
        </p:nvSpPr>
        <p:spPr>
          <a:solidFill>
            <a:srgbClr val="FFFFFF"/>
          </a:solidFill>
          <a:ln/>
        </p:spPr>
      </p:sp>
      <p:sp>
        <p:nvSpPr>
          <p:cNvPr id="1290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774572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B51E146F-5D4C-4698-98EB-83D2FFAE08F3}" type="slidenum">
              <a:rPr lang="en-US" sz="1200">
                <a:latin typeface="Arial" panose="020B0604020202020204" pitchFamily="34" charset="0"/>
              </a:rPr>
              <a:pPr/>
              <a:t>26</a:t>
            </a:fld>
            <a:endParaRPr lang="en-US" sz="1200" dirty="0">
              <a:latin typeface="Arial" panose="020B0604020202020204" pitchFamily="34" charset="0"/>
            </a:endParaRPr>
          </a:p>
        </p:txBody>
      </p:sp>
      <p:sp>
        <p:nvSpPr>
          <p:cNvPr id="162819" name="Rectangle 2"/>
          <p:cNvSpPr>
            <a:spLocks noGrp="1" noRot="1" noChangeAspect="1" noChangeArrowheads="1" noTextEdit="1"/>
          </p:cNvSpPr>
          <p:nvPr>
            <p:ph type="sldImg"/>
          </p:nvPr>
        </p:nvSpPr>
        <p:spPr>
          <a:solidFill>
            <a:srgbClr val="FFFFFF"/>
          </a:solidFill>
          <a:ln/>
        </p:spPr>
      </p:sp>
      <p:sp>
        <p:nvSpPr>
          <p:cNvPr id="13107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28.18 A radiolarian</a:t>
            </a:r>
          </a:p>
        </p:txBody>
      </p:sp>
    </p:spTree>
    <p:extLst>
      <p:ext uri="{BB962C8B-B14F-4D97-AF65-F5344CB8AC3E}">
        <p14:creationId xmlns:p14="http://schemas.microsoft.com/office/powerpoint/2010/main" val="2843634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F834A614-5B14-4295-AED5-F0EFCDD8D029}" type="slidenum">
              <a:rPr lang="en-US" sz="1200">
                <a:latin typeface="Arial" panose="020B0604020202020204" pitchFamily="34" charset="0"/>
              </a:rPr>
              <a:pPr/>
              <a:t>27</a:t>
            </a:fld>
            <a:endParaRPr lang="en-US" sz="1200" dirty="0">
              <a:latin typeface="Arial" panose="020B0604020202020204" pitchFamily="34" charset="0"/>
            </a:endParaRPr>
          </a:p>
        </p:txBody>
      </p:sp>
      <p:sp>
        <p:nvSpPr>
          <p:cNvPr id="164867" name="Rectangle 2"/>
          <p:cNvSpPr>
            <a:spLocks noGrp="1" noRot="1" noChangeAspect="1" noChangeArrowheads="1" noTextEdit="1"/>
          </p:cNvSpPr>
          <p:nvPr>
            <p:ph type="sldImg"/>
          </p:nvPr>
        </p:nvSpPr>
        <p:spPr>
          <a:solidFill>
            <a:srgbClr val="FFFFFF"/>
          </a:solidFill>
          <a:ln/>
        </p:spPr>
      </p:sp>
      <p:sp>
        <p:nvSpPr>
          <p:cNvPr id="13517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28.19 Fossil </a:t>
            </a:r>
            <a:r>
              <a:rPr lang="en-US" dirty="0" err="1">
                <a:latin typeface="Arial"/>
              </a:rPr>
              <a:t>forams</a:t>
            </a:r>
            <a:endParaRPr lang="en-US" dirty="0">
              <a:latin typeface="Arial"/>
            </a:endParaRPr>
          </a:p>
        </p:txBody>
      </p:sp>
    </p:spTree>
    <p:extLst>
      <p:ext uri="{BB962C8B-B14F-4D97-AF65-F5344CB8AC3E}">
        <p14:creationId xmlns:p14="http://schemas.microsoft.com/office/powerpoint/2010/main" val="40866576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F251BA02-FB6D-4A3B-A2AE-FF32314AF248}" type="slidenum">
              <a:rPr lang="en-US" sz="1200">
                <a:latin typeface="Arial" panose="020B0604020202020204" pitchFamily="34" charset="0"/>
              </a:rPr>
              <a:pPr/>
              <a:t>28</a:t>
            </a:fld>
            <a:endParaRPr lang="en-US" sz="1200" dirty="0">
              <a:latin typeface="Arial" panose="020B0604020202020204" pitchFamily="34" charset="0"/>
            </a:endParaRPr>
          </a:p>
        </p:txBody>
      </p:sp>
      <p:sp>
        <p:nvSpPr>
          <p:cNvPr id="171011" name="Rectangle 2"/>
          <p:cNvSpPr>
            <a:spLocks noGrp="1" noRot="1" noChangeAspect="1" noChangeArrowheads="1" noTextEdit="1"/>
          </p:cNvSpPr>
          <p:nvPr>
            <p:ph type="sldImg"/>
          </p:nvPr>
        </p:nvSpPr>
        <p:spPr>
          <a:solidFill>
            <a:srgbClr val="FFFFFF"/>
          </a:solidFill>
          <a:ln/>
        </p:spPr>
      </p:sp>
      <p:sp>
        <p:nvSpPr>
          <p:cNvPr id="14745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28.UN04 In-text figure, Archaeplastida, p. 606</a:t>
            </a:r>
          </a:p>
        </p:txBody>
      </p:sp>
    </p:spTree>
    <p:extLst>
      <p:ext uri="{BB962C8B-B14F-4D97-AF65-F5344CB8AC3E}">
        <p14:creationId xmlns:p14="http://schemas.microsoft.com/office/powerpoint/2010/main" val="28384487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678A05C8-E056-4B51-B03F-F1501E4AE4DE}" type="slidenum">
              <a:rPr lang="en-US" sz="1200">
                <a:latin typeface="Arial" panose="020B0604020202020204" pitchFamily="34" charset="0"/>
              </a:rPr>
              <a:pPr/>
              <a:t>29</a:t>
            </a:fld>
            <a:endParaRPr lang="en-US" sz="1200" dirty="0">
              <a:latin typeface="Arial" panose="020B0604020202020204" pitchFamily="34" charset="0"/>
            </a:endParaRPr>
          </a:p>
        </p:txBody>
      </p:sp>
      <p:sp>
        <p:nvSpPr>
          <p:cNvPr id="173059" name="Rectangle 2"/>
          <p:cNvSpPr>
            <a:spLocks noGrp="1" noRot="1" noChangeAspect="1" noChangeArrowheads="1" noTextEdit="1"/>
          </p:cNvSpPr>
          <p:nvPr>
            <p:ph type="sldImg"/>
          </p:nvPr>
        </p:nvSpPr>
        <p:spPr>
          <a:solidFill>
            <a:srgbClr val="FFFFFF"/>
          </a:solidFill>
          <a:ln/>
        </p:spPr>
      </p:sp>
      <p:sp>
        <p:nvSpPr>
          <p:cNvPr id="15155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28.21 Red algae</a:t>
            </a:r>
          </a:p>
        </p:txBody>
      </p:sp>
    </p:spTree>
    <p:extLst>
      <p:ext uri="{BB962C8B-B14F-4D97-AF65-F5344CB8AC3E}">
        <p14:creationId xmlns:p14="http://schemas.microsoft.com/office/powerpoint/2010/main" val="18650298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BDCF649E-A49D-4EF4-A85B-C196403330D4}" type="slidenum">
              <a:rPr lang="en-US" sz="1200">
                <a:latin typeface="Arial" panose="020B0604020202020204" pitchFamily="34" charset="0"/>
              </a:rPr>
              <a:pPr/>
              <a:t>30</a:t>
            </a:fld>
            <a:endParaRPr lang="en-US" sz="1200" dirty="0">
              <a:latin typeface="Arial" panose="020B0604020202020204" pitchFamily="34" charset="0"/>
            </a:endParaRPr>
          </a:p>
        </p:txBody>
      </p:sp>
      <p:sp>
        <p:nvSpPr>
          <p:cNvPr id="175107" name="Rectangle 2"/>
          <p:cNvSpPr>
            <a:spLocks noGrp="1" noRot="1" noChangeAspect="1" noChangeArrowheads="1" noTextEdit="1"/>
          </p:cNvSpPr>
          <p:nvPr>
            <p:ph type="sldImg"/>
          </p:nvPr>
        </p:nvSpPr>
        <p:spPr>
          <a:solidFill>
            <a:srgbClr val="FFFFFF"/>
          </a:solidFill>
          <a:ln/>
        </p:spPr>
      </p:sp>
      <p:sp>
        <p:nvSpPr>
          <p:cNvPr id="15565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3431009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A225C04D-E5A5-4286-9AF8-A17EA7B8656E}" type="slidenum">
              <a:rPr lang="en-US" sz="1200">
                <a:latin typeface="Arial" panose="020B0604020202020204" pitchFamily="34" charset="0"/>
              </a:rPr>
              <a:pPr/>
              <a:t>31</a:t>
            </a:fld>
            <a:endParaRPr lang="en-US" sz="1200" dirty="0">
              <a:latin typeface="Arial" panose="020B0604020202020204" pitchFamily="34" charset="0"/>
            </a:endParaRPr>
          </a:p>
        </p:txBody>
      </p:sp>
      <p:sp>
        <p:nvSpPr>
          <p:cNvPr id="177155" name="Rectangle 2"/>
          <p:cNvSpPr>
            <a:spLocks noGrp="1" noRot="1" noChangeAspect="1" noChangeArrowheads="1" noTextEdit="1"/>
          </p:cNvSpPr>
          <p:nvPr>
            <p:ph type="sldImg"/>
          </p:nvPr>
        </p:nvSpPr>
        <p:spPr>
          <a:solidFill>
            <a:srgbClr val="FFFFFF"/>
          </a:solidFill>
          <a:ln/>
        </p:spPr>
      </p:sp>
      <p:sp>
        <p:nvSpPr>
          <p:cNvPr id="1597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28.22 Examples of large chlorophytes</a:t>
            </a:r>
          </a:p>
        </p:txBody>
      </p:sp>
    </p:spTree>
    <p:extLst>
      <p:ext uri="{BB962C8B-B14F-4D97-AF65-F5344CB8AC3E}">
        <p14:creationId xmlns:p14="http://schemas.microsoft.com/office/powerpoint/2010/main" val="580677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351E53DE-5FBD-4B51-8E44-466B981E53D3}" type="slidenum">
              <a:rPr lang="en-US" sz="1200">
                <a:latin typeface="Arial" panose="020B0604020202020204" pitchFamily="34" charset="0"/>
              </a:rPr>
              <a:pPr/>
              <a:t>32</a:t>
            </a:fld>
            <a:endParaRPr lang="en-US" sz="1200" dirty="0">
              <a:latin typeface="Arial" panose="020B0604020202020204" pitchFamily="34" charset="0"/>
            </a:endParaRPr>
          </a:p>
        </p:txBody>
      </p:sp>
      <p:sp>
        <p:nvSpPr>
          <p:cNvPr id="181251" name="Rectangle 2"/>
          <p:cNvSpPr>
            <a:spLocks noGrp="1" noRot="1" noChangeAspect="1" noChangeArrowheads="1" noTextEdit="1"/>
          </p:cNvSpPr>
          <p:nvPr>
            <p:ph type="sldImg"/>
          </p:nvPr>
        </p:nvSpPr>
        <p:spPr>
          <a:solidFill>
            <a:srgbClr val="FFFFFF"/>
          </a:solidFill>
          <a:ln/>
        </p:spPr>
      </p:sp>
      <p:sp>
        <p:nvSpPr>
          <p:cNvPr id="16793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28.UN05 In-text figure, Unikonta, p. 608</a:t>
            </a:r>
          </a:p>
        </p:txBody>
      </p:sp>
    </p:spTree>
    <p:extLst>
      <p:ext uri="{BB962C8B-B14F-4D97-AF65-F5344CB8AC3E}">
        <p14:creationId xmlns:p14="http://schemas.microsoft.com/office/powerpoint/2010/main" val="8314553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BC99125F-9D93-49FE-BC9D-291F0F72BD65}" type="slidenum">
              <a:rPr lang="en-US" sz="1200">
                <a:latin typeface="Arial" panose="020B0604020202020204" pitchFamily="34" charset="0"/>
              </a:rPr>
              <a:pPr/>
              <a:t>33</a:t>
            </a:fld>
            <a:endParaRPr lang="en-US" sz="1200" dirty="0">
              <a:latin typeface="Arial" panose="020B0604020202020204" pitchFamily="34" charset="0"/>
            </a:endParaRPr>
          </a:p>
        </p:txBody>
      </p:sp>
      <p:sp>
        <p:nvSpPr>
          <p:cNvPr id="184323" name="Rectangle 2"/>
          <p:cNvSpPr>
            <a:spLocks noGrp="1" noRot="1" noChangeAspect="1" noChangeArrowheads="1" noTextEdit="1"/>
          </p:cNvSpPr>
          <p:nvPr>
            <p:ph type="sldImg"/>
          </p:nvPr>
        </p:nvSpPr>
        <p:spPr>
          <a:solidFill>
            <a:srgbClr val="FFFFFF"/>
          </a:solidFill>
          <a:ln/>
        </p:spPr>
      </p:sp>
      <p:sp>
        <p:nvSpPr>
          <p:cNvPr id="17408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5507948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5D3435CC-EB33-4F85-A772-DAC98C51A606}" type="slidenum">
              <a:rPr lang="en-US" sz="1200">
                <a:latin typeface="Arial" panose="020B0604020202020204" pitchFamily="34" charset="0"/>
              </a:rPr>
              <a:pPr/>
              <a:t>34</a:t>
            </a:fld>
            <a:endParaRPr lang="en-US" sz="1200" dirty="0">
              <a:latin typeface="Arial" panose="020B0604020202020204" pitchFamily="34" charset="0"/>
            </a:endParaRPr>
          </a:p>
        </p:txBody>
      </p:sp>
      <p:sp>
        <p:nvSpPr>
          <p:cNvPr id="185347" name="Rectangle 2"/>
          <p:cNvSpPr>
            <a:spLocks noGrp="1" noRot="1" noChangeAspect="1" noChangeArrowheads="1" noTextEdit="1"/>
          </p:cNvSpPr>
          <p:nvPr>
            <p:ph type="sldImg"/>
          </p:nvPr>
        </p:nvSpPr>
        <p:spPr>
          <a:solidFill>
            <a:srgbClr val="FFFFFF"/>
          </a:solidFill>
          <a:ln/>
        </p:spPr>
      </p:sp>
      <p:sp>
        <p:nvSpPr>
          <p:cNvPr id="17613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7247877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7BB72FD6-B18B-4320-A83A-BD87A5C4A219}" type="slidenum">
              <a:rPr lang="en-US" sz="1200">
                <a:latin typeface="Arial" panose="020B0604020202020204" pitchFamily="34" charset="0"/>
              </a:rPr>
              <a:pPr/>
              <a:t>35</a:t>
            </a:fld>
            <a:endParaRPr lang="en-US" sz="1200" dirty="0">
              <a:latin typeface="Arial" panose="020B0604020202020204" pitchFamily="34" charset="0"/>
            </a:endParaRPr>
          </a:p>
        </p:txBody>
      </p:sp>
      <p:sp>
        <p:nvSpPr>
          <p:cNvPr id="191491" name="Rectangle 2"/>
          <p:cNvSpPr>
            <a:spLocks noGrp="1" noRot="1" noChangeAspect="1" noChangeArrowheads="1" noTextEdit="1"/>
          </p:cNvSpPr>
          <p:nvPr>
            <p:ph type="sldImg"/>
          </p:nvPr>
        </p:nvSpPr>
        <p:spPr>
          <a:solidFill>
            <a:srgbClr val="FFFFFF"/>
          </a:solidFill>
          <a:ln/>
        </p:spPr>
      </p:sp>
      <p:sp>
        <p:nvSpPr>
          <p:cNvPr id="18841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9731523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BDB82D72-8AFA-47DC-96BD-F54E0C4796C6}" type="slidenum">
              <a:rPr lang="en-US" sz="1200">
                <a:latin typeface="Arial" panose="020B0604020202020204" pitchFamily="34" charset="0"/>
              </a:rPr>
              <a:pPr/>
              <a:t>36</a:t>
            </a:fld>
            <a:endParaRPr lang="en-US" sz="1200" dirty="0">
              <a:latin typeface="Arial" panose="020B0604020202020204" pitchFamily="34" charset="0"/>
            </a:endParaRPr>
          </a:p>
        </p:txBody>
      </p:sp>
      <p:sp>
        <p:nvSpPr>
          <p:cNvPr id="194563" name="Rectangle 2"/>
          <p:cNvSpPr>
            <a:spLocks noGrp="1" noRot="1" noChangeAspect="1" noChangeArrowheads="1" noTextEdit="1"/>
          </p:cNvSpPr>
          <p:nvPr>
            <p:ph type="sldImg"/>
          </p:nvPr>
        </p:nvSpPr>
        <p:spPr>
          <a:solidFill>
            <a:srgbClr val="FFFFFF"/>
          </a:solidFill>
          <a:ln/>
        </p:spPr>
      </p:sp>
      <p:sp>
        <p:nvSpPr>
          <p:cNvPr id="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9405517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95444018-CA10-4684-9AF7-E521284D44E0}" type="slidenum">
              <a:rPr lang="en-US" sz="1200">
                <a:latin typeface="Arial" panose="020B0604020202020204" pitchFamily="34" charset="0"/>
              </a:rPr>
              <a:pPr/>
              <a:t>37</a:t>
            </a:fld>
            <a:endParaRPr lang="en-US" sz="1200" dirty="0">
              <a:latin typeface="Arial" panose="020B0604020202020204" pitchFamily="34" charset="0"/>
            </a:endParaRPr>
          </a:p>
        </p:txBody>
      </p:sp>
      <p:sp>
        <p:nvSpPr>
          <p:cNvPr id="195587" name="Rectangle 2"/>
          <p:cNvSpPr>
            <a:spLocks noGrp="1" noRot="1" noChangeAspect="1" noChangeArrowheads="1" noTextEdit="1"/>
          </p:cNvSpPr>
          <p:nvPr>
            <p:ph type="sldImg"/>
          </p:nvPr>
        </p:nvSpPr>
        <p:spPr>
          <a:solidFill>
            <a:srgbClr val="FFFFFF"/>
          </a:solidFill>
          <a:ln/>
        </p:spPr>
      </p:sp>
      <p:sp>
        <p:nvSpPr>
          <p:cNvPr id="19661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28.27 A symbiotic protist</a:t>
            </a:r>
          </a:p>
        </p:txBody>
      </p:sp>
    </p:spTree>
    <p:extLst>
      <p:ext uri="{BB962C8B-B14F-4D97-AF65-F5344CB8AC3E}">
        <p14:creationId xmlns:p14="http://schemas.microsoft.com/office/powerpoint/2010/main" val="23838220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itchFamily="123" charset="-128"/>
              </a:defRPr>
            </a:lvl1pPr>
            <a:lvl2pPr marL="742950" indent="-285750">
              <a:defRPr sz="2400">
                <a:solidFill>
                  <a:schemeClr val="tx1"/>
                </a:solidFill>
                <a:latin typeface="Times New Roman" panose="02020603050405020304" pitchFamily="18" charset="0"/>
                <a:ea typeface="ヒラギノ角ゴ Pro W3" pitchFamily="123" charset="-128"/>
              </a:defRPr>
            </a:lvl2pPr>
            <a:lvl3pPr marL="1143000" indent="-228600">
              <a:defRPr sz="2400">
                <a:solidFill>
                  <a:schemeClr val="tx1"/>
                </a:solidFill>
                <a:latin typeface="Times New Roman" panose="02020603050405020304" pitchFamily="18" charset="0"/>
                <a:ea typeface="ヒラギノ角ゴ Pro W3" pitchFamily="123" charset="-128"/>
              </a:defRPr>
            </a:lvl3pPr>
            <a:lvl4pPr marL="1600200" indent="-228600">
              <a:defRPr sz="2400">
                <a:solidFill>
                  <a:schemeClr val="tx1"/>
                </a:solidFill>
                <a:latin typeface="Times New Roman" panose="02020603050405020304" pitchFamily="18" charset="0"/>
                <a:ea typeface="ヒラギノ角ゴ Pro W3" pitchFamily="123" charset="-128"/>
              </a:defRPr>
            </a:lvl4pPr>
            <a:lvl5pPr marL="2057400" indent="-228600">
              <a:defRPr sz="2400">
                <a:solidFill>
                  <a:schemeClr val="tx1"/>
                </a:solidFill>
                <a:latin typeface="Times New Roman" panose="02020603050405020304" pitchFamily="18"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123" charset="-128"/>
              </a:defRPr>
            </a:lvl9pPr>
          </a:lstStyle>
          <a:p>
            <a:fld id="{DFAF8171-A341-41F5-94F8-45D710D0073B}" type="slidenum">
              <a:rPr lang="en-US" sz="1200">
                <a:latin typeface="Arial" panose="020B0604020202020204" pitchFamily="34" charset="0"/>
              </a:rPr>
              <a:pPr/>
              <a:t>38</a:t>
            </a:fld>
            <a:endParaRPr lang="en-US" sz="1200" dirty="0">
              <a:latin typeface="Arial" panose="020B0604020202020204" pitchFamily="34" charset="0"/>
            </a:endParaRPr>
          </a:p>
        </p:txBody>
      </p:sp>
      <p:sp>
        <p:nvSpPr>
          <p:cNvPr id="199683" name="Rectangle 2"/>
          <p:cNvSpPr>
            <a:spLocks noGrp="1" noRot="1" noChangeAspect="1" noChangeArrowheads="1" noTextEdit="1"/>
          </p:cNvSpPr>
          <p:nvPr>
            <p:ph type="sldImg"/>
          </p:nvPr>
        </p:nvSpPr>
        <p:spPr>
          <a:solidFill>
            <a:srgbClr val="FFFFFF"/>
          </a:solidFill>
          <a:ln/>
        </p:spPr>
      </p:sp>
      <p:sp>
        <p:nvSpPr>
          <p:cNvPr id="20480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6657343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F2B30C"/>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4591" t="-1" b="-1"/>
          <a:stretch/>
        </p:blipFill>
        <p:spPr>
          <a:xfrm>
            <a:off x="152400" y="152400"/>
            <a:ext cx="4495800" cy="6356360"/>
          </a:xfrm>
          <a:prstGeom prst="rect">
            <a:avLst/>
          </a:prstGeom>
        </p:spPr>
      </p:pic>
      <p:sp>
        <p:nvSpPr>
          <p:cNvPr id="7" name="Footer Placeholder 2"/>
          <p:cNvSpPr>
            <a:spLocks noGrp="1"/>
          </p:cNvSpPr>
          <p:nvPr>
            <p:ph type="ftr" sz="quarter" idx="3"/>
          </p:nvPr>
        </p:nvSpPr>
        <p:spPr>
          <a:xfrm>
            <a:off x="0" y="6490096"/>
            <a:ext cx="30861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Rectangle 5"/>
          <p:cNvSpPr/>
          <p:nvPr userDrawn="1"/>
        </p:nvSpPr>
        <p:spPr>
          <a:xfrm>
            <a:off x="4876800" y="152400"/>
            <a:ext cx="4114800" cy="5791200"/>
          </a:xfrm>
          <a:prstGeom prst="rect">
            <a:avLst/>
          </a:prstGeom>
        </p:spPr>
        <p:txBody>
          <a:bodyPr wrap="square" anchor="ctr">
            <a:noAutofit/>
          </a:bodyPr>
          <a:lstStyle/>
          <a:p>
            <a:pPr marL="0" marR="0" indent="0" algn="ctr" defTabSz="914400" rtl="0" eaLnBrk="0" fontAlgn="base" latinLnBrk="0" hangingPunct="0">
              <a:lnSpc>
                <a:spcPct val="100000"/>
              </a:lnSpc>
              <a:spcBef>
                <a:spcPct val="0"/>
              </a:spcBef>
              <a:spcAft>
                <a:spcPct val="0"/>
              </a:spcAft>
              <a:buClrTx/>
              <a:buSzTx/>
              <a:buFontTx/>
              <a:buNone/>
              <a:tabLst/>
              <a:defRPr/>
            </a:pPr>
            <a:r>
              <a:rPr lang="en-US" sz="4000" b="1" dirty="0">
                <a:solidFill>
                  <a:srgbClr val="DF4A20"/>
                </a:solidFill>
                <a:effectLst>
                  <a:outerShdw blurRad="38100" dist="38100" dir="2700000" algn="tl">
                    <a:srgbClr val="000000">
                      <a:alpha val="43137"/>
                    </a:srgbClr>
                  </a:outerShdw>
                </a:effectLst>
              </a:rPr>
              <a:t>Chapter 28</a:t>
            </a:r>
            <a:r>
              <a:rPr lang="en-US" sz="3200" b="1" dirty="0">
                <a:solidFill>
                  <a:srgbClr val="DF4A20"/>
                </a:solidFill>
              </a:rPr>
              <a:t/>
            </a:r>
            <a:br>
              <a:rPr lang="en-US" sz="3200" b="1" dirty="0">
                <a:solidFill>
                  <a:srgbClr val="DF4A20"/>
                </a:solidFill>
              </a:rPr>
            </a:br>
            <a:r>
              <a:rPr lang="en-US" sz="3600" dirty="0"/>
              <a:t/>
            </a:r>
            <a:br>
              <a:rPr lang="en-US" sz="3600" dirty="0"/>
            </a:br>
            <a:r>
              <a:rPr lang="en-US" sz="4000" b="1" kern="1200" baseline="0" dirty="0">
                <a:solidFill>
                  <a:schemeClr val="tx1"/>
                </a:solidFill>
                <a:effectLst>
                  <a:outerShdw blurRad="38100" dist="38100" dir="2700000" algn="tl">
                    <a:srgbClr val="000000">
                      <a:alpha val="43137"/>
                    </a:srgbClr>
                  </a:outerShdw>
                </a:effectLst>
                <a:latin typeface="Arial" panose="020B0604020202020204" pitchFamily="34" charset="0"/>
                <a:ea typeface="ヒラギノ角ゴ Pro W3" charset="-128"/>
                <a:cs typeface="+mn-cs"/>
              </a:rPr>
              <a:t>Protists</a:t>
            </a:r>
          </a:p>
        </p:txBody>
      </p:sp>
    </p:spTree>
    <p:extLst>
      <p:ext uri="{BB962C8B-B14F-4D97-AF65-F5344CB8AC3E}">
        <p14:creationId xmlns:p14="http://schemas.microsoft.com/office/powerpoint/2010/main" val="1808287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 and 2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2910807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dirty="0"/>
              <a:t>Click to edit Master title style</a:t>
            </a:r>
          </a:p>
        </p:txBody>
      </p:sp>
      <p:sp>
        <p:nvSpPr>
          <p:cNvPr id="3" name="Content Placeholder 2"/>
          <p:cNvSpPr>
            <a:spLocks noGrp="1"/>
          </p:cNvSpPr>
          <p:nvPr>
            <p:ph idx="1"/>
          </p:nvPr>
        </p:nvSpPr>
        <p:spPr>
          <a:xfrm>
            <a:off x="152400" y="1752600"/>
            <a:ext cx="8839199" cy="4737496"/>
          </a:xfrm>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1050320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 Title with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851232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61810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4031733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633410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a:t>Click to edit Master title style</a:t>
            </a:r>
            <a:endParaRPr lang="en-US" dirty="0"/>
          </a:p>
        </p:txBody>
      </p:sp>
    </p:spTree>
    <p:extLst>
      <p:ext uri="{BB962C8B-B14F-4D97-AF65-F5344CB8AC3E}">
        <p14:creationId xmlns:p14="http://schemas.microsoft.com/office/powerpoint/2010/main" val="261826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961939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8"/>
          <p:cNvSpPr>
            <a:spLocks noGrp="1" noChangeArrowheads="1"/>
          </p:cNvSpPr>
          <p:nvPr>
            <p:ph type="body" idx="1"/>
          </p:nvPr>
        </p:nvSpPr>
        <p:spPr bwMode="auto">
          <a:xfrm>
            <a:off x="152400" y="1272910"/>
            <a:ext cx="8839199" cy="5217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13716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6" name="Rectangle 7"/>
          <p:cNvSpPr>
            <a:spLocks noGrp="1" noChangeArrowheads="1"/>
          </p:cNvSpPr>
          <p:nvPr>
            <p:ph type="title"/>
          </p:nvPr>
        </p:nvSpPr>
        <p:spPr bwMode="auto">
          <a:xfrm>
            <a:off x="0" y="0"/>
            <a:ext cx="9144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82880" tIns="91440" rIns="228600" bIns="91440" numCol="1" anchor="t" anchorCtr="0" compatLnSpc="1">
            <a:prstTxWarp prst="textNoShape">
              <a:avLst/>
            </a:prstTxWarp>
            <a:spAutoFit/>
          </a:bodyPr>
          <a:lstStyle/>
          <a:p>
            <a:pPr lvl="0"/>
            <a:r>
              <a:rPr lang="en-US"/>
              <a:t>Click to edit Master title style</a:t>
            </a:r>
            <a:endParaRPr lang="en-US" dirty="0"/>
          </a:p>
        </p:txBody>
      </p:sp>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933218824"/>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8" r:id="rId3"/>
    <p:sldLayoutId id="2147483907" r:id="rId4"/>
    <p:sldLayoutId id="2147483903" r:id="rId5"/>
    <p:sldLayoutId id="2147483904" r:id="rId6"/>
    <p:sldLayoutId id="2147483909" r:id="rId7"/>
  </p:sldLayoutIdLst>
  <p:hf sldNum="0" hdr="0" ftr="0" dt="0"/>
  <p:txStyles>
    <p:title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p:titleStyle>
    <p:bodyStyle>
      <a:lvl1pPr marL="347472" indent="-347472" algn="l" rtl="0" eaLnBrk="1" fontAlgn="base" hangingPunct="1">
        <a:spcBef>
          <a:spcPts val="600"/>
        </a:spcBef>
        <a:spcAft>
          <a:spcPts val="600"/>
        </a:spcAft>
        <a:buClr>
          <a:srgbClr val="DF4A20"/>
        </a:buClr>
        <a:buFont typeface="Wingdings" charset="2"/>
        <a:buChar char="§"/>
        <a:defRPr sz="2800">
          <a:solidFill>
            <a:schemeClr val="tx1"/>
          </a:solidFill>
          <a:latin typeface="Arial" charset="0"/>
          <a:ea typeface="Arial" panose="020B0604020202020204" pitchFamily="34" charset="0"/>
          <a:cs typeface="+mn-cs"/>
        </a:defRPr>
      </a:lvl1pPr>
      <a:lvl2pPr marL="740664" indent="-283464" algn="l" rtl="0" eaLnBrk="1" fontAlgn="base" hangingPunct="1">
        <a:spcBef>
          <a:spcPts val="600"/>
        </a:spcBef>
        <a:spcAft>
          <a:spcPts val="600"/>
        </a:spcAft>
        <a:buClr>
          <a:srgbClr val="DF4A20"/>
        </a:buClr>
        <a:buFont typeface="Wingdings" charset="2"/>
        <a:buChar char="§"/>
        <a:defRPr sz="2600">
          <a:solidFill>
            <a:schemeClr val="tx1"/>
          </a:solidFill>
          <a:latin typeface="Arial" charset="0"/>
          <a:ea typeface="+mn-ea"/>
          <a:cs typeface="+mn-cs"/>
        </a:defRPr>
      </a:lvl2pPr>
      <a:lvl3pPr marL="1143000" indent="-228600" algn="l" rtl="0" eaLnBrk="1" fontAlgn="base" hangingPunct="1">
        <a:spcBef>
          <a:spcPts val="600"/>
        </a:spcBef>
        <a:spcAft>
          <a:spcPts val="600"/>
        </a:spcAft>
        <a:buClr>
          <a:srgbClr val="DF4A20"/>
        </a:buClr>
        <a:buFont typeface="Wingdings" charset="2"/>
        <a:buChar char="§"/>
        <a:defRPr sz="2400">
          <a:solidFill>
            <a:schemeClr val="tx1"/>
          </a:solidFill>
          <a:latin typeface="Arial" charset="0"/>
          <a:ea typeface="+mn-ea"/>
          <a:cs typeface="+mn-cs"/>
        </a:defRPr>
      </a:lvl3pPr>
      <a:lvl4pPr marL="16002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4pPr>
      <a:lvl5pPr marL="20574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5pPr>
      <a:lvl6pPr marL="33162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6pPr>
      <a:lvl7pPr marL="37734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7pPr>
      <a:lvl8pPr marL="42306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8pPr>
      <a:lvl9pPr marL="46878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
        <p:nvSpPr>
          <p:cNvPr id="4" name="Rectangle 3"/>
          <p:cNvSpPr>
            <a:spLocks noChangeArrowheads="1"/>
          </p:cNvSpPr>
          <p:nvPr/>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r>
              <a:rPr lang="en-US" sz="900" dirty="0">
                <a:solidFill>
                  <a:srgbClr val="000000"/>
                </a:solidFill>
                <a:latin typeface="Arial" charset="0"/>
                <a:ea typeface="ＭＳ Ｐゴシック" charset="0"/>
                <a:cs typeface="ＭＳ Ｐゴシック" charset="0"/>
              </a:rPr>
              <a:t>© 2014 Pearson Education, Inc.</a:t>
            </a:r>
          </a:p>
        </p:txBody>
      </p:sp>
    </p:spTree>
    <p:extLst>
      <p:ext uri="{BB962C8B-B14F-4D97-AF65-F5344CB8AC3E}">
        <p14:creationId xmlns:p14="http://schemas.microsoft.com/office/powerpoint/2010/main" val="130376245"/>
      </p:ext>
    </p:extLst>
  </p:cSld>
  <p:clrMap bg1="lt1" tx1="dk1" bg2="lt2" tx2="dk2" accent1="accent1" accent2="accent2" accent3="accent3" accent4="accent4" accent5="accent5" accent6="accent6" hlink="hlink" folHlink="folHlink"/>
  <p:sldLayoutIdLst>
    <p:sldLayoutId id="2147483906" r:id="rId1"/>
  </p:sldLayoutIdLst>
  <p:hf sldNum="0" hdr="0" ftr="0" dt="0"/>
  <p:txStyles>
    <p:titleStyle>
      <a:lvl1pPr algn="ctr" rtl="0" eaLnBrk="1" fontAlgn="base" hangingPunct="1">
        <a:spcBef>
          <a:spcPct val="0"/>
        </a:spcBef>
        <a:spcAft>
          <a:spcPct val="0"/>
        </a:spcAft>
        <a:defRPr sz="44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Times" pitchFamily="84" charset="0"/>
        </a:defRPr>
      </a:lvl6pPr>
      <a:lvl7pPr marL="914400" algn="ctr" rtl="0" eaLnBrk="1" fontAlgn="base" hangingPunct="1">
        <a:spcBef>
          <a:spcPct val="0"/>
        </a:spcBef>
        <a:spcAft>
          <a:spcPct val="0"/>
        </a:spcAft>
        <a:defRPr sz="4400">
          <a:solidFill>
            <a:schemeClr val="tx2"/>
          </a:solidFill>
          <a:latin typeface="Times" pitchFamily="84" charset="0"/>
        </a:defRPr>
      </a:lvl7pPr>
      <a:lvl8pPr marL="1371600" algn="ctr" rtl="0" eaLnBrk="1" fontAlgn="base" hangingPunct="1">
        <a:spcBef>
          <a:spcPct val="0"/>
        </a:spcBef>
        <a:spcAft>
          <a:spcPct val="0"/>
        </a:spcAft>
        <a:defRPr sz="4400">
          <a:solidFill>
            <a:schemeClr val="tx2"/>
          </a:solidFill>
          <a:latin typeface="Times" pitchFamily="84" charset="0"/>
        </a:defRPr>
      </a:lvl8pPr>
      <a:lvl9pPr marL="1828800" algn="ctr" rtl="0" eaLnBrk="1" fontAlgn="base" hangingPunct="1">
        <a:spcBef>
          <a:spcPct val="0"/>
        </a:spcBef>
        <a:spcAft>
          <a:spcPct val="0"/>
        </a:spcAft>
        <a:defRPr sz="4400">
          <a:solidFill>
            <a:schemeClr val="tx2"/>
          </a:solidFill>
          <a:latin typeface="Times" pitchFamily="84" charset="0"/>
        </a:defRPr>
      </a:lvl9pPr>
    </p:titleStyle>
    <p:bodyStyle>
      <a:lvl1pPr marL="0" indent="0" algn="l" rtl="0" eaLnBrk="1" fontAlgn="base" hangingPunct="1">
        <a:spcBef>
          <a:spcPct val="20000"/>
        </a:spcBef>
        <a:spcAft>
          <a:spcPct val="0"/>
        </a:spcAft>
        <a:buNone/>
        <a:defRPr sz="1200">
          <a:solidFill>
            <a:schemeClr val="tx1"/>
          </a:solidFill>
          <a:latin typeface="Arial"/>
          <a:ea typeface="ＭＳ Ｐゴシック" charset="0"/>
          <a:cs typeface="Arial"/>
        </a:defRPr>
      </a:lvl1pPr>
      <a:lvl2pPr marL="4572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2pPr>
      <a:lvl3pPr marL="9144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3pPr>
      <a:lvl4pPr marL="13716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4pPr>
      <a:lvl5pPr marL="18288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cSld>
  <p:clrMap bg1="lt1" tx1="dk1" bg2="lt2" tx2="dk2" accent1="accent1" accent2="accent2" accent3="accent3" accent4="accent4" accent5="accent5" accent6="accent6" hlink="hlink" folHlink="folHlink"/>
  <p:sldLayoutIdLst>
    <p:sldLayoutId id="2147483911"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file:///C:\Documents%20and%20Settings\rajesh.ACEPRO\Desktop\18-Oct\Chapter%2028\Unlabeled\28_01_UnicellularOrgs-U.jp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cdc.gov/parasites/giardia/index.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cdc.gov/std/trichomonas/stdfact-trichomoniasis.ht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cdc.gov/parasites/sleepingsickness/index.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cdc.gov/parasites/chagas/index.htm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9.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dc.gov/parasites/malaria/index.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malariavaccine.org/files/content/page/files/RTSS%20vaccine%20candidate%20Factsheet_FINAL.pdf"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gif"/></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cdc.gov/parasites/amebiasis/general-info.ht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5.jp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CH 28</a:t>
            </a:r>
          </a:p>
        </p:txBody>
      </p:sp>
      <p:sp>
        <p:nvSpPr>
          <p:cNvPr id="6" name="TextBox 5">
            <a:extLst>
              <a:ext uri="{FF2B5EF4-FFF2-40B4-BE49-F238E27FC236}">
                <a16:creationId xmlns:a16="http://schemas.microsoft.com/office/drawing/2014/main" id="{F7451D56-4B25-42E5-96E6-1EA8A658E9D5}"/>
              </a:ext>
            </a:extLst>
          </p:cNvPr>
          <p:cNvSpPr txBox="1"/>
          <p:nvPr/>
        </p:nvSpPr>
        <p:spPr>
          <a:xfrm>
            <a:off x="0" y="0"/>
            <a:ext cx="9144000" cy="6740307"/>
          </a:xfrm>
          <a:prstGeom prst="rect">
            <a:avLst/>
          </a:prstGeom>
          <a:noFill/>
        </p:spPr>
        <p:txBody>
          <a:bodyPr wrap="square" rtlCol="0">
            <a:spAutoFit/>
          </a:bodyPr>
          <a:lstStyle/>
          <a:p>
            <a:pPr algn="ctr"/>
            <a:r>
              <a:rPr lang="en-US" sz="3600" b="1" dirty="0">
                <a:solidFill>
                  <a:srgbClr val="FF0000"/>
                </a:solidFill>
                <a:cs typeface="Arial" panose="020B0604020202020204" pitchFamily="34" charset="0"/>
              </a:rPr>
              <a:t>BIOL 1202</a:t>
            </a:r>
          </a:p>
          <a:p>
            <a:pPr algn="ctr"/>
            <a:r>
              <a:rPr lang="en-US" sz="3600" b="1" dirty="0">
                <a:cs typeface="Arial" panose="020B0604020202020204" pitchFamily="34" charset="0"/>
              </a:rPr>
              <a:t>General </a:t>
            </a:r>
            <a:r>
              <a:rPr lang="en-US" sz="3600" b="1" dirty="0" smtClean="0">
                <a:cs typeface="Arial" panose="020B0604020202020204" pitchFamily="34" charset="0"/>
              </a:rPr>
              <a:t>Biology </a:t>
            </a:r>
            <a:r>
              <a:rPr lang="en-US" sz="3600" b="1" dirty="0">
                <a:cs typeface="Arial" panose="020B0604020202020204" pitchFamily="34" charset="0"/>
              </a:rPr>
              <a:t>II Lecture</a:t>
            </a: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r>
              <a:rPr lang="en-US" sz="3000" b="1" dirty="0">
                <a:cs typeface="Arial" panose="020B0604020202020204" pitchFamily="34" charset="0"/>
              </a:rPr>
              <a:t>CHAPTER 28</a:t>
            </a:r>
          </a:p>
          <a:p>
            <a:pPr algn="ctr"/>
            <a:r>
              <a:rPr lang="en-US" sz="3000" b="1" i="1" dirty="0">
                <a:cs typeface="Arial" panose="020B0604020202020204" pitchFamily="34" charset="0"/>
              </a:rPr>
              <a:t>Protists</a:t>
            </a:r>
          </a:p>
          <a:p>
            <a:pPr algn="ctr"/>
            <a:r>
              <a:rPr lang="en-US" sz="3000" b="1" dirty="0">
                <a:cs typeface="Arial" panose="020B0604020202020204" pitchFamily="34" charset="0"/>
              </a:rPr>
              <a:t>Dr. Adam Hrincevich</a:t>
            </a:r>
          </a:p>
        </p:txBody>
      </p:sp>
      <p:pic>
        <p:nvPicPr>
          <p:cNvPr id="5" name="Picture 4" descr="A micrograph shows multiple cells. Six are between 1 µm and 3 µm in length. One has a long tail relative to its cell length and others with smaller tails. A last cell is much larger, many times larger than the six smaller cells combined (about 17 µm long and 5 to 10 µm wide). The large cell has one thinner end (5 µm) with a larger bulbous portion on the other end (about 10 µm).">
            <a:extLst>
              <a:ext uri="{FF2B5EF4-FFF2-40B4-BE49-F238E27FC236}">
                <a16:creationId xmlns:a16="http://schemas.microsoft.com/office/drawing/2014/main" id="{43DEA62A-DF79-4874-96C5-D1B48E210EB8}"/>
              </a:ext>
            </a:extLst>
          </p:cNvPr>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a:xfrm>
            <a:off x="2643946" y="1447800"/>
            <a:ext cx="3856108" cy="3353828"/>
          </a:xfrm>
          <a:prstGeom prst="rect">
            <a:avLst/>
          </a:prstGeom>
        </p:spPr>
      </p:pic>
    </p:spTree>
    <p:extLst>
      <p:ext uri="{BB962C8B-B14F-4D97-AF65-F5344CB8AC3E}">
        <p14:creationId xmlns:p14="http://schemas.microsoft.com/office/powerpoint/2010/main" val="1661292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F93F-1521-445C-8CC2-2099C8AD6BFA}"/>
              </a:ext>
            </a:extLst>
          </p:cNvPr>
          <p:cNvSpPr>
            <a:spLocks noGrp="1"/>
          </p:cNvSpPr>
          <p:nvPr>
            <p:ph type="title"/>
          </p:nvPr>
        </p:nvSpPr>
        <p:spPr>
          <a:xfrm>
            <a:off x="-3875" y="0"/>
            <a:ext cx="9144000" cy="800219"/>
          </a:xfrm>
        </p:spPr>
        <p:txBody>
          <a:bodyPr/>
          <a:lstStyle/>
          <a:p>
            <a:pPr algn="ctr"/>
            <a:r>
              <a:rPr lang="en-US" sz="4000" dirty="0"/>
              <a:t>CH 28 Learning Objectives</a:t>
            </a:r>
          </a:p>
        </p:txBody>
      </p:sp>
      <p:sp>
        <p:nvSpPr>
          <p:cNvPr id="4" name="TextBox 3">
            <a:extLst>
              <a:ext uri="{FF2B5EF4-FFF2-40B4-BE49-F238E27FC236}">
                <a16:creationId xmlns:a16="http://schemas.microsoft.com/office/drawing/2014/main" id="{86360591-B5D1-410A-8B8C-92FD2A2A31B5}"/>
              </a:ext>
            </a:extLst>
          </p:cNvPr>
          <p:cNvSpPr txBox="1"/>
          <p:nvPr/>
        </p:nvSpPr>
        <p:spPr>
          <a:xfrm>
            <a:off x="9041" y="1164134"/>
            <a:ext cx="9140125" cy="5693866"/>
          </a:xfrm>
          <a:prstGeom prst="rect">
            <a:avLst/>
          </a:prstGeom>
          <a:noFill/>
        </p:spPr>
        <p:txBody>
          <a:bodyPr wrap="square" rtlCol="0">
            <a:spAutoFit/>
          </a:bodyPr>
          <a:lstStyle/>
          <a:p>
            <a:pPr marL="457200" indent="-457200">
              <a:buFont typeface="+mj-lt"/>
              <a:buAutoNum type="arabicPeriod"/>
            </a:pPr>
            <a:r>
              <a:rPr lang="en-US" sz="2800" dirty="0"/>
              <a:t>Describe the process of secondary endosymbiosis and explain its role in eukaryotic history.</a:t>
            </a:r>
          </a:p>
          <a:p>
            <a:pPr marL="457200" indent="-457200">
              <a:buFont typeface="+mj-lt"/>
              <a:buAutoNum type="arabicPeriod"/>
            </a:pPr>
            <a:r>
              <a:rPr lang="en-US" sz="2800" dirty="0"/>
              <a:t>Characterize the excavates.</a:t>
            </a:r>
          </a:p>
          <a:p>
            <a:pPr marL="457200" indent="-457200">
              <a:buFont typeface="+mj-lt"/>
              <a:buAutoNum type="arabicPeriod"/>
            </a:pPr>
            <a:r>
              <a:rPr lang="en-US" sz="2800" dirty="0"/>
              <a:t>Give examples of the protists classified in SAR.</a:t>
            </a:r>
          </a:p>
          <a:p>
            <a:pPr marL="457200" indent="-457200">
              <a:buFont typeface="+mj-lt"/>
              <a:buAutoNum type="arabicPeriod"/>
            </a:pPr>
            <a:r>
              <a:rPr lang="en-US" sz="2800" dirty="0"/>
              <a:t>Describe characteristics of red and green algae.</a:t>
            </a:r>
          </a:p>
          <a:p>
            <a:pPr marL="457200" indent="-457200">
              <a:buFont typeface="+mj-lt"/>
              <a:buAutoNum type="arabicPeriod"/>
            </a:pPr>
            <a:r>
              <a:rPr lang="en-US" sz="2800" dirty="0"/>
              <a:t>Identify and describe the closest eukaryotic relatives of fungi and animals.</a:t>
            </a:r>
          </a:p>
          <a:p>
            <a:pPr marL="457200" indent="-457200">
              <a:buFont typeface="+mj-lt"/>
              <a:buAutoNum type="arabicPeriod"/>
            </a:pPr>
            <a:r>
              <a:rPr lang="en-US" sz="2800" dirty="0"/>
              <a:t>Give examples of ecological roles played by protists.</a:t>
            </a:r>
          </a:p>
          <a:p>
            <a:pPr marL="457200" indent="-457200">
              <a:buFont typeface="+mj-lt"/>
              <a:buAutoNum type="arabicPeriod"/>
            </a:pPr>
            <a:endParaRPr lang="en-US" sz="2800" dirty="0"/>
          </a:p>
          <a:p>
            <a:endParaRPr lang="en-US" sz="2800" dirty="0"/>
          </a:p>
          <a:p>
            <a:r>
              <a:rPr lang="en-US" sz="2800" dirty="0"/>
              <a:t>I would suggest completing the crossword puzzle to help you understand the terminology and correlate how the terms relate to topics covered in this chapter.</a:t>
            </a:r>
          </a:p>
        </p:txBody>
      </p:sp>
    </p:spTree>
    <p:extLst>
      <p:ext uri="{BB962C8B-B14F-4D97-AF65-F5344CB8AC3E}">
        <p14:creationId xmlns:p14="http://schemas.microsoft.com/office/powerpoint/2010/main" val="4090100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0" y="0"/>
            <a:ext cx="9144000" cy="1107996"/>
          </a:xfrm>
        </p:spPr>
        <p:txBody>
          <a:bodyPr/>
          <a:lstStyle/>
          <a:p>
            <a:r>
              <a:rPr lang="en-US" dirty="0">
                <a:solidFill>
                  <a:srgbClr val="FF0000"/>
                </a:solidFill>
              </a:rPr>
              <a:t>Concept 28.1: Most eukaryotes are single-celled organisms</a:t>
            </a:r>
          </a:p>
        </p:txBody>
      </p:sp>
      <p:sp>
        <p:nvSpPr>
          <p:cNvPr id="23554" name="Rectangle 3"/>
          <p:cNvSpPr>
            <a:spLocks noGrp="1" noChangeArrowheads="1"/>
          </p:cNvSpPr>
          <p:nvPr>
            <p:ph idx="1"/>
          </p:nvPr>
        </p:nvSpPr>
        <p:spPr/>
        <p:txBody>
          <a:bodyPr/>
          <a:lstStyle/>
          <a:p>
            <a:r>
              <a:rPr lang="en-US" dirty="0" err="1"/>
              <a:t>Protists</a:t>
            </a:r>
            <a:r>
              <a:rPr lang="en-US" dirty="0"/>
              <a:t> are </a:t>
            </a:r>
          </a:p>
          <a:p>
            <a:r>
              <a:rPr lang="en-US" dirty="0"/>
              <a:t>Eukaryotic cells have organelles and are more complex than </a:t>
            </a:r>
          </a:p>
          <a:p>
            <a:r>
              <a:rPr lang="en-US" dirty="0"/>
              <a:t>Important characters include</a:t>
            </a:r>
          </a:p>
          <a:p>
            <a:pPr lvl="1"/>
            <a:r>
              <a:rPr lang="en-US" dirty="0"/>
              <a:t>the organisms </a:t>
            </a:r>
          </a:p>
          <a:p>
            <a:pPr lvl="1"/>
            <a:r>
              <a:rPr lang="en-US" b="1" i="1" dirty="0"/>
              <a:t>most</a:t>
            </a:r>
            <a:r>
              <a:rPr lang="en-US" dirty="0"/>
              <a:t> </a:t>
            </a:r>
            <a:r>
              <a:rPr lang="en-US" dirty="0" err="1"/>
              <a:t>protists</a:t>
            </a:r>
            <a:r>
              <a:rPr lang="en-US" dirty="0"/>
              <a:t> </a:t>
            </a:r>
          </a:p>
          <a:p>
            <a:endParaRPr lang="en-US" dirty="0"/>
          </a:p>
        </p:txBody>
      </p:sp>
      <p:pic>
        <p:nvPicPr>
          <p:cNvPr id="3" name="Picture 2" descr="Examples of 7 common protists">
            <a:extLst>
              <a:ext uri="{FF2B5EF4-FFF2-40B4-BE49-F238E27FC236}">
                <a16:creationId xmlns:a16="http://schemas.microsoft.com/office/drawing/2014/main" id="{C1549F2A-0DE3-4799-99BD-C778F0DBF0A1}"/>
              </a:ext>
            </a:extLst>
          </p:cNvPr>
          <p:cNvPicPr>
            <a:picLocks noChangeAspect="1"/>
          </p:cNvPicPr>
          <p:nvPr/>
        </p:nvPicPr>
        <p:blipFill>
          <a:blip r:embed="rId3"/>
          <a:stretch>
            <a:fillRect/>
          </a:stretch>
        </p:blipFill>
        <p:spPr>
          <a:xfrm>
            <a:off x="800099" y="4422365"/>
            <a:ext cx="7543800" cy="2435635"/>
          </a:xfrm>
          <a:prstGeom prst="rect">
            <a:avLst/>
          </a:prstGeom>
        </p:spPr>
      </p:pic>
    </p:spTree>
    <p:extLst>
      <p:ext uri="{BB962C8B-B14F-4D97-AF65-F5344CB8AC3E}">
        <p14:creationId xmlns:p14="http://schemas.microsoft.com/office/powerpoint/2010/main" val="854327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0" y="0"/>
            <a:ext cx="9144000" cy="646331"/>
          </a:xfrm>
        </p:spPr>
        <p:txBody>
          <a:bodyPr/>
          <a:lstStyle/>
          <a:p>
            <a:r>
              <a:rPr lang="en-US" dirty="0"/>
              <a:t>Structural and Functional Diversity in Protists</a:t>
            </a:r>
          </a:p>
        </p:txBody>
      </p:sp>
      <p:sp>
        <p:nvSpPr>
          <p:cNvPr id="25602" name="Rectangle 3"/>
          <p:cNvSpPr>
            <a:spLocks noGrp="1" noChangeArrowheads="1"/>
          </p:cNvSpPr>
          <p:nvPr>
            <p:ph idx="1"/>
          </p:nvPr>
        </p:nvSpPr>
        <p:spPr>
          <a:xfrm>
            <a:off x="56148" y="617622"/>
            <a:ext cx="9039726" cy="6208294"/>
          </a:xfrm>
        </p:spPr>
        <p:txBody>
          <a:bodyPr/>
          <a:lstStyle/>
          <a:p>
            <a:r>
              <a:rPr lang="en-US" dirty="0"/>
              <a:t>Protists exhibit more </a:t>
            </a:r>
            <a:r>
              <a:rPr lang="en-US" i="1" dirty="0"/>
              <a:t>structural</a:t>
            </a:r>
            <a:r>
              <a:rPr lang="en-US" dirty="0"/>
              <a:t> and </a:t>
            </a:r>
            <a:r>
              <a:rPr lang="en-US" i="1" dirty="0"/>
              <a:t>functional</a:t>
            </a:r>
            <a:r>
              <a:rPr lang="en-US" dirty="0"/>
              <a:t> diversity than </a:t>
            </a:r>
          </a:p>
          <a:p>
            <a:r>
              <a:rPr lang="en-US" dirty="0"/>
              <a:t>Though </a:t>
            </a:r>
            <a:r>
              <a:rPr lang="en-US" i="1" dirty="0"/>
              <a:t>most</a:t>
            </a:r>
            <a:r>
              <a:rPr lang="en-US" dirty="0"/>
              <a:t> protists are unicellular, there are some colonial and </a:t>
            </a:r>
          </a:p>
          <a:p>
            <a:r>
              <a:rPr lang="en-US" dirty="0"/>
              <a:t>Protists can be </a:t>
            </a:r>
          </a:p>
          <a:p>
            <a:r>
              <a:rPr lang="en-US" dirty="0"/>
              <a:t>Protists, the most nutritionally diverse of all eukaryotes, include</a:t>
            </a:r>
          </a:p>
          <a:p>
            <a:pPr lvl="1"/>
            <a:r>
              <a:rPr lang="en-US" b="1" dirty="0"/>
              <a:t>Photoautotrophs</a:t>
            </a:r>
            <a:r>
              <a:rPr lang="en-US" dirty="0"/>
              <a:t>: </a:t>
            </a:r>
          </a:p>
          <a:p>
            <a:pPr lvl="1"/>
            <a:r>
              <a:rPr lang="en-US" b="1" dirty="0"/>
              <a:t>Heterotrophs</a:t>
            </a:r>
            <a:r>
              <a:rPr lang="en-US" dirty="0"/>
              <a:t>: </a:t>
            </a:r>
          </a:p>
          <a:p>
            <a:pPr lvl="1"/>
            <a:r>
              <a:rPr lang="en-US" b="1" dirty="0" err="1"/>
              <a:t>Mixotrophs</a:t>
            </a:r>
            <a:r>
              <a:rPr lang="en-US" dirty="0"/>
              <a:t>:</a:t>
            </a:r>
          </a:p>
          <a:p>
            <a:r>
              <a:rPr lang="en-US" dirty="0"/>
              <a:t>They use both </a:t>
            </a:r>
            <a:r>
              <a:rPr lang="en-US" b="1" dirty="0">
                <a:solidFill>
                  <a:srgbClr val="00B050"/>
                </a:solidFill>
              </a:rPr>
              <a:t>sexual</a:t>
            </a:r>
            <a:r>
              <a:rPr lang="en-US" dirty="0"/>
              <a:t> and </a:t>
            </a:r>
            <a:r>
              <a:rPr lang="en-US" b="1" dirty="0">
                <a:solidFill>
                  <a:srgbClr val="FF0000"/>
                </a:solidFill>
              </a:rPr>
              <a:t>asexual </a:t>
            </a:r>
            <a:endParaRPr lang="en-US" dirty="0"/>
          </a:p>
        </p:txBody>
      </p:sp>
    </p:spTree>
    <p:extLst>
      <p:ext uri="{BB962C8B-B14F-4D97-AF65-F5344CB8AC3E}">
        <p14:creationId xmlns:p14="http://schemas.microsoft.com/office/powerpoint/2010/main" val="66982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r>
              <a:rPr lang="en-US" dirty="0"/>
              <a:t>Four Supergroups of Eukaryotes</a:t>
            </a:r>
          </a:p>
        </p:txBody>
      </p:sp>
      <p:sp>
        <p:nvSpPr>
          <p:cNvPr id="31746" name="Rectangle 3"/>
          <p:cNvSpPr>
            <a:spLocks noGrp="1" noChangeArrowheads="1"/>
          </p:cNvSpPr>
          <p:nvPr>
            <p:ph idx="1"/>
          </p:nvPr>
        </p:nvSpPr>
        <p:spPr>
          <a:xfrm>
            <a:off x="152401" y="914400"/>
            <a:ext cx="8763000" cy="5575696"/>
          </a:xfrm>
        </p:spPr>
        <p:txBody>
          <a:bodyPr/>
          <a:lstStyle/>
          <a:p>
            <a:r>
              <a:rPr lang="en-US" dirty="0"/>
              <a:t>Our understanding of the evolutionary relationships among </a:t>
            </a:r>
            <a:r>
              <a:rPr lang="en-US" dirty="0" err="1"/>
              <a:t>protist</a:t>
            </a:r>
            <a:r>
              <a:rPr lang="en-US" dirty="0"/>
              <a:t> groups </a:t>
            </a:r>
          </a:p>
          <a:p>
            <a:r>
              <a:rPr lang="en-US" dirty="0"/>
              <a:t>Several hypotheses have been </a:t>
            </a:r>
          </a:p>
          <a:p>
            <a:endParaRPr lang="en-US" dirty="0"/>
          </a:p>
          <a:p>
            <a:r>
              <a:rPr lang="en-US" dirty="0"/>
              <a:t>One current hypothesis divides all eukaryotes (including protists) into </a:t>
            </a:r>
          </a:p>
          <a:p>
            <a:pPr marL="971550" lvl="1" indent="-514350">
              <a:buFont typeface="+mj-lt"/>
              <a:buAutoNum type="arabicPeriod"/>
            </a:pPr>
            <a:r>
              <a:rPr lang="en-US" b="1" dirty="0">
                <a:solidFill>
                  <a:srgbClr val="FF0000"/>
                </a:solidFill>
              </a:rPr>
              <a:t> </a:t>
            </a:r>
          </a:p>
          <a:p>
            <a:pPr marL="971550" lvl="1" indent="-514350">
              <a:buFont typeface="+mj-lt"/>
              <a:buAutoNum type="arabicPeriod"/>
            </a:pPr>
            <a:r>
              <a:rPr lang="en-US" dirty="0"/>
              <a:t> </a:t>
            </a:r>
          </a:p>
          <a:p>
            <a:pPr marL="971550" lvl="1" indent="-514350">
              <a:buFont typeface="+mj-lt"/>
              <a:buAutoNum type="arabicPeriod"/>
            </a:pPr>
            <a:r>
              <a:rPr lang="en-US" b="1" dirty="0">
                <a:solidFill>
                  <a:srgbClr val="FF0000"/>
                </a:solidFill>
              </a:rPr>
              <a:t> </a:t>
            </a:r>
          </a:p>
          <a:p>
            <a:pPr marL="971550" lvl="1" indent="-514350">
              <a:buFont typeface="+mj-lt"/>
              <a:buAutoNum type="arabicPeriod"/>
            </a:pPr>
            <a:r>
              <a:rPr lang="en-US" b="1" dirty="0">
                <a:solidFill>
                  <a:srgbClr val="FF0000"/>
                </a:solidFill>
              </a:rPr>
              <a:t> </a:t>
            </a:r>
          </a:p>
        </p:txBody>
      </p:sp>
    </p:spTree>
    <p:extLst>
      <p:ext uri="{BB962C8B-B14F-4D97-AF65-F5344CB8AC3E}">
        <p14:creationId xmlns:p14="http://schemas.microsoft.com/office/powerpoint/2010/main" val="2554865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r>
              <a:rPr lang="en-US" dirty="0"/>
              <a:t>Endosymbiosis in Eukaryotic Evolution</a:t>
            </a:r>
          </a:p>
        </p:txBody>
      </p:sp>
      <p:sp>
        <p:nvSpPr>
          <p:cNvPr id="35842" name="Rectangle 3"/>
          <p:cNvSpPr>
            <a:spLocks noGrp="1" noChangeArrowheads="1"/>
          </p:cNvSpPr>
          <p:nvPr>
            <p:ph idx="1"/>
          </p:nvPr>
        </p:nvSpPr>
        <p:spPr>
          <a:xfrm>
            <a:off x="72190" y="602215"/>
            <a:ext cx="8991600" cy="6211669"/>
          </a:xfrm>
        </p:spPr>
        <p:txBody>
          <a:bodyPr/>
          <a:lstStyle/>
          <a:p>
            <a:r>
              <a:rPr lang="en-US" dirty="0"/>
              <a:t>There is now considerable evidence that much protist diversity has </a:t>
            </a:r>
          </a:p>
          <a:p>
            <a:r>
              <a:rPr lang="en-US" b="1" dirty="0"/>
              <a:t>Endosymbiosis</a:t>
            </a:r>
            <a:r>
              <a:rPr lang="en-US" dirty="0"/>
              <a:t> is a relationship between two species in which one organism lives inside the cell or cells of </a:t>
            </a:r>
          </a:p>
          <a:p>
            <a:r>
              <a:rPr lang="en-US" dirty="0"/>
              <a:t>Mitochondria and plastids are derived from prokaryotes that were engulfed by the ancestors of early eukaryotic cells, possibly </a:t>
            </a:r>
          </a:p>
          <a:p>
            <a:endParaRPr lang="en-US" dirty="0"/>
          </a:p>
          <a:p>
            <a:r>
              <a:rPr lang="en-US" dirty="0"/>
              <a:t>Mitochondria evolved once by endosymbiosis of an alpha </a:t>
            </a:r>
          </a:p>
          <a:p>
            <a:r>
              <a:rPr lang="en-US" dirty="0"/>
              <a:t>Plastids evolved later by </a:t>
            </a:r>
          </a:p>
        </p:txBody>
      </p:sp>
    </p:spTree>
    <p:extLst>
      <p:ext uri="{BB962C8B-B14F-4D97-AF65-F5344CB8AC3E}">
        <p14:creationId xmlns:p14="http://schemas.microsoft.com/office/powerpoint/2010/main" val="707243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5"/>
          <p:cNvSpPr>
            <a:spLocks noGrp="1" noChangeArrowheads="1"/>
          </p:cNvSpPr>
          <p:nvPr>
            <p:ph type="title"/>
          </p:nvPr>
        </p:nvSpPr>
        <p:spPr>
          <a:xfrm>
            <a:off x="0" y="0"/>
            <a:ext cx="9144000" cy="1600200"/>
          </a:xfrm>
        </p:spPr>
        <p:txBody>
          <a:bodyPr/>
          <a:lstStyle/>
          <a:p>
            <a:r>
              <a:rPr lang="en-US" dirty="0">
                <a:solidFill>
                  <a:srgbClr val="FF0000"/>
                </a:solidFill>
              </a:rPr>
              <a:t>Concept 28.2: Excavates include protists with modified mitochondria and protists with unique flagella</a:t>
            </a:r>
          </a:p>
        </p:txBody>
      </p:sp>
      <p:sp>
        <p:nvSpPr>
          <p:cNvPr id="50177" name="Rectangle 2"/>
          <p:cNvSpPr>
            <a:spLocks noGrp="1" noChangeArrowheads="1"/>
          </p:cNvSpPr>
          <p:nvPr>
            <p:ph idx="1"/>
          </p:nvPr>
        </p:nvSpPr>
        <p:spPr>
          <a:xfrm>
            <a:off x="152401" y="1519990"/>
            <a:ext cx="4876799" cy="5257800"/>
          </a:xfrm>
        </p:spPr>
        <p:txBody>
          <a:bodyPr/>
          <a:lstStyle/>
          <a:p>
            <a:r>
              <a:rPr lang="en-US" dirty="0"/>
              <a:t>The clade </a:t>
            </a:r>
            <a:r>
              <a:rPr lang="en-US" b="1" dirty="0"/>
              <a:t>Excavata </a:t>
            </a:r>
            <a:r>
              <a:rPr lang="en-US" dirty="0"/>
              <a:t>is characterized by its </a:t>
            </a:r>
          </a:p>
          <a:p>
            <a:endParaRPr lang="en-US" dirty="0"/>
          </a:p>
          <a:p>
            <a:r>
              <a:rPr lang="en-US" dirty="0"/>
              <a:t>Some members have an </a:t>
            </a:r>
            <a:r>
              <a:rPr lang="ja-JP" altLang="en-US" dirty="0"/>
              <a:t>“</a:t>
            </a:r>
            <a:r>
              <a:rPr lang="en-US" altLang="ja-JP" dirty="0"/>
              <a:t>excavated</a:t>
            </a:r>
            <a:r>
              <a:rPr lang="ja-JP" altLang="en-US" dirty="0"/>
              <a:t>”</a:t>
            </a:r>
            <a:r>
              <a:rPr lang="en-US" altLang="ja-JP" dirty="0"/>
              <a:t> feeding groove on </a:t>
            </a:r>
          </a:p>
          <a:p>
            <a:r>
              <a:rPr lang="en-US" dirty="0"/>
              <a:t>The excavates include three monophyletic groups: the </a:t>
            </a:r>
          </a:p>
        </p:txBody>
      </p:sp>
      <p:pic>
        <p:nvPicPr>
          <p:cNvPr id="2" name="Picture 1" descr="Family tree of major protist lineages."/>
          <p:cNvPicPr>
            <a:picLocks noChangeAspect="1"/>
          </p:cNvPicPr>
          <p:nvPr/>
        </p:nvPicPr>
        <p:blipFill>
          <a:blip r:embed="rId3"/>
          <a:stretch>
            <a:fillRect/>
          </a:stretch>
        </p:blipFill>
        <p:spPr>
          <a:xfrm>
            <a:off x="5029200" y="1371600"/>
            <a:ext cx="4114800" cy="5276850"/>
          </a:xfrm>
          <a:prstGeom prst="rect">
            <a:avLst/>
          </a:prstGeom>
        </p:spPr>
      </p:pic>
      <p:sp>
        <p:nvSpPr>
          <p:cNvPr id="3" name="Rounded Rectangle 2" descr="Excavata group of tree"/>
          <p:cNvSpPr/>
          <p:nvPr/>
        </p:nvSpPr>
        <p:spPr bwMode="auto">
          <a:xfrm>
            <a:off x="6553200" y="1504750"/>
            <a:ext cx="2133600" cy="2899610"/>
          </a:xfrm>
          <a:prstGeom prst="roundRect">
            <a:avLst/>
          </a:prstGeom>
          <a:noFill/>
          <a:ln>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46326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dirty="0">
                <a:solidFill>
                  <a:srgbClr val="FF0000"/>
                </a:solidFill>
              </a:rPr>
              <a:t>EXCAVATA</a:t>
            </a:r>
            <a:r>
              <a:rPr lang="en-US" dirty="0"/>
              <a:t>: Diplomonads and Parabasalids</a:t>
            </a:r>
          </a:p>
        </p:txBody>
      </p:sp>
      <p:sp>
        <p:nvSpPr>
          <p:cNvPr id="54274" name="Rectangle 3"/>
          <p:cNvSpPr>
            <a:spLocks noGrp="1" noChangeArrowheads="1"/>
          </p:cNvSpPr>
          <p:nvPr>
            <p:ph idx="1"/>
          </p:nvPr>
        </p:nvSpPr>
        <p:spPr>
          <a:xfrm>
            <a:off x="88232" y="630289"/>
            <a:ext cx="8991600" cy="6211669"/>
          </a:xfrm>
        </p:spPr>
        <p:txBody>
          <a:bodyPr/>
          <a:lstStyle/>
          <a:p>
            <a:r>
              <a:rPr lang="en-US" dirty="0"/>
              <a:t>These two groups </a:t>
            </a:r>
            <a:r>
              <a:rPr lang="en-US" b="1" i="1" dirty="0">
                <a:solidFill>
                  <a:srgbClr val="FF0000"/>
                </a:solidFill>
              </a:rPr>
              <a:t>lack plastids </a:t>
            </a:r>
            <a:r>
              <a:rPr lang="en-US" dirty="0"/>
              <a:t>and have </a:t>
            </a:r>
            <a:r>
              <a:rPr lang="en-US" b="1" i="1" dirty="0">
                <a:solidFill>
                  <a:srgbClr val="FF0000"/>
                </a:solidFill>
              </a:rPr>
              <a:t>modified mitochondria</a:t>
            </a:r>
            <a:r>
              <a:rPr lang="en-US" dirty="0"/>
              <a:t>, most </a:t>
            </a:r>
          </a:p>
          <a:p>
            <a:r>
              <a:rPr lang="en-US" b="1" dirty="0"/>
              <a:t>Diplomonads </a:t>
            </a:r>
          </a:p>
          <a:p>
            <a:pPr lvl="1"/>
            <a:r>
              <a:rPr lang="en-US" dirty="0"/>
              <a:t>have reduced </a:t>
            </a:r>
            <a:endParaRPr lang="en-US" b="1" dirty="0"/>
          </a:p>
          <a:p>
            <a:pPr lvl="1"/>
            <a:r>
              <a:rPr lang="en-US" dirty="0"/>
              <a:t>derive energy from </a:t>
            </a:r>
          </a:p>
          <a:p>
            <a:pPr lvl="1"/>
            <a:r>
              <a:rPr lang="en-US" dirty="0"/>
              <a:t>have two </a:t>
            </a:r>
          </a:p>
          <a:p>
            <a:pPr lvl="1"/>
            <a:r>
              <a:rPr lang="en-US" dirty="0"/>
              <a:t>are often parasites, EX: </a:t>
            </a:r>
            <a:r>
              <a:rPr lang="en-US" dirty="0">
                <a:hlinkClick r:id="rId3"/>
              </a:rPr>
              <a:t>G</a:t>
            </a:r>
            <a:r>
              <a:rPr lang="en-US" i="1" dirty="0">
                <a:hlinkClick r:id="rId3"/>
              </a:rPr>
              <a:t>iardia intestinalis</a:t>
            </a:r>
            <a:endParaRPr lang="en-US" i="1" dirty="0"/>
          </a:p>
          <a:p>
            <a:r>
              <a:rPr lang="en-US" b="1" dirty="0"/>
              <a:t>Parabasalids </a:t>
            </a:r>
          </a:p>
          <a:p>
            <a:pPr lvl="1"/>
            <a:r>
              <a:rPr lang="en-US" dirty="0"/>
              <a:t>have reduced mitochondria called </a:t>
            </a:r>
            <a:r>
              <a:rPr lang="en-US" b="1" dirty="0" err="1"/>
              <a:t>hydrogenosomes</a:t>
            </a:r>
            <a:r>
              <a:rPr lang="en-US" dirty="0"/>
              <a:t> that </a:t>
            </a:r>
          </a:p>
          <a:p>
            <a:pPr lvl="1"/>
            <a:r>
              <a:rPr lang="en-US" dirty="0"/>
              <a:t>include </a:t>
            </a:r>
            <a:r>
              <a:rPr lang="en-US" i="1" dirty="0">
                <a:hlinkClick r:id="rId4"/>
              </a:rPr>
              <a:t>Trichomonas vaginalis</a:t>
            </a:r>
            <a:r>
              <a:rPr lang="en-US" dirty="0"/>
              <a:t>, a </a:t>
            </a:r>
            <a:endParaRPr lang="en-US" i="1" dirty="0"/>
          </a:p>
          <a:p>
            <a:endParaRPr lang="en-US" dirty="0"/>
          </a:p>
        </p:txBody>
      </p:sp>
    </p:spTree>
    <p:extLst>
      <p:ext uri="{BB962C8B-B14F-4D97-AF65-F5344CB8AC3E}">
        <p14:creationId xmlns:p14="http://schemas.microsoft.com/office/powerpoint/2010/main" val="3221466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9144000" cy="646331"/>
          </a:xfrm>
        </p:spPr>
        <p:txBody>
          <a:bodyPr/>
          <a:lstStyle/>
          <a:p>
            <a:r>
              <a:rPr lang="en-US" dirty="0">
                <a:solidFill>
                  <a:schemeClr val="bg1"/>
                </a:solidFill>
              </a:rPr>
              <a:t>9</a:t>
            </a:r>
          </a:p>
        </p:txBody>
      </p:sp>
      <p:pic>
        <p:nvPicPr>
          <p:cNvPr id="5" name="Picture 4" descr="Evolution of the Mitochondrion vs. Hydrogenosome vs. Mitosome.&#10;"/>
          <p:cNvPicPr>
            <a:picLocks noChangeAspect="1"/>
          </p:cNvPicPr>
          <p:nvPr/>
        </p:nvPicPr>
        <p:blipFill>
          <a:blip r:embed="rId2"/>
          <a:stretch>
            <a:fillRect/>
          </a:stretch>
        </p:blipFill>
        <p:spPr>
          <a:xfrm>
            <a:off x="4043" y="990600"/>
            <a:ext cx="9139957" cy="5169568"/>
          </a:xfrm>
          <a:prstGeom prst="rect">
            <a:avLst/>
          </a:prstGeom>
        </p:spPr>
      </p:pic>
      <p:sp>
        <p:nvSpPr>
          <p:cNvPr id="6" name="TextBox 5"/>
          <p:cNvSpPr txBox="1"/>
          <p:nvPr/>
        </p:nvSpPr>
        <p:spPr>
          <a:xfrm>
            <a:off x="-12032" y="0"/>
            <a:ext cx="9156032" cy="584775"/>
          </a:xfrm>
          <a:prstGeom prst="rect">
            <a:avLst/>
          </a:prstGeom>
          <a:noFill/>
        </p:spPr>
        <p:txBody>
          <a:bodyPr wrap="square" rtlCol="0">
            <a:spAutoFit/>
          </a:bodyPr>
          <a:lstStyle/>
          <a:p>
            <a:pPr algn="ctr"/>
            <a:r>
              <a:rPr lang="en-US" sz="3200" dirty="0"/>
              <a:t>Mitochondrion vs. </a:t>
            </a:r>
            <a:r>
              <a:rPr lang="en-US" sz="3200" dirty="0" err="1"/>
              <a:t>Hydrogenosome</a:t>
            </a:r>
            <a:r>
              <a:rPr lang="en-US" sz="3200" dirty="0"/>
              <a:t> vs. </a:t>
            </a:r>
            <a:r>
              <a:rPr lang="en-US" sz="3200" dirty="0" err="1"/>
              <a:t>Mitosome</a:t>
            </a:r>
            <a:endParaRPr lang="en-US" sz="3200" dirty="0"/>
          </a:p>
        </p:txBody>
      </p:sp>
    </p:spTree>
    <p:extLst>
      <p:ext uri="{BB962C8B-B14F-4D97-AF65-F5344CB8AC3E}">
        <p14:creationId xmlns:p14="http://schemas.microsoft.com/office/powerpoint/2010/main" val="1898202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r>
              <a:rPr lang="en-US" dirty="0">
                <a:solidFill>
                  <a:srgbClr val="FF0000"/>
                </a:solidFill>
              </a:rPr>
              <a:t>EXCAVATA</a:t>
            </a:r>
            <a:r>
              <a:rPr lang="en-US" dirty="0"/>
              <a:t>: </a:t>
            </a:r>
            <a:r>
              <a:rPr lang="en-US" dirty="0" err="1"/>
              <a:t>Euglenozoans</a:t>
            </a:r>
            <a:endParaRPr lang="en-US" dirty="0"/>
          </a:p>
        </p:txBody>
      </p:sp>
      <p:sp>
        <p:nvSpPr>
          <p:cNvPr id="60418" name="Rectangle 3"/>
          <p:cNvSpPr>
            <a:spLocks noGrp="1" noChangeArrowheads="1"/>
          </p:cNvSpPr>
          <p:nvPr>
            <p:ph idx="1"/>
          </p:nvPr>
        </p:nvSpPr>
        <p:spPr>
          <a:xfrm>
            <a:off x="76200" y="665748"/>
            <a:ext cx="9067800" cy="3048000"/>
          </a:xfrm>
        </p:spPr>
        <p:txBody>
          <a:bodyPr/>
          <a:lstStyle/>
          <a:p>
            <a:r>
              <a:rPr lang="en-US" b="1" dirty="0"/>
              <a:t>Euglenozoa</a:t>
            </a:r>
            <a:r>
              <a:rPr lang="en-US" dirty="0"/>
              <a:t> is a diverse clade that includes predatory heterotrophs, </a:t>
            </a:r>
          </a:p>
          <a:p>
            <a:endParaRPr lang="en-US" dirty="0"/>
          </a:p>
          <a:p>
            <a:r>
              <a:rPr lang="en-US" dirty="0"/>
              <a:t>The main feature distinguishing them as a clade is a </a:t>
            </a:r>
            <a:r>
              <a:rPr lang="en-US" b="1" i="1" dirty="0"/>
              <a:t>spiral </a:t>
            </a:r>
            <a:r>
              <a:rPr lang="en-US" dirty="0"/>
              <a:t>or </a:t>
            </a:r>
          </a:p>
          <a:p>
            <a:r>
              <a:rPr lang="en-US" dirty="0"/>
              <a:t>This clade includes </a:t>
            </a:r>
            <a:endParaRPr lang="en-US" b="1" dirty="0"/>
          </a:p>
        </p:txBody>
      </p:sp>
      <p:pic>
        <p:nvPicPr>
          <p:cNvPr id="2" name="Picture 1" descr="A diagram shows a cell, about 8 µm wide. There are two long flagella emerging from one end. The flagella are about 1.5 times the length of the rest of the cell. A cross section of the flagella is shown in an expanded view. There are a series of parallel crystalline rods (cross section), and a ring of microtubules (cross section) perpendicular to the crystalline rods.">
            <a:extLst>
              <a:ext uri="{FF2B5EF4-FFF2-40B4-BE49-F238E27FC236}">
                <a16:creationId xmlns:a16="http://schemas.microsoft.com/office/drawing/2014/main" id="{4468F0FD-EAF9-4BC9-B7FE-E0C03A66F92D}"/>
              </a:ext>
            </a:extLst>
          </p:cNvPr>
          <p:cNvPicPr>
            <a:picLocks noChangeAspect="1"/>
          </p:cNvPicPr>
          <p:nvPr/>
        </p:nvPicPr>
        <p:blipFill>
          <a:blip r:embed="rId3"/>
          <a:stretch>
            <a:fillRect/>
          </a:stretch>
        </p:blipFill>
        <p:spPr>
          <a:xfrm>
            <a:off x="2293767" y="3733165"/>
            <a:ext cx="4556465" cy="2868161"/>
          </a:xfrm>
          <a:prstGeom prst="rect">
            <a:avLst/>
          </a:prstGeom>
        </p:spPr>
      </p:pic>
    </p:spTree>
    <p:extLst>
      <p:ext uri="{BB962C8B-B14F-4D97-AF65-F5344CB8AC3E}">
        <p14:creationId xmlns:p14="http://schemas.microsoft.com/office/powerpoint/2010/main" val="2591547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lstStyle/>
          <a:p>
            <a:r>
              <a:rPr lang="en-US" i="1" dirty="0" err="1"/>
              <a:t>Kinetoplastids</a:t>
            </a:r>
            <a:endParaRPr lang="en-US" i="1" dirty="0"/>
          </a:p>
        </p:txBody>
      </p:sp>
      <p:sp>
        <p:nvSpPr>
          <p:cNvPr id="64514" name="Rectangle 3"/>
          <p:cNvSpPr>
            <a:spLocks noGrp="1" noChangeArrowheads="1"/>
          </p:cNvSpPr>
          <p:nvPr>
            <p:ph idx="1"/>
          </p:nvPr>
        </p:nvSpPr>
        <p:spPr>
          <a:xfrm>
            <a:off x="76200" y="609600"/>
            <a:ext cx="9067800" cy="6248400"/>
          </a:xfrm>
        </p:spPr>
        <p:txBody>
          <a:bodyPr/>
          <a:lstStyle/>
          <a:p>
            <a:r>
              <a:rPr lang="en-US" b="1" dirty="0"/>
              <a:t>Kinetoplastids</a:t>
            </a:r>
            <a:r>
              <a:rPr lang="en-US" dirty="0"/>
              <a:t> have a single mitochondrion with an organized </a:t>
            </a:r>
            <a:endParaRPr lang="en-US" b="1" dirty="0"/>
          </a:p>
          <a:p>
            <a:r>
              <a:rPr lang="en-US" dirty="0"/>
              <a:t>Free-living species are consumers of prokaryotes in freshwater, </a:t>
            </a:r>
          </a:p>
          <a:p>
            <a:r>
              <a:rPr lang="en-US" dirty="0"/>
              <a:t>Some species parasitize animals, plants, and other protists</a:t>
            </a:r>
          </a:p>
          <a:p>
            <a:pPr lvl="1"/>
            <a:r>
              <a:rPr lang="en-US" dirty="0"/>
              <a:t>EX: Kinetoplastids in the genus </a:t>
            </a:r>
            <a:r>
              <a:rPr lang="en-US" i="1" dirty="0"/>
              <a:t>Trypanosoma</a:t>
            </a:r>
            <a:r>
              <a:rPr lang="en-US" dirty="0"/>
              <a:t> cause </a:t>
            </a:r>
            <a:r>
              <a:rPr lang="en-US" dirty="0">
                <a:hlinkClick r:id="rId3"/>
              </a:rPr>
              <a:t>African sleeping sickness</a:t>
            </a:r>
            <a:r>
              <a:rPr lang="en-US" dirty="0"/>
              <a:t> in </a:t>
            </a:r>
          </a:p>
          <a:p>
            <a:pPr lvl="1"/>
            <a:r>
              <a:rPr lang="en-US" dirty="0"/>
              <a:t>EX: Another pathogenic trypanosome causes </a:t>
            </a:r>
            <a:r>
              <a:rPr lang="en-US" dirty="0">
                <a:hlinkClick r:id="rId4"/>
              </a:rPr>
              <a:t>Chagas</a:t>
            </a:r>
            <a:r>
              <a:rPr lang="ja-JP" altLang="en-US" dirty="0">
                <a:hlinkClick r:id="rId4"/>
              </a:rPr>
              <a:t>’</a:t>
            </a:r>
            <a:r>
              <a:rPr lang="en-US" altLang="ja-JP" dirty="0">
                <a:hlinkClick r:id="rId4"/>
              </a:rPr>
              <a:t> disease</a:t>
            </a:r>
            <a:r>
              <a:rPr lang="en-US" altLang="ja-JP" dirty="0"/>
              <a:t> (“</a:t>
            </a:r>
          </a:p>
          <a:p>
            <a:r>
              <a:rPr lang="en-US" dirty="0"/>
              <a:t>Trypanosomes evade host immune responses by producing cell-surface proteins with </a:t>
            </a:r>
          </a:p>
        </p:txBody>
      </p:sp>
    </p:spTree>
    <p:extLst>
      <p:ext uri="{BB962C8B-B14F-4D97-AF65-F5344CB8AC3E}">
        <p14:creationId xmlns:p14="http://schemas.microsoft.com/office/powerpoint/2010/main" val="255096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28.7</a:t>
            </a:r>
          </a:p>
        </p:txBody>
      </p:sp>
      <p:pic>
        <p:nvPicPr>
          <p:cNvPr id="4" name="Picture 3" descr="Example of the kissing bu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6315243" y="3012810"/>
            <a:ext cx="2438398" cy="1935479"/>
          </a:xfrm>
          <a:prstGeom prst="rect">
            <a:avLst/>
          </a:prstGeom>
        </p:spPr>
      </p:pic>
      <p:pic>
        <p:nvPicPr>
          <p:cNvPr id="15" name="Picture 14" descr="A micrograph shows red blood cells and sheet-like cells, Trypanosome. The sheet-like cells are of comparable size to the red blood cells (about 9 µm wide)."/>
          <p:cNvPicPr>
            <a:picLocks noChangeAspect="1"/>
          </p:cNvPicPr>
          <p:nvPr/>
        </p:nvPicPr>
        <p:blipFill>
          <a:blip r:embed="rId4"/>
          <a:stretch>
            <a:fillRect/>
          </a:stretch>
        </p:blipFill>
        <p:spPr>
          <a:xfrm>
            <a:off x="336008" y="838200"/>
            <a:ext cx="5633334" cy="4553747"/>
          </a:xfrm>
          <a:prstGeom prst="rect">
            <a:avLst/>
          </a:prstGeom>
        </p:spPr>
      </p:pic>
      <p:sp>
        <p:nvSpPr>
          <p:cNvPr id="16" name="TextBox 15"/>
          <p:cNvSpPr txBox="1"/>
          <p:nvPr/>
        </p:nvSpPr>
        <p:spPr>
          <a:xfrm>
            <a:off x="1806158" y="5412000"/>
            <a:ext cx="2702984" cy="461665"/>
          </a:xfrm>
          <a:prstGeom prst="rect">
            <a:avLst/>
          </a:prstGeom>
          <a:noFill/>
        </p:spPr>
        <p:txBody>
          <a:bodyPr wrap="none" rtlCol="0">
            <a:spAutoFit/>
          </a:bodyPr>
          <a:lstStyle/>
          <a:p>
            <a:r>
              <a:rPr lang="en-US" dirty="0"/>
              <a:t>Sleeping Sickness</a:t>
            </a:r>
          </a:p>
        </p:txBody>
      </p:sp>
      <p:sp>
        <p:nvSpPr>
          <p:cNvPr id="17" name="TextBox 16"/>
          <p:cNvSpPr txBox="1"/>
          <p:nvPr/>
        </p:nvSpPr>
        <p:spPr>
          <a:xfrm>
            <a:off x="6324599" y="5390351"/>
            <a:ext cx="2419689" cy="1200329"/>
          </a:xfrm>
          <a:prstGeom prst="rect">
            <a:avLst/>
          </a:prstGeom>
          <a:noFill/>
        </p:spPr>
        <p:txBody>
          <a:bodyPr wrap="square" rtlCol="0">
            <a:spAutoFit/>
          </a:bodyPr>
          <a:lstStyle/>
          <a:p>
            <a:pPr algn="ctr"/>
            <a:r>
              <a:rPr lang="en-US" dirty="0"/>
              <a:t>Kissing Bug bite causes Chagas’ Disease</a:t>
            </a:r>
          </a:p>
        </p:txBody>
      </p:sp>
      <p:pic>
        <p:nvPicPr>
          <p:cNvPr id="18" name="Picture 17" descr="Person infected with Chagas diseas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4599" y="838200"/>
            <a:ext cx="2427300" cy="1764632"/>
          </a:xfrm>
          <a:prstGeom prst="rect">
            <a:avLst/>
          </a:prstGeom>
        </p:spPr>
      </p:pic>
    </p:spTree>
    <p:extLst>
      <p:ext uri="{BB962C8B-B14F-4D97-AF65-F5344CB8AC3E}">
        <p14:creationId xmlns:p14="http://schemas.microsoft.com/office/powerpoint/2010/main" val="3292454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p:txBody>
          <a:bodyPr/>
          <a:lstStyle/>
          <a:p>
            <a:r>
              <a:rPr lang="en-US" i="1" dirty="0"/>
              <a:t>Euglenids</a:t>
            </a:r>
          </a:p>
        </p:txBody>
      </p:sp>
      <p:sp>
        <p:nvSpPr>
          <p:cNvPr id="72706" name="Rectangle 3"/>
          <p:cNvSpPr>
            <a:spLocks noGrp="1" noChangeArrowheads="1"/>
          </p:cNvSpPr>
          <p:nvPr>
            <p:ph idx="1"/>
          </p:nvPr>
        </p:nvSpPr>
        <p:spPr>
          <a:xfrm>
            <a:off x="76200" y="685800"/>
            <a:ext cx="8991600" cy="2286000"/>
          </a:xfrm>
        </p:spPr>
        <p:txBody>
          <a:bodyPr/>
          <a:lstStyle/>
          <a:p>
            <a:r>
              <a:rPr lang="en-US" b="1" dirty="0"/>
              <a:t>Euglenids</a:t>
            </a:r>
            <a:r>
              <a:rPr lang="en-US" dirty="0"/>
              <a:t> have one or two flagella that emerge from a </a:t>
            </a:r>
          </a:p>
          <a:p>
            <a:r>
              <a:rPr lang="en-US" dirty="0"/>
              <a:t>Some species are mixotrophs; they can be autotrophic or </a:t>
            </a:r>
          </a:p>
        </p:txBody>
      </p:sp>
      <p:pic>
        <p:nvPicPr>
          <p:cNvPr id="2" name="Picture 1" descr="A light microscopy photograph and a diagram of a Euglena cell are shown. The cell is roughly in the shape of an elongated oval. A long flagellum extends from one of the cell. Near the flagella is a small red spot labeled an Eyespot. In the diagram, a short flagellum is shown attached to the long flagellum and inside of the cell. Part of the cell in the structure connected to the flagella is labeled Light Detector. Small, empty organelles labeled contractile vacuoles are shown. The nucleus is in the middle of the cell, and many small chloroplasts (small green organelles) are labeled. The plasma membrane is shown. In the diagram, a winding, coil like pattern around the membrane is labeled pellicle. A scale of 5 µm reference is shown.">
            <a:extLst>
              <a:ext uri="{FF2B5EF4-FFF2-40B4-BE49-F238E27FC236}">
                <a16:creationId xmlns:a16="http://schemas.microsoft.com/office/drawing/2014/main" id="{CC3DF307-8891-469C-B167-664E6C22F62C}"/>
              </a:ext>
            </a:extLst>
          </p:cNvPr>
          <p:cNvPicPr>
            <a:picLocks noChangeAspect="1"/>
          </p:cNvPicPr>
          <p:nvPr/>
        </p:nvPicPr>
        <p:blipFill>
          <a:blip r:embed="rId3"/>
          <a:stretch>
            <a:fillRect/>
          </a:stretch>
        </p:blipFill>
        <p:spPr>
          <a:xfrm>
            <a:off x="1735052" y="3048000"/>
            <a:ext cx="5521495" cy="3600450"/>
          </a:xfrm>
          <a:prstGeom prst="rect">
            <a:avLst/>
          </a:prstGeom>
        </p:spPr>
      </p:pic>
    </p:spTree>
    <p:extLst>
      <p:ext uri="{BB962C8B-B14F-4D97-AF65-F5344CB8AC3E}">
        <p14:creationId xmlns:p14="http://schemas.microsoft.com/office/powerpoint/2010/main" val="446071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0" y="0"/>
            <a:ext cx="9144000" cy="1107996"/>
          </a:xfrm>
        </p:spPr>
        <p:txBody>
          <a:bodyPr/>
          <a:lstStyle/>
          <a:p>
            <a:r>
              <a:rPr lang="en-US" dirty="0">
                <a:solidFill>
                  <a:srgbClr val="FF0000"/>
                </a:solidFill>
              </a:rPr>
              <a:t>Concept 28.3: SAR </a:t>
            </a:r>
            <a:r>
              <a:rPr lang="en-US" altLang="ja-JP" dirty="0">
                <a:solidFill>
                  <a:srgbClr val="FF0000"/>
                </a:solidFill>
              </a:rPr>
              <a:t>is a highly diverse group of protists defined by DNA similarities</a:t>
            </a:r>
            <a:endParaRPr lang="en-US" dirty="0">
              <a:solidFill>
                <a:srgbClr val="FF0000"/>
              </a:solidFill>
            </a:endParaRPr>
          </a:p>
        </p:txBody>
      </p:sp>
      <p:sp>
        <p:nvSpPr>
          <p:cNvPr id="76804" name="Content Placeholder 1"/>
          <p:cNvSpPr>
            <a:spLocks noGrp="1"/>
          </p:cNvSpPr>
          <p:nvPr>
            <p:ph idx="1"/>
          </p:nvPr>
        </p:nvSpPr>
        <p:spPr>
          <a:xfrm>
            <a:off x="152400" y="1187185"/>
            <a:ext cx="8839199" cy="2470415"/>
          </a:xfrm>
        </p:spPr>
        <p:txBody>
          <a:bodyPr/>
          <a:lstStyle/>
          <a:p>
            <a:r>
              <a:rPr lang="en-US" altLang="ja-JP" b="1" dirty="0">
                <a:solidFill>
                  <a:srgbClr val="FF0000"/>
                </a:solidFill>
              </a:rPr>
              <a:t>SAR</a:t>
            </a:r>
            <a:r>
              <a:rPr lang="en-US" altLang="ja-JP" b="1" dirty="0"/>
              <a:t> </a:t>
            </a:r>
            <a:r>
              <a:rPr lang="en-US" altLang="ja-JP" dirty="0"/>
              <a:t>is a monophyletic supergroup named for the first letters of its three major clades: </a:t>
            </a:r>
          </a:p>
          <a:p>
            <a:endParaRPr lang="en-US" altLang="ja-JP" dirty="0"/>
          </a:p>
          <a:p>
            <a:r>
              <a:rPr lang="en-US" dirty="0"/>
              <a:t>This group is one of the most </a:t>
            </a:r>
          </a:p>
          <a:p>
            <a:endParaRPr lang="en-CA" dirty="0"/>
          </a:p>
        </p:txBody>
      </p:sp>
      <p:grpSp>
        <p:nvGrpSpPr>
          <p:cNvPr id="5" name="Group 4" descr="Family tree of major protist lineages."/>
          <p:cNvGrpSpPr/>
          <p:nvPr/>
        </p:nvGrpSpPr>
        <p:grpSpPr>
          <a:xfrm>
            <a:off x="1966766" y="3743325"/>
            <a:ext cx="5210465" cy="3038475"/>
            <a:chOff x="1966766" y="3743325"/>
            <a:chExt cx="5210465" cy="3038475"/>
          </a:xfrm>
        </p:grpSpPr>
        <p:pic>
          <p:nvPicPr>
            <p:cNvPr id="2" name="Picture 1" descr="SAR group of protist tree">
              <a:extLst>
                <a:ext uri="{FF2B5EF4-FFF2-40B4-BE49-F238E27FC236}">
                  <a16:creationId xmlns:a16="http://schemas.microsoft.com/office/drawing/2014/main" id="{6637E0F7-3590-4666-B778-A12E50C71047}"/>
                </a:ext>
              </a:extLst>
            </p:cNvPr>
            <p:cNvPicPr>
              <a:picLocks noChangeAspect="1"/>
            </p:cNvPicPr>
            <p:nvPr/>
          </p:nvPicPr>
          <p:blipFill>
            <a:blip r:embed="rId3"/>
            <a:stretch>
              <a:fillRect/>
            </a:stretch>
          </p:blipFill>
          <p:spPr>
            <a:xfrm>
              <a:off x="1966766" y="3743325"/>
              <a:ext cx="5210465" cy="3038475"/>
            </a:xfrm>
            <a:prstGeom prst="rect">
              <a:avLst/>
            </a:prstGeom>
          </p:spPr>
        </p:pic>
        <p:sp>
          <p:nvSpPr>
            <p:cNvPr id="3" name="Right Brace 2"/>
            <p:cNvSpPr/>
            <p:nvPr/>
          </p:nvSpPr>
          <p:spPr bwMode="auto">
            <a:xfrm>
              <a:off x="5840104" y="4114800"/>
              <a:ext cx="366569" cy="2098940"/>
            </a:xfrm>
            <a:prstGeom prst="rightBrace">
              <a:avLst/>
            </a:prstGeom>
            <a:solidFill>
              <a:schemeClr val="bg1"/>
            </a:solid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4" name="TextBox 3"/>
            <p:cNvSpPr txBox="1"/>
            <p:nvPr/>
          </p:nvSpPr>
          <p:spPr>
            <a:xfrm>
              <a:off x="6141022" y="5010381"/>
              <a:ext cx="564578" cy="307777"/>
            </a:xfrm>
            <a:prstGeom prst="rect">
              <a:avLst/>
            </a:prstGeom>
            <a:noFill/>
          </p:spPr>
          <p:txBody>
            <a:bodyPr wrap="none" rtlCol="0">
              <a:spAutoFit/>
            </a:bodyPr>
            <a:lstStyle/>
            <a:p>
              <a:r>
                <a:rPr lang="en-US" sz="1400" b="1" dirty="0"/>
                <a:t>SAR</a:t>
              </a:r>
            </a:p>
          </p:txBody>
        </p:sp>
      </p:grpSp>
    </p:spTree>
    <p:extLst>
      <p:ext uri="{BB962C8B-B14F-4D97-AF65-F5344CB8AC3E}">
        <p14:creationId xmlns:p14="http://schemas.microsoft.com/office/powerpoint/2010/main" val="2711775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p:txBody>
          <a:bodyPr/>
          <a:lstStyle/>
          <a:p>
            <a:r>
              <a:rPr lang="en-US" dirty="0">
                <a:solidFill>
                  <a:srgbClr val="FF0000"/>
                </a:solidFill>
              </a:rPr>
              <a:t>S</a:t>
            </a:r>
            <a:r>
              <a:rPr lang="en-US" dirty="0"/>
              <a:t>tramenopiles</a:t>
            </a:r>
          </a:p>
        </p:txBody>
      </p:sp>
      <p:sp>
        <p:nvSpPr>
          <p:cNvPr id="80898" name="Rectangle 3"/>
          <p:cNvSpPr>
            <a:spLocks noGrp="1" noChangeArrowheads="1"/>
          </p:cNvSpPr>
          <p:nvPr>
            <p:ph idx="1"/>
          </p:nvPr>
        </p:nvSpPr>
        <p:spPr>
          <a:xfrm>
            <a:off x="76200" y="609600"/>
            <a:ext cx="8991600" cy="2935069"/>
          </a:xfrm>
        </p:spPr>
        <p:txBody>
          <a:bodyPr/>
          <a:lstStyle/>
          <a:p>
            <a:r>
              <a:rPr lang="en-US" b="1" dirty="0"/>
              <a:t>Stramenopiles </a:t>
            </a:r>
            <a:r>
              <a:rPr lang="en-US" dirty="0"/>
              <a:t>includes some of the most important </a:t>
            </a:r>
          </a:p>
          <a:p>
            <a:endParaRPr lang="en-US" dirty="0"/>
          </a:p>
          <a:p>
            <a:r>
              <a:rPr lang="en-US" dirty="0"/>
              <a:t>Most have a </a:t>
            </a:r>
            <a:r>
              <a:rPr lang="ja-JP" altLang="en-US" dirty="0"/>
              <a:t>“</a:t>
            </a:r>
            <a:r>
              <a:rPr lang="en-US" altLang="ja-JP" dirty="0"/>
              <a:t>hairy</a:t>
            </a:r>
            <a:r>
              <a:rPr lang="ja-JP" altLang="en-US" dirty="0"/>
              <a:t>”</a:t>
            </a:r>
            <a:r>
              <a:rPr lang="en-US" altLang="ja-JP" dirty="0"/>
              <a:t> flagellum paired with a </a:t>
            </a:r>
          </a:p>
          <a:p>
            <a:endParaRPr lang="en-US" altLang="ja-JP" dirty="0"/>
          </a:p>
          <a:p>
            <a:r>
              <a:rPr lang="en-US" dirty="0" err="1"/>
              <a:t>Stramenopiles</a:t>
            </a:r>
            <a:r>
              <a:rPr lang="en-US" dirty="0"/>
              <a:t> include </a:t>
            </a:r>
            <a:endParaRPr lang="en-US" b="1" dirty="0"/>
          </a:p>
        </p:txBody>
      </p:sp>
      <p:pic>
        <p:nvPicPr>
          <p:cNvPr id="2" name="Picture 1" descr="Two flagella emerge from the Stramenopile flagella. One is smooth (smooth flagellum) and the other has many small branches emerging from the second flagellum, labeled Hairy flagellum. A scale of 5 µm reference is shown.">
            <a:extLst>
              <a:ext uri="{FF2B5EF4-FFF2-40B4-BE49-F238E27FC236}">
                <a16:creationId xmlns:a16="http://schemas.microsoft.com/office/drawing/2014/main" id="{A3C561EF-7F39-4632-8FFE-15B31308C17C}"/>
              </a:ext>
            </a:extLst>
          </p:cNvPr>
          <p:cNvPicPr>
            <a:picLocks noChangeAspect="1"/>
          </p:cNvPicPr>
          <p:nvPr/>
        </p:nvPicPr>
        <p:blipFill>
          <a:blip r:embed="rId3"/>
          <a:stretch>
            <a:fillRect/>
          </a:stretch>
        </p:blipFill>
        <p:spPr>
          <a:xfrm>
            <a:off x="1485900" y="3675459"/>
            <a:ext cx="6172200" cy="3182541"/>
          </a:xfrm>
          <a:prstGeom prst="rect">
            <a:avLst/>
          </a:prstGeom>
        </p:spPr>
      </p:pic>
    </p:spTree>
    <p:extLst>
      <p:ext uri="{BB962C8B-B14F-4D97-AF65-F5344CB8AC3E}">
        <p14:creationId xmlns:p14="http://schemas.microsoft.com/office/powerpoint/2010/main" val="107813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p:txBody>
          <a:bodyPr/>
          <a:lstStyle/>
          <a:p>
            <a:r>
              <a:rPr lang="en-US" dirty="0" err="1">
                <a:solidFill>
                  <a:srgbClr val="FF0000"/>
                </a:solidFill>
              </a:rPr>
              <a:t>S</a:t>
            </a:r>
            <a:r>
              <a:rPr lang="en-US" dirty="0" err="1"/>
              <a:t>tramenopiles</a:t>
            </a:r>
            <a:r>
              <a:rPr lang="en-US" dirty="0"/>
              <a:t>: </a:t>
            </a:r>
            <a:r>
              <a:rPr lang="en-US" i="1" dirty="0"/>
              <a:t>Diatoms</a:t>
            </a:r>
          </a:p>
        </p:txBody>
      </p:sp>
      <p:sp>
        <p:nvSpPr>
          <p:cNvPr id="84994" name="Rectangle 3"/>
          <p:cNvSpPr>
            <a:spLocks noGrp="1" noChangeArrowheads="1"/>
          </p:cNvSpPr>
          <p:nvPr>
            <p:ph idx="1"/>
          </p:nvPr>
        </p:nvSpPr>
        <p:spPr>
          <a:xfrm>
            <a:off x="88232" y="662373"/>
            <a:ext cx="8991600" cy="5967027"/>
          </a:xfrm>
        </p:spPr>
        <p:txBody>
          <a:bodyPr/>
          <a:lstStyle/>
          <a:p>
            <a:r>
              <a:rPr lang="en-US" b="1" dirty="0"/>
              <a:t>Diatoms</a:t>
            </a:r>
            <a:r>
              <a:rPr lang="en-US" dirty="0"/>
              <a:t> are unicellular algae with a unique two-part, glass-like </a:t>
            </a:r>
          </a:p>
          <a:p>
            <a:r>
              <a:rPr lang="en-US" dirty="0"/>
              <a:t>Diatoms are a major component of phytoplankton and are </a:t>
            </a:r>
          </a:p>
          <a:p>
            <a:r>
              <a:rPr lang="en-US" dirty="0"/>
              <a:t>After a diatom bloom, many dead individuals fall to the </a:t>
            </a:r>
          </a:p>
          <a:p>
            <a:r>
              <a:rPr lang="en-US" dirty="0"/>
              <a:t>The carbon they took up from the atmosphere and incorporated into their biomass is sequestered on the </a:t>
            </a:r>
          </a:p>
          <a:p>
            <a:endParaRPr lang="en-US" altLang="ja-JP" dirty="0"/>
          </a:p>
          <a:p>
            <a:r>
              <a:rPr lang="en-US" dirty="0"/>
              <a:t>Some scientists advocate fertilizing the ocean with iron to promote diatom </a:t>
            </a:r>
          </a:p>
        </p:txBody>
      </p:sp>
    </p:spTree>
    <p:extLst>
      <p:ext uri="{BB962C8B-B14F-4D97-AF65-F5344CB8AC3E}">
        <p14:creationId xmlns:p14="http://schemas.microsoft.com/office/powerpoint/2010/main" val="1793784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1836"/>
            <a:ext cx="9144000" cy="600164"/>
          </a:xfrm>
        </p:spPr>
        <p:txBody>
          <a:bodyPr/>
          <a:lstStyle/>
          <a:p>
            <a:r>
              <a:rPr lang="en-US" dirty="0">
                <a:solidFill>
                  <a:schemeClr val="bg1"/>
                </a:solidFill>
              </a:rPr>
              <a:t>17</a:t>
            </a:r>
          </a:p>
        </p:txBody>
      </p:sp>
      <p:pic>
        <p:nvPicPr>
          <p:cNvPr id="4" name="Picture 3" descr="Micrograph of Triceratium morlandii. A scale of 40 µm is given for reference.">
            <a:extLst>
              <a:ext uri="{FF2B5EF4-FFF2-40B4-BE49-F238E27FC236}">
                <a16:creationId xmlns:a16="http://schemas.microsoft.com/office/drawing/2014/main" id="{B1EB8158-696E-49FD-8A6A-A88B66ACAFCC}"/>
              </a:ext>
            </a:extLst>
          </p:cNvPr>
          <p:cNvPicPr>
            <a:picLocks noChangeAspect="1"/>
          </p:cNvPicPr>
          <p:nvPr/>
        </p:nvPicPr>
        <p:blipFill>
          <a:blip r:embed="rId3"/>
          <a:stretch>
            <a:fillRect/>
          </a:stretch>
        </p:blipFill>
        <p:spPr>
          <a:xfrm>
            <a:off x="705058" y="1406438"/>
            <a:ext cx="3257342" cy="4045123"/>
          </a:xfrm>
          <a:prstGeom prst="rect">
            <a:avLst/>
          </a:prstGeom>
        </p:spPr>
      </p:pic>
      <p:pic>
        <p:nvPicPr>
          <p:cNvPr id="3" name="Picture 2" descr="Examples of different diatom species">
            <a:extLst>
              <a:ext uri="{FF2B5EF4-FFF2-40B4-BE49-F238E27FC236}">
                <a16:creationId xmlns:a16="http://schemas.microsoft.com/office/drawing/2014/main" id="{0DF4593E-E610-4D19-A2E2-1D7A40F94D68}"/>
              </a:ext>
            </a:extLst>
          </p:cNvPr>
          <p:cNvPicPr>
            <a:picLocks noChangeAspect="1"/>
          </p:cNvPicPr>
          <p:nvPr/>
        </p:nvPicPr>
        <p:blipFill>
          <a:blip r:embed="rId4"/>
          <a:stretch>
            <a:fillRect/>
          </a:stretch>
        </p:blipFill>
        <p:spPr>
          <a:xfrm rot="5400000">
            <a:off x="3567953" y="1295400"/>
            <a:ext cx="6275294" cy="4267200"/>
          </a:xfrm>
          <a:prstGeom prst="rect">
            <a:avLst/>
          </a:prstGeom>
        </p:spPr>
      </p:pic>
      <p:sp>
        <p:nvSpPr>
          <p:cNvPr id="5" name="Rectangle 2"/>
          <p:cNvSpPr txBox="1">
            <a:spLocks noChangeArrowheads="1"/>
          </p:cNvSpPr>
          <p:nvPr/>
        </p:nvSpPr>
        <p:spPr>
          <a:xfrm>
            <a:off x="48126" y="48126"/>
            <a:ext cx="4523874" cy="646331"/>
          </a:xfrm>
          <a:prstGeom prst="rect">
            <a:avLst/>
          </a:prstGeom>
        </p:spPr>
        <p:txBody>
          <a:bodyPr/>
          <a:lst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r>
              <a:rPr lang="en-US" b="0" kern="0" dirty="0"/>
              <a:t>Various Diatom species</a:t>
            </a:r>
          </a:p>
        </p:txBody>
      </p:sp>
    </p:spTree>
    <p:extLst>
      <p:ext uri="{BB962C8B-B14F-4D97-AF65-F5344CB8AC3E}">
        <p14:creationId xmlns:p14="http://schemas.microsoft.com/office/powerpoint/2010/main" val="3193104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p:txBody>
          <a:bodyPr/>
          <a:lstStyle/>
          <a:p>
            <a:r>
              <a:rPr lang="en-US" dirty="0" err="1">
                <a:solidFill>
                  <a:srgbClr val="FF0000"/>
                </a:solidFill>
              </a:rPr>
              <a:t>S</a:t>
            </a:r>
            <a:r>
              <a:rPr lang="en-US" dirty="0" err="1"/>
              <a:t>tramenopiles</a:t>
            </a:r>
            <a:r>
              <a:rPr lang="en-US" dirty="0"/>
              <a:t>: </a:t>
            </a:r>
            <a:r>
              <a:rPr lang="en-US" i="1" dirty="0"/>
              <a:t>Brown Algae</a:t>
            </a:r>
          </a:p>
        </p:txBody>
      </p:sp>
      <p:sp>
        <p:nvSpPr>
          <p:cNvPr id="97282" name="Rectangle 3"/>
          <p:cNvSpPr>
            <a:spLocks noGrp="1" noChangeArrowheads="1"/>
          </p:cNvSpPr>
          <p:nvPr>
            <p:ph idx="1"/>
          </p:nvPr>
        </p:nvSpPr>
        <p:spPr>
          <a:xfrm>
            <a:off x="76200" y="762000"/>
            <a:ext cx="8991600" cy="5728096"/>
          </a:xfrm>
        </p:spPr>
        <p:txBody>
          <a:bodyPr/>
          <a:lstStyle/>
          <a:p>
            <a:r>
              <a:rPr lang="en-US" b="1" dirty="0"/>
              <a:t>Brown algae </a:t>
            </a:r>
            <a:r>
              <a:rPr lang="en-US" dirty="0"/>
              <a:t>are the </a:t>
            </a:r>
          </a:p>
          <a:p>
            <a:r>
              <a:rPr lang="en-US" dirty="0"/>
              <a:t>All are </a:t>
            </a:r>
          </a:p>
          <a:p>
            <a:r>
              <a:rPr lang="en-US" dirty="0"/>
              <a:t>Brown algae include many species commonly called  </a:t>
            </a:r>
            <a:r>
              <a:rPr lang="ja-JP" altLang="en-US" dirty="0"/>
              <a:t>“ </a:t>
            </a:r>
            <a:endParaRPr lang="en-US" altLang="ja-JP" dirty="0"/>
          </a:p>
          <a:p>
            <a:r>
              <a:rPr lang="en-US" dirty="0"/>
              <a:t>Brown algal seaweeds have plantlike structures: the rootlike </a:t>
            </a:r>
            <a:r>
              <a:rPr lang="en-US" b="1" dirty="0"/>
              <a:t>holdfast</a:t>
            </a:r>
            <a:r>
              <a:rPr lang="en-US" dirty="0"/>
              <a:t>, which anchors the alga, and a stem-like </a:t>
            </a:r>
            <a:r>
              <a:rPr lang="en-US" b="1" dirty="0"/>
              <a:t>stipe</a:t>
            </a:r>
            <a:r>
              <a:rPr lang="en-US" dirty="0"/>
              <a:t>, which </a:t>
            </a:r>
            <a:endParaRPr lang="en-US" b="1" dirty="0"/>
          </a:p>
          <a:p>
            <a:r>
              <a:rPr lang="en-US" dirty="0"/>
              <a:t>Some have gas-filled, bubble-shaped floats to keep their </a:t>
            </a:r>
          </a:p>
          <a:p>
            <a:r>
              <a:rPr lang="en-US" dirty="0"/>
              <a:t>However, unlike plants, brown algae </a:t>
            </a:r>
            <a:r>
              <a:rPr lang="en-US" b="1" dirty="0">
                <a:solidFill>
                  <a:srgbClr val="FF0000"/>
                </a:solidFill>
              </a:rPr>
              <a:t>lack</a:t>
            </a:r>
            <a:r>
              <a:rPr lang="en-US" dirty="0"/>
              <a:t> true </a:t>
            </a:r>
          </a:p>
        </p:txBody>
      </p:sp>
    </p:spTree>
    <p:extLst>
      <p:ext uri="{BB962C8B-B14F-4D97-AF65-F5344CB8AC3E}">
        <p14:creationId xmlns:p14="http://schemas.microsoft.com/office/powerpoint/2010/main" val="1743060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28.12</a:t>
            </a:r>
          </a:p>
        </p:txBody>
      </p:sp>
      <p:pic>
        <p:nvPicPr>
          <p:cNvPr id="3" name="Picture 2" descr="A photograph shows seaweed. The shape is roughly tree-like. The portion of the organism in the ground (and surrounded by mollusks) is labeled the holdfast. It has a mass of fibers. The Stipe is the stem-equivalent structure, and the blades are the top, leaf-life structur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5078" y="1066800"/>
            <a:ext cx="4084595" cy="2590800"/>
          </a:xfrm>
          <a:prstGeom prst="rect">
            <a:avLst/>
          </a:prstGeom>
        </p:spPr>
      </p:pic>
      <p:pic>
        <p:nvPicPr>
          <p:cNvPr id="24" name="Picture 23" descr="A photograph shows seaweed. The shape is roughly tree-like. The portion of the organism in the ground (and surrounded by mollusks) is labeled the holdfast. It has a mass of fibers. The Stipe is the stem-equivalent structure, and the blades are the top, leaf-life structures."/>
          <p:cNvPicPr>
            <a:picLocks noChangeAspect="1"/>
          </p:cNvPicPr>
          <p:nvPr/>
        </p:nvPicPr>
        <p:blipFill>
          <a:blip r:embed="rId4"/>
          <a:stretch>
            <a:fillRect/>
          </a:stretch>
        </p:blipFill>
        <p:spPr>
          <a:xfrm>
            <a:off x="381000" y="663847"/>
            <a:ext cx="4476750" cy="5610225"/>
          </a:xfrm>
          <a:prstGeom prst="rect">
            <a:avLst/>
          </a:prstGeom>
        </p:spPr>
      </p:pic>
      <p:sp>
        <p:nvSpPr>
          <p:cNvPr id="25" name="TextBox 24" descr="A photograph shows seaweed. The shape is roughly tree-like. The portion of the organism in the ground (and surrounded by mollusks) is labeled the holdfast. It has a mass of fibers. The Stipe is the stem-equivalent structure, and the blades are the top, leaf-life structures."/>
          <p:cNvSpPr txBox="1"/>
          <p:nvPr/>
        </p:nvSpPr>
        <p:spPr>
          <a:xfrm>
            <a:off x="4935078" y="171775"/>
            <a:ext cx="4084595" cy="830997"/>
          </a:xfrm>
          <a:prstGeom prst="rect">
            <a:avLst/>
          </a:prstGeom>
          <a:noFill/>
        </p:spPr>
        <p:txBody>
          <a:bodyPr wrap="square" rtlCol="0">
            <a:spAutoFit/>
          </a:bodyPr>
          <a:lstStyle/>
          <a:p>
            <a:pPr algn="ctr"/>
            <a:r>
              <a:rPr lang="en-US" dirty="0"/>
              <a:t>Commercial brown algae products</a:t>
            </a:r>
          </a:p>
        </p:txBody>
      </p:sp>
      <p:pic>
        <p:nvPicPr>
          <p:cNvPr id="2" name="Picture 1" descr="A photograph shows seaweed. The shape is roughly tree-like. The portion of the organism in the ground (and surrounded by mollusks) is labeled the holdfast. It has a mass of fibers. The Stipe is the stem-equivalent structure, and the blades are the top, leaf-life structure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1758" y="3813067"/>
            <a:ext cx="1663842" cy="2875304"/>
          </a:xfrm>
          <a:prstGeom prst="rect">
            <a:avLst/>
          </a:prstGeom>
        </p:spPr>
      </p:pic>
      <p:pic>
        <p:nvPicPr>
          <p:cNvPr id="7" name="Picture 6" descr="A photograph shows seaweed. The shape is roughly tree-like. The portion of the organism in the ground (and surrounded by mollusks) is labeled the holdfast. It has a mass of fibers. The Stipe is the stem-equivalent structure, and the blades are the top, leaf-life structures."/>
          <p:cNvPicPr>
            <a:picLocks noChangeAspect="1"/>
          </p:cNvPicPr>
          <p:nvPr/>
        </p:nvPicPr>
        <p:blipFill>
          <a:blip r:embed="rId6"/>
          <a:stretch>
            <a:fillRect/>
          </a:stretch>
        </p:blipFill>
        <p:spPr>
          <a:xfrm>
            <a:off x="6858000" y="3792068"/>
            <a:ext cx="2041032" cy="2942488"/>
          </a:xfrm>
          <a:prstGeom prst="rect">
            <a:avLst/>
          </a:prstGeom>
        </p:spPr>
      </p:pic>
    </p:spTree>
    <p:extLst>
      <p:ext uri="{BB962C8B-B14F-4D97-AF65-F5344CB8AC3E}">
        <p14:creationId xmlns:p14="http://schemas.microsoft.com/office/powerpoint/2010/main" val="60547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p:txBody>
          <a:bodyPr/>
          <a:lstStyle/>
          <a:p>
            <a:r>
              <a:rPr lang="en-US" dirty="0">
                <a:solidFill>
                  <a:srgbClr val="FF0000"/>
                </a:solidFill>
              </a:rPr>
              <a:t>A</a:t>
            </a:r>
            <a:r>
              <a:rPr lang="en-US" dirty="0"/>
              <a:t>lveolates</a:t>
            </a:r>
          </a:p>
        </p:txBody>
      </p:sp>
      <p:sp>
        <p:nvSpPr>
          <p:cNvPr id="109570" name="Rectangle 3"/>
          <p:cNvSpPr>
            <a:spLocks noGrp="1" noChangeArrowheads="1"/>
          </p:cNvSpPr>
          <p:nvPr>
            <p:ph idx="1"/>
          </p:nvPr>
        </p:nvSpPr>
        <p:spPr>
          <a:xfrm>
            <a:off x="76200" y="646331"/>
            <a:ext cx="8991600" cy="3163669"/>
          </a:xfrm>
        </p:spPr>
        <p:txBody>
          <a:bodyPr/>
          <a:lstStyle/>
          <a:p>
            <a:r>
              <a:rPr lang="en-US" b="1" dirty="0"/>
              <a:t>Alveolates</a:t>
            </a:r>
            <a:r>
              <a:rPr lang="en-US" dirty="0"/>
              <a:t> have membrane-enclosed sacs (alveoli) just </a:t>
            </a:r>
          </a:p>
          <a:p>
            <a:r>
              <a:rPr lang="en-US" dirty="0"/>
              <a:t>The alveolates include</a:t>
            </a:r>
          </a:p>
          <a:p>
            <a:pPr lvl="1"/>
            <a:r>
              <a:rPr lang="en-US" dirty="0"/>
              <a:t> </a:t>
            </a:r>
          </a:p>
          <a:p>
            <a:pPr lvl="1"/>
            <a:r>
              <a:rPr lang="en-US" dirty="0"/>
              <a:t> </a:t>
            </a:r>
          </a:p>
          <a:p>
            <a:pPr lvl="1"/>
            <a:r>
              <a:rPr lang="en-US" dirty="0"/>
              <a:t> </a:t>
            </a:r>
          </a:p>
        </p:txBody>
      </p:sp>
      <p:pic>
        <p:nvPicPr>
          <p:cNvPr id="2" name="Picture 1" descr="A diagram shows an Alveolate, a cell with the same shape as a dinoflagellate. There is a flagellum at one end, and an arrowhead shaped point on the other end. An expanded view of the portion of the cell where the flagellum emerges is shown in a micrograph. The flagellum is shown crossing the membrane to the inside of the cell. Surrounding the flagellum are small cavities in the cellular structure labeled Alveoli.">
            <a:extLst>
              <a:ext uri="{FF2B5EF4-FFF2-40B4-BE49-F238E27FC236}">
                <a16:creationId xmlns:a16="http://schemas.microsoft.com/office/drawing/2014/main" id="{D188D904-0410-4B8C-8F27-0075BBEA0CC1}"/>
              </a:ext>
            </a:extLst>
          </p:cNvPr>
          <p:cNvPicPr>
            <a:picLocks noChangeAspect="1"/>
          </p:cNvPicPr>
          <p:nvPr/>
        </p:nvPicPr>
        <p:blipFill>
          <a:blip r:embed="rId3"/>
          <a:stretch>
            <a:fillRect/>
          </a:stretch>
        </p:blipFill>
        <p:spPr>
          <a:xfrm>
            <a:off x="2158164" y="3384884"/>
            <a:ext cx="4827671" cy="3429000"/>
          </a:xfrm>
          <a:prstGeom prst="rect">
            <a:avLst/>
          </a:prstGeom>
        </p:spPr>
      </p:pic>
    </p:spTree>
    <p:extLst>
      <p:ext uri="{BB962C8B-B14F-4D97-AF65-F5344CB8AC3E}">
        <p14:creationId xmlns:p14="http://schemas.microsoft.com/office/powerpoint/2010/main" val="3625444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p:txBody>
          <a:bodyPr/>
          <a:lstStyle/>
          <a:p>
            <a:r>
              <a:rPr lang="en-US" dirty="0" err="1">
                <a:solidFill>
                  <a:srgbClr val="FF0000"/>
                </a:solidFill>
              </a:rPr>
              <a:t>A</a:t>
            </a:r>
            <a:r>
              <a:rPr lang="en-US" dirty="0" err="1"/>
              <a:t>lveolates</a:t>
            </a:r>
            <a:r>
              <a:rPr lang="en-US" dirty="0"/>
              <a:t>: </a:t>
            </a:r>
            <a:r>
              <a:rPr lang="en-US" i="1" dirty="0"/>
              <a:t>Dinoflagellates</a:t>
            </a:r>
          </a:p>
        </p:txBody>
      </p:sp>
      <p:sp>
        <p:nvSpPr>
          <p:cNvPr id="113666" name="Rectangle 3"/>
          <p:cNvSpPr>
            <a:spLocks noGrp="1" noChangeArrowheads="1"/>
          </p:cNvSpPr>
          <p:nvPr>
            <p:ph idx="1"/>
          </p:nvPr>
        </p:nvSpPr>
        <p:spPr>
          <a:xfrm>
            <a:off x="152400" y="685800"/>
            <a:ext cx="5181599" cy="5791200"/>
          </a:xfrm>
        </p:spPr>
        <p:txBody>
          <a:bodyPr/>
          <a:lstStyle/>
          <a:p>
            <a:r>
              <a:rPr lang="en-US" b="1" dirty="0"/>
              <a:t>Dinoflagellates</a:t>
            </a:r>
            <a:r>
              <a:rPr lang="en-US" dirty="0"/>
              <a:t> have two flagella, and each cell is </a:t>
            </a:r>
          </a:p>
          <a:p>
            <a:endParaRPr lang="en-US" dirty="0"/>
          </a:p>
          <a:p>
            <a:r>
              <a:rPr lang="en-US" dirty="0"/>
              <a:t>They are abundant components of both marine and </a:t>
            </a:r>
          </a:p>
          <a:p>
            <a:r>
              <a:rPr lang="en-US" dirty="0"/>
              <a:t>They are a diverse group of aquatic phototrophs, </a:t>
            </a:r>
          </a:p>
          <a:p>
            <a:endParaRPr lang="en-US" dirty="0"/>
          </a:p>
          <a:p>
            <a:r>
              <a:rPr lang="en-US" dirty="0"/>
              <a:t>Toxic </a:t>
            </a:r>
            <a:r>
              <a:rPr lang="ja-JP" altLang="en-US" dirty="0"/>
              <a:t>“</a:t>
            </a:r>
            <a:r>
              <a:rPr lang="en-US" altLang="ja-JP" dirty="0"/>
              <a:t>red tides</a:t>
            </a:r>
            <a:r>
              <a:rPr lang="ja-JP" altLang="en-US" dirty="0"/>
              <a:t>”</a:t>
            </a:r>
            <a:r>
              <a:rPr lang="en-US" altLang="ja-JP" dirty="0"/>
              <a:t> are caused by</a:t>
            </a:r>
          </a:p>
        </p:txBody>
      </p:sp>
      <p:pic>
        <p:nvPicPr>
          <p:cNvPr id="2" name="Picture 1" descr="a) A micrograph shows a dinoflagellate cell and flagella. The cell has an band indented, with long, fiber like tails emerging, labeled flagella. A scale of 3 µm is used for reference.&#10;b) A photograph shows the red tide in the Gulf of Carpentaria in northern Australia. The water on the beach has a red color near the shore, and is blue farther away from the shore.">
            <a:extLst>
              <a:ext uri="{FF2B5EF4-FFF2-40B4-BE49-F238E27FC236}">
                <a16:creationId xmlns:a16="http://schemas.microsoft.com/office/drawing/2014/main" id="{38BE418C-BA44-43A6-B17F-2A1F666DE9DE}"/>
              </a:ext>
            </a:extLst>
          </p:cNvPr>
          <p:cNvPicPr>
            <a:picLocks noChangeAspect="1"/>
          </p:cNvPicPr>
          <p:nvPr/>
        </p:nvPicPr>
        <p:blipFill>
          <a:blip r:embed="rId3"/>
          <a:stretch>
            <a:fillRect/>
          </a:stretch>
        </p:blipFill>
        <p:spPr>
          <a:xfrm>
            <a:off x="5943600" y="228100"/>
            <a:ext cx="2809875" cy="6505575"/>
          </a:xfrm>
          <a:prstGeom prst="rect">
            <a:avLst/>
          </a:prstGeom>
        </p:spPr>
      </p:pic>
    </p:spTree>
    <p:extLst>
      <p:ext uri="{BB962C8B-B14F-4D97-AF65-F5344CB8AC3E}">
        <p14:creationId xmlns:p14="http://schemas.microsoft.com/office/powerpoint/2010/main" val="2903276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ChangeArrowheads="1"/>
          </p:cNvSpPr>
          <p:nvPr>
            <p:ph type="title"/>
          </p:nvPr>
        </p:nvSpPr>
        <p:spPr/>
        <p:txBody>
          <a:bodyPr/>
          <a:lstStyle/>
          <a:p>
            <a:r>
              <a:rPr lang="en-US" dirty="0" err="1">
                <a:solidFill>
                  <a:srgbClr val="FF0000"/>
                </a:solidFill>
              </a:rPr>
              <a:t>A</a:t>
            </a:r>
            <a:r>
              <a:rPr lang="en-US" dirty="0" err="1"/>
              <a:t>lveolates</a:t>
            </a:r>
            <a:r>
              <a:rPr lang="en-US" dirty="0"/>
              <a:t>: </a:t>
            </a:r>
            <a:r>
              <a:rPr lang="en-US" i="1" dirty="0"/>
              <a:t>Apicomplexans</a:t>
            </a:r>
          </a:p>
        </p:txBody>
      </p:sp>
      <p:sp>
        <p:nvSpPr>
          <p:cNvPr id="117762" name="Rectangle 3"/>
          <p:cNvSpPr>
            <a:spLocks noGrp="1" noChangeArrowheads="1"/>
          </p:cNvSpPr>
          <p:nvPr>
            <p:ph idx="1"/>
          </p:nvPr>
        </p:nvSpPr>
        <p:spPr>
          <a:xfrm>
            <a:off x="76200" y="685800"/>
            <a:ext cx="8991600" cy="6172200"/>
          </a:xfrm>
        </p:spPr>
        <p:txBody>
          <a:bodyPr/>
          <a:lstStyle/>
          <a:p>
            <a:r>
              <a:rPr lang="en-US" dirty="0"/>
              <a:t>Most </a:t>
            </a:r>
            <a:r>
              <a:rPr lang="en-US" b="1" dirty="0"/>
              <a:t>apicomplexans</a:t>
            </a:r>
            <a:r>
              <a:rPr lang="en-US" dirty="0"/>
              <a:t> are parasites of animals; some cause </a:t>
            </a:r>
          </a:p>
          <a:p>
            <a:r>
              <a:rPr lang="en-US" dirty="0"/>
              <a:t>They spread through their host as infectious cells called </a:t>
            </a:r>
          </a:p>
          <a:p>
            <a:r>
              <a:rPr lang="en-US" dirty="0"/>
              <a:t>The life cycles of most species have sexual and asexual stages and </a:t>
            </a:r>
          </a:p>
          <a:p>
            <a:r>
              <a:rPr lang="en-US" i="1" dirty="0"/>
              <a:t>Plasmodium </a:t>
            </a:r>
            <a:r>
              <a:rPr lang="en-US" dirty="0"/>
              <a:t>is the parasite that causes </a:t>
            </a:r>
            <a:r>
              <a:rPr lang="en-US" dirty="0">
                <a:hlinkClick r:id="rId3"/>
              </a:rPr>
              <a:t>malaria</a:t>
            </a:r>
            <a:endParaRPr lang="en-US" dirty="0"/>
          </a:p>
          <a:p>
            <a:pPr lvl="1"/>
            <a:r>
              <a:rPr lang="en-US" i="1" dirty="0"/>
              <a:t>Plasmodium </a:t>
            </a:r>
            <a:r>
              <a:rPr lang="en-US" dirty="0"/>
              <a:t>requires both </a:t>
            </a:r>
          </a:p>
          <a:p>
            <a:pPr lvl="1"/>
            <a:endParaRPr lang="en-US" dirty="0"/>
          </a:p>
          <a:p>
            <a:pPr lvl="1"/>
            <a:r>
              <a:rPr lang="en-US" dirty="0"/>
              <a:t>~200 million infected yearly and </a:t>
            </a:r>
          </a:p>
          <a:p>
            <a:pPr lvl="0"/>
            <a:r>
              <a:rPr lang="en-US" dirty="0"/>
              <a:t>The first malarial vaccine, </a:t>
            </a:r>
            <a:r>
              <a:rPr lang="en-US" i="1" dirty="0" err="1">
                <a:hlinkClick r:id="rId4"/>
              </a:rPr>
              <a:t>Mosquirix</a:t>
            </a:r>
            <a:r>
              <a:rPr lang="en-US" dirty="0"/>
              <a:t>, was approved in Europe in 2015, but it </a:t>
            </a:r>
          </a:p>
        </p:txBody>
      </p:sp>
    </p:spTree>
    <p:extLst>
      <p:ext uri="{BB962C8B-B14F-4D97-AF65-F5344CB8AC3E}">
        <p14:creationId xmlns:p14="http://schemas.microsoft.com/office/powerpoint/2010/main" val="900801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6E47A7D-53C5-B5B4-8461-6B442AE118E5}"/>
              </a:ext>
            </a:extLst>
          </p:cNvPr>
          <p:cNvPicPr>
            <a:picLocks noChangeAspect="1"/>
          </p:cNvPicPr>
          <p:nvPr/>
        </p:nvPicPr>
        <p:blipFill>
          <a:blip r:embed="rId3"/>
          <a:stretch>
            <a:fillRect/>
          </a:stretch>
        </p:blipFill>
        <p:spPr>
          <a:xfrm>
            <a:off x="528073" y="137653"/>
            <a:ext cx="8087854" cy="6582694"/>
          </a:xfrm>
          <a:prstGeom prst="rect">
            <a:avLst/>
          </a:prstGeom>
        </p:spPr>
      </p:pic>
    </p:spTree>
    <p:extLst>
      <p:ext uri="{BB962C8B-B14F-4D97-AF65-F5344CB8AC3E}">
        <p14:creationId xmlns:p14="http://schemas.microsoft.com/office/powerpoint/2010/main" val="3594246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ChangeArrowheads="1"/>
          </p:cNvSpPr>
          <p:nvPr>
            <p:ph type="title"/>
          </p:nvPr>
        </p:nvSpPr>
        <p:spPr/>
        <p:txBody>
          <a:bodyPr/>
          <a:lstStyle/>
          <a:p>
            <a:r>
              <a:rPr lang="en-US" dirty="0" err="1">
                <a:solidFill>
                  <a:srgbClr val="FF0000"/>
                </a:solidFill>
              </a:rPr>
              <a:t>A</a:t>
            </a:r>
            <a:r>
              <a:rPr lang="en-US" dirty="0" err="1"/>
              <a:t>lveolates</a:t>
            </a:r>
            <a:r>
              <a:rPr lang="en-US" dirty="0"/>
              <a:t>: </a:t>
            </a:r>
            <a:r>
              <a:rPr lang="en-US" i="1" dirty="0"/>
              <a:t>Ciliates</a:t>
            </a:r>
          </a:p>
        </p:txBody>
      </p:sp>
      <p:sp>
        <p:nvSpPr>
          <p:cNvPr id="123906" name="Rectangle 3"/>
          <p:cNvSpPr>
            <a:spLocks noGrp="1" noChangeArrowheads="1"/>
          </p:cNvSpPr>
          <p:nvPr>
            <p:ph idx="1"/>
          </p:nvPr>
        </p:nvSpPr>
        <p:spPr>
          <a:xfrm>
            <a:off x="76200" y="731188"/>
            <a:ext cx="8991600" cy="4683022"/>
          </a:xfrm>
        </p:spPr>
        <p:txBody>
          <a:bodyPr/>
          <a:lstStyle/>
          <a:p>
            <a:r>
              <a:rPr lang="en-US" b="1" dirty="0"/>
              <a:t>Ciliates</a:t>
            </a:r>
            <a:r>
              <a:rPr lang="en-US" dirty="0"/>
              <a:t>, a large varied group of protists, are named for their use </a:t>
            </a:r>
          </a:p>
          <a:p>
            <a:r>
              <a:rPr lang="en-US" dirty="0"/>
              <a:t>Most ciliates are </a:t>
            </a:r>
          </a:p>
          <a:p>
            <a:r>
              <a:rPr lang="en-US" dirty="0"/>
              <a:t>A distinctive feature is </a:t>
            </a:r>
          </a:p>
          <a:p>
            <a:r>
              <a:rPr lang="en-US" dirty="0"/>
              <a:t>Genetic variation results from </a:t>
            </a:r>
            <a:r>
              <a:rPr lang="en-US" b="1" dirty="0"/>
              <a:t>conjugation</a:t>
            </a:r>
            <a:r>
              <a:rPr lang="en-US" dirty="0"/>
              <a:t>, in which two </a:t>
            </a:r>
          </a:p>
          <a:p>
            <a:r>
              <a:rPr lang="en-US" dirty="0"/>
              <a:t>Conjugation is a sexual process and is separate from reproduction, which </a:t>
            </a:r>
          </a:p>
          <a:p>
            <a:r>
              <a:rPr lang="en-US" dirty="0"/>
              <a:t>EX: </a:t>
            </a:r>
            <a:endParaRPr lang="en-US" i="1" dirty="0"/>
          </a:p>
        </p:txBody>
      </p:sp>
      <p:pic>
        <p:nvPicPr>
          <p:cNvPr id="2" name="Picture 1" descr="Paramecium"/>
          <p:cNvPicPr>
            <a:picLocks noChangeAspect="1"/>
          </p:cNvPicPr>
          <p:nvPr/>
        </p:nvPicPr>
        <p:blipFill>
          <a:blip r:embed="rId3"/>
          <a:stretch>
            <a:fillRect/>
          </a:stretch>
        </p:blipFill>
        <p:spPr>
          <a:xfrm>
            <a:off x="457200" y="5477976"/>
            <a:ext cx="3705225" cy="1257300"/>
          </a:xfrm>
          <a:prstGeom prst="rect">
            <a:avLst/>
          </a:prstGeom>
        </p:spPr>
      </p:pic>
      <p:pic>
        <p:nvPicPr>
          <p:cNvPr id="3" name="Picture 2" descr="Many paramecia"/>
          <p:cNvPicPr>
            <a:picLocks noChangeAspect="1"/>
          </p:cNvPicPr>
          <p:nvPr/>
        </p:nvPicPr>
        <p:blipFill>
          <a:blip r:embed="rId4"/>
          <a:stretch>
            <a:fillRect/>
          </a:stretch>
        </p:blipFill>
        <p:spPr>
          <a:xfrm>
            <a:off x="5105400" y="5442284"/>
            <a:ext cx="3416968" cy="1328683"/>
          </a:xfrm>
          <a:prstGeom prst="rect">
            <a:avLst/>
          </a:prstGeom>
        </p:spPr>
      </p:pic>
    </p:spTree>
    <p:extLst>
      <p:ext uri="{BB962C8B-B14F-4D97-AF65-F5344CB8AC3E}">
        <p14:creationId xmlns:p14="http://schemas.microsoft.com/office/powerpoint/2010/main" val="1122190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noChangeArrowheads="1"/>
          </p:cNvSpPr>
          <p:nvPr>
            <p:ph type="title"/>
          </p:nvPr>
        </p:nvSpPr>
        <p:spPr/>
        <p:txBody>
          <a:bodyPr/>
          <a:lstStyle/>
          <a:p>
            <a:r>
              <a:rPr lang="en-US" dirty="0">
                <a:solidFill>
                  <a:srgbClr val="FF0000"/>
                </a:solidFill>
              </a:rPr>
              <a:t>R</a:t>
            </a:r>
            <a:r>
              <a:rPr lang="en-US" dirty="0"/>
              <a:t>hizarians</a:t>
            </a:r>
          </a:p>
        </p:txBody>
      </p:sp>
      <p:sp>
        <p:nvSpPr>
          <p:cNvPr id="128002" name="Rectangle 3"/>
          <p:cNvSpPr>
            <a:spLocks noGrp="1" noChangeArrowheads="1"/>
          </p:cNvSpPr>
          <p:nvPr>
            <p:ph idx="1"/>
          </p:nvPr>
        </p:nvSpPr>
        <p:spPr>
          <a:xfrm>
            <a:off x="76200" y="609600"/>
            <a:ext cx="9067800" cy="6248400"/>
          </a:xfrm>
        </p:spPr>
        <p:txBody>
          <a:bodyPr/>
          <a:lstStyle/>
          <a:p>
            <a:r>
              <a:rPr lang="en-US" dirty="0"/>
              <a:t>Many species of </a:t>
            </a:r>
            <a:r>
              <a:rPr lang="en-US" dirty="0" err="1"/>
              <a:t>rhizarians</a:t>
            </a:r>
            <a:r>
              <a:rPr lang="en-US" b="1" dirty="0"/>
              <a:t> </a:t>
            </a:r>
            <a:r>
              <a:rPr lang="en-US" dirty="0"/>
              <a:t>are </a:t>
            </a:r>
            <a:endParaRPr lang="en-US" b="1" dirty="0"/>
          </a:p>
          <a:p>
            <a:r>
              <a:rPr lang="en-US" dirty="0"/>
              <a:t>Amoebas are protists that move &amp; feed by structures called </a:t>
            </a:r>
          </a:p>
          <a:p>
            <a:endParaRPr lang="en-US" dirty="0"/>
          </a:p>
          <a:p>
            <a:endParaRPr lang="en-US" dirty="0"/>
          </a:p>
          <a:p>
            <a:endParaRPr lang="en-US" dirty="0"/>
          </a:p>
          <a:p>
            <a:endParaRPr lang="en-US" dirty="0"/>
          </a:p>
          <a:p>
            <a:endParaRPr lang="en-US" dirty="0"/>
          </a:p>
          <a:p>
            <a:r>
              <a:rPr lang="en-US" dirty="0"/>
              <a:t>Rhizarian amoebas differ from amoebas in other clades by </a:t>
            </a:r>
          </a:p>
          <a:p>
            <a:r>
              <a:rPr lang="en-US" dirty="0" err="1"/>
              <a:t>Rhizarians</a:t>
            </a:r>
            <a:r>
              <a:rPr lang="en-US" dirty="0"/>
              <a:t> include </a:t>
            </a:r>
          </a:p>
        </p:txBody>
      </p:sp>
      <p:pic>
        <p:nvPicPr>
          <p:cNvPr id="4" name="Picture 3" descr="Pseudopod (&quot;false foot&quot;) in an amoeba."/>
          <p:cNvPicPr>
            <a:picLocks noChangeAspect="1"/>
          </p:cNvPicPr>
          <p:nvPr/>
        </p:nvPicPr>
        <p:blipFill>
          <a:blip r:embed="rId3"/>
          <a:stretch>
            <a:fillRect/>
          </a:stretch>
        </p:blipFill>
        <p:spPr>
          <a:xfrm>
            <a:off x="2057400" y="2057400"/>
            <a:ext cx="4010025" cy="2914650"/>
          </a:xfrm>
          <a:prstGeom prst="rect">
            <a:avLst/>
          </a:prstGeom>
        </p:spPr>
      </p:pic>
      <p:pic>
        <p:nvPicPr>
          <p:cNvPr id="2" name="Picture 2" descr="Latest Amoeba GIFs | Gfycat">
            <a:extLst>
              <a:ext uri="{FF2B5EF4-FFF2-40B4-BE49-F238E27FC236}">
                <a16:creationId xmlns:a16="http://schemas.microsoft.com/office/drawing/2014/main" id="{6124E9DC-BE04-F6E5-9BE5-09FE5BC19C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1284" y="2586037"/>
            <a:ext cx="2476500" cy="185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00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ChangeArrowheads="1"/>
          </p:cNvSpPr>
          <p:nvPr>
            <p:ph type="title"/>
          </p:nvPr>
        </p:nvSpPr>
        <p:spPr/>
        <p:txBody>
          <a:bodyPr/>
          <a:lstStyle/>
          <a:p>
            <a:r>
              <a:rPr lang="en-US" dirty="0" err="1">
                <a:solidFill>
                  <a:srgbClr val="FF0000"/>
                </a:solidFill>
              </a:rPr>
              <a:t>R</a:t>
            </a:r>
            <a:r>
              <a:rPr lang="en-US" dirty="0" err="1"/>
              <a:t>hizarians</a:t>
            </a:r>
            <a:r>
              <a:rPr lang="en-US" dirty="0"/>
              <a:t>: </a:t>
            </a:r>
            <a:r>
              <a:rPr lang="en-US" i="1" dirty="0"/>
              <a:t>Radiolarians</a:t>
            </a:r>
          </a:p>
        </p:txBody>
      </p:sp>
      <p:sp>
        <p:nvSpPr>
          <p:cNvPr id="130050" name="Rectangle 3"/>
          <p:cNvSpPr>
            <a:spLocks noGrp="1" noChangeArrowheads="1"/>
          </p:cNvSpPr>
          <p:nvPr>
            <p:ph idx="1"/>
          </p:nvPr>
        </p:nvSpPr>
        <p:spPr>
          <a:xfrm>
            <a:off x="88232" y="646331"/>
            <a:ext cx="8991600" cy="3011269"/>
          </a:xfrm>
        </p:spPr>
        <p:txBody>
          <a:bodyPr/>
          <a:lstStyle/>
          <a:p>
            <a:r>
              <a:rPr lang="en-US" b="1" dirty="0"/>
              <a:t>Radiolarians</a:t>
            </a:r>
            <a:r>
              <a:rPr lang="en-US" dirty="0"/>
              <a:t>, mostly marine protists, have delicate, symmetrical </a:t>
            </a:r>
            <a:endParaRPr lang="en-US" b="1" i="1" dirty="0"/>
          </a:p>
          <a:p>
            <a:r>
              <a:rPr lang="en-US" dirty="0"/>
              <a:t>Pseudopodia reinforced by microtubules radiate from the </a:t>
            </a:r>
          </a:p>
          <a:p>
            <a:r>
              <a:rPr lang="en-US" dirty="0"/>
              <a:t>Cytoplasm covering the microtubules engulf prey that become </a:t>
            </a:r>
          </a:p>
        </p:txBody>
      </p:sp>
      <p:pic>
        <p:nvPicPr>
          <p:cNvPr id="2" name="Picture 1" descr="Example of a radiolarian"/>
          <p:cNvPicPr>
            <a:picLocks noChangeAspect="1"/>
          </p:cNvPicPr>
          <p:nvPr/>
        </p:nvPicPr>
        <p:blipFill>
          <a:blip r:embed="rId3"/>
          <a:stretch>
            <a:fillRect/>
          </a:stretch>
        </p:blipFill>
        <p:spPr>
          <a:xfrm>
            <a:off x="1714500" y="3657600"/>
            <a:ext cx="5715000" cy="3144526"/>
          </a:xfrm>
          <a:prstGeom prst="rect">
            <a:avLst/>
          </a:prstGeom>
        </p:spPr>
      </p:pic>
    </p:spTree>
    <p:extLst>
      <p:ext uri="{BB962C8B-B14F-4D97-AF65-F5344CB8AC3E}">
        <p14:creationId xmlns:p14="http://schemas.microsoft.com/office/powerpoint/2010/main" val="3525812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p:cNvSpPr>
            <a:spLocks noGrp="1" noChangeArrowheads="1"/>
          </p:cNvSpPr>
          <p:nvPr>
            <p:ph type="title"/>
          </p:nvPr>
        </p:nvSpPr>
        <p:spPr/>
        <p:txBody>
          <a:bodyPr/>
          <a:lstStyle/>
          <a:p>
            <a:r>
              <a:rPr lang="en-US" dirty="0" err="1">
                <a:solidFill>
                  <a:srgbClr val="FF0000"/>
                </a:solidFill>
              </a:rPr>
              <a:t>R</a:t>
            </a:r>
            <a:r>
              <a:rPr lang="en-US" dirty="0" err="1"/>
              <a:t>hizarians</a:t>
            </a:r>
            <a:r>
              <a:rPr lang="en-US" dirty="0"/>
              <a:t>: </a:t>
            </a:r>
            <a:r>
              <a:rPr lang="en-US" i="1" dirty="0" err="1"/>
              <a:t>Foraminiferans</a:t>
            </a:r>
            <a:r>
              <a:rPr lang="en-US" i="1" dirty="0"/>
              <a:t> (or </a:t>
            </a:r>
            <a:r>
              <a:rPr lang="en-US" i="1" dirty="0" err="1"/>
              <a:t>Forams</a:t>
            </a:r>
            <a:r>
              <a:rPr lang="en-US" i="1" dirty="0"/>
              <a:t>)</a:t>
            </a:r>
          </a:p>
        </p:txBody>
      </p:sp>
      <p:sp>
        <p:nvSpPr>
          <p:cNvPr id="134146" name="Rectangle 3"/>
          <p:cNvSpPr>
            <a:spLocks noGrp="1" noChangeArrowheads="1"/>
          </p:cNvSpPr>
          <p:nvPr>
            <p:ph idx="1"/>
          </p:nvPr>
        </p:nvSpPr>
        <p:spPr>
          <a:xfrm>
            <a:off x="136358" y="694457"/>
            <a:ext cx="8903368" cy="3877543"/>
          </a:xfrm>
        </p:spPr>
        <p:txBody>
          <a:bodyPr/>
          <a:lstStyle/>
          <a:p>
            <a:r>
              <a:rPr lang="en-US" dirty="0"/>
              <a:t>Named for their porous shells, called “</a:t>
            </a:r>
            <a:r>
              <a:rPr lang="en-US" b="1" dirty="0"/>
              <a:t>tests”, </a:t>
            </a:r>
            <a:r>
              <a:rPr lang="en-US" dirty="0"/>
              <a:t>made of </a:t>
            </a:r>
          </a:p>
          <a:p>
            <a:r>
              <a:rPr lang="en-US" dirty="0"/>
              <a:t>Pseudopodia extend </a:t>
            </a:r>
          </a:p>
          <a:p>
            <a:r>
              <a:rPr lang="en-US" dirty="0"/>
              <a:t>Some house </a:t>
            </a:r>
          </a:p>
          <a:p>
            <a:r>
              <a:rPr lang="en-US" dirty="0"/>
              <a:t>Both </a:t>
            </a:r>
          </a:p>
          <a:p>
            <a:r>
              <a:rPr lang="en-US" dirty="0"/>
              <a:t>Magnesium content in fossilized </a:t>
            </a:r>
            <a:r>
              <a:rPr lang="en-US" dirty="0" err="1"/>
              <a:t>forams</a:t>
            </a:r>
            <a:r>
              <a:rPr lang="en-US" dirty="0"/>
              <a:t> can be used to </a:t>
            </a:r>
          </a:p>
        </p:txBody>
      </p:sp>
      <p:pic>
        <p:nvPicPr>
          <p:cNvPr id="3" name="Picture 2" descr="Examples of foraminiferans."/>
          <p:cNvPicPr>
            <a:picLocks noChangeAspect="1"/>
          </p:cNvPicPr>
          <p:nvPr/>
        </p:nvPicPr>
        <p:blipFill>
          <a:blip r:embed="rId3"/>
          <a:stretch>
            <a:fillRect/>
          </a:stretch>
        </p:blipFill>
        <p:spPr>
          <a:xfrm>
            <a:off x="1359067" y="4419600"/>
            <a:ext cx="6457950" cy="2266950"/>
          </a:xfrm>
          <a:prstGeom prst="rect">
            <a:avLst/>
          </a:prstGeom>
        </p:spPr>
      </p:pic>
    </p:spTree>
    <p:extLst>
      <p:ext uri="{BB962C8B-B14F-4D97-AF65-F5344CB8AC3E}">
        <p14:creationId xmlns:p14="http://schemas.microsoft.com/office/powerpoint/2010/main" val="1918361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noChangeArrowheads="1"/>
          </p:cNvSpPr>
          <p:nvPr>
            <p:ph type="title"/>
          </p:nvPr>
        </p:nvSpPr>
        <p:spPr>
          <a:xfrm>
            <a:off x="0" y="0"/>
            <a:ext cx="9144000" cy="1107996"/>
          </a:xfrm>
        </p:spPr>
        <p:txBody>
          <a:bodyPr/>
          <a:lstStyle/>
          <a:p>
            <a:r>
              <a:rPr lang="en-US" dirty="0">
                <a:solidFill>
                  <a:srgbClr val="FF0000"/>
                </a:solidFill>
              </a:rPr>
              <a:t>Concept 28.4: Red algae and green algae are the closest relatives of plants</a:t>
            </a:r>
          </a:p>
        </p:txBody>
      </p:sp>
      <p:sp>
        <p:nvSpPr>
          <p:cNvPr id="146434" name="Rectangle 3"/>
          <p:cNvSpPr>
            <a:spLocks noGrp="1" noChangeArrowheads="1"/>
          </p:cNvSpPr>
          <p:nvPr>
            <p:ph idx="1"/>
          </p:nvPr>
        </p:nvSpPr>
        <p:spPr>
          <a:xfrm>
            <a:off x="76200" y="1107996"/>
            <a:ext cx="8991600" cy="1025604"/>
          </a:xfrm>
        </p:spPr>
        <p:txBody>
          <a:bodyPr/>
          <a:lstStyle/>
          <a:p>
            <a:r>
              <a:rPr lang="en-US" b="1" dirty="0" err="1"/>
              <a:t>Archaeplastida</a:t>
            </a:r>
            <a:r>
              <a:rPr lang="en-US" dirty="0"/>
              <a:t> is the supergroup that includes </a:t>
            </a:r>
          </a:p>
          <a:p>
            <a:endParaRPr lang="en-US" dirty="0"/>
          </a:p>
        </p:txBody>
      </p:sp>
      <p:pic>
        <p:nvPicPr>
          <p:cNvPr id="2" name="Picture 1" descr="Family tree of major protist lineages.">
            <a:extLst>
              <a:ext uri="{FF2B5EF4-FFF2-40B4-BE49-F238E27FC236}">
                <a16:creationId xmlns:a16="http://schemas.microsoft.com/office/drawing/2014/main" id="{7FCE06CA-85C6-483D-9F85-9496B3096262}"/>
              </a:ext>
            </a:extLst>
          </p:cNvPr>
          <p:cNvPicPr>
            <a:picLocks noChangeAspect="1"/>
          </p:cNvPicPr>
          <p:nvPr/>
        </p:nvPicPr>
        <p:blipFill>
          <a:blip r:embed="rId3"/>
          <a:stretch>
            <a:fillRect/>
          </a:stretch>
        </p:blipFill>
        <p:spPr>
          <a:xfrm>
            <a:off x="609600" y="2231232"/>
            <a:ext cx="8077200" cy="4043014"/>
          </a:xfrm>
          <a:prstGeom prst="rect">
            <a:avLst/>
          </a:prstGeom>
        </p:spPr>
      </p:pic>
      <p:sp>
        <p:nvSpPr>
          <p:cNvPr id="3" name="Rectangle 2" descr="Archaeplastida group of Protist family tree"/>
          <p:cNvSpPr/>
          <p:nvPr/>
        </p:nvSpPr>
        <p:spPr bwMode="auto">
          <a:xfrm>
            <a:off x="7178040" y="3276600"/>
            <a:ext cx="441960" cy="2255520"/>
          </a:xfrm>
          <a:prstGeom prst="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850382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noChangeArrowheads="1"/>
          </p:cNvSpPr>
          <p:nvPr>
            <p:ph type="title"/>
          </p:nvPr>
        </p:nvSpPr>
        <p:spPr/>
        <p:txBody>
          <a:bodyPr/>
          <a:lstStyle/>
          <a:p>
            <a:r>
              <a:rPr lang="en-US" dirty="0">
                <a:solidFill>
                  <a:srgbClr val="FF0000"/>
                </a:solidFill>
              </a:rPr>
              <a:t>Red Algae</a:t>
            </a:r>
          </a:p>
        </p:txBody>
      </p:sp>
      <p:sp>
        <p:nvSpPr>
          <p:cNvPr id="150530" name="Rectangle 3"/>
          <p:cNvSpPr>
            <a:spLocks noGrp="1" noChangeArrowheads="1"/>
          </p:cNvSpPr>
          <p:nvPr>
            <p:ph idx="1"/>
          </p:nvPr>
        </p:nvSpPr>
        <p:spPr>
          <a:xfrm>
            <a:off x="72190" y="646331"/>
            <a:ext cx="5719010" cy="6211669"/>
          </a:xfrm>
        </p:spPr>
        <p:txBody>
          <a:bodyPr/>
          <a:lstStyle/>
          <a:p>
            <a:r>
              <a:rPr lang="en-US" b="1" dirty="0"/>
              <a:t>Red algae </a:t>
            </a:r>
            <a:r>
              <a:rPr lang="en-US" dirty="0"/>
              <a:t>are reddish in color due to an accessory pigment called </a:t>
            </a:r>
          </a:p>
          <a:p>
            <a:endParaRPr lang="en-US" dirty="0"/>
          </a:p>
          <a:p>
            <a:r>
              <a:rPr lang="en-US" dirty="0"/>
              <a:t>The color varies from greenish-red in shallow water to dark red or </a:t>
            </a:r>
          </a:p>
          <a:p>
            <a:r>
              <a:rPr lang="en-US" dirty="0"/>
              <a:t>Red algae are usually multicellular; the </a:t>
            </a:r>
          </a:p>
          <a:p>
            <a:endParaRPr lang="en-US" dirty="0"/>
          </a:p>
          <a:p>
            <a:r>
              <a:rPr lang="en-US" dirty="0"/>
              <a:t>Red algae are the most abundant </a:t>
            </a:r>
          </a:p>
        </p:txBody>
      </p:sp>
      <p:pic>
        <p:nvPicPr>
          <p:cNvPr id="4" name="Picture 3" descr="Examples of red algaes and commercial products they are used as an ingredient."/>
          <p:cNvPicPr>
            <a:picLocks noChangeAspect="1"/>
          </p:cNvPicPr>
          <p:nvPr/>
        </p:nvPicPr>
        <p:blipFill>
          <a:blip r:embed="rId3"/>
          <a:stretch>
            <a:fillRect/>
          </a:stretch>
        </p:blipFill>
        <p:spPr>
          <a:xfrm>
            <a:off x="5421902" y="427668"/>
            <a:ext cx="3600450" cy="6143625"/>
          </a:xfrm>
          <a:prstGeom prst="rect">
            <a:avLst/>
          </a:prstGeom>
        </p:spPr>
      </p:pic>
    </p:spTree>
    <p:extLst>
      <p:ext uri="{BB962C8B-B14F-4D97-AF65-F5344CB8AC3E}">
        <p14:creationId xmlns:p14="http://schemas.microsoft.com/office/powerpoint/2010/main" val="119323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p:cNvSpPr>
            <a:spLocks noGrp="1" noChangeArrowheads="1"/>
          </p:cNvSpPr>
          <p:nvPr>
            <p:ph type="title"/>
          </p:nvPr>
        </p:nvSpPr>
        <p:spPr/>
        <p:txBody>
          <a:bodyPr/>
          <a:lstStyle/>
          <a:p>
            <a:r>
              <a:rPr lang="en-US" dirty="0">
                <a:solidFill>
                  <a:srgbClr val="00B050"/>
                </a:solidFill>
              </a:rPr>
              <a:t>Green Algae</a:t>
            </a:r>
          </a:p>
        </p:txBody>
      </p:sp>
      <p:sp>
        <p:nvSpPr>
          <p:cNvPr id="154626" name="Rectangle 3"/>
          <p:cNvSpPr>
            <a:spLocks noGrp="1" noChangeArrowheads="1"/>
          </p:cNvSpPr>
          <p:nvPr>
            <p:ph idx="1"/>
          </p:nvPr>
        </p:nvSpPr>
        <p:spPr>
          <a:xfrm>
            <a:off x="92242" y="642258"/>
            <a:ext cx="8991600" cy="6172200"/>
          </a:xfrm>
        </p:spPr>
        <p:txBody>
          <a:bodyPr/>
          <a:lstStyle/>
          <a:p>
            <a:r>
              <a:rPr lang="en-US" b="1" dirty="0"/>
              <a:t>Green algae </a:t>
            </a:r>
            <a:r>
              <a:rPr lang="en-US" dirty="0"/>
              <a:t>are named for </a:t>
            </a:r>
          </a:p>
          <a:p>
            <a:endParaRPr lang="en-US" dirty="0"/>
          </a:p>
          <a:p>
            <a:r>
              <a:rPr lang="en-US" dirty="0"/>
              <a:t>Plants and green algae are </a:t>
            </a:r>
          </a:p>
          <a:p>
            <a:r>
              <a:rPr lang="en-US" dirty="0"/>
              <a:t>Green algae are </a:t>
            </a:r>
          </a:p>
          <a:p>
            <a:r>
              <a:rPr lang="en-US" dirty="0"/>
              <a:t>The two main groups are the </a:t>
            </a:r>
          </a:p>
          <a:p>
            <a:endParaRPr lang="en-US" dirty="0"/>
          </a:p>
          <a:p>
            <a:r>
              <a:rPr lang="en-US" dirty="0"/>
              <a:t>Charophytes are most </a:t>
            </a:r>
          </a:p>
          <a:p>
            <a:r>
              <a:rPr lang="en-US" dirty="0"/>
              <a:t>Most chlorophytes live in </a:t>
            </a:r>
          </a:p>
          <a:p>
            <a:endParaRPr lang="en-US" dirty="0"/>
          </a:p>
          <a:p>
            <a:r>
              <a:rPr lang="en-US" dirty="0"/>
              <a:t>Other chlorophytes live in damp soil, as symbionts in lichens, or in environments </a:t>
            </a:r>
          </a:p>
        </p:txBody>
      </p:sp>
    </p:spTree>
    <p:extLst>
      <p:ext uri="{BB962C8B-B14F-4D97-AF65-F5344CB8AC3E}">
        <p14:creationId xmlns:p14="http://schemas.microsoft.com/office/powerpoint/2010/main" val="3752944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0"/>
            <a:ext cx="8077200" cy="600164"/>
          </a:xfrm>
        </p:spPr>
        <p:txBody>
          <a:bodyPr/>
          <a:lstStyle/>
          <a:p>
            <a:r>
              <a:rPr lang="en-US" dirty="0">
                <a:solidFill>
                  <a:schemeClr val="bg1"/>
                </a:solidFill>
              </a:rPr>
              <a:t>31</a:t>
            </a:r>
          </a:p>
        </p:txBody>
      </p:sp>
      <p:sp>
        <p:nvSpPr>
          <p:cNvPr id="158721" name="Rectangle 2"/>
          <p:cNvSpPr>
            <a:spLocks noGrp="1" noChangeArrowheads="1"/>
          </p:cNvSpPr>
          <p:nvPr>
            <p:ph idx="4294967295"/>
          </p:nvPr>
        </p:nvSpPr>
        <p:spPr>
          <a:xfrm>
            <a:off x="304800" y="50121"/>
            <a:ext cx="8458200" cy="5041900"/>
          </a:xfrm>
        </p:spPr>
        <p:txBody>
          <a:bodyPr/>
          <a:lstStyle/>
          <a:p>
            <a:r>
              <a:rPr lang="en-US" dirty="0"/>
              <a:t>Larger size and greater complexity evolved in green algae by</a:t>
            </a:r>
          </a:p>
          <a:p>
            <a:pPr marL="971550" lvl="1" indent="-514350">
              <a:buFont typeface="+mj-lt"/>
              <a:buAutoNum type="arabicPeriod"/>
            </a:pPr>
            <a:r>
              <a:rPr lang="en-US" dirty="0"/>
              <a:t>formation of </a:t>
            </a:r>
          </a:p>
          <a:p>
            <a:pPr marL="971550" lvl="1" indent="-514350">
              <a:buFont typeface="+mj-lt"/>
              <a:buAutoNum type="arabicPeriod"/>
            </a:pPr>
            <a:r>
              <a:rPr lang="en-US" dirty="0"/>
              <a:t>formation of </a:t>
            </a:r>
          </a:p>
          <a:p>
            <a:pPr marL="971550" lvl="1" indent="-514350">
              <a:buFont typeface="+mj-lt"/>
              <a:buAutoNum type="arabicPeriod"/>
            </a:pPr>
            <a:r>
              <a:rPr lang="en-US" dirty="0"/>
              <a:t>repeated division of nuclei with </a:t>
            </a:r>
          </a:p>
          <a:p>
            <a:pPr marL="971550" lvl="1" indent="-514350">
              <a:buFont typeface="+mj-lt"/>
              <a:buAutoNum type="arabicPeriod"/>
            </a:pPr>
            <a:endParaRPr lang="en-US" dirty="0"/>
          </a:p>
          <a:p>
            <a:r>
              <a:rPr lang="en-US" dirty="0"/>
              <a:t>Most chlorophytes have complex life cycles with both </a:t>
            </a:r>
          </a:p>
          <a:p>
            <a:r>
              <a:rPr lang="en-US" dirty="0"/>
              <a:t>Alternation of generations has evolved </a:t>
            </a:r>
            <a:endParaRPr lang="en-US" i="1" dirty="0"/>
          </a:p>
        </p:txBody>
      </p:sp>
      <p:pic>
        <p:nvPicPr>
          <p:cNvPr id="2" name="Picture 1" descr="(b) Ulva, or sea lettuce, is shown in a photograph. It has a 2 centimeter scale shown for reference, and has three to four small, green, leafy portions."/>
          <p:cNvPicPr>
            <a:picLocks noChangeAspect="1"/>
          </p:cNvPicPr>
          <p:nvPr/>
        </p:nvPicPr>
        <p:blipFill>
          <a:blip r:embed="rId3"/>
          <a:stretch>
            <a:fillRect/>
          </a:stretch>
        </p:blipFill>
        <p:spPr>
          <a:xfrm>
            <a:off x="6736252" y="4876800"/>
            <a:ext cx="2333273" cy="1920240"/>
          </a:xfrm>
          <a:prstGeom prst="rect">
            <a:avLst/>
          </a:prstGeom>
        </p:spPr>
      </p:pic>
      <p:sp>
        <p:nvSpPr>
          <p:cNvPr id="4" name="TextBox 6"/>
          <p:cNvSpPr txBox="1">
            <a:spLocks noChangeArrowheads="1"/>
          </p:cNvSpPr>
          <p:nvPr/>
        </p:nvSpPr>
        <p:spPr bwMode="auto">
          <a:xfrm>
            <a:off x="4876800" y="5562600"/>
            <a:ext cx="1654299"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371475" indent="-374904">
              <a:lnSpc>
                <a:spcPts val="2000"/>
              </a:lnSpc>
            </a:pPr>
            <a:r>
              <a:rPr lang="es-ES" sz="1800" b="1" dirty="0">
                <a:solidFill>
                  <a:srgbClr val="000000"/>
                </a:solidFill>
                <a:latin typeface="Arial"/>
              </a:rPr>
              <a:t>(b) </a:t>
            </a:r>
            <a:r>
              <a:rPr lang="es-ES" sz="1800" b="1" i="1" dirty="0">
                <a:solidFill>
                  <a:srgbClr val="000000"/>
                </a:solidFill>
                <a:latin typeface="Arial"/>
              </a:rPr>
              <a:t>Ulva</a:t>
            </a:r>
            <a:r>
              <a:rPr lang="es-ES" sz="1800" b="1" dirty="0">
                <a:solidFill>
                  <a:srgbClr val="000000"/>
                </a:solidFill>
                <a:latin typeface="Arial"/>
              </a:rPr>
              <a:t>, or sea</a:t>
            </a:r>
            <a:br>
              <a:rPr lang="es-ES" sz="1800" b="1" dirty="0">
                <a:solidFill>
                  <a:srgbClr val="000000"/>
                </a:solidFill>
                <a:latin typeface="Arial"/>
              </a:rPr>
            </a:br>
            <a:r>
              <a:rPr lang="es-ES" sz="1800" b="1" dirty="0">
                <a:solidFill>
                  <a:srgbClr val="000000"/>
                </a:solidFill>
                <a:latin typeface="Arial"/>
              </a:rPr>
              <a:t>lettuce</a:t>
            </a:r>
            <a:endParaRPr lang="en-US" sz="1800" b="1" dirty="0">
              <a:solidFill>
                <a:srgbClr val="000000"/>
              </a:solidFill>
              <a:latin typeface="Arial"/>
            </a:endParaRPr>
          </a:p>
        </p:txBody>
      </p:sp>
    </p:spTree>
    <p:extLst>
      <p:ext uri="{BB962C8B-B14F-4D97-AF65-F5344CB8AC3E}">
        <p14:creationId xmlns:p14="http://schemas.microsoft.com/office/powerpoint/2010/main" val="1792707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noChangeArrowheads="1"/>
          </p:cNvSpPr>
          <p:nvPr>
            <p:ph type="title"/>
          </p:nvPr>
        </p:nvSpPr>
        <p:spPr>
          <a:xfrm>
            <a:off x="0" y="0"/>
            <a:ext cx="9144000" cy="1107996"/>
          </a:xfrm>
        </p:spPr>
        <p:txBody>
          <a:bodyPr/>
          <a:lstStyle/>
          <a:p>
            <a:r>
              <a:rPr lang="en-US" dirty="0">
                <a:solidFill>
                  <a:srgbClr val="FF0000"/>
                </a:solidFill>
              </a:rPr>
              <a:t>Concept 28.5: Unikonts include protists that are closely related to fungi and animals</a:t>
            </a:r>
          </a:p>
        </p:txBody>
      </p:sp>
      <p:sp>
        <p:nvSpPr>
          <p:cNvPr id="166914" name="Rectangle 3"/>
          <p:cNvSpPr>
            <a:spLocks noGrp="1" noChangeArrowheads="1"/>
          </p:cNvSpPr>
          <p:nvPr>
            <p:ph idx="1"/>
          </p:nvPr>
        </p:nvSpPr>
        <p:spPr>
          <a:xfrm>
            <a:off x="76200" y="1008744"/>
            <a:ext cx="8991600" cy="3048000"/>
          </a:xfrm>
        </p:spPr>
        <p:txBody>
          <a:bodyPr/>
          <a:lstStyle/>
          <a:p>
            <a:r>
              <a:rPr lang="en-US" dirty="0"/>
              <a:t>The supergroup </a:t>
            </a:r>
            <a:r>
              <a:rPr lang="en-US" b="1" dirty="0" err="1"/>
              <a:t>Unikonta</a:t>
            </a:r>
            <a:r>
              <a:rPr lang="en-US" dirty="0"/>
              <a:t> includes </a:t>
            </a:r>
          </a:p>
          <a:p>
            <a:endParaRPr lang="en-US" dirty="0"/>
          </a:p>
          <a:p>
            <a:r>
              <a:rPr lang="en-US" dirty="0"/>
              <a:t>This group includes two clades: </a:t>
            </a:r>
          </a:p>
          <a:p>
            <a:endParaRPr lang="en-US" dirty="0"/>
          </a:p>
          <a:p>
            <a:r>
              <a:rPr lang="en-US" dirty="0"/>
              <a:t>It is unclear whether unikonts separated from </a:t>
            </a:r>
          </a:p>
        </p:txBody>
      </p:sp>
      <p:pic>
        <p:nvPicPr>
          <p:cNvPr id="2" name="Picture 1" descr="Family tree of major protist lineages.">
            <a:extLst>
              <a:ext uri="{FF2B5EF4-FFF2-40B4-BE49-F238E27FC236}">
                <a16:creationId xmlns:a16="http://schemas.microsoft.com/office/drawing/2014/main" id="{E24BFCF5-0AEB-4561-BAB9-AAEA7C76224C}"/>
              </a:ext>
            </a:extLst>
          </p:cNvPr>
          <p:cNvPicPr>
            <a:picLocks noChangeAspect="1"/>
          </p:cNvPicPr>
          <p:nvPr/>
        </p:nvPicPr>
        <p:blipFill>
          <a:blip r:embed="rId3"/>
          <a:stretch>
            <a:fillRect/>
          </a:stretch>
        </p:blipFill>
        <p:spPr>
          <a:xfrm>
            <a:off x="2288079" y="4153758"/>
            <a:ext cx="4567842" cy="2669971"/>
          </a:xfrm>
          <a:prstGeom prst="rect">
            <a:avLst/>
          </a:prstGeom>
        </p:spPr>
      </p:pic>
      <p:sp>
        <p:nvSpPr>
          <p:cNvPr id="3" name="Rounded Rectangle 2" descr="Unikonta group of Protist family tree"/>
          <p:cNvSpPr/>
          <p:nvPr/>
        </p:nvSpPr>
        <p:spPr bwMode="auto">
          <a:xfrm>
            <a:off x="2560320" y="4968240"/>
            <a:ext cx="2849880" cy="1722120"/>
          </a:xfrm>
          <a:prstGeom prst="roundRect">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594969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p:cNvSpPr>
            <a:spLocks noGrp="1" noChangeArrowheads="1"/>
          </p:cNvSpPr>
          <p:nvPr>
            <p:ph type="title"/>
          </p:nvPr>
        </p:nvSpPr>
        <p:spPr/>
        <p:txBody>
          <a:bodyPr/>
          <a:lstStyle/>
          <a:p>
            <a:r>
              <a:rPr lang="en-US" dirty="0"/>
              <a:t>Amoebozoans</a:t>
            </a:r>
          </a:p>
        </p:txBody>
      </p:sp>
      <p:sp>
        <p:nvSpPr>
          <p:cNvPr id="173058" name="Rectangle 3"/>
          <p:cNvSpPr>
            <a:spLocks noGrp="1" noChangeArrowheads="1"/>
          </p:cNvSpPr>
          <p:nvPr>
            <p:ph idx="1"/>
          </p:nvPr>
        </p:nvSpPr>
        <p:spPr>
          <a:xfrm>
            <a:off x="76200" y="826805"/>
            <a:ext cx="9067800" cy="1687795"/>
          </a:xfrm>
        </p:spPr>
        <p:txBody>
          <a:bodyPr/>
          <a:lstStyle/>
          <a:p>
            <a:r>
              <a:rPr lang="en-US" b="1" dirty="0"/>
              <a:t>Amoebozoans</a:t>
            </a:r>
            <a:r>
              <a:rPr lang="en-US" dirty="0"/>
              <a:t> are amoebas that have lobe- or tube-shaped, rather than </a:t>
            </a:r>
          </a:p>
          <a:p>
            <a:r>
              <a:rPr lang="en-US" dirty="0"/>
              <a:t>They include </a:t>
            </a:r>
          </a:p>
        </p:txBody>
      </p:sp>
      <p:pic>
        <p:nvPicPr>
          <p:cNvPr id="3" name="Picture 2" descr="Examples of slime mold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590800"/>
            <a:ext cx="8083545" cy="4086726"/>
          </a:xfrm>
          <a:prstGeom prst="rect">
            <a:avLst/>
          </a:prstGeom>
        </p:spPr>
      </p:pic>
    </p:spTree>
    <p:extLst>
      <p:ext uri="{BB962C8B-B14F-4D97-AF65-F5344CB8AC3E}">
        <p14:creationId xmlns:p14="http://schemas.microsoft.com/office/powerpoint/2010/main" val="1041526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noChangeArrowheads="1"/>
          </p:cNvSpPr>
          <p:nvPr>
            <p:ph type="title"/>
          </p:nvPr>
        </p:nvSpPr>
        <p:spPr/>
        <p:txBody>
          <a:bodyPr/>
          <a:lstStyle/>
          <a:p>
            <a:r>
              <a:rPr lang="en-US" dirty="0" err="1"/>
              <a:t>Amoebozoans</a:t>
            </a:r>
            <a:r>
              <a:rPr lang="en-US" dirty="0"/>
              <a:t>: </a:t>
            </a:r>
            <a:r>
              <a:rPr lang="en-US" i="1" dirty="0"/>
              <a:t>Slime Molds</a:t>
            </a:r>
          </a:p>
        </p:txBody>
      </p:sp>
      <p:sp>
        <p:nvSpPr>
          <p:cNvPr id="175106" name="Rectangle 3"/>
          <p:cNvSpPr>
            <a:spLocks noGrp="1" noChangeArrowheads="1"/>
          </p:cNvSpPr>
          <p:nvPr>
            <p:ph idx="1"/>
          </p:nvPr>
        </p:nvSpPr>
        <p:spPr>
          <a:xfrm>
            <a:off x="76200" y="646331"/>
            <a:ext cx="8991600" cy="4154269"/>
          </a:xfrm>
        </p:spPr>
        <p:txBody>
          <a:bodyPr/>
          <a:lstStyle/>
          <a:p>
            <a:r>
              <a:rPr lang="en-US" dirty="0"/>
              <a:t>Slime molds, or mycetozoans, were once thought to be fungi due to their </a:t>
            </a:r>
          </a:p>
          <a:p>
            <a:r>
              <a:rPr lang="en-US" dirty="0"/>
              <a:t>This resemblance between slime molds and fungi is a result of </a:t>
            </a:r>
          </a:p>
          <a:p>
            <a:r>
              <a:rPr lang="en-US" dirty="0"/>
              <a:t>Slime molds include two lineages</a:t>
            </a:r>
          </a:p>
          <a:p>
            <a:pPr marL="971550" lvl="1" indent="-514350">
              <a:buFont typeface="+mj-lt"/>
              <a:buAutoNum type="alphaUcPeriod"/>
            </a:pPr>
            <a:r>
              <a:rPr lang="en-US" dirty="0"/>
              <a:t>Plasmodial slime molds: </a:t>
            </a:r>
          </a:p>
          <a:p>
            <a:pPr marL="971550" lvl="1" indent="-514350">
              <a:buFont typeface="+mj-lt"/>
              <a:buAutoNum type="alphaUcPeriod"/>
            </a:pPr>
            <a:endParaRPr lang="en-US" dirty="0"/>
          </a:p>
          <a:p>
            <a:pPr marL="971550" lvl="1" indent="-514350">
              <a:buFont typeface="+mj-lt"/>
              <a:buAutoNum type="alphaUcPeriod"/>
            </a:pPr>
            <a:r>
              <a:rPr lang="en-US" dirty="0"/>
              <a:t>Cellular slime molds: </a:t>
            </a:r>
          </a:p>
        </p:txBody>
      </p:sp>
      <p:pic>
        <p:nvPicPr>
          <p:cNvPr id="2" name="Picture 1" descr="A. plasmodial slime mold.&#10;B. cellular slime mold."/>
          <p:cNvPicPr>
            <a:picLocks noChangeAspect="1"/>
          </p:cNvPicPr>
          <p:nvPr/>
        </p:nvPicPr>
        <p:blipFill>
          <a:blip r:embed="rId3"/>
          <a:stretch>
            <a:fillRect/>
          </a:stretch>
        </p:blipFill>
        <p:spPr>
          <a:xfrm>
            <a:off x="1610300" y="4869087"/>
            <a:ext cx="5923399" cy="1952625"/>
          </a:xfrm>
          <a:prstGeom prst="rect">
            <a:avLst/>
          </a:prstGeom>
        </p:spPr>
      </p:pic>
      <p:sp>
        <p:nvSpPr>
          <p:cNvPr id="3" name="TextBox 2"/>
          <p:cNvSpPr txBox="1"/>
          <p:nvPr/>
        </p:nvSpPr>
        <p:spPr>
          <a:xfrm>
            <a:off x="1150708" y="5583789"/>
            <a:ext cx="444352" cy="523220"/>
          </a:xfrm>
          <a:prstGeom prst="rect">
            <a:avLst/>
          </a:prstGeom>
          <a:noFill/>
        </p:spPr>
        <p:txBody>
          <a:bodyPr wrap="none" rtlCol="0">
            <a:spAutoFit/>
          </a:bodyPr>
          <a:lstStyle/>
          <a:p>
            <a:r>
              <a:rPr lang="en-US" sz="2800" b="1" dirty="0">
                <a:solidFill>
                  <a:schemeClr val="accent5">
                    <a:lumMod val="50000"/>
                  </a:schemeClr>
                </a:solidFill>
              </a:rPr>
              <a:t>A</a:t>
            </a:r>
          </a:p>
        </p:txBody>
      </p:sp>
      <p:sp>
        <p:nvSpPr>
          <p:cNvPr id="6" name="TextBox 5"/>
          <p:cNvSpPr txBox="1"/>
          <p:nvPr/>
        </p:nvSpPr>
        <p:spPr>
          <a:xfrm>
            <a:off x="7533699" y="5583789"/>
            <a:ext cx="444352" cy="523220"/>
          </a:xfrm>
          <a:prstGeom prst="rect">
            <a:avLst/>
          </a:prstGeom>
          <a:noFill/>
        </p:spPr>
        <p:txBody>
          <a:bodyPr wrap="none" rtlCol="0">
            <a:spAutoFit/>
          </a:bodyPr>
          <a:lstStyle/>
          <a:p>
            <a:r>
              <a:rPr lang="en-US" sz="2800" b="1" dirty="0">
                <a:solidFill>
                  <a:schemeClr val="accent5">
                    <a:lumMod val="50000"/>
                  </a:schemeClr>
                </a:solidFill>
              </a:rPr>
              <a:t>B</a:t>
            </a:r>
          </a:p>
        </p:txBody>
      </p:sp>
    </p:spTree>
    <p:extLst>
      <p:ext uri="{BB962C8B-B14F-4D97-AF65-F5344CB8AC3E}">
        <p14:creationId xmlns:p14="http://schemas.microsoft.com/office/powerpoint/2010/main" val="3975106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p:cNvSpPr>
            <a:spLocks noGrp="1" noChangeArrowheads="1"/>
          </p:cNvSpPr>
          <p:nvPr>
            <p:ph type="title"/>
          </p:nvPr>
        </p:nvSpPr>
        <p:spPr/>
        <p:txBody>
          <a:bodyPr/>
          <a:lstStyle/>
          <a:p>
            <a:r>
              <a:rPr lang="en-US" dirty="0" err="1"/>
              <a:t>Amoebozoans</a:t>
            </a:r>
            <a:r>
              <a:rPr lang="en-US" dirty="0"/>
              <a:t>: </a:t>
            </a:r>
            <a:r>
              <a:rPr lang="en-US" i="1" dirty="0" err="1"/>
              <a:t>Tubulinids</a:t>
            </a:r>
            <a:endParaRPr lang="en-US" i="1" dirty="0"/>
          </a:p>
        </p:txBody>
      </p:sp>
      <p:sp>
        <p:nvSpPr>
          <p:cNvPr id="187394" name="Rectangle 3"/>
          <p:cNvSpPr>
            <a:spLocks noGrp="1" noChangeArrowheads="1"/>
          </p:cNvSpPr>
          <p:nvPr>
            <p:ph idx="1"/>
          </p:nvPr>
        </p:nvSpPr>
        <p:spPr>
          <a:xfrm>
            <a:off x="76200" y="533400"/>
            <a:ext cx="8991600" cy="3269342"/>
          </a:xfrm>
        </p:spPr>
        <p:txBody>
          <a:bodyPr/>
          <a:lstStyle/>
          <a:p>
            <a:r>
              <a:rPr lang="en-US" dirty="0"/>
              <a:t>Tubulinids are a diverse group of </a:t>
            </a:r>
            <a:r>
              <a:rPr lang="en-US" dirty="0" err="1"/>
              <a:t>amoebozoans</a:t>
            </a:r>
            <a:r>
              <a:rPr lang="en-US" dirty="0"/>
              <a:t> with </a:t>
            </a:r>
          </a:p>
          <a:p>
            <a:endParaRPr lang="en-US" dirty="0"/>
          </a:p>
          <a:p>
            <a:r>
              <a:rPr lang="en-US" dirty="0"/>
              <a:t>They are common unicellular </a:t>
            </a:r>
            <a:r>
              <a:rPr lang="en-US" dirty="0" err="1"/>
              <a:t>protists</a:t>
            </a:r>
            <a:r>
              <a:rPr lang="en-US" dirty="0"/>
              <a:t> in soil as well as </a:t>
            </a:r>
          </a:p>
          <a:p>
            <a:endParaRPr lang="en-US" dirty="0"/>
          </a:p>
          <a:p>
            <a:r>
              <a:rPr lang="en-US" dirty="0"/>
              <a:t>Most tubulinids are heterotrophic and actively seek and consume </a:t>
            </a:r>
          </a:p>
        </p:txBody>
      </p:sp>
      <p:sp>
        <p:nvSpPr>
          <p:cNvPr id="4" name="Rectangle 2">
            <a:extLst>
              <a:ext uri="{FF2B5EF4-FFF2-40B4-BE49-F238E27FC236}">
                <a16:creationId xmlns:a16="http://schemas.microsoft.com/office/drawing/2014/main" id="{B3A0BFAE-9AEF-47C5-B247-144EFDD127EE}"/>
              </a:ext>
            </a:extLst>
          </p:cNvPr>
          <p:cNvSpPr txBox="1">
            <a:spLocks noChangeArrowheads="1"/>
          </p:cNvSpPr>
          <p:nvPr/>
        </p:nvSpPr>
        <p:spPr bwMode="auto">
          <a:xfrm>
            <a:off x="0" y="3802742"/>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82880" tIns="91440" rIns="228600" bIns="91440" numCol="1" anchor="t" anchorCtr="0" compatLnSpc="1">
            <a:prstTxWarp prst="textNoShape">
              <a:avLst/>
            </a:prstTxWarp>
            <a:spAutoFit/>
          </a:bodyPr>
          <a:lstStyle>
            <a:lvl1pPr marL="0" indent="-450850" algn="l" rtl="0" eaLnBrk="1" fontAlgn="base" hangingPunct="1">
              <a:lnSpc>
                <a:spcPct val="10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r>
              <a:rPr lang="en-US" dirty="0" err="1"/>
              <a:t>Amoebozoans</a:t>
            </a:r>
            <a:r>
              <a:rPr lang="en-US" dirty="0"/>
              <a:t>: </a:t>
            </a:r>
            <a:r>
              <a:rPr lang="en-US" i="1" kern="0" dirty="0" err="1"/>
              <a:t>Entamoebas</a:t>
            </a:r>
            <a:endParaRPr lang="en-US" i="1" kern="0" dirty="0"/>
          </a:p>
        </p:txBody>
      </p:sp>
      <p:sp>
        <p:nvSpPr>
          <p:cNvPr id="5" name="Rectangle 3">
            <a:extLst>
              <a:ext uri="{FF2B5EF4-FFF2-40B4-BE49-F238E27FC236}">
                <a16:creationId xmlns:a16="http://schemas.microsoft.com/office/drawing/2014/main" id="{6F3D2947-1659-47DC-8A44-E6C7F43EFC61}"/>
              </a:ext>
            </a:extLst>
          </p:cNvPr>
          <p:cNvSpPr txBox="1">
            <a:spLocks noChangeArrowheads="1"/>
          </p:cNvSpPr>
          <p:nvPr/>
        </p:nvSpPr>
        <p:spPr bwMode="auto">
          <a:xfrm>
            <a:off x="152400" y="4420043"/>
            <a:ext cx="8839199" cy="2401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137160" bIns="0" numCol="1" anchor="t" anchorCtr="0" compatLnSpc="1">
            <a:prstTxWarp prst="textNoShape">
              <a:avLst/>
            </a:prstTxWarp>
          </a:bodyPr>
          <a:lstStyle>
            <a:lvl1pPr marL="347472" indent="-347472" algn="l" rtl="0" eaLnBrk="1" fontAlgn="base" hangingPunct="1">
              <a:spcBef>
                <a:spcPts val="600"/>
              </a:spcBef>
              <a:spcAft>
                <a:spcPts val="600"/>
              </a:spcAft>
              <a:buClr>
                <a:srgbClr val="DF4A20"/>
              </a:buClr>
              <a:buFont typeface="Wingdings" charset="2"/>
              <a:buChar char="§"/>
              <a:defRPr sz="2800">
                <a:solidFill>
                  <a:schemeClr val="tx1"/>
                </a:solidFill>
                <a:latin typeface="Arial" charset="0"/>
                <a:ea typeface="Arial" panose="020B0604020202020204" pitchFamily="34" charset="0"/>
                <a:cs typeface="+mn-cs"/>
              </a:defRPr>
            </a:lvl1pPr>
            <a:lvl2pPr marL="740664" indent="-283464" algn="l" rtl="0" eaLnBrk="1" fontAlgn="base" hangingPunct="1">
              <a:spcBef>
                <a:spcPts val="600"/>
              </a:spcBef>
              <a:spcAft>
                <a:spcPts val="600"/>
              </a:spcAft>
              <a:buClr>
                <a:srgbClr val="DF4A20"/>
              </a:buClr>
              <a:buFont typeface="Wingdings" charset="2"/>
              <a:buChar char="§"/>
              <a:defRPr sz="2600">
                <a:solidFill>
                  <a:schemeClr val="tx1"/>
                </a:solidFill>
                <a:latin typeface="Arial" charset="0"/>
                <a:ea typeface="+mn-ea"/>
                <a:cs typeface="+mn-cs"/>
              </a:defRPr>
            </a:lvl2pPr>
            <a:lvl3pPr marL="1143000" indent="-228600" algn="l" rtl="0" eaLnBrk="1" fontAlgn="base" hangingPunct="1">
              <a:spcBef>
                <a:spcPts val="600"/>
              </a:spcBef>
              <a:spcAft>
                <a:spcPts val="600"/>
              </a:spcAft>
              <a:buClr>
                <a:srgbClr val="DF4A20"/>
              </a:buClr>
              <a:buFont typeface="Wingdings" charset="2"/>
              <a:buChar char="§"/>
              <a:defRPr sz="2400">
                <a:solidFill>
                  <a:schemeClr val="tx1"/>
                </a:solidFill>
                <a:latin typeface="Arial" charset="0"/>
                <a:ea typeface="+mn-ea"/>
                <a:cs typeface="+mn-cs"/>
              </a:defRPr>
            </a:lvl3pPr>
            <a:lvl4pPr marL="16002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4pPr>
            <a:lvl5pPr marL="20574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5pPr>
            <a:lvl6pPr marL="33162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6pPr>
            <a:lvl7pPr marL="37734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7pPr>
            <a:lvl8pPr marL="42306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8pPr>
            <a:lvl9pPr marL="46878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9pPr>
          </a:lstStyle>
          <a:p>
            <a:r>
              <a:rPr lang="en-US" i="1" kern="0" dirty="0"/>
              <a:t>Entamoeba</a:t>
            </a:r>
            <a:r>
              <a:rPr lang="en-US" kern="0" dirty="0"/>
              <a:t> are parasites of </a:t>
            </a:r>
          </a:p>
          <a:p>
            <a:endParaRPr lang="en-US" kern="0" dirty="0"/>
          </a:p>
          <a:p>
            <a:r>
              <a:rPr lang="en-US" i="1" kern="0" dirty="0"/>
              <a:t>Entamoeba histolytica</a:t>
            </a:r>
            <a:r>
              <a:rPr lang="en-US" kern="0" dirty="0"/>
              <a:t> causes </a:t>
            </a:r>
            <a:r>
              <a:rPr lang="en-US" kern="0" dirty="0">
                <a:hlinkClick r:id="rId3"/>
              </a:rPr>
              <a:t>amebic dysentery</a:t>
            </a:r>
            <a:r>
              <a:rPr lang="en-US" kern="0" dirty="0"/>
              <a:t>, the third-leading cause of </a:t>
            </a:r>
          </a:p>
        </p:txBody>
      </p:sp>
    </p:spTree>
    <p:extLst>
      <p:ext uri="{BB962C8B-B14F-4D97-AF65-F5344CB8AC3E}">
        <p14:creationId xmlns:p14="http://schemas.microsoft.com/office/powerpoint/2010/main" val="1723245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p:cNvSpPr>
            <a:spLocks noGrp="1" noChangeArrowheads="1"/>
          </p:cNvSpPr>
          <p:nvPr>
            <p:ph type="title"/>
          </p:nvPr>
        </p:nvSpPr>
        <p:spPr>
          <a:xfrm>
            <a:off x="0" y="0"/>
            <a:ext cx="9144000" cy="1107996"/>
          </a:xfrm>
        </p:spPr>
        <p:txBody>
          <a:bodyPr/>
          <a:lstStyle/>
          <a:p>
            <a:r>
              <a:rPr lang="en-US" dirty="0">
                <a:solidFill>
                  <a:srgbClr val="FF0000"/>
                </a:solidFill>
              </a:rPr>
              <a:t>Concept 28.6: Protists play key roles in ecological communities</a:t>
            </a:r>
          </a:p>
        </p:txBody>
      </p:sp>
      <p:sp>
        <p:nvSpPr>
          <p:cNvPr id="193538" name="Rectangle 3"/>
          <p:cNvSpPr>
            <a:spLocks noGrp="1" noChangeArrowheads="1"/>
          </p:cNvSpPr>
          <p:nvPr>
            <p:ph idx="1"/>
          </p:nvPr>
        </p:nvSpPr>
        <p:spPr/>
        <p:txBody>
          <a:bodyPr/>
          <a:lstStyle/>
          <a:p>
            <a:r>
              <a:rPr lang="en-US" dirty="0"/>
              <a:t>Protists are found in diverse</a:t>
            </a:r>
          </a:p>
          <a:p>
            <a:endParaRPr lang="en-US" dirty="0"/>
          </a:p>
          <a:p>
            <a:r>
              <a:rPr lang="en-US" dirty="0"/>
              <a:t>Protists play two key roles in their habitats</a:t>
            </a:r>
          </a:p>
          <a:p>
            <a:pPr marL="971550" lvl="1" indent="-514350">
              <a:buFont typeface="+mj-lt"/>
              <a:buAutoNum type="arabicPeriod"/>
            </a:pPr>
            <a:r>
              <a:rPr lang="en-US" dirty="0"/>
              <a:t> </a:t>
            </a:r>
          </a:p>
          <a:p>
            <a:pPr marL="971550" lvl="1" indent="-514350">
              <a:buFont typeface="+mj-lt"/>
              <a:buAutoNum type="arabicPeriod"/>
            </a:pPr>
            <a:r>
              <a:rPr lang="en-US" dirty="0"/>
              <a:t> </a:t>
            </a:r>
          </a:p>
        </p:txBody>
      </p:sp>
    </p:spTree>
    <p:extLst>
      <p:ext uri="{BB962C8B-B14F-4D97-AF65-F5344CB8AC3E}">
        <p14:creationId xmlns:p14="http://schemas.microsoft.com/office/powerpoint/2010/main" val="2550628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2"/>
          <p:cNvSpPr>
            <a:spLocks noGrp="1" noChangeArrowheads="1"/>
          </p:cNvSpPr>
          <p:nvPr>
            <p:ph type="title"/>
          </p:nvPr>
        </p:nvSpPr>
        <p:spPr/>
        <p:txBody>
          <a:bodyPr/>
          <a:lstStyle/>
          <a:p>
            <a:r>
              <a:rPr lang="en-US" dirty="0"/>
              <a:t>1. Symbiotic Protists</a:t>
            </a:r>
          </a:p>
        </p:txBody>
      </p:sp>
      <p:sp>
        <p:nvSpPr>
          <p:cNvPr id="195586" name="Rectangle 3"/>
          <p:cNvSpPr>
            <a:spLocks noGrp="1" noChangeArrowheads="1"/>
          </p:cNvSpPr>
          <p:nvPr>
            <p:ph idx="1"/>
          </p:nvPr>
        </p:nvSpPr>
        <p:spPr>
          <a:xfrm>
            <a:off x="120316" y="633664"/>
            <a:ext cx="8871284" cy="3938336"/>
          </a:xfrm>
        </p:spPr>
        <p:txBody>
          <a:bodyPr/>
          <a:lstStyle/>
          <a:p>
            <a:r>
              <a:rPr lang="en-US" dirty="0"/>
              <a:t>Some protist symbionts </a:t>
            </a:r>
            <a:r>
              <a:rPr lang="en-US" b="1" i="1" dirty="0">
                <a:solidFill>
                  <a:srgbClr val="00B050"/>
                </a:solidFill>
              </a:rPr>
              <a:t>benefit</a:t>
            </a:r>
            <a:r>
              <a:rPr lang="en-US" dirty="0"/>
              <a:t> their hosts</a:t>
            </a:r>
          </a:p>
          <a:p>
            <a:pPr lvl="1"/>
            <a:r>
              <a:rPr lang="en-US" dirty="0"/>
              <a:t>Dinoflagellates </a:t>
            </a:r>
          </a:p>
          <a:p>
            <a:pPr lvl="1"/>
            <a:r>
              <a:rPr lang="en-US" dirty="0"/>
              <a:t>Wood-digesting </a:t>
            </a:r>
            <a:r>
              <a:rPr lang="en-US" dirty="0" err="1"/>
              <a:t>protists</a:t>
            </a:r>
            <a:r>
              <a:rPr lang="en-US" dirty="0"/>
              <a:t> </a:t>
            </a:r>
          </a:p>
          <a:p>
            <a:r>
              <a:rPr lang="en-US" dirty="0"/>
              <a:t>Some </a:t>
            </a:r>
            <a:r>
              <a:rPr lang="en-US" dirty="0" err="1"/>
              <a:t>protists</a:t>
            </a:r>
            <a:r>
              <a:rPr lang="en-US" dirty="0"/>
              <a:t> are </a:t>
            </a:r>
            <a:r>
              <a:rPr lang="en-US" b="1" i="1" dirty="0">
                <a:solidFill>
                  <a:srgbClr val="FF0000"/>
                </a:solidFill>
              </a:rPr>
              <a:t>parasitic</a:t>
            </a:r>
          </a:p>
          <a:p>
            <a:pPr lvl="1"/>
            <a:r>
              <a:rPr lang="en-US" i="1" dirty="0"/>
              <a:t>Plasmodium</a:t>
            </a:r>
            <a:r>
              <a:rPr lang="en-US" dirty="0"/>
              <a:t> causes </a:t>
            </a:r>
            <a:endParaRPr lang="en-US" b="1" dirty="0"/>
          </a:p>
          <a:p>
            <a:pPr lvl="1"/>
            <a:r>
              <a:rPr lang="en-US" i="1" dirty="0" err="1"/>
              <a:t>Phytophthora</a:t>
            </a:r>
            <a:r>
              <a:rPr lang="en-US" i="1" dirty="0"/>
              <a:t> </a:t>
            </a:r>
            <a:r>
              <a:rPr lang="en-US" i="1" dirty="0" err="1"/>
              <a:t>ramorum</a:t>
            </a:r>
            <a:r>
              <a:rPr lang="en-US" dirty="0"/>
              <a:t> causes </a:t>
            </a:r>
            <a:endParaRPr lang="en-US" b="1" dirty="0"/>
          </a:p>
          <a:p>
            <a:pPr lvl="1"/>
            <a:r>
              <a:rPr lang="en-US" i="1" dirty="0"/>
              <a:t>P. </a:t>
            </a:r>
            <a:r>
              <a:rPr lang="en-US" i="1" dirty="0" err="1"/>
              <a:t>infestans</a:t>
            </a:r>
            <a:r>
              <a:rPr lang="en-US" dirty="0"/>
              <a:t> causes </a:t>
            </a:r>
          </a:p>
          <a:p>
            <a:pPr lvl="1"/>
            <a:endParaRPr lang="en-US" dirty="0"/>
          </a:p>
          <a:p>
            <a:pPr lvl="1"/>
            <a:endParaRPr lang="en-US" dirty="0"/>
          </a:p>
        </p:txBody>
      </p:sp>
      <p:pic>
        <p:nvPicPr>
          <p:cNvPr id="5" name="Picture 4" descr="Example of a plant with sudden oak death.">
            <a:extLst>
              <a:ext uri="{FF2B5EF4-FFF2-40B4-BE49-F238E27FC236}">
                <a16:creationId xmlns:a16="http://schemas.microsoft.com/office/drawing/2014/main" id="{E44D0D26-C881-4239-ADEE-7974071FA9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4547937"/>
            <a:ext cx="3353241" cy="2133600"/>
          </a:xfrm>
          <a:prstGeom prst="rect">
            <a:avLst/>
          </a:prstGeom>
        </p:spPr>
      </p:pic>
      <p:pic>
        <p:nvPicPr>
          <p:cNvPr id="3" name="Picture 2" descr="Potato plant infected with blight."/>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4572000"/>
            <a:ext cx="3599688" cy="2109537"/>
          </a:xfrm>
          <a:prstGeom prst="rect">
            <a:avLst/>
          </a:prstGeom>
        </p:spPr>
      </p:pic>
    </p:spTree>
    <p:extLst>
      <p:ext uri="{BB962C8B-B14F-4D97-AF65-F5344CB8AC3E}">
        <p14:creationId xmlns:p14="http://schemas.microsoft.com/office/powerpoint/2010/main" val="917409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p:cNvSpPr>
            <a:spLocks noGrp="1" noChangeArrowheads="1"/>
          </p:cNvSpPr>
          <p:nvPr>
            <p:ph type="title"/>
          </p:nvPr>
        </p:nvSpPr>
        <p:spPr/>
        <p:txBody>
          <a:bodyPr/>
          <a:lstStyle/>
          <a:p>
            <a:r>
              <a:rPr lang="en-US" dirty="0"/>
              <a:t>2. Photosynthetic Producer Protists</a:t>
            </a:r>
          </a:p>
        </p:txBody>
      </p:sp>
      <p:sp>
        <p:nvSpPr>
          <p:cNvPr id="203778" name="Rectangle 3"/>
          <p:cNvSpPr>
            <a:spLocks noGrp="1" noChangeArrowheads="1"/>
          </p:cNvSpPr>
          <p:nvPr>
            <p:ph idx="1"/>
          </p:nvPr>
        </p:nvSpPr>
        <p:spPr>
          <a:xfrm>
            <a:off x="76200" y="672704"/>
            <a:ext cx="8991600" cy="3899296"/>
          </a:xfrm>
        </p:spPr>
        <p:txBody>
          <a:bodyPr/>
          <a:lstStyle/>
          <a:p>
            <a:r>
              <a:rPr lang="en-US" dirty="0"/>
              <a:t>Many protists are important </a:t>
            </a:r>
            <a:r>
              <a:rPr lang="en-US" b="1" dirty="0"/>
              <a:t>producers </a:t>
            </a:r>
            <a:r>
              <a:rPr lang="en-US" dirty="0"/>
              <a:t>that obtain energy from the sun to </a:t>
            </a:r>
          </a:p>
          <a:p>
            <a:endParaRPr lang="en-US" dirty="0"/>
          </a:p>
          <a:p>
            <a:r>
              <a:rPr lang="en-US" dirty="0"/>
              <a:t>In aquatic communities, photosynthetic protists and prokaryotes are the </a:t>
            </a:r>
          </a:p>
          <a:p>
            <a:r>
              <a:rPr lang="en-US" dirty="0"/>
              <a:t>Photosynthetic protists are limited by nutrients; populations can </a:t>
            </a:r>
          </a:p>
        </p:txBody>
      </p:sp>
      <p:pic>
        <p:nvPicPr>
          <p:cNvPr id="2" name="Picture 1" descr="Food web relating photosynthetic producers and protists.">
            <a:extLst>
              <a:ext uri="{FF2B5EF4-FFF2-40B4-BE49-F238E27FC236}">
                <a16:creationId xmlns:a16="http://schemas.microsoft.com/office/drawing/2014/main" id="{40DF2BC4-57CA-4952-B6B5-AF76D1F57533}"/>
              </a:ext>
            </a:extLst>
          </p:cNvPr>
          <p:cNvPicPr>
            <a:picLocks noChangeAspect="1"/>
          </p:cNvPicPr>
          <p:nvPr/>
        </p:nvPicPr>
        <p:blipFill>
          <a:blip r:embed="rId3"/>
          <a:stretch>
            <a:fillRect/>
          </a:stretch>
        </p:blipFill>
        <p:spPr>
          <a:xfrm>
            <a:off x="2857500" y="4111170"/>
            <a:ext cx="3429000" cy="2704564"/>
          </a:xfrm>
          <a:prstGeom prst="rect">
            <a:avLst/>
          </a:prstGeom>
        </p:spPr>
      </p:pic>
    </p:spTree>
    <p:extLst>
      <p:ext uri="{BB962C8B-B14F-4D97-AF65-F5344CB8AC3E}">
        <p14:creationId xmlns:p14="http://schemas.microsoft.com/office/powerpoint/2010/main" val="4127356810"/>
      </p:ext>
    </p:extLst>
  </p:cSld>
  <p:clrMapOvr>
    <a:masterClrMapping/>
  </p:clrMapOvr>
</p:sld>
</file>

<file path=ppt/theme/theme1.xml><?xml version="1.0" encoding="utf-8"?>
<a:theme xmlns:a="http://schemas.openxmlformats.org/drawingml/2006/main" name="Campbell11e_LectureDesign">
  <a:themeElements>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fontScheme name="1_CC4eActiveLectureQuestions">
      <a:majorFont>
        <a:latin typeface="Times New Roman"/>
        <a:ea typeface="Arial"/>
        <a:cs typeface="Arial"/>
      </a:majorFont>
      <a:minorFont>
        <a:latin typeface="Tahoma"/>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lnDef>
  </a:objectDefaults>
  <a:extraClrSchemeLst>
    <a:extraClrScheme>
      <a:clrScheme name="1_CC4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C4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C4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C4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C4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C4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C4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C4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C4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C4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C4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CC4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ampbell11e_LectureDesign" id="{1E29558D-F693-462F-BFE8-09589E69881C}" vid="{70B05F25-2FB3-4FD4-980B-A633ABC17E0B}"/>
    </a:ext>
  </a:ext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rtlCol="0" anchor="ctr"/>
      <a:lstStyle>
        <a:defPPr algn="ctr">
          <a:defRPr/>
        </a:defPPr>
      </a:lstStyle>
    </a:spDef>
    <a:lnDef>
      <a:spPr bwMode="auto">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Campbell11e_LectureDesign</Template>
  <TotalTime>9214</TotalTime>
  <Words>1487</Words>
  <Application>Microsoft Office PowerPoint</Application>
  <PresentationFormat>On-screen Show (4:3)</PresentationFormat>
  <Paragraphs>298</Paragraphs>
  <Slides>38</Slides>
  <Notes>36</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38</vt:i4>
      </vt:variant>
    </vt:vector>
  </HeadingPairs>
  <TitlesOfParts>
    <vt:vector size="48" baseType="lpstr">
      <vt:lpstr>ＭＳ Ｐゴシック</vt:lpstr>
      <vt:lpstr>Arial</vt:lpstr>
      <vt:lpstr>Geneva</vt:lpstr>
      <vt:lpstr>Times</vt:lpstr>
      <vt:lpstr>Times New Roman</vt:lpstr>
      <vt:lpstr>Wingdings</vt:lpstr>
      <vt:lpstr>ヒラギノ角ゴ Pro W3</vt:lpstr>
      <vt:lpstr>Campbell11e_LectureDesign</vt:lpstr>
      <vt:lpstr>Blank</vt:lpstr>
      <vt:lpstr>1_Blank</vt:lpstr>
      <vt:lpstr>CH 28</vt:lpstr>
      <vt:lpstr>CH 28 Learning Objectives</vt:lpstr>
      <vt:lpstr>Concept 28.1: Most eukaryotes are single-celled organisms</vt:lpstr>
      <vt:lpstr>Structural and Functional Diversity in Protists</vt:lpstr>
      <vt:lpstr>Four Supergroups of Eukaryotes</vt:lpstr>
      <vt:lpstr>Endosymbiosis in Eukaryotic Evolution</vt:lpstr>
      <vt:lpstr>Concept 28.2: Excavates include protists with modified mitochondria and protists with unique flagella</vt:lpstr>
      <vt:lpstr>EXCAVATA: Diplomonads and Parabasalids</vt:lpstr>
      <vt:lpstr>9</vt:lpstr>
      <vt:lpstr>EXCAVATA: Euglenozoans</vt:lpstr>
      <vt:lpstr>Kinetoplastids</vt:lpstr>
      <vt:lpstr>Figure 28.7</vt:lpstr>
      <vt:lpstr>Euglenids</vt:lpstr>
      <vt:lpstr>Concept 28.3: SAR is a highly diverse group of protists defined by DNA similarities</vt:lpstr>
      <vt:lpstr>Stramenopiles</vt:lpstr>
      <vt:lpstr>Stramenopiles: Diatoms</vt:lpstr>
      <vt:lpstr>17</vt:lpstr>
      <vt:lpstr>Stramenopiles: Brown Algae</vt:lpstr>
      <vt:lpstr>Figure 28.12</vt:lpstr>
      <vt:lpstr>Alveolates</vt:lpstr>
      <vt:lpstr>Alveolates: Dinoflagellates</vt:lpstr>
      <vt:lpstr>Alveolates: Apicomplexans</vt:lpstr>
      <vt:lpstr>PowerPoint Presentation</vt:lpstr>
      <vt:lpstr>Alveolates: Ciliates</vt:lpstr>
      <vt:lpstr>Rhizarians</vt:lpstr>
      <vt:lpstr>Rhizarians: Radiolarians</vt:lpstr>
      <vt:lpstr>Rhizarians: Foraminiferans (or Forams)</vt:lpstr>
      <vt:lpstr>Concept 28.4: Red algae and green algae are the closest relatives of plants</vt:lpstr>
      <vt:lpstr>Red Algae</vt:lpstr>
      <vt:lpstr>Green Algae</vt:lpstr>
      <vt:lpstr>31</vt:lpstr>
      <vt:lpstr>Concept 28.5: Unikonts include protists that are closely related to fungi and animals</vt:lpstr>
      <vt:lpstr>Amoebozoans</vt:lpstr>
      <vt:lpstr>Amoebozoans: Slime Molds</vt:lpstr>
      <vt:lpstr>Amoebozoans: Tubulinids</vt:lpstr>
      <vt:lpstr>Concept 28.6: Protists play key roles in ecological communities</vt:lpstr>
      <vt:lpstr>1. Symbiotic Protists</vt:lpstr>
      <vt:lpstr>2. Photosynthetic Producer Protists</vt:lpstr>
    </vt:vector>
  </TitlesOfParts>
  <Company>Jerome 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Adam W. Hrincevich</dc:creator>
  <cp:lastModifiedBy>Adam Hrincevich</cp:lastModifiedBy>
  <cp:revision>697</cp:revision>
  <dcterms:created xsi:type="dcterms:W3CDTF">2010-08-06T18:35:02Z</dcterms:created>
  <dcterms:modified xsi:type="dcterms:W3CDTF">2026-09-27T23:40:58Z</dcterms:modified>
</cp:coreProperties>
</file>