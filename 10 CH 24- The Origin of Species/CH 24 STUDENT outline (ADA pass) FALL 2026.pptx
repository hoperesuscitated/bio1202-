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00" r:id="rId1"/>
    <p:sldMasterId id="2147483905" r:id="rId2"/>
    <p:sldMasterId id="2147483936" r:id="rId3"/>
    <p:sldMasterId id="2147483962" r:id="rId4"/>
    <p:sldMasterId id="2147483972" r:id="rId5"/>
    <p:sldMasterId id="2147483998" r:id="rId6"/>
    <p:sldMasterId id="2147484018" r:id="rId7"/>
    <p:sldMasterId id="2147484044" r:id="rId8"/>
  </p:sldMasterIdLst>
  <p:notesMasterIdLst>
    <p:notesMasterId r:id="rId48"/>
  </p:notesMasterIdLst>
  <p:handoutMasterIdLst>
    <p:handoutMasterId r:id="rId49"/>
  </p:handoutMasterIdLst>
  <p:sldIdLst>
    <p:sldId id="702" r:id="rId9"/>
    <p:sldId id="703" r:id="rId10"/>
    <p:sldId id="510" r:id="rId11"/>
    <p:sldId id="514" r:id="rId12"/>
    <p:sldId id="615" r:id="rId13"/>
    <p:sldId id="517" r:id="rId14"/>
    <p:sldId id="519" r:id="rId15"/>
    <p:sldId id="529" r:id="rId16"/>
    <p:sldId id="533" r:id="rId17"/>
    <p:sldId id="537" r:id="rId18"/>
    <p:sldId id="535" r:id="rId19"/>
    <p:sldId id="541" r:id="rId20"/>
    <p:sldId id="628" r:id="rId21"/>
    <p:sldId id="543" r:id="rId22"/>
    <p:sldId id="545" r:id="rId23"/>
    <p:sldId id="547" r:id="rId24"/>
    <p:sldId id="548" r:id="rId25"/>
    <p:sldId id="633" r:id="rId26"/>
    <p:sldId id="557" r:id="rId27"/>
    <p:sldId id="558" r:id="rId28"/>
    <p:sldId id="646" r:id="rId29"/>
    <p:sldId id="561" r:id="rId30"/>
    <p:sldId id="563" r:id="rId31"/>
    <p:sldId id="566" r:id="rId32"/>
    <p:sldId id="568" r:id="rId33"/>
    <p:sldId id="569" r:id="rId34"/>
    <p:sldId id="705" r:id="rId35"/>
    <p:sldId id="571" r:id="rId36"/>
    <p:sldId id="656" r:id="rId37"/>
    <p:sldId id="575" r:id="rId38"/>
    <p:sldId id="577" r:id="rId39"/>
    <p:sldId id="579" r:id="rId40"/>
    <p:sldId id="581" r:id="rId41"/>
    <p:sldId id="583" r:id="rId42"/>
    <p:sldId id="584" r:id="rId43"/>
    <p:sldId id="669" r:id="rId44"/>
    <p:sldId id="588" r:id="rId45"/>
    <p:sldId id="592" r:id="rId46"/>
    <p:sldId id="595" r:id="rId47"/>
  </p:sldIdLst>
  <p:sldSz cx="9144000" cy="6858000" type="screen4x3"/>
  <p:notesSz cx="702310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932">
          <p15:clr>
            <a:srgbClr val="A4A3A4"/>
          </p15:clr>
        </p15:guide>
        <p15:guide id="4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hleen Fitzpatrick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87E"/>
    <a:srgbClr val="D1300D"/>
    <a:srgbClr val="B9B9B9"/>
    <a:srgbClr val="AA2B15"/>
    <a:srgbClr val="AEB9B1"/>
    <a:srgbClr val="4F6F92"/>
    <a:srgbClr val="F7F7F7"/>
    <a:srgbClr val="004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0747" autoAdjust="0"/>
  </p:normalViewPr>
  <p:slideViewPr>
    <p:cSldViewPr>
      <p:cViewPr varScale="1">
        <p:scale>
          <a:sx n="79" d="100"/>
          <a:sy n="79" d="100"/>
        </p:scale>
        <p:origin x="16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4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3276" y="-96"/>
      </p:cViewPr>
      <p:guideLst>
        <p:guide orient="horz" pos="2880"/>
        <p:guide pos="2160"/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FDBCFE6-7A80-4E41-8712-1C12F7B6050B}" type="datetimeFigureOut">
              <a:rPr lang="en-US" altLang="en-US"/>
              <a:pPr>
                <a:defRPr/>
              </a:pPr>
              <a:t>9/2/2026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1A23EEE-2F46-4732-8626-99218F3EFA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027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9757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414" y="4421823"/>
            <a:ext cx="5150273" cy="4189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3645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9757" y="8843645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957CC8-6916-4659-8D61-C81A523E19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750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24.1 How did this flightless bird come to live on the isolated Galápagos Islands?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957CC8-6916-4659-8D61-C81A523E194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1004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4655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9083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Figure 24.3 Exploring reproductive barriers</a:t>
            </a:r>
          </a:p>
          <a:p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6613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33237" eaLnBrk="1" hangingPunct="1">
              <a:defRPr/>
            </a:pPr>
            <a:r>
              <a:rPr lang="en-US" dirty="0">
                <a:latin typeface="Arial"/>
              </a:rPr>
              <a:t>Figure 24.3a Exploring reproductive barriers (part 1: prezygotic barriers)</a:t>
            </a:r>
          </a:p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8196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latin typeface="Arial"/>
              </a:rPr>
              <a:t>Figure 24.3aa Exploring reproductive barriers (part 1a: habitat isolation, hawthorns and apples)</a:t>
            </a:r>
          </a:p>
          <a:p>
            <a:pPr defTabSz="933237">
              <a:defRPr/>
            </a:pPr>
            <a:r>
              <a:rPr lang="en-US" dirty="0">
                <a:latin typeface="Arial"/>
              </a:rPr>
              <a:t>Figure 24.3ab Exploring reproductive barriers (part 1b: habitat isolation, blueberries)</a:t>
            </a:r>
          </a:p>
        </p:txBody>
      </p:sp>
    </p:spTree>
    <p:extLst>
      <p:ext uri="{BB962C8B-B14F-4D97-AF65-F5344CB8AC3E}">
        <p14:creationId xmlns:p14="http://schemas.microsoft.com/office/powerpoint/2010/main" val="619887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33237" eaLnBrk="1" hangingPunct="1">
              <a:defRPr/>
            </a:pPr>
            <a:r>
              <a:rPr lang="en-US" dirty="0">
                <a:latin typeface="Arial"/>
              </a:rPr>
              <a:t>Figure 24.3ba Exploring reproductive barriers (part 2a: mechanical isolation)</a:t>
            </a:r>
          </a:p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402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33237" eaLnBrk="1" hangingPunct="1">
              <a:defRPr/>
            </a:pPr>
            <a:r>
              <a:rPr lang="en-US" dirty="0">
                <a:latin typeface="Arial"/>
              </a:rPr>
              <a:t>Figure 24.3c Exploring reproductive barriers (part 3: postzygotic barriers)</a:t>
            </a:r>
          </a:p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2682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dirty="0">
                <a:latin typeface="Arial"/>
              </a:rPr>
              <a:t>Figure 24.3cb Exploring reproductive barriers (part 3b: reduced hybrid fertility, donkey)</a:t>
            </a:r>
          </a:p>
          <a:p>
            <a:pPr defTabSz="933237">
              <a:defRPr/>
            </a:pPr>
            <a:r>
              <a:rPr lang="en-US" dirty="0">
                <a:latin typeface="Arial"/>
              </a:rPr>
              <a:t>Figure 24.3cc Exploring reproductive barriers (part 3c: reduced hybrid fertility, horse)</a:t>
            </a:r>
          </a:p>
          <a:p>
            <a:pPr defTabSz="933237">
              <a:defRPr/>
            </a:pPr>
            <a:r>
              <a:rPr lang="en-US" dirty="0">
                <a:latin typeface="Arial"/>
              </a:rPr>
              <a:t>Figure 24.3cd Exploring reproductive barriers (part 3d: reduced hybrid fertility, mule)</a:t>
            </a:r>
          </a:p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3443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33237" eaLnBrk="1" hangingPunct="1">
              <a:defRPr/>
            </a:pPr>
            <a:r>
              <a:rPr lang="en-US" dirty="0">
                <a:latin typeface="Arial"/>
              </a:rPr>
              <a:t>Figure 24.3ca Exploring reproductive barriers (part 3a: reduced hybrid viability)</a:t>
            </a:r>
          </a:p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0976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7588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24.4 Hybridization between two species of bears in the genus </a:t>
            </a:r>
            <a:r>
              <a:rPr lang="en-US" i="1" dirty="0" err="1">
                <a:latin typeface="Arial"/>
              </a:rPr>
              <a:t>Ursus</a:t>
            </a:r>
            <a:endParaRPr lang="en-US" i="1" dirty="0">
              <a:latin typeface="Arial"/>
            </a:endParaRP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7472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1827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33237" eaLnBrk="1" hangingPunct="1">
              <a:defRPr/>
            </a:pPr>
            <a:r>
              <a:rPr lang="en-US" dirty="0">
                <a:latin typeface="Arial"/>
              </a:rPr>
              <a:t>Figure 24.5 The geography of speciation</a:t>
            </a:r>
          </a:p>
        </p:txBody>
      </p:sp>
    </p:spTree>
    <p:extLst>
      <p:ext uri="{BB962C8B-B14F-4D97-AF65-F5344CB8AC3E}">
        <p14:creationId xmlns:p14="http://schemas.microsoft.com/office/powerpoint/2010/main" val="2423187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24.1 How did this flightless bird come to live on the isolated Galápagos Islands?</a:t>
            </a:r>
          </a:p>
        </p:txBody>
      </p:sp>
    </p:spTree>
    <p:extLst>
      <p:ext uri="{BB962C8B-B14F-4D97-AF65-F5344CB8AC3E}">
        <p14:creationId xmlns:p14="http://schemas.microsoft.com/office/powerpoint/2010/main" val="1911310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2541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24.6 Evolution in mosquitofish populations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11040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2334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7220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24.9 Sympatric speciation by </a:t>
            </a:r>
            <a:r>
              <a:rPr lang="en-US" dirty="0" err="1">
                <a:latin typeface="Arial"/>
              </a:rPr>
              <a:t>autopolyploidy</a:t>
            </a:r>
            <a:endParaRPr lang="en-US" dirty="0">
              <a:latin typeface="Arial"/>
            </a:endParaRP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374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33237" eaLnBrk="1" hangingPunct="1">
              <a:defRPr/>
            </a:pPr>
            <a:r>
              <a:rPr lang="en-US" dirty="0">
                <a:latin typeface="Arial"/>
              </a:rPr>
              <a:t>Figure 24.10_3 One mechanism for allopolyploid speciation in plants (step 3)</a:t>
            </a:r>
          </a:p>
        </p:txBody>
      </p:sp>
    </p:spTree>
    <p:extLst>
      <p:ext uri="{BB962C8B-B14F-4D97-AF65-F5344CB8AC3E}">
        <p14:creationId xmlns:p14="http://schemas.microsoft.com/office/powerpoint/2010/main" val="32968673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33237" eaLnBrk="1" hangingPunct="1">
              <a:defRPr/>
            </a:pPr>
            <a:r>
              <a:rPr lang="en-US" dirty="0">
                <a:latin typeface="Arial"/>
              </a:rPr>
              <a:t>Figure 24.11 Allopolyploid speciation in </a:t>
            </a:r>
            <a:r>
              <a:rPr lang="en-US" i="1" dirty="0" err="1">
                <a:latin typeface="Arial"/>
              </a:rPr>
              <a:t>Tragopogon</a:t>
            </a:r>
            <a:endParaRPr lang="en-US" i="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12190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01855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76429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12653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957CC8-6916-4659-8D61-C81A523E1943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4613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79377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24.13 A narrow hybrid zone for </a:t>
            </a:r>
            <a:r>
              <a:rPr lang="en-US" i="1" dirty="0" err="1">
                <a:latin typeface="Arial"/>
              </a:rPr>
              <a:t>Bombina</a:t>
            </a:r>
            <a:r>
              <a:rPr lang="en-US" dirty="0">
                <a:latin typeface="Arial"/>
              </a:rPr>
              <a:t> toads in Europe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53772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98632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33237" eaLnBrk="1" hangingPunct="1">
              <a:defRPr/>
            </a:pPr>
            <a:r>
              <a:rPr lang="en-US" dirty="0">
                <a:latin typeface="Arial"/>
              </a:rPr>
              <a:t>Figure 24.14_4 Formation of a hybrid zone and possible outcomes for hybrids over time (step 4)</a:t>
            </a:r>
          </a:p>
        </p:txBody>
      </p:sp>
    </p:spTree>
    <p:extLst>
      <p:ext uri="{BB962C8B-B14F-4D97-AF65-F5344CB8AC3E}">
        <p14:creationId xmlns:p14="http://schemas.microsoft.com/office/powerpoint/2010/main" val="11098632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13674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49900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79703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80674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24.16 Two models for the tempo of speciation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79171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933237" eaLnBrk="1" hangingPunct="1">
              <a:defRPr/>
            </a:pPr>
            <a:r>
              <a:rPr lang="en-US" dirty="0">
                <a:latin typeface="Arial"/>
              </a:rPr>
              <a:t>Figure 24.17 A hybrid sunflower species and its dry sand dune habitat</a:t>
            </a:r>
          </a:p>
        </p:txBody>
      </p:sp>
    </p:spTree>
    <p:extLst>
      <p:ext uri="{BB962C8B-B14F-4D97-AF65-F5344CB8AC3E}">
        <p14:creationId xmlns:p14="http://schemas.microsoft.com/office/powerpoint/2010/main" val="24136715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63991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>
              <a:ea typeface="ヒラギノ角ゴ Pro W3" pitchFamily="12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1721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F2B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1" t="-1" b="-1"/>
          <a:stretch/>
        </p:blipFill>
        <p:spPr>
          <a:xfrm>
            <a:off x="152400" y="152400"/>
            <a:ext cx="4495800" cy="6356360"/>
          </a:xfrm>
          <a:prstGeom prst="rect">
            <a:avLst/>
          </a:prstGeom>
        </p:spPr>
      </p:pic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0" y="649009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876800" y="152400"/>
            <a:ext cx="4114800" cy="57912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DF4A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24</a:t>
            </a:r>
            <a:r>
              <a:rPr lang="en-US" sz="3200" b="1" dirty="0">
                <a:solidFill>
                  <a:srgbClr val="DF4A20"/>
                </a:solidFill>
              </a:rPr>
              <a:t/>
            </a:r>
            <a:br>
              <a:rPr lang="en-US" sz="3200" b="1" dirty="0">
                <a:solidFill>
                  <a:srgbClr val="DF4A20"/>
                </a:solidFill>
              </a:rPr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4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ヒラギノ角ゴ Pro W3" charset="-128"/>
                <a:cs typeface="+mn-cs"/>
              </a:rPr>
              <a:t>The Origin of Species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828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and 2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0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839199" cy="4737496"/>
          </a:xfrm>
        </p:spPr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32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10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73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341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264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733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657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0342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4021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1537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387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72910"/>
            <a:ext cx="8839199" cy="521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13716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82880" tIns="91440" rIns="228600" bIns="9144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21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8" r:id="rId3"/>
    <p:sldLayoutId id="2147483907" r:id="rId4"/>
    <p:sldLayoutId id="2147483903" r:id="rId5"/>
    <p:sldLayoutId id="2147483904" r:id="rId6"/>
    <p:sldLayoutId id="2147483909" r:id="rId7"/>
  </p:sldLayoutIdLst>
  <p:hf sldNum="0" hdr="0" ftr="0" dt="0"/>
  <p:txStyles>
    <p:titleStyle>
      <a:lvl1pPr marL="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/>
          <a:ea typeface="Arial" panose="020B0604020202020204" pitchFamily="34" charset="0"/>
          <a:cs typeface="Arial"/>
        </a:defRPr>
      </a:lvl1pPr>
      <a:lvl2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2pPr>
      <a:lvl3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3pPr>
      <a:lvl4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4pPr>
      <a:lvl5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5pPr>
      <a:lvl6pPr marL="9080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6pPr>
      <a:lvl7pPr marL="13652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7pPr>
      <a:lvl8pPr marL="18224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8pPr>
      <a:lvl9pPr marL="22796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9pPr>
    </p:titleStyle>
    <p:bodyStyle>
      <a:lvl1pPr marL="347472" indent="-347472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800">
          <a:solidFill>
            <a:schemeClr val="tx1"/>
          </a:solidFill>
          <a:latin typeface="Arial" charset="0"/>
          <a:ea typeface="Arial" panose="020B0604020202020204" pitchFamily="34" charset="0"/>
          <a:cs typeface="+mn-cs"/>
        </a:defRPr>
      </a:lvl1pPr>
      <a:lvl2pPr marL="740664" indent="-283464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6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4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5pPr>
      <a:lvl6pPr marL="33162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37734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42306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46878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© 2014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3037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899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275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51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784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3629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133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file:///D:\Manjubharkavi\Production\October\17-Oct\Campbell%2011E%20Ch%2024%20LE\JPEG%20FILES\Unlabeled\24_03_ReproBarriers-U.jp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file:///D:\Manjubharkavi\Production\October\17-Oct\Campbell%2011E%20Ch%2024%20LE\JPEG%20FILES\Unlabeled\24_03aeReproBarriers-U.jpg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file:///D:\Manjubharkavi\Production\October\17-Oct\Campbell%2011E%20Ch%2024%20LE\JPEG%20FILES\Unlabeled\24_06_MosquitofishEvo-U.jpg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file:///D:\Manjubharkavi\Production\October\17-Oct\Campbell%2011E%20Ch%2024%20LE\JPEG%20FILES\Unlabeled\24_09AllopolyploidSpecia-U.jpg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file:///D:\Manjubharkavi\Production\October\17-Oct\Campbell%2011E%20Ch%2024%20LE\JPEG%20FILES\Unlabeled\24_03abReproBarriers-U.jpg" TargetMode="External"/><Relationship Id="rId5" Type="http://schemas.openxmlformats.org/officeDocument/2006/relationships/image" Target="../media/image26.jpeg"/><Relationship Id="rId4" Type="http://schemas.openxmlformats.org/officeDocument/2006/relationships/image" Target="file:///D:\Manjubharkavi\Production\October\17-Oct\Campbell%2011E%20Ch%2024%20LE\JPEG%20FILES\Unlabeled\24_03aaReproBarriers-U.jpg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Relationship Id="rId4" Type="http://schemas.openxmlformats.org/officeDocument/2006/relationships/image" Target="file:///D:\Manjubharkavi\Production\October\17-Oct\Campbell%2011E%20Ch%2024%20LE\JPEG%20FILES\Unlabeled\24_16SpeciationTempo-U.jpg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" y="3048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 24 lecture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51D56-4B25-42E5-96E6-1EA8A658E9D5}"/>
              </a:ext>
            </a:extLst>
          </p:cNvPr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cs typeface="Arial" panose="020B0604020202020204" pitchFamily="34" charset="0"/>
              </a:rPr>
              <a:t>LSU BIOL 1202</a:t>
            </a:r>
          </a:p>
          <a:p>
            <a:pPr algn="ctr"/>
            <a:r>
              <a:rPr lang="en-US" sz="3600" b="1">
                <a:cs typeface="Arial" panose="020B0604020202020204" pitchFamily="34" charset="0"/>
              </a:rPr>
              <a:t>General </a:t>
            </a:r>
            <a:r>
              <a:rPr lang="en-US" sz="3600" b="1" smtClean="0">
                <a:cs typeface="Arial" panose="020B0604020202020204" pitchFamily="34" charset="0"/>
              </a:rPr>
              <a:t>Biology </a:t>
            </a:r>
            <a:r>
              <a:rPr lang="en-US" sz="3600" b="1" dirty="0">
                <a:cs typeface="Arial" panose="020B0604020202020204" pitchFamily="34" charset="0"/>
              </a:rPr>
              <a:t>II Lecture</a:t>
            </a: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r>
              <a:rPr lang="en-US" sz="3000" b="1" dirty="0">
                <a:cs typeface="Arial" panose="020B0604020202020204" pitchFamily="34" charset="0"/>
              </a:rPr>
              <a:t>CHAPTER 24</a:t>
            </a:r>
          </a:p>
          <a:p>
            <a:pPr algn="ctr"/>
            <a:r>
              <a:rPr lang="en-US" sz="3000" b="1" i="1" dirty="0">
                <a:cs typeface="Arial" panose="020B0604020202020204" pitchFamily="34" charset="0"/>
              </a:rPr>
              <a:t>The Origin of Species</a:t>
            </a:r>
          </a:p>
          <a:p>
            <a:pPr algn="ctr"/>
            <a:r>
              <a:rPr lang="en-US" sz="3000" b="1" dirty="0">
                <a:cs typeface="Arial" panose="020B0604020202020204" pitchFamily="34" charset="0"/>
              </a:rPr>
              <a:t>Dr. Adam Hrincevich</a:t>
            </a:r>
          </a:p>
        </p:txBody>
      </p:sp>
      <p:pic>
        <p:nvPicPr>
          <p:cNvPr id="5" name="Picture 4" descr="Figure 24.1 How did this flightless bird come to live on the isolated Galápagos Islands?">
            <a:extLst>
              <a:ext uri="{FF2B5EF4-FFF2-40B4-BE49-F238E27FC236}">
                <a16:creationId xmlns:a16="http://schemas.microsoft.com/office/drawing/2014/main" id="{A959304A-152C-4B68-8788-C37385B17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296" y="1447800"/>
            <a:ext cx="5769407" cy="334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92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F93F-1521-445C-8CC2-2099C8AD6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75" y="0"/>
            <a:ext cx="9144000" cy="800219"/>
          </a:xfrm>
        </p:spPr>
        <p:txBody>
          <a:bodyPr/>
          <a:lstStyle/>
          <a:p>
            <a:pPr algn="ctr"/>
            <a:r>
              <a:rPr lang="en-US" sz="4000" dirty="0"/>
              <a:t>CH 24 Learning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60591-B5D1-410A-8B8C-92FD2A2A31B5}"/>
              </a:ext>
            </a:extLst>
          </p:cNvPr>
          <p:cNvSpPr txBox="1"/>
          <p:nvPr/>
        </p:nvSpPr>
        <p:spPr>
          <a:xfrm>
            <a:off x="9041" y="733246"/>
            <a:ext cx="91401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Define the biological species concept, and identify reproductive barriers that could isolate a species' gene pool from that of other species.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Compare and contrast allopatric speciation and sympatric speciation.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Explain what a hybrid zone is, and identify possible outcomes for a hybrid zone over time.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Give examples that show how speciation can occur rapidly or slowly, and can result from changes in few or many genes.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/>
              <a:t>I would suggest completing the crossword puzzle to help you understand the terminology and correlate how the terms relate to topics covered in this chapter.</a:t>
            </a:r>
          </a:p>
        </p:txBody>
      </p:sp>
    </p:spTree>
    <p:extLst>
      <p:ext uri="{BB962C8B-B14F-4D97-AF65-F5344CB8AC3E}">
        <p14:creationId xmlns:p14="http://schemas.microsoft.com/office/powerpoint/2010/main" val="4090100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24.1: The biological species concept emphasizes reproductive isolation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839200" cy="5750004"/>
          </a:xfrm>
        </p:spPr>
        <p:txBody>
          <a:bodyPr/>
          <a:lstStyle/>
          <a:p>
            <a:r>
              <a:rPr lang="en-US" altLang="en-US" i="1" dirty="0"/>
              <a:t>Species</a:t>
            </a:r>
            <a:r>
              <a:rPr lang="en-US" altLang="en-US" dirty="0"/>
              <a:t> is a Latin word meaning </a:t>
            </a:r>
          </a:p>
          <a:p>
            <a:endParaRPr lang="en-US" altLang="ja-JP" dirty="0"/>
          </a:p>
          <a:p>
            <a:r>
              <a:rPr lang="en-US" altLang="en-US" dirty="0"/>
              <a:t>Biologists compare morphology, physiology, biochemistry, and </a:t>
            </a:r>
          </a:p>
          <a:p>
            <a:endParaRPr lang="en-US" altLang="en-US" dirty="0"/>
          </a:p>
          <a:p>
            <a:r>
              <a:rPr lang="en-US" altLang="en-US" dirty="0"/>
              <a:t>The </a:t>
            </a:r>
            <a:r>
              <a:rPr lang="en-US" altLang="en-US" b="1" dirty="0"/>
              <a:t>biological species concept </a:t>
            </a:r>
            <a:r>
              <a:rPr lang="en-US" altLang="en-US" dirty="0"/>
              <a:t>states that a </a:t>
            </a:r>
            <a:r>
              <a:rPr lang="en-US" altLang="en-US" b="1" dirty="0"/>
              <a:t>species </a:t>
            </a:r>
            <a:r>
              <a:rPr lang="en-US" altLang="en-US" dirty="0"/>
              <a:t>is a group of populations whose members have the potential to interbreed in nature and produce viable, fertile offspring; they do not </a:t>
            </a:r>
          </a:p>
          <a:p>
            <a:endParaRPr lang="en-US" altLang="en-US" dirty="0"/>
          </a:p>
          <a:p>
            <a:r>
              <a:rPr lang="en-US" altLang="en-US" dirty="0"/>
              <a:t>Gene flow between populations holds </a:t>
            </a:r>
          </a:p>
        </p:txBody>
      </p:sp>
    </p:spTree>
    <p:extLst>
      <p:ext uri="{BB962C8B-B14F-4D97-AF65-F5344CB8AC3E}">
        <p14:creationId xmlns:p14="http://schemas.microsoft.com/office/powerpoint/2010/main" val="264828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Reproductive Isolation</a:t>
            </a:r>
            <a:endParaRPr lang="en-US" altLang="en-US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Reproductive isolation </a:t>
            </a:r>
            <a:r>
              <a:rPr lang="en-US" altLang="en-US" dirty="0"/>
              <a:t>is the existence of biological factors (barriers) that impede two species from </a:t>
            </a:r>
          </a:p>
          <a:p>
            <a:r>
              <a:rPr lang="en-US" altLang="en-US" b="1" dirty="0"/>
              <a:t>Hybrids </a:t>
            </a:r>
            <a:r>
              <a:rPr lang="en-US" altLang="en-US" dirty="0"/>
              <a:t>are the offspring that result from mating between </a:t>
            </a:r>
          </a:p>
          <a:p>
            <a:r>
              <a:rPr lang="en-US" altLang="en-US" dirty="0"/>
              <a:t>Reproductive isolation can be classified by whether factors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 err="1">
                <a:solidFill>
                  <a:srgbClr val="FF0000"/>
                </a:solidFill>
              </a:rPr>
              <a:t>Prezygotic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endParaRPr lang="en-US" alt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 err="1">
                <a:solidFill>
                  <a:srgbClr val="FF0000"/>
                </a:solidFill>
              </a:rPr>
              <a:t>Postzygotic</a:t>
            </a: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696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4.3 Exploring reproductive barriers&#10;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9"/>
          <a:stretch>
            <a:fillRect/>
          </a:stretch>
        </p:blipFill>
        <p:spPr>
          <a:xfrm>
            <a:off x="298704" y="1054608"/>
            <a:ext cx="8546592" cy="474878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24.3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002633" y="1101728"/>
            <a:ext cx="18594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err="1">
                <a:solidFill>
                  <a:srgbClr val="FFFFFF"/>
                </a:solidFill>
                <a:latin typeface="Arial"/>
                <a:ea typeface="ＭＳ Ｐゴシック" charset="0"/>
              </a:rPr>
              <a:t>Prezygotic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ＭＳ Ｐゴシック" charset="0"/>
              </a:rPr>
              <a:t> barriers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654851" y="1426373"/>
            <a:ext cx="689291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Habitat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isolation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1557339" y="1428754"/>
            <a:ext cx="739433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Temporal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isolation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2466977" y="1428754"/>
            <a:ext cx="854401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Behavioral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isolation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473463" y="1428752"/>
            <a:ext cx="902491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Mechanical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isolation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613278" y="1428754"/>
            <a:ext cx="689291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sz="13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Gametic</a:t>
            </a:r>
            <a:endParaRPr lang="en-US" sz="13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isolation</a:t>
            </a:r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6217446" y="1101728"/>
            <a:ext cx="197329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 err="1">
                <a:solidFill>
                  <a:srgbClr val="FFFFFF"/>
                </a:solidFill>
                <a:latin typeface="Arial"/>
                <a:ea typeface="ＭＳ Ｐゴシック" charset="0"/>
              </a:rPr>
              <a:t>Postzygotic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ＭＳ Ｐゴシック" charset="0"/>
              </a:rPr>
              <a:t> barriers</a:t>
            </a:r>
          </a:p>
        </p:txBody>
      </p:sp>
      <p:sp>
        <p:nvSpPr>
          <p:cNvPr id="13" name="TextBox 13"/>
          <p:cNvSpPr txBox="1">
            <a:spLocks noChangeArrowheads="1"/>
          </p:cNvSpPr>
          <p:nvPr/>
        </p:nvSpPr>
        <p:spPr bwMode="auto">
          <a:xfrm>
            <a:off x="5640389" y="1428754"/>
            <a:ext cx="706925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Reduced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hybrid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viability</a:t>
            </a:r>
          </a:p>
        </p:txBody>
      </p:sp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6604795" y="1426373"/>
            <a:ext cx="706925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Reduced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hybrid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fertility</a:t>
            </a:r>
          </a:p>
        </p:txBody>
      </p:sp>
      <p:sp>
        <p:nvSpPr>
          <p:cNvPr id="15" name="TextBox 19"/>
          <p:cNvSpPr txBox="1">
            <a:spLocks noChangeArrowheads="1"/>
          </p:cNvSpPr>
          <p:nvPr/>
        </p:nvSpPr>
        <p:spPr bwMode="auto">
          <a:xfrm>
            <a:off x="7502545" y="1426373"/>
            <a:ext cx="883255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sz="1300" b="1">
                <a:solidFill>
                  <a:srgbClr val="000000"/>
                </a:solidFill>
                <a:latin typeface="Arial"/>
                <a:ea typeface="ＭＳ Ｐゴシック" charset="0"/>
              </a:rPr>
              <a:t>Hybrid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breakdown</a:t>
            </a:r>
          </a:p>
        </p:txBody>
      </p:sp>
      <p:sp>
        <p:nvSpPr>
          <p:cNvPr id="16" name="TextBox 21"/>
          <p:cNvSpPr txBox="1">
            <a:spLocks noChangeArrowheads="1"/>
          </p:cNvSpPr>
          <p:nvPr/>
        </p:nvSpPr>
        <p:spPr bwMode="auto">
          <a:xfrm>
            <a:off x="334971" y="2355060"/>
            <a:ext cx="512961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100"/>
              </a:lnSpc>
            </a:pPr>
            <a:r>
              <a:rPr lang="en-US" sz="10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Indivi</a:t>
            </a: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-</a:t>
            </a:r>
          </a:p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duals of</a:t>
            </a:r>
          </a:p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different</a:t>
            </a:r>
          </a:p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species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3112301" y="2485237"/>
            <a:ext cx="6059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MATING</a:t>
            </a:r>
          </a:p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ATTEMPT</a:t>
            </a:r>
          </a:p>
        </p:txBody>
      </p:sp>
      <p:sp>
        <p:nvSpPr>
          <p:cNvPr id="18" name="TextBox 27"/>
          <p:cNvSpPr txBox="1">
            <a:spLocks noChangeArrowheads="1"/>
          </p:cNvSpPr>
          <p:nvPr/>
        </p:nvSpPr>
        <p:spPr bwMode="auto">
          <a:xfrm>
            <a:off x="5218114" y="2485237"/>
            <a:ext cx="5273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FERTILI-</a:t>
            </a:r>
          </a:p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ZATION</a:t>
            </a:r>
          </a:p>
        </p:txBody>
      </p:sp>
      <p:sp>
        <p:nvSpPr>
          <p:cNvPr id="19" name="TextBox 29"/>
          <p:cNvSpPr txBox="1">
            <a:spLocks noChangeArrowheads="1"/>
          </p:cNvSpPr>
          <p:nvPr/>
        </p:nvSpPr>
        <p:spPr bwMode="auto">
          <a:xfrm>
            <a:off x="8236747" y="2324899"/>
            <a:ext cx="5338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VIABLE,</a:t>
            </a:r>
          </a:p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FERTILE</a:t>
            </a:r>
          </a:p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OFF-</a:t>
            </a:r>
          </a:p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SPRING</a:t>
            </a:r>
          </a:p>
        </p:txBody>
      </p:sp>
      <p:sp>
        <p:nvSpPr>
          <p:cNvPr id="20" name="TextBox 33"/>
          <p:cNvSpPr txBox="1">
            <a:spLocks noChangeArrowheads="1"/>
          </p:cNvSpPr>
          <p:nvPr/>
        </p:nvSpPr>
        <p:spPr bwMode="auto">
          <a:xfrm>
            <a:off x="362745" y="3328992"/>
            <a:ext cx="18755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(a)</a:t>
            </a:r>
          </a:p>
        </p:txBody>
      </p:sp>
      <p:sp>
        <p:nvSpPr>
          <p:cNvPr id="21" name="TextBox 34"/>
          <p:cNvSpPr txBox="1">
            <a:spLocks noChangeArrowheads="1"/>
          </p:cNvSpPr>
          <p:nvPr/>
        </p:nvSpPr>
        <p:spPr bwMode="auto">
          <a:xfrm>
            <a:off x="1400970" y="3328992"/>
            <a:ext cx="18755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(c)</a:t>
            </a: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2470945" y="3328992"/>
            <a:ext cx="18755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(e)</a:t>
            </a:r>
          </a:p>
        </p:txBody>
      </p:sp>
      <p:sp>
        <p:nvSpPr>
          <p:cNvPr id="23" name="TextBox 36"/>
          <p:cNvSpPr txBox="1">
            <a:spLocks noChangeArrowheads="1"/>
          </p:cNvSpPr>
          <p:nvPr/>
        </p:nvSpPr>
        <p:spPr bwMode="auto">
          <a:xfrm>
            <a:off x="3494882" y="3328992"/>
            <a:ext cx="15388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(f)</a:t>
            </a:r>
          </a:p>
        </p:txBody>
      </p:sp>
      <p:sp>
        <p:nvSpPr>
          <p:cNvPr id="24" name="TextBox 37"/>
          <p:cNvSpPr txBox="1">
            <a:spLocks noChangeArrowheads="1"/>
          </p:cNvSpPr>
          <p:nvPr/>
        </p:nvSpPr>
        <p:spPr bwMode="auto">
          <a:xfrm>
            <a:off x="4563270" y="3328992"/>
            <a:ext cx="197170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(g)</a:t>
            </a:r>
          </a:p>
        </p:txBody>
      </p:sp>
      <p:sp>
        <p:nvSpPr>
          <p:cNvPr id="25" name="TextBox 38"/>
          <p:cNvSpPr txBox="1">
            <a:spLocks noChangeArrowheads="1"/>
          </p:cNvSpPr>
          <p:nvPr/>
        </p:nvSpPr>
        <p:spPr bwMode="auto">
          <a:xfrm>
            <a:off x="5585620" y="3328992"/>
            <a:ext cx="197170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(h)</a:t>
            </a:r>
          </a:p>
        </p:txBody>
      </p:sp>
      <p:sp>
        <p:nvSpPr>
          <p:cNvPr id="26" name="TextBox 39"/>
          <p:cNvSpPr txBox="1">
            <a:spLocks noChangeArrowheads="1"/>
          </p:cNvSpPr>
          <p:nvPr/>
        </p:nvSpPr>
        <p:spPr bwMode="auto">
          <a:xfrm>
            <a:off x="6633370" y="3328992"/>
            <a:ext cx="145874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(i)</a:t>
            </a:r>
          </a:p>
        </p:txBody>
      </p:sp>
      <p:sp>
        <p:nvSpPr>
          <p:cNvPr id="27" name="TextBox 40"/>
          <p:cNvSpPr txBox="1">
            <a:spLocks noChangeArrowheads="1"/>
          </p:cNvSpPr>
          <p:nvPr/>
        </p:nvSpPr>
        <p:spPr bwMode="auto">
          <a:xfrm>
            <a:off x="7681120" y="3328992"/>
            <a:ext cx="145874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(l)</a:t>
            </a:r>
          </a:p>
        </p:txBody>
      </p:sp>
      <p:sp>
        <p:nvSpPr>
          <p:cNvPr id="28" name="TextBox 41"/>
          <p:cNvSpPr txBox="1">
            <a:spLocks noChangeArrowheads="1"/>
          </p:cNvSpPr>
          <p:nvPr/>
        </p:nvSpPr>
        <p:spPr bwMode="auto">
          <a:xfrm>
            <a:off x="1400970" y="4098930"/>
            <a:ext cx="197170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(d)</a:t>
            </a:r>
          </a:p>
        </p:txBody>
      </p:sp>
      <p:sp>
        <p:nvSpPr>
          <p:cNvPr id="29" name="TextBox 42"/>
          <p:cNvSpPr txBox="1">
            <a:spLocks noChangeArrowheads="1"/>
          </p:cNvSpPr>
          <p:nvPr/>
        </p:nvSpPr>
        <p:spPr bwMode="auto">
          <a:xfrm>
            <a:off x="362745" y="4349755"/>
            <a:ext cx="197170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(b)</a:t>
            </a:r>
          </a:p>
        </p:txBody>
      </p:sp>
      <p:sp>
        <p:nvSpPr>
          <p:cNvPr id="30" name="TextBox 43"/>
          <p:cNvSpPr txBox="1">
            <a:spLocks noChangeArrowheads="1"/>
          </p:cNvSpPr>
          <p:nvPr/>
        </p:nvSpPr>
        <p:spPr bwMode="auto">
          <a:xfrm>
            <a:off x="6633370" y="4110042"/>
            <a:ext cx="145874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(j)</a:t>
            </a:r>
          </a:p>
        </p:txBody>
      </p:sp>
      <p:sp>
        <p:nvSpPr>
          <p:cNvPr id="31" name="TextBox 44"/>
          <p:cNvSpPr txBox="1">
            <a:spLocks noChangeArrowheads="1"/>
          </p:cNvSpPr>
          <p:nvPr/>
        </p:nvSpPr>
        <p:spPr bwMode="auto">
          <a:xfrm>
            <a:off x="6633370" y="4889505"/>
            <a:ext cx="18755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(k)</a:t>
            </a:r>
          </a:p>
        </p:txBody>
      </p:sp>
    </p:spTree>
    <p:extLst>
      <p:ext uri="{BB962C8B-B14F-4D97-AF65-F5344CB8AC3E}">
        <p14:creationId xmlns:p14="http://schemas.microsoft.com/office/powerpoint/2010/main" val="4156868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Slide 6</a:t>
            </a:r>
          </a:p>
        </p:txBody>
      </p:sp>
      <p:sp>
        <p:nvSpPr>
          <p:cNvPr id="32769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228600"/>
            <a:ext cx="8839200" cy="28956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b="1" dirty="0" err="1"/>
              <a:t>Prezygotic</a:t>
            </a:r>
            <a:r>
              <a:rPr lang="en-US" altLang="en-US" b="1" dirty="0"/>
              <a:t> barriers </a:t>
            </a:r>
            <a:r>
              <a:rPr lang="en-US" altLang="en-US" dirty="0"/>
              <a:t>block fertilization from </a:t>
            </a:r>
            <a:br>
              <a:rPr lang="en-US" altLang="en-US" dirty="0"/>
            </a:br>
            <a:r>
              <a:rPr lang="en-US" altLang="en-US" dirty="0"/>
              <a:t>occurring by</a:t>
            </a:r>
          </a:p>
          <a:p>
            <a:pPr lvl="1"/>
            <a:r>
              <a:rPr lang="en-US" altLang="en-US" dirty="0"/>
              <a:t>Impeding </a:t>
            </a:r>
          </a:p>
          <a:p>
            <a:pPr lvl="1"/>
            <a:r>
              <a:rPr lang="en-US" altLang="en-US" dirty="0"/>
              <a:t>Preventing </a:t>
            </a:r>
          </a:p>
          <a:p>
            <a:pPr lvl="1"/>
            <a:r>
              <a:rPr lang="en-US" altLang="en-US" dirty="0"/>
              <a:t>Hindering </a:t>
            </a:r>
          </a:p>
        </p:txBody>
      </p:sp>
      <p:pic>
        <p:nvPicPr>
          <p:cNvPr id="4098" name="Picture 2" descr="Figure 24.3a Exploring reproductive barriers (part 1: prezygotic barriers)&#10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3124200"/>
            <a:ext cx="81153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243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19" y="1524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Slide 7</a:t>
            </a:r>
          </a:p>
        </p:txBody>
      </p:sp>
      <p:sp>
        <p:nvSpPr>
          <p:cNvPr id="34817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76200" y="76200"/>
            <a:ext cx="9067800" cy="3886200"/>
          </a:xfrm>
        </p:spPr>
        <p:txBody>
          <a:bodyPr/>
          <a:lstStyle/>
          <a:p>
            <a:r>
              <a:rPr lang="en-US" altLang="en-US" b="1" dirty="0"/>
              <a:t>Habitat isolation</a:t>
            </a:r>
            <a:r>
              <a:rPr lang="en-US" altLang="en-US" dirty="0"/>
              <a:t>: Two species encounter each other rarely, or not at all, because they occupy different habitats, even though </a:t>
            </a:r>
          </a:p>
          <a:p>
            <a:r>
              <a:rPr lang="en-US" altLang="en-US" b="1" dirty="0"/>
              <a:t>Temporal isolation</a:t>
            </a:r>
            <a:r>
              <a:rPr lang="en-US" altLang="en-US" dirty="0"/>
              <a:t>: Species that breed at different times of the day, different seasons, or different years cannot </a:t>
            </a:r>
          </a:p>
          <a:p>
            <a:r>
              <a:rPr lang="en-US" altLang="en-US" b="1" dirty="0"/>
              <a:t>Behavioral isolation</a:t>
            </a:r>
            <a:r>
              <a:rPr lang="en-US" altLang="en-US" dirty="0"/>
              <a:t>: Courtship rituals &amp; other unique behaviors to a </a:t>
            </a: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4934057" y="2378955"/>
            <a:ext cx="392736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600"/>
              </a:lnSpc>
            </a:pPr>
            <a:r>
              <a:rPr lang="en-US" b="1" dirty="0">
                <a:solidFill>
                  <a:srgbClr val="FFFFFF"/>
                </a:solidFill>
                <a:latin typeface="Arial"/>
                <a:ea typeface="ＭＳ Ｐゴシック" charset="0"/>
              </a:rPr>
              <a:t>(b)</a:t>
            </a:r>
          </a:p>
        </p:txBody>
      </p:sp>
      <p:pic>
        <p:nvPicPr>
          <p:cNvPr id="4098" name="Picture 2" descr="Examaple of temporal isol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1" y="4099560"/>
            <a:ext cx="2057400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Examaple of habitat isol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" y="4114800"/>
            <a:ext cx="3352800" cy="2199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Examaple of behavioral isolation."/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60"/>
          <a:stretch>
            <a:fillRect/>
          </a:stretch>
        </p:blipFill>
        <p:spPr>
          <a:xfrm>
            <a:off x="5654039" y="4053840"/>
            <a:ext cx="3413719" cy="230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86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" y="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Slide 8</a:t>
            </a:r>
          </a:p>
        </p:txBody>
      </p:sp>
      <p:sp>
        <p:nvSpPr>
          <p:cNvPr id="40961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152400"/>
            <a:ext cx="8839200" cy="2133600"/>
          </a:xfrm>
        </p:spPr>
        <p:txBody>
          <a:bodyPr/>
          <a:lstStyle/>
          <a:p>
            <a:r>
              <a:rPr lang="en-US" altLang="en-US" b="1" dirty="0"/>
              <a:t>Mechanical isolation</a:t>
            </a:r>
            <a:r>
              <a:rPr lang="en-US" altLang="en-US" dirty="0"/>
              <a:t>: Morphological differences can prevent </a:t>
            </a:r>
          </a:p>
          <a:p>
            <a:r>
              <a:rPr lang="en-US" altLang="en-US" b="1" dirty="0" err="1"/>
              <a:t>Gametic</a:t>
            </a:r>
            <a:r>
              <a:rPr lang="en-US" altLang="en-US" b="1" dirty="0"/>
              <a:t> Isolation: </a:t>
            </a:r>
            <a:r>
              <a:rPr lang="en-US" altLang="en-US" dirty="0"/>
              <a:t>Sperm of one species may not be able to </a:t>
            </a:r>
          </a:p>
        </p:txBody>
      </p:sp>
      <p:pic>
        <p:nvPicPr>
          <p:cNvPr id="1026" name="Picture 2" descr="Example of mechanical isol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09800"/>
            <a:ext cx="3128211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Example of gametic isol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209800"/>
            <a:ext cx="2448913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Example of mechanical and gametic isolation using a flow chart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8" t="31927" r="16312" b="36145"/>
          <a:stretch/>
        </p:blipFill>
        <p:spPr>
          <a:xfrm>
            <a:off x="2667000" y="4478215"/>
            <a:ext cx="4724401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3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Slide 9</a:t>
            </a:r>
          </a:p>
        </p:txBody>
      </p:sp>
      <p:sp>
        <p:nvSpPr>
          <p:cNvPr id="45057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228600"/>
            <a:ext cx="8839200" cy="26670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altLang="en-US" b="1" dirty="0" err="1"/>
              <a:t>Postzygotic</a:t>
            </a:r>
            <a:r>
              <a:rPr lang="en-US" altLang="en-US" b="1" dirty="0"/>
              <a:t> barriers </a:t>
            </a:r>
            <a:r>
              <a:rPr lang="en-US" altLang="en-US" dirty="0"/>
              <a:t>prevent the hybrid zygote from developing into a </a:t>
            </a:r>
          </a:p>
          <a:p>
            <a:pPr lvl="1"/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 </a:t>
            </a:r>
          </a:p>
        </p:txBody>
      </p:sp>
      <p:pic>
        <p:nvPicPr>
          <p:cNvPr id="4" name="Picture 2" descr="Figure 24.3c Exploring reproductive barriers (part 3: postzygotic barriers)&#10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124200"/>
            <a:ext cx="8610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567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" y="18789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Slide 10</a:t>
            </a:r>
          </a:p>
        </p:txBody>
      </p:sp>
      <p:sp>
        <p:nvSpPr>
          <p:cNvPr id="49153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96838"/>
            <a:ext cx="8839200" cy="1123950"/>
          </a:xfrm>
        </p:spPr>
        <p:txBody>
          <a:bodyPr/>
          <a:lstStyle/>
          <a:p>
            <a:r>
              <a:rPr lang="en-US" altLang="en-US" b="1" dirty="0"/>
              <a:t>Reduced hybrid fertility</a:t>
            </a:r>
            <a:r>
              <a:rPr lang="en-US" altLang="en-US" dirty="0"/>
              <a:t>: Even if hybrids are vigorous, they </a:t>
            </a:r>
          </a:p>
        </p:txBody>
      </p:sp>
      <p:pic>
        <p:nvPicPr>
          <p:cNvPr id="4" name="Picture 2" descr="Figure 24.3cb Exploring reproductive barriers (part 3b: reduced hybrid fertility, donkey)&#10;Figure 24.3cc Exploring reproductive barriers (part 3c: reduced hybrid fertility, horse)&#10;Figure 24.3cd Exploring reproductive barriers (part 3d: reduced hybrid fertility, mule)&#10;" title="Figure 24.3cb Exploring reproductive barriers (part 3b: reduced hybrid fertility, donkey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80" y="1031823"/>
            <a:ext cx="7692503" cy="567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67106" y="21336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pic>
        <p:nvPicPr>
          <p:cNvPr id="6" name="Picture 5" descr="picture of a hor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553" y="2025807"/>
            <a:ext cx="1303316" cy="1390652"/>
          </a:xfrm>
          <a:prstGeom prst="rect">
            <a:avLst/>
          </a:prstGeom>
        </p:spPr>
      </p:pic>
      <p:pic>
        <p:nvPicPr>
          <p:cNvPr id="7" name="Picture 6" descr="picture of a d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427" y="2032525"/>
            <a:ext cx="1101773" cy="1377216"/>
          </a:xfrm>
          <a:prstGeom prst="rect">
            <a:avLst/>
          </a:prstGeom>
        </p:spPr>
      </p:pic>
      <p:pic>
        <p:nvPicPr>
          <p:cNvPr id="8" name="Picture 7" descr="picture of a mu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7603" y="4876800"/>
            <a:ext cx="1128645" cy="12159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9213" y="1821359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♂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67325" y="1745159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♀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12654" y="4577274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“mule”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4506" y="1123890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“mare”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4" y="1123890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“jack”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51" y="4842808"/>
            <a:ext cx="2510624" cy="193899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♀ donkey “jenny”</a:t>
            </a:r>
          </a:p>
          <a:p>
            <a:pPr algn="ctr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♂ horse “stallion”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“hinny”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820716" y="4876800"/>
            <a:ext cx="1483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STERILE</a:t>
            </a:r>
          </a:p>
        </p:txBody>
      </p:sp>
    </p:spTree>
    <p:extLst>
      <p:ext uri="{BB962C8B-B14F-4D97-AF65-F5344CB8AC3E}">
        <p14:creationId xmlns:p14="http://schemas.microsoft.com/office/powerpoint/2010/main" val="3811940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Slide 11</a:t>
            </a:r>
          </a:p>
        </p:txBody>
      </p:sp>
      <p:sp>
        <p:nvSpPr>
          <p:cNvPr id="47105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176213"/>
            <a:ext cx="8839200" cy="3810000"/>
          </a:xfrm>
        </p:spPr>
        <p:txBody>
          <a:bodyPr/>
          <a:lstStyle/>
          <a:p>
            <a:r>
              <a:rPr lang="en-US" altLang="en-US" b="1" dirty="0"/>
              <a:t>Reduced hybrid viability</a:t>
            </a:r>
            <a:r>
              <a:rPr lang="en-US" altLang="en-US" dirty="0"/>
              <a:t>: Genes of the different parent species may interact and impair the hybrid</a:t>
            </a:r>
            <a:r>
              <a:rPr lang="ja-JP" altLang="en-US" dirty="0"/>
              <a:t>’</a:t>
            </a:r>
            <a:r>
              <a:rPr lang="en-US" altLang="ja-JP" dirty="0"/>
              <a:t>s development or </a:t>
            </a:r>
          </a:p>
          <a:p>
            <a:endParaRPr lang="en-US" altLang="ja-JP" dirty="0"/>
          </a:p>
          <a:p>
            <a:r>
              <a:rPr lang="en-US" altLang="en-US" b="1" dirty="0"/>
              <a:t>Hybrid breakdown</a:t>
            </a:r>
            <a:r>
              <a:rPr lang="en-US" altLang="en-US" dirty="0"/>
              <a:t>: Some first-generation hybrids are fertile, but when they mate with each other or with either parent species, offspring of the next generation are </a:t>
            </a:r>
          </a:p>
        </p:txBody>
      </p:sp>
      <p:pic>
        <p:nvPicPr>
          <p:cNvPr id="2050" name="Picture 2" descr="picture of a salamander (illustrating reduced hybrid viability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446" y="4003430"/>
            <a:ext cx="3589101" cy="2573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 descr="picture of grasses (illustrating hybrid breakdown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947" y="4038600"/>
            <a:ext cx="2570653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97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 dirty="0"/>
              <a:t>Limitations of the Biological Species Concept</a:t>
            </a:r>
            <a:endParaRPr lang="en-US" altLang="en-US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biological species concept cannot be applied to fossils or </a:t>
            </a:r>
          </a:p>
          <a:p>
            <a:endParaRPr lang="en-US" altLang="en-US" dirty="0"/>
          </a:p>
          <a:p>
            <a:r>
              <a:rPr lang="en-US" altLang="en-US" dirty="0"/>
              <a:t>The biological species concept emphasizes </a:t>
            </a:r>
          </a:p>
          <a:p>
            <a:endParaRPr lang="en-US" altLang="en-US" dirty="0"/>
          </a:p>
          <a:p>
            <a:r>
              <a:rPr lang="en-US" altLang="en-US" dirty="0"/>
              <a:t>However, gene flow can occur between 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EX: grizzly bears and </a:t>
            </a:r>
          </a:p>
        </p:txBody>
      </p:sp>
    </p:spTree>
    <p:extLst>
      <p:ext uri="{BB962C8B-B14F-4D97-AF65-F5344CB8AC3E}">
        <p14:creationId xmlns:p14="http://schemas.microsoft.com/office/powerpoint/2010/main" val="312068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24.4</a:t>
            </a:r>
          </a:p>
        </p:txBody>
      </p:sp>
      <p:pic>
        <p:nvPicPr>
          <p:cNvPr id="6" name="Picture 5" descr="Figure 24.4 Hybridization between two species of bears in the genus Ursu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42875"/>
            <a:ext cx="7162800" cy="6572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848A6A-3213-4DD2-8351-26362AABFA25}"/>
              </a:ext>
            </a:extLst>
          </p:cNvPr>
          <p:cNvSpPr txBox="1"/>
          <p:nvPr/>
        </p:nvSpPr>
        <p:spPr>
          <a:xfrm>
            <a:off x="990600" y="2577221"/>
            <a:ext cx="2705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74 chromosomes (37 prs)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C133C-D2BF-4E9C-A6CF-06E6CF5471C2}"/>
              </a:ext>
            </a:extLst>
          </p:cNvPr>
          <p:cNvSpPr txBox="1"/>
          <p:nvPr/>
        </p:nvSpPr>
        <p:spPr>
          <a:xfrm>
            <a:off x="5448043" y="1295400"/>
            <a:ext cx="2705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74 chromosomes (37 prs)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02CBA9-8736-4A67-A145-AFE80081EBB2}"/>
              </a:ext>
            </a:extLst>
          </p:cNvPr>
          <p:cNvSpPr txBox="1"/>
          <p:nvPr/>
        </p:nvSpPr>
        <p:spPr>
          <a:xfrm>
            <a:off x="976745" y="5711161"/>
            <a:ext cx="2705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74 chromosomes (37 prs)</a:t>
            </a:r>
          </a:p>
        </p:txBody>
      </p:sp>
    </p:spTree>
    <p:extLst>
      <p:ext uri="{BB962C8B-B14F-4D97-AF65-F5344CB8AC3E}">
        <p14:creationId xmlns:p14="http://schemas.microsoft.com/office/powerpoint/2010/main" val="772811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Slide 14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" y="93663"/>
            <a:ext cx="8839200" cy="6705600"/>
          </a:xfrm>
        </p:spPr>
        <p:txBody>
          <a:bodyPr/>
          <a:lstStyle/>
          <a:p>
            <a:r>
              <a:rPr lang="en-US" altLang="en-US" dirty="0"/>
              <a:t>Other species concepts emphasize the unity within a species rather than the </a:t>
            </a:r>
          </a:p>
          <a:p>
            <a:endParaRPr lang="en-US" altLang="en-US" dirty="0"/>
          </a:p>
          <a:p>
            <a:r>
              <a:rPr lang="en-US" altLang="en-US" dirty="0"/>
              <a:t>The </a:t>
            </a:r>
            <a:r>
              <a:rPr lang="en-US" altLang="en-US" b="1" dirty="0"/>
              <a:t>morphological species concept </a:t>
            </a:r>
            <a:r>
              <a:rPr lang="en-US" altLang="en-US" dirty="0"/>
              <a:t>defines a species by </a:t>
            </a:r>
          </a:p>
          <a:p>
            <a:pPr lvl="1"/>
            <a:r>
              <a:rPr lang="en-US" altLang="en-US" dirty="0"/>
              <a:t>It applies to sexual and asexual species but </a:t>
            </a:r>
          </a:p>
          <a:p>
            <a:pPr lvl="1"/>
            <a:endParaRPr lang="en-US" altLang="en-US" i="1" dirty="0"/>
          </a:p>
          <a:p>
            <a:r>
              <a:rPr lang="en-US" altLang="en-US" dirty="0"/>
              <a:t>The </a:t>
            </a:r>
            <a:r>
              <a:rPr lang="en-US" altLang="en-US" b="1" dirty="0"/>
              <a:t>ecological species concept </a:t>
            </a:r>
            <a:r>
              <a:rPr lang="en-US" altLang="en-US" dirty="0"/>
              <a:t>defines a species in terms of </a:t>
            </a:r>
          </a:p>
          <a:p>
            <a:pPr lvl="1"/>
            <a:r>
              <a:rPr lang="en-US" altLang="en-US" dirty="0"/>
              <a:t>It applies to sexual and asexual species and emphasizes </a:t>
            </a:r>
            <a:endParaRPr lang="en-US" altLang="en-US" i="1" dirty="0"/>
          </a:p>
          <a:p>
            <a:r>
              <a:rPr lang="en-US" altLang="en-US" dirty="0"/>
              <a:t>Many species definitions have been proposed; the usefulness of each depends on the </a:t>
            </a:r>
          </a:p>
        </p:txBody>
      </p:sp>
    </p:spTree>
    <p:extLst>
      <p:ext uri="{BB962C8B-B14F-4D97-AF65-F5344CB8AC3E}">
        <p14:creationId xmlns:p14="http://schemas.microsoft.com/office/powerpoint/2010/main" val="3107250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24.2: Speciation can take place with or without geographic separation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107996"/>
            <a:ext cx="5306717" cy="5750004"/>
          </a:xfrm>
        </p:spPr>
        <p:txBody>
          <a:bodyPr/>
          <a:lstStyle/>
          <a:p>
            <a:r>
              <a:rPr lang="en-US" altLang="en-US" dirty="0"/>
              <a:t>Speciation (1 species splits into 2+ species) can occur as a result of two general processes: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/>
              <a:t>Allopatric</a:t>
            </a:r>
            <a:r>
              <a:rPr lang="en-US" altLang="en-US" dirty="0"/>
              <a:t> speciation</a:t>
            </a:r>
          </a:p>
          <a:p>
            <a:pPr marL="1373886" lvl="2" indent="-514350">
              <a:buFont typeface="+mj-lt"/>
              <a:buAutoNum type="alphaL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/>
              <a:t>Sympatric</a:t>
            </a:r>
            <a:r>
              <a:rPr lang="en-US" altLang="en-US" dirty="0"/>
              <a:t> speciation</a:t>
            </a:r>
          </a:p>
          <a:p>
            <a:pPr marL="1373886" lvl="2" indent="-514350">
              <a:buFont typeface="+mj-lt"/>
              <a:buAutoNum type="alphaLcPeriod"/>
            </a:pPr>
            <a:r>
              <a:rPr lang="en-US" altLang="en-US" dirty="0"/>
              <a:t> </a:t>
            </a:r>
          </a:p>
          <a:p>
            <a:pPr marL="578358" indent="-514350">
              <a:buFont typeface="Wingdings" panose="05000000000000000000" pitchFamily="2" charset="2"/>
              <a:buChar char="§"/>
            </a:pPr>
            <a:r>
              <a:rPr lang="en-US" altLang="en-US" dirty="0"/>
              <a:t>The difference between these two general processes is whether </a:t>
            </a:r>
          </a:p>
        </p:txBody>
      </p:sp>
      <p:pic>
        <p:nvPicPr>
          <p:cNvPr id="2" name="Picture 1" descr="Figure 24.5 The geography of speciation.  Allopatric speciation requires some type of geographical boundary to play a role whereas sympatric speciation does not.&#10;" title="Figure 24.5 The geography of speciation.  Allopatric speciation requires some type of geographical boundary to play a role whereas sympatric speciation does not.">
            <a:extLst>
              <a:ext uri="{FF2B5EF4-FFF2-40B4-BE49-F238E27FC236}">
                <a16:creationId xmlns:a16="http://schemas.microsoft.com/office/drawing/2014/main" id="{4BC02B5C-0441-42FB-80F4-66091C78E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00752"/>
            <a:ext cx="4343400" cy="316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70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dirty="0"/>
              <a:t>1. Allopatric (</a:t>
            </a:r>
            <a:r>
              <a:rPr lang="ja-JP" altLang="en-US" dirty="0"/>
              <a:t>“</a:t>
            </a:r>
            <a:r>
              <a:rPr lang="en-US" altLang="ja-JP"/>
              <a:t>Other </a:t>
            </a:r>
            <a:r>
              <a:rPr lang="en-US" altLang="ja-JP" smtClean="0"/>
              <a:t>Country</a:t>
            </a:r>
            <a:r>
              <a:rPr lang="ja-JP" altLang="en-US" dirty="0"/>
              <a:t>”</a:t>
            </a:r>
            <a:r>
              <a:rPr lang="en-US" altLang="ja-JP" dirty="0"/>
              <a:t>) Speciation</a:t>
            </a:r>
            <a:endParaRPr lang="en-US" altLang="en-US" dirty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120316" y="762000"/>
            <a:ext cx="8991600" cy="5943600"/>
          </a:xfrm>
        </p:spPr>
        <p:txBody>
          <a:bodyPr/>
          <a:lstStyle/>
          <a:p>
            <a:r>
              <a:rPr lang="en-US" altLang="en-US" b="1" dirty="0"/>
              <a:t>Allopatric speciation: </a:t>
            </a:r>
            <a:r>
              <a:rPr lang="en-US" altLang="en-US" dirty="0"/>
              <a:t>gene flow is interrupted or reduced when a population is 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EX: the flightless cormorant of the Galápagos likely originated from </a:t>
            </a:r>
          </a:p>
          <a:p>
            <a:r>
              <a:rPr lang="en-US" altLang="en-US" b="1" dirty="0" err="1"/>
              <a:t>Peripatric</a:t>
            </a:r>
            <a:r>
              <a:rPr lang="en-US" altLang="en-US" b="1" dirty="0"/>
              <a:t> speciation</a:t>
            </a:r>
            <a:r>
              <a:rPr lang="en-US" altLang="en-US" dirty="0"/>
              <a:t> (a type of allopatric speciation)</a:t>
            </a:r>
            <a:endParaRPr lang="en-US" altLang="en-US" b="1" dirty="0"/>
          </a:p>
          <a:p>
            <a:pPr lvl="1"/>
            <a:r>
              <a:rPr lang="en-US" altLang="en-US" dirty="0"/>
              <a:t>a new species is formed from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resembles allopatric speciation since populations are isolated and </a:t>
            </a:r>
          </a:p>
          <a:p>
            <a:pPr lvl="1"/>
            <a:r>
              <a:rPr lang="en-US" altLang="en-US" dirty="0"/>
              <a:t>it can be difficult to </a:t>
            </a:r>
          </a:p>
        </p:txBody>
      </p:sp>
    </p:spTree>
    <p:extLst>
      <p:ext uri="{BB962C8B-B14F-4D97-AF65-F5344CB8AC3E}">
        <p14:creationId xmlns:p14="http://schemas.microsoft.com/office/powerpoint/2010/main" val="3953170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 dirty="0"/>
              <a:t>The Process of Allopatric Speciation</a:t>
            </a:r>
            <a:endParaRPr lang="en-US" altLang="en-US" dirty="0"/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839199" cy="5562600"/>
          </a:xfrm>
        </p:spPr>
        <p:txBody>
          <a:bodyPr/>
          <a:lstStyle/>
          <a:p>
            <a:r>
              <a:rPr lang="en-US" altLang="en-US" dirty="0"/>
              <a:t>The definition of barrier depends on the 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EX: a canyon may create a barrier for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Separated populations may evolve independently through </a:t>
            </a:r>
          </a:p>
          <a:p>
            <a:r>
              <a:rPr lang="en-US" altLang="en-US" dirty="0"/>
              <a:t>Reproductive isolation may arise as a 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EX: isolated populations of mosquitofish have become reproductively isolated as a result of </a:t>
            </a:r>
          </a:p>
        </p:txBody>
      </p:sp>
    </p:spTree>
    <p:extLst>
      <p:ext uri="{BB962C8B-B14F-4D97-AF65-F5344CB8AC3E}">
        <p14:creationId xmlns:p14="http://schemas.microsoft.com/office/powerpoint/2010/main" val="629472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4.6 Evolution in mosquitofish populations&#10;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1344168" y="213360"/>
            <a:ext cx="6455664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24.6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410492" y="1224338"/>
            <a:ext cx="2253822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500" b="1" dirty="0">
                <a:solidFill>
                  <a:srgbClr val="FF0000"/>
                </a:solidFill>
                <a:latin typeface="Arial"/>
                <a:ea typeface="ＭＳ Ｐゴシック" charset="0"/>
              </a:rPr>
              <a:t>With predators</a:t>
            </a: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: body</a:t>
            </a:r>
          </a:p>
          <a:p>
            <a:pPr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shape that enables rapid</a:t>
            </a:r>
          </a:p>
          <a:p>
            <a:pPr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bursts of speed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1400175" y="2076032"/>
            <a:ext cx="28629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(a) Differences in body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228" y="2509852"/>
            <a:ext cx="230832" cy="2973571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Escape acceleration (m per s</a:t>
            </a:r>
            <a:r>
              <a:rPr lang="en-US" sz="1600" b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)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4649788" y="1223544"/>
            <a:ext cx="2228110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500" b="1" dirty="0">
                <a:solidFill>
                  <a:srgbClr val="00B050"/>
                </a:solidFill>
                <a:latin typeface="Arial"/>
                <a:ea typeface="ＭＳ Ｐゴシック" charset="0"/>
              </a:rPr>
              <a:t>Without predators</a:t>
            </a: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: body</a:t>
            </a:r>
          </a:p>
          <a:p>
            <a:pPr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shape that favors long,</a:t>
            </a:r>
          </a:p>
          <a:p>
            <a:pPr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steady swimming</a:t>
            </a: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1762125" y="3229352"/>
            <a:ext cx="34144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100</a:t>
            </a: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1876425" y="3638136"/>
            <a:ext cx="2276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90</a:t>
            </a:r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1876425" y="4059615"/>
            <a:ext cx="2276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80</a:t>
            </a:r>
          </a:p>
        </p:txBody>
      </p:sp>
      <p:sp>
        <p:nvSpPr>
          <p:cNvPr id="13" name="TextBox 13"/>
          <p:cNvSpPr txBox="1">
            <a:spLocks noChangeArrowheads="1"/>
          </p:cNvSpPr>
          <p:nvPr/>
        </p:nvSpPr>
        <p:spPr bwMode="auto">
          <a:xfrm>
            <a:off x="1876425" y="4469985"/>
            <a:ext cx="2276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70</a:t>
            </a:r>
          </a:p>
        </p:txBody>
      </p:sp>
      <p:sp>
        <p:nvSpPr>
          <p:cNvPr id="14" name="TextBox 14"/>
          <p:cNvSpPr txBox="1">
            <a:spLocks noChangeArrowheads="1"/>
          </p:cNvSpPr>
          <p:nvPr/>
        </p:nvSpPr>
        <p:spPr bwMode="auto">
          <a:xfrm>
            <a:off x="1876425" y="4888291"/>
            <a:ext cx="2276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/>
                <a:ea typeface="ＭＳ Ｐゴシック" charset="0"/>
              </a:rPr>
              <a:t>60</a:t>
            </a:r>
          </a:p>
        </p:txBody>
      </p:sp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1866900" y="5305802"/>
            <a:ext cx="2276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50</a:t>
            </a:r>
          </a:p>
        </p:txBody>
      </p:sp>
      <p:sp>
        <p:nvSpPr>
          <p:cNvPr id="16" name="TextBox 16"/>
          <p:cNvSpPr txBox="1">
            <a:spLocks noChangeArrowheads="1"/>
          </p:cNvSpPr>
          <p:nvPr/>
        </p:nvSpPr>
        <p:spPr bwMode="auto">
          <a:xfrm>
            <a:off x="2010173" y="5509793"/>
            <a:ext cx="1237518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Source pond:</a:t>
            </a:r>
          </a:p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predators</a:t>
            </a:r>
          </a:p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present</a:t>
            </a:r>
          </a:p>
        </p:txBody>
      </p:sp>
      <p:sp>
        <p:nvSpPr>
          <p:cNvPr id="17" name="TextBox 18"/>
          <p:cNvSpPr txBox="1">
            <a:spLocks noChangeArrowheads="1"/>
          </p:cNvSpPr>
          <p:nvPr/>
        </p:nvSpPr>
        <p:spPr bwMode="auto">
          <a:xfrm>
            <a:off x="3367437" y="5508204"/>
            <a:ext cx="1237518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Source pond:</a:t>
            </a:r>
          </a:p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no </a:t>
            </a:r>
          </a:p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predators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3201" y="2602999"/>
            <a:ext cx="230832" cy="2705869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fontAlgn="auto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Survival rate with predators</a:t>
            </a:r>
          </a:p>
        </p:txBody>
      </p:sp>
      <p:sp>
        <p:nvSpPr>
          <p:cNvPr id="19" name="TextBox 22"/>
          <p:cNvSpPr txBox="1">
            <a:spLocks noChangeArrowheads="1"/>
          </p:cNvSpPr>
          <p:nvPr/>
        </p:nvSpPr>
        <p:spPr bwMode="auto">
          <a:xfrm>
            <a:off x="1762125" y="2811046"/>
            <a:ext cx="33009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110</a:t>
            </a:r>
          </a:p>
        </p:txBody>
      </p:sp>
      <p:sp>
        <p:nvSpPr>
          <p:cNvPr id="20" name="TextBox 23"/>
          <p:cNvSpPr txBox="1">
            <a:spLocks noChangeArrowheads="1"/>
          </p:cNvSpPr>
          <p:nvPr/>
        </p:nvSpPr>
        <p:spPr bwMode="auto">
          <a:xfrm>
            <a:off x="5002213" y="2800727"/>
            <a:ext cx="28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/>
                <a:ea typeface="ＭＳ Ｐゴシック" charset="0"/>
              </a:rPr>
              <a:t>1.0</a:t>
            </a:r>
          </a:p>
        </p:txBody>
      </p:sp>
      <p:sp>
        <p:nvSpPr>
          <p:cNvPr id="21" name="TextBox 24"/>
          <p:cNvSpPr txBox="1">
            <a:spLocks noChangeArrowheads="1"/>
          </p:cNvSpPr>
          <p:nvPr/>
        </p:nvSpPr>
        <p:spPr bwMode="auto">
          <a:xfrm>
            <a:off x="4992688" y="3300791"/>
            <a:ext cx="28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0.8</a:t>
            </a:r>
          </a:p>
        </p:txBody>
      </p:sp>
      <p:sp>
        <p:nvSpPr>
          <p:cNvPr id="22" name="TextBox 25"/>
          <p:cNvSpPr txBox="1">
            <a:spLocks noChangeArrowheads="1"/>
          </p:cNvSpPr>
          <p:nvPr/>
        </p:nvSpPr>
        <p:spPr bwMode="auto">
          <a:xfrm>
            <a:off x="4992688" y="3802440"/>
            <a:ext cx="28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0.6</a:t>
            </a:r>
          </a:p>
        </p:txBody>
      </p:sp>
      <p:sp>
        <p:nvSpPr>
          <p:cNvPr id="23" name="TextBox 26"/>
          <p:cNvSpPr txBox="1">
            <a:spLocks noChangeArrowheads="1"/>
          </p:cNvSpPr>
          <p:nvPr/>
        </p:nvSpPr>
        <p:spPr bwMode="auto">
          <a:xfrm>
            <a:off x="4992688" y="4312820"/>
            <a:ext cx="28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0.4</a:t>
            </a:r>
          </a:p>
        </p:txBody>
      </p: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4992688" y="4809707"/>
            <a:ext cx="28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0.2</a:t>
            </a:r>
          </a:p>
        </p:txBody>
      </p:sp>
      <p:sp>
        <p:nvSpPr>
          <p:cNvPr id="25" name="TextBox 28"/>
          <p:cNvSpPr txBox="1">
            <a:spLocks noChangeArrowheads="1"/>
          </p:cNvSpPr>
          <p:nvPr/>
        </p:nvSpPr>
        <p:spPr bwMode="auto">
          <a:xfrm>
            <a:off x="4992688" y="5303419"/>
            <a:ext cx="28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0.0</a:t>
            </a:r>
          </a:p>
        </p:txBody>
      </p:sp>
      <p:sp>
        <p:nvSpPr>
          <p:cNvPr id="26" name="TextBox 29"/>
          <p:cNvSpPr txBox="1">
            <a:spLocks noChangeArrowheads="1"/>
          </p:cNvSpPr>
          <p:nvPr/>
        </p:nvSpPr>
        <p:spPr bwMode="auto">
          <a:xfrm>
            <a:off x="5197873" y="5514556"/>
            <a:ext cx="1237518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Source pond:</a:t>
            </a:r>
          </a:p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predators</a:t>
            </a:r>
          </a:p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present</a:t>
            </a:r>
          </a:p>
        </p:txBody>
      </p:sp>
      <p:sp>
        <p:nvSpPr>
          <p:cNvPr id="27" name="TextBox 31"/>
          <p:cNvSpPr txBox="1">
            <a:spLocks noChangeArrowheads="1"/>
          </p:cNvSpPr>
          <p:nvPr/>
        </p:nvSpPr>
        <p:spPr bwMode="auto">
          <a:xfrm>
            <a:off x="6539262" y="5508204"/>
            <a:ext cx="1237518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Source pond:</a:t>
            </a:r>
          </a:p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no</a:t>
            </a:r>
          </a:p>
          <a:p>
            <a:pPr algn="ctr">
              <a:lnSpc>
                <a:spcPts val="182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predators</a:t>
            </a:r>
          </a:p>
        </p:txBody>
      </p:sp>
      <p:sp>
        <p:nvSpPr>
          <p:cNvPr id="28" name="TextBox 35"/>
          <p:cNvSpPr txBox="1">
            <a:spLocks noChangeArrowheads="1"/>
          </p:cNvSpPr>
          <p:nvPr/>
        </p:nvSpPr>
        <p:spPr bwMode="auto">
          <a:xfrm>
            <a:off x="1400175" y="6382919"/>
            <a:ext cx="494045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(b) Differences in escape acceleration and survival</a:t>
            </a:r>
          </a:p>
        </p:txBody>
      </p:sp>
    </p:spTree>
    <p:extLst>
      <p:ext uri="{BB962C8B-B14F-4D97-AF65-F5344CB8AC3E}">
        <p14:creationId xmlns:p14="http://schemas.microsoft.com/office/powerpoint/2010/main" val="1814598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dirty="0"/>
              <a:t>2. Sympatric (</a:t>
            </a:r>
            <a:r>
              <a:rPr lang="ja-JP" altLang="en-US" dirty="0"/>
              <a:t>“</a:t>
            </a:r>
            <a:r>
              <a:rPr lang="en-US" altLang="ja-JP" dirty="0"/>
              <a:t>Same Country</a:t>
            </a:r>
            <a:r>
              <a:rPr lang="ja-JP" altLang="en-US" dirty="0"/>
              <a:t>”</a:t>
            </a:r>
            <a:r>
              <a:rPr lang="en-US" altLang="ja-JP" dirty="0"/>
              <a:t>) Speciation</a:t>
            </a:r>
            <a:endParaRPr lang="en-US" altLang="en-US" dirty="0"/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493931"/>
            <a:ext cx="8839200" cy="6364069"/>
          </a:xfrm>
        </p:spPr>
        <p:txBody>
          <a:bodyPr/>
          <a:lstStyle/>
          <a:p>
            <a:r>
              <a:rPr lang="en-US" altLang="en-US" b="1" dirty="0"/>
              <a:t>Sympatric speciation: </a:t>
            </a:r>
            <a:r>
              <a:rPr lang="en-US" altLang="en-US" dirty="0"/>
              <a:t>speciation occurs in populations that live </a:t>
            </a:r>
          </a:p>
          <a:p>
            <a:r>
              <a:rPr lang="en-US" altLang="en-US" b="1" dirty="0" err="1"/>
              <a:t>Parapatric</a:t>
            </a:r>
            <a:r>
              <a:rPr lang="en-US" altLang="en-US" b="1" dirty="0"/>
              <a:t> speciation</a:t>
            </a:r>
            <a:r>
              <a:rPr lang="en-US" altLang="en-US" dirty="0"/>
              <a:t> (type </a:t>
            </a:r>
          </a:p>
          <a:p>
            <a:pPr lvl="1"/>
            <a:r>
              <a:rPr lang="en-US" altLang="en-US" dirty="0"/>
              <a:t>two species evolve in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maintain a zone of contact and do not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Sympatric speciation can occur if gene flow is reduced by factors including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9254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altLang="en-US" dirty="0"/>
              <a:t>. </a:t>
            </a:r>
            <a:r>
              <a:rPr lang="en-US" altLang="en-US" i="1" dirty="0"/>
              <a:t>Polyploidy</a:t>
            </a:r>
            <a:endParaRPr lang="en-US" altLang="en-US" dirty="0"/>
          </a:p>
        </p:txBody>
      </p:sp>
      <p:sp>
        <p:nvSpPr>
          <p:cNvPr id="8806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839199" cy="5499496"/>
          </a:xfrm>
        </p:spPr>
        <p:txBody>
          <a:bodyPr/>
          <a:lstStyle/>
          <a:p>
            <a:r>
              <a:rPr lang="en-US" altLang="en-US" b="1" dirty="0"/>
              <a:t>Polyploidy </a:t>
            </a:r>
            <a:r>
              <a:rPr lang="en-US" altLang="en-US" dirty="0"/>
              <a:t>is the presence of extra sets of chromosomes due to </a:t>
            </a:r>
          </a:p>
          <a:p>
            <a:r>
              <a:rPr lang="en-US" altLang="en-US" dirty="0"/>
              <a:t>Polyploidy is much more common in </a:t>
            </a:r>
          </a:p>
          <a:p>
            <a:endParaRPr lang="en-US" altLang="en-US" dirty="0"/>
          </a:p>
          <a:p>
            <a:r>
              <a:rPr lang="en-US" altLang="en-US" dirty="0"/>
              <a:t>Polyploidy can produce new </a:t>
            </a:r>
          </a:p>
          <a:p>
            <a:endParaRPr lang="en-US" altLang="en-US" dirty="0"/>
          </a:p>
          <a:p>
            <a:r>
              <a:rPr lang="en-US" altLang="en-US" dirty="0"/>
              <a:t>An </a:t>
            </a:r>
            <a:r>
              <a:rPr lang="en-US" altLang="en-US" b="1" u="sng" dirty="0"/>
              <a:t>auto</a:t>
            </a:r>
            <a:r>
              <a:rPr lang="en-US" altLang="en-US" b="1" dirty="0"/>
              <a:t>polyploid </a:t>
            </a:r>
            <a:r>
              <a:rPr lang="en-US" altLang="en-US" dirty="0"/>
              <a:t>is an individual with more than </a:t>
            </a:r>
          </a:p>
          <a:p>
            <a:endParaRPr lang="en-US" altLang="en-US" i="1" dirty="0">
              <a:solidFill>
                <a:srgbClr val="FF0000"/>
              </a:solidFill>
            </a:endParaRPr>
          </a:p>
          <a:p>
            <a:r>
              <a:rPr lang="en-US" altLang="en-US" dirty="0"/>
              <a:t>The offspring resulting from </a:t>
            </a:r>
          </a:p>
        </p:txBody>
      </p:sp>
    </p:spTree>
    <p:extLst>
      <p:ext uri="{BB962C8B-B14F-4D97-AF65-F5344CB8AC3E}">
        <p14:creationId xmlns:p14="http://schemas.microsoft.com/office/powerpoint/2010/main" val="2558317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4.9 Sympatric speciation by autopolyploidy&#10;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2407920" y="213360"/>
            <a:ext cx="4328160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24.9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067173" y="220663"/>
            <a:ext cx="10692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</a:p>
          <a:p>
            <a:pPr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/>
                <a:ea typeface="ＭＳ Ｐゴシック" charset="0"/>
              </a:rPr>
              <a:t>division</a:t>
            </a:r>
          </a:p>
          <a:p>
            <a:pPr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/>
                <a:ea typeface="ＭＳ Ｐゴシック" charset="0"/>
              </a:rPr>
              <a:t>error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2522535" y="2197101"/>
            <a:ext cx="15549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Diploid Cell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4825998" y="2265363"/>
            <a:ext cx="189622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400"/>
              </a:lnSpc>
            </a:pPr>
            <a:r>
              <a:rPr lang="en-US" sz="22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Tetraploid</a:t>
            </a: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cell</a:t>
            </a:r>
          </a:p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4</a:t>
            </a:r>
            <a:r>
              <a:rPr lang="en-US" sz="2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n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2892423" y="2501901"/>
            <a:ext cx="8095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  <a:r>
              <a:rPr lang="en-US" sz="2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n</a:t>
            </a: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=</a:t>
            </a: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6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422523" y="3956051"/>
            <a:ext cx="330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  <a:r>
              <a:rPr lang="en-US" sz="2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n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421253" y="5354638"/>
            <a:ext cx="330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  <a:r>
              <a:rPr lang="en-US" sz="2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n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56161" y="5580063"/>
            <a:ext cx="166552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 from</a:t>
            </a:r>
          </a:p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new species</a:t>
            </a:r>
          </a:p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(4</a:t>
            </a:r>
            <a:r>
              <a:rPr lang="en-US" sz="2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n</a:t>
            </a: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)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436810" y="6005513"/>
            <a:ext cx="2559996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Gametes produced</a:t>
            </a:r>
          </a:p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by </a:t>
            </a:r>
            <a:r>
              <a:rPr lang="en-US" sz="22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tetraploids</a:t>
            </a:r>
            <a:endParaRPr lang="en-US" sz="22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15" name="TextBox 7"/>
          <p:cNvSpPr txBox="1">
            <a:spLocks noChangeArrowheads="1"/>
          </p:cNvSpPr>
          <p:nvPr/>
        </p:nvSpPr>
        <p:spPr bwMode="auto">
          <a:xfrm>
            <a:off x="3861591" y="2611439"/>
            <a:ext cx="10371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Meiosis</a:t>
            </a:r>
          </a:p>
        </p:txBody>
      </p:sp>
    </p:spTree>
    <p:extLst>
      <p:ext uri="{BB962C8B-B14F-4D97-AF65-F5344CB8AC3E}">
        <p14:creationId xmlns:p14="http://schemas.microsoft.com/office/powerpoint/2010/main" val="88996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Slide 22</a:t>
            </a:r>
          </a:p>
        </p:txBody>
      </p:sp>
      <p:sp>
        <p:nvSpPr>
          <p:cNvPr id="94209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228600"/>
            <a:ext cx="3352800" cy="6400800"/>
          </a:xfrm>
        </p:spPr>
        <p:txBody>
          <a:bodyPr/>
          <a:lstStyle/>
          <a:p>
            <a:r>
              <a:rPr lang="en-US" altLang="en-US" dirty="0"/>
              <a:t>An </a:t>
            </a:r>
            <a:r>
              <a:rPr lang="en-US" altLang="en-US" b="1" u="sng" dirty="0"/>
              <a:t>allo</a:t>
            </a:r>
            <a:r>
              <a:rPr lang="en-US" altLang="en-US" b="1" dirty="0"/>
              <a:t>polyploid </a:t>
            </a:r>
            <a:r>
              <a:rPr lang="en-US" altLang="en-US" dirty="0"/>
              <a:t>is a species with multiple sets of chromosomes </a:t>
            </a:r>
          </a:p>
          <a:p>
            <a:endParaRPr lang="en-US" altLang="en-US" i="1" dirty="0">
              <a:solidFill>
                <a:srgbClr val="FF0000"/>
              </a:solidFill>
            </a:endParaRPr>
          </a:p>
          <a:p>
            <a:endParaRPr lang="en-US" altLang="en-US" i="1" dirty="0">
              <a:solidFill>
                <a:srgbClr val="FF0000"/>
              </a:solidFill>
            </a:endParaRPr>
          </a:p>
          <a:p>
            <a:r>
              <a:rPr lang="en-US" dirty="0"/>
              <a:t>Allopolyploids can successfully mate with each other, but cannot </a:t>
            </a:r>
            <a:endParaRPr lang="en-US" altLang="en-US" dirty="0"/>
          </a:p>
        </p:txBody>
      </p:sp>
      <p:pic>
        <p:nvPicPr>
          <p:cNvPr id="3" name="Picture 2" descr="Figure 24.10_3 One mechanism for allopolyploid speciation in plants (step 3)&#10;">
            <a:extLst>
              <a:ext uri="{FF2B5EF4-FFF2-40B4-BE49-F238E27FC236}">
                <a16:creationId xmlns:a16="http://schemas.microsoft.com/office/drawing/2014/main" id="{A7F4235E-1C09-4DE7-8E51-EE726A926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284" y="583142"/>
            <a:ext cx="5147291" cy="569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4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" y="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Slide 23</a:t>
            </a:r>
          </a:p>
        </p:txBody>
      </p:sp>
      <p:pic>
        <p:nvPicPr>
          <p:cNvPr id="2" name="Picture 1" descr="Figure 24.11 Allopolyploid speciation in Tragopogon&#10;">
            <a:extLst>
              <a:ext uri="{FF2B5EF4-FFF2-40B4-BE49-F238E27FC236}">
                <a16:creationId xmlns:a16="http://schemas.microsoft.com/office/drawing/2014/main" id="{54084295-CD8A-47FB-A665-418BFF106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041" y="4617720"/>
            <a:ext cx="3442398" cy="2164080"/>
          </a:xfrm>
          <a:prstGeom prst="rect">
            <a:avLst/>
          </a:prstGeom>
        </p:spPr>
      </p:pic>
      <p:sp>
        <p:nvSpPr>
          <p:cNvPr id="98305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46037"/>
            <a:ext cx="8991600" cy="6354763"/>
          </a:xfrm>
        </p:spPr>
        <p:txBody>
          <a:bodyPr/>
          <a:lstStyle/>
          <a:p>
            <a:r>
              <a:rPr lang="en-US" altLang="en-US" dirty="0"/>
              <a:t>At least five new plant species have originated by </a:t>
            </a:r>
            <a:r>
              <a:rPr lang="en-US" altLang="en-US" dirty="0" err="1"/>
              <a:t>polyploid</a:t>
            </a:r>
            <a:r>
              <a:rPr lang="en-US" altLang="en-US" dirty="0"/>
              <a:t> speciation since 1850</a:t>
            </a:r>
          </a:p>
          <a:p>
            <a:pPr lvl="1"/>
            <a:r>
              <a:rPr lang="en-US" altLang="en-US" dirty="0"/>
              <a:t>EX: in the genus </a:t>
            </a:r>
            <a:r>
              <a:rPr lang="en-US" altLang="en-US" i="1" dirty="0" err="1"/>
              <a:t>Tragopogon</a:t>
            </a:r>
            <a:r>
              <a:rPr lang="en-US" altLang="en-US" i="1" dirty="0"/>
              <a:t> </a:t>
            </a:r>
            <a:r>
              <a:rPr lang="en-US" altLang="en-US" dirty="0"/>
              <a:t>(</a:t>
            </a:r>
            <a:r>
              <a:rPr lang="en-US" altLang="en-US" dirty="0" err="1"/>
              <a:t>goatsbeard</a:t>
            </a:r>
            <a:r>
              <a:rPr lang="en-US" altLang="en-US" dirty="0"/>
              <a:t>), 2  allopolyploid species have evolved from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Many important crops (</a:t>
            </a:r>
          </a:p>
          <a:p>
            <a:endParaRPr lang="en-US" altLang="en-US" dirty="0"/>
          </a:p>
          <a:p>
            <a:r>
              <a:rPr lang="en-US" dirty="0"/>
              <a:t>Plant geneticists can produce new polyploid species using </a:t>
            </a:r>
          </a:p>
        </p:txBody>
      </p:sp>
    </p:spTree>
    <p:extLst>
      <p:ext uri="{BB962C8B-B14F-4D97-AF65-F5344CB8AC3E}">
        <p14:creationId xmlns:p14="http://schemas.microsoft.com/office/powerpoint/2010/main" val="863526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5">
                    <a:lumMod val="50000"/>
                  </a:schemeClr>
                </a:solidFill>
              </a:rPr>
              <a:t>B</a:t>
            </a:r>
            <a:r>
              <a:rPr lang="en-US" altLang="en-US" dirty="0"/>
              <a:t>. </a:t>
            </a:r>
            <a:r>
              <a:rPr lang="en-US" altLang="en-US" i="1" dirty="0"/>
              <a:t>Sexual Selection</a:t>
            </a:r>
            <a:endParaRPr lang="en-US" altLang="en-US" dirty="0"/>
          </a:p>
        </p:txBody>
      </p:sp>
      <p:sp>
        <p:nvSpPr>
          <p:cNvPr id="102402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70560"/>
            <a:ext cx="8839199" cy="2057400"/>
          </a:xfrm>
        </p:spPr>
        <p:txBody>
          <a:bodyPr/>
          <a:lstStyle/>
          <a:p>
            <a:r>
              <a:rPr lang="en-US" altLang="en-US" dirty="0"/>
              <a:t>Sexual selection can </a:t>
            </a:r>
          </a:p>
          <a:p>
            <a:r>
              <a:rPr lang="en-US" altLang="en-US" dirty="0"/>
              <a:t>Sexual selection for mates of different colors has likely contributed to </a:t>
            </a:r>
          </a:p>
        </p:txBody>
      </p:sp>
      <p:pic>
        <p:nvPicPr>
          <p:cNvPr id="6146" name="Picture 2" descr="Example of sexual selection showing 2 species of fish in different colors of ligh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33" y="2637138"/>
            <a:ext cx="7451887" cy="405322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401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5">
                    <a:lumMod val="50000"/>
                  </a:schemeClr>
                </a:solidFill>
              </a:rPr>
              <a:t>C</a:t>
            </a:r>
            <a:r>
              <a:rPr lang="en-US" altLang="en-US" dirty="0"/>
              <a:t>. </a:t>
            </a:r>
            <a:r>
              <a:rPr lang="en-US" altLang="en-US" i="1" dirty="0"/>
              <a:t>Habitat Differentiation</a:t>
            </a:r>
            <a:endParaRPr lang="en-US" altLang="en-US" dirty="0"/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746760"/>
            <a:ext cx="8839199" cy="3276600"/>
          </a:xfrm>
        </p:spPr>
        <p:txBody>
          <a:bodyPr/>
          <a:lstStyle/>
          <a:p>
            <a:r>
              <a:rPr lang="en-US" altLang="en-US" dirty="0"/>
              <a:t>Sympatric speciation can also result from the appearance of </a:t>
            </a:r>
          </a:p>
          <a:p>
            <a:pPr lvl="1"/>
            <a:r>
              <a:rPr lang="en-US" altLang="en-US" dirty="0"/>
              <a:t>EX: populations of the North American maggot fly (</a:t>
            </a:r>
            <a:r>
              <a:rPr lang="en-US" altLang="en-US" i="1" dirty="0" err="1"/>
              <a:t>Rhagoletis</a:t>
            </a:r>
            <a:r>
              <a:rPr lang="en-US" altLang="en-US" i="1" dirty="0"/>
              <a:t> </a:t>
            </a:r>
            <a:r>
              <a:rPr lang="en-US" altLang="en-US" i="1" dirty="0" err="1"/>
              <a:t>pomonella</a:t>
            </a:r>
            <a:r>
              <a:rPr lang="en-US" altLang="en-US" dirty="0"/>
              <a:t>) can live on native hawthorn trees, as well as </a:t>
            </a:r>
          </a:p>
          <a:p>
            <a:pPr lvl="1"/>
            <a:r>
              <a:rPr lang="en-US" altLang="en-US" dirty="0"/>
              <a:t>Flies that use different host species experience </a:t>
            </a:r>
          </a:p>
        </p:txBody>
      </p:sp>
      <p:pic>
        <p:nvPicPr>
          <p:cNvPr id="4" name="Picture 3" descr="populations of the North American maggot fly (Rhagoletis pomonella) can live on native hawthorn trees, as well as more recently introduced apple trees&#10;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80"/>
          <a:stretch>
            <a:fillRect/>
          </a:stretch>
        </p:blipFill>
        <p:spPr>
          <a:xfrm>
            <a:off x="1386840" y="4017264"/>
            <a:ext cx="2654436" cy="2615184"/>
          </a:xfrm>
          <a:prstGeom prst="rect">
            <a:avLst/>
          </a:prstGeom>
        </p:spPr>
      </p:pic>
      <p:pic>
        <p:nvPicPr>
          <p:cNvPr id="5" name="Picture 4" descr="Flies that use different host species experience both habitat and temporal isolation&#10;"/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3"/>
          <a:stretch>
            <a:fillRect/>
          </a:stretch>
        </p:blipFill>
        <p:spPr>
          <a:xfrm>
            <a:off x="5124208" y="4008120"/>
            <a:ext cx="2669156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33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dirty="0"/>
              <a:t>Allopatric &amp; Sympatric Speciation: </a:t>
            </a:r>
            <a:r>
              <a:rPr lang="en-US" altLang="en-US" i="1" dirty="0"/>
              <a:t>A Review</a:t>
            </a:r>
            <a:endParaRPr lang="en-US" altLang="en-US" dirty="0"/>
          </a:p>
        </p:txBody>
      </p:sp>
      <p:sp>
        <p:nvSpPr>
          <p:cNvPr id="10854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46330"/>
            <a:ext cx="8839199" cy="6211669"/>
          </a:xfrm>
        </p:spPr>
        <p:txBody>
          <a:bodyPr/>
          <a:lstStyle/>
          <a:p>
            <a:r>
              <a:rPr lang="en-US" altLang="en-US" dirty="0"/>
              <a:t>In allopatric speciation, </a:t>
            </a:r>
            <a:r>
              <a:rPr lang="en-US" altLang="en-US" b="1" i="1" dirty="0"/>
              <a:t>geographic isolation </a:t>
            </a:r>
            <a:r>
              <a:rPr lang="en-US" altLang="en-US" dirty="0"/>
              <a:t>restricts </a:t>
            </a:r>
          </a:p>
          <a:p>
            <a:r>
              <a:rPr lang="en-US" altLang="en-US" dirty="0"/>
              <a:t>Reproductive isolation may then arise as a by-product of genetic changes resulting from </a:t>
            </a:r>
          </a:p>
          <a:p>
            <a:endParaRPr lang="en-US" altLang="en-US" dirty="0"/>
          </a:p>
          <a:p>
            <a:r>
              <a:rPr lang="en-US" altLang="en-US" dirty="0"/>
              <a:t>Even if contact is restored between </a:t>
            </a:r>
          </a:p>
          <a:p>
            <a:endParaRPr lang="en-US" altLang="en-US" dirty="0"/>
          </a:p>
          <a:p>
            <a:r>
              <a:rPr lang="en-US" altLang="en-US" dirty="0"/>
              <a:t>In sympatric speciation, a </a:t>
            </a:r>
            <a:r>
              <a:rPr lang="en-US" altLang="en-US" b="1" i="1" dirty="0"/>
              <a:t>reproductive barrier </a:t>
            </a:r>
            <a:r>
              <a:rPr lang="en-US" altLang="en-US" dirty="0"/>
              <a:t>isolates a subset of a population without geographic separation from </a:t>
            </a:r>
          </a:p>
          <a:p>
            <a:r>
              <a:rPr lang="en-US" altLang="en-US" dirty="0"/>
              <a:t>Sympatric speciation can result from </a:t>
            </a:r>
          </a:p>
        </p:txBody>
      </p:sp>
    </p:spTree>
    <p:extLst>
      <p:ext uri="{BB962C8B-B14F-4D97-AF65-F5344CB8AC3E}">
        <p14:creationId xmlns:p14="http://schemas.microsoft.com/office/powerpoint/2010/main" val="456008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i="1" dirty="0"/>
              <a:t>Visual comparison of speciation types</a:t>
            </a:r>
          </a:p>
        </p:txBody>
      </p:sp>
      <p:pic>
        <p:nvPicPr>
          <p:cNvPr id="3" name="Picture 2" descr="4 different types of speciation events: allopatric, peripatric, sympatric, and parapatric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762000"/>
            <a:ext cx="9182100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63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24.3: Hybrid zones reveal factors that cause reproductive isolation</a:t>
            </a:r>
          </a:p>
        </p:txBody>
      </p:sp>
      <p:sp>
        <p:nvSpPr>
          <p:cNvPr id="112642" name="Rectangle 3"/>
          <p:cNvSpPr>
            <a:spLocks noGrp="1" noChangeArrowheads="1"/>
          </p:cNvSpPr>
          <p:nvPr>
            <p:ph idx="1"/>
          </p:nvPr>
        </p:nvSpPr>
        <p:spPr>
          <a:xfrm>
            <a:off x="84668" y="990600"/>
            <a:ext cx="8991600" cy="5867400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/>
              <a:t>hybrid zone </a:t>
            </a:r>
            <a:r>
              <a:rPr lang="en-US" altLang="en-US" dirty="0"/>
              <a:t>is a region in which members of different species </a:t>
            </a:r>
          </a:p>
          <a:p>
            <a:r>
              <a:rPr lang="en-US" altLang="en-US" dirty="0"/>
              <a:t>A hybrid zone can occur in a single band where 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EX: two species of toad in the genus </a:t>
            </a:r>
            <a:r>
              <a:rPr lang="en-US" altLang="en-US" i="1" dirty="0" err="1"/>
              <a:t>Bombina</a:t>
            </a:r>
            <a:r>
              <a:rPr lang="en-US" altLang="en-US" dirty="0"/>
              <a:t> interbreed in </a:t>
            </a:r>
          </a:p>
          <a:p>
            <a:r>
              <a:rPr lang="en-US" altLang="en-US" dirty="0"/>
              <a:t>Hybrids are the result of mating between species with </a:t>
            </a:r>
          </a:p>
          <a:p>
            <a:endParaRPr lang="en-US" altLang="en-US" dirty="0"/>
          </a:p>
          <a:p>
            <a:r>
              <a:rPr lang="en-US" altLang="en-US" dirty="0"/>
              <a:t>Hybrids often have </a:t>
            </a:r>
          </a:p>
          <a:p>
            <a:r>
              <a:rPr lang="en-US" altLang="en-US" dirty="0"/>
              <a:t>The distribution of hybrid zones can be more complex if parent </a:t>
            </a:r>
          </a:p>
        </p:txBody>
      </p:sp>
    </p:spTree>
    <p:extLst>
      <p:ext uri="{BB962C8B-B14F-4D97-AF65-F5344CB8AC3E}">
        <p14:creationId xmlns:p14="http://schemas.microsoft.com/office/powerpoint/2010/main" val="3593837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24.13</a:t>
            </a:r>
          </a:p>
        </p:txBody>
      </p:sp>
      <p:pic>
        <p:nvPicPr>
          <p:cNvPr id="3" name="Picture 2" descr="Figure 24.13 A narrow hybrid zone for Bombina toads in Europe&#10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323850"/>
            <a:ext cx="862965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52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/>
              <a:t>Hybrid Zones and Environmental Change</a:t>
            </a:r>
            <a:endParaRPr lang="en-US" altLang="en-US" dirty="0"/>
          </a:p>
        </p:txBody>
      </p:sp>
      <p:sp>
        <p:nvSpPr>
          <p:cNvPr id="120834" name="Rectangle 3"/>
          <p:cNvSpPr>
            <a:spLocks noGrp="1" noChangeArrowheads="1"/>
          </p:cNvSpPr>
          <p:nvPr>
            <p:ph idx="1"/>
          </p:nvPr>
        </p:nvSpPr>
        <p:spPr>
          <a:xfrm>
            <a:off x="91190" y="733270"/>
            <a:ext cx="8991600" cy="6124730"/>
          </a:xfrm>
        </p:spPr>
        <p:txBody>
          <a:bodyPr/>
          <a:lstStyle/>
          <a:p>
            <a:r>
              <a:rPr lang="en-US" altLang="en-US" dirty="0"/>
              <a:t>Change in environmental conditions can result in the relocation of existing hybrid zones or the production of </a:t>
            </a:r>
          </a:p>
          <a:p>
            <a:pPr lvl="1"/>
            <a:r>
              <a:rPr lang="en-US" altLang="en-US" dirty="0"/>
              <a:t>EX: the hybrid zone between black-capped and Carolina chickadees has shifted northward in response to </a:t>
            </a:r>
          </a:p>
          <a:p>
            <a:pPr lvl="1"/>
            <a:r>
              <a:rPr lang="en-US" altLang="en-US" dirty="0"/>
              <a:t>EX: the species range of southern flying squirrels now overlaps with that of the </a:t>
            </a:r>
          </a:p>
          <a:p>
            <a:r>
              <a:rPr lang="en-US" altLang="en-US" dirty="0"/>
              <a:t>Breeding between hybrids and parent species can result in the transfer of alleles from </a:t>
            </a:r>
          </a:p>
          <a:p>
            <a:endParaRPr lang="en-US" altLang="en-US" dirty="0"/>
          </a:p>
          <a:p>
            <a:r>
              <a:rPr lang="en-US" altLang="en-US" dirty="0"/>
              <a:t>The transfer of novel alleles may help </a:t>
            </a:r>
          </a:p>
        </p:txBody>
      </p:sp>
    </p:spTree>
    <p:extLst>
      <p:ext uri="{BB962C8B-B14F-4D97-AF65-F5344CB8AC3E}">
        <p14:creationId xmlns:p14="http://schemas.microsoft.com/office/powerpoint/2010/main" val="4683700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4.14_4 Formation of a hybrid zone and possible outcomes for hybrids over time (step 4)&#10;">
            <a:extLst>
              <a:ext uri="{FF2B5EF4-FFF2-40B4-BE49-F238E27FC236}">
                <a16:creationId xmlns:a16="http://schemas.microsoft.com/office/drawing/2014/main" id="{6165C1C8-7A95-46EF-AE4C-0AFE25E1E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9" y="2895600"/>
            <a:ext cx="8763000" cy="3848100"/>
          </a:xfrm>
          <a:prstGeom prst="rect">
            <a:avLst/>
          </a:prstGeom>
        </p:spPr>
      </p:pic>
      <p:sp>
        <p:nvSpPr>
          <p:cNvPr id="1208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Hybrid Zones over Time</a:t>
            </a:r>
            <a:endParaRPr lang="en-US" altLang="en-US" dirty="0"/>
          </a:p>
        </p:txBody>
      </p:sp>
      <p:sp>
        <p:nvSpPr>
          <p:cNvPr id="120834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46331"/>
            <a:ext cx="8839199" cy="5843765"/>
          </a:xfrm>
        </p:spPr>
        <p:txBody>
          <a:bodyPr/>
          <a:lstStyle/>
          <a:p>
            <a:r>
              <a:rPr lang="en-US" altLang="en-US" dirty="0"/>
              <a:t>If hybrids do not become reproductively isolated from their parent species, then three alternate outcomes are possible: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283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/>
              <a:t>1. </a:t>
            </a:r>
            <a:r>
              <a:rPr lang="en-US" altLang="en-US" i="1" dirty="0"/>
              <a:t>Reinforcement: Strengthening Reproductive Barriers</a:t>
            </a:r>
            <a:endParaRPr lang="en-US" altLang="en-US" dirty="0"/>
          </a:p>
        </p:txBody>
      </p:sp>
      <p:sp>
        <p:nvSpPr>
          <p:cNvPr id="124930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152990"/>
            <a:ext cx="8991600" cy="5705010"/>
          </a:xfrm>
        </p:spPr>
        <p:txBody>
          <a:bodyPr/>
          <a:lstStyle/>
          <a:p>
            <a:r>
              <a:rPr lang="en-US" altLang="en-US" dirty="0"/>
              <a:t>When hybrids are less fit than parent species, </a:t>
            </a:r>
            <a:r>
              <a:rPr lang="en-US" altLang="en-US" b="1" dirty="0"/>
              <a:t>reinforcement</a:t>
            </a:r>
            <a:r>
              <a:rPr lang="en-US" altLang="en-US" dirty="0"/>
              <a:t> of reproductive barriers may occur through </a:t>
            </a:r>
          </a:p>
          <a:p>
            <a:r>
              <a:rPr lang="en-US" altLang="en-US" dirty="0"/>
              <a:t>Over time, the </a:t>
            </a:r>
            <a:endParaRPr lang="en-US" altLang="en-US" b="1" i="1" dirty="0">
              <a:solidFill>
                <a:srgbClr val="FF0000"/>
              </a:solidFill>
            </a:endParaRPr>
          </a:p>
          <a:p>
            <a:r>
              <a:rPr lang="en-US" altLang="en-US" dirty="0"/>
              <a:t>Where reinforcement occurs, reproductive barriers should be </a:t>
            </a:r>
          </a:p>
          <a:p>
            <a:pPr lvl="1"/>
            <a:r>
              <a:rPr lang="en-US" altLang="en-US" dirty="0"/>
              <a:t>EX: female flycatchers recognize and select mates of their own species when choosing between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Female flycatchers frequently make mistakes when selecting males from the </a:t>
            </a:r>
          </a:p>
        </p:txBody>
      </p:sp>
    </p:spTree>
    <p:extLst>
      <p:ext uri="{BB962C8B-B14F-4D97-AF65-F5344CB8AC3E}">
        <p14:creationId xmlns:p14="http://schemas.microsoft.com/office/powerpoint/2010/main" val="1850213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dirty="0"/>
              <a:t>2. </a:t>
            </a:r>
            <a:r>
              <a:rPr lang="en-US" altLang="en-US" i="1" dirty="0"/>
              <a:t>Fusion: Weakening Reproductive Barriers</a:t>
            </a:r>
            <a:endParaRPr lang="en-US" altLang="en-US" dirty="0"/>
          </a:p>
        </p:txBody>
      </p:sp>
      <p:sp>
        <p:nvSpPr>
          <p:cNvPr id="1310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If hybrids are as fit as parents, there can be </a:t>
            </a:r>
          </a:p>
          <a:p>
            <a:endParaRPr lang="en-US" altLang="en-US" dirty="0"/>
          </a:p>
          <a:p>
            <a:r>
              <a:rPr lang="en-US" altLang="en-US" dirty="0"/>
              <a:t>If gene flow is great enough, reproductive barriers weaken, the 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EX: pollution in Lake Victoria has reduced the ability of female cichlids to distinguish males of </a:t>
            </a:r>
          </a:p>
        </p:txBody>
      </p:sp>
    </p:spTree>
    <p:extLst>
      <p:ext uri="{BB962C8B-B14F-4D97-AF65-F5344CB8AC3E}">
        <p14:creationId xmlns:p14="http://schemas.microsoft.com/office/powerpoint/2010/main" val="2841016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/>
              <a:t>3. </a:t>
            </a:r>
            <a:r>
              <a:rPr lang="en-US" altLang="en-US" i="1" dirty="0"/>
              <a:t>Stability: Continued Formation of Hybrid Individuals</a:t>
            </a:r>
            <a:endParaRPr lang="en-US" altLang="en-US" dirty="0"/>
          </a:p>
        </p:txBody>
      </p:sp>
      <p:sp>
        <p:nvSpPr>
          <p:cNvPr id="1351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Extensive gene flow from outside the hybrid zone can overwhelm selection for 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EX: parent species of </a:t>
            </a:r>
            <a:r>
              <a:rPr lang="en-US" altLang="en-US" i="1" dirty="0" err="1"/>
              <a:t>Bombina</a:t>
            </a:r>
            <a:r>
              <a:rPr lang="en-US" altLang="en-US" dirty="0"/>
              <a:t> routinely migrate into the narrow hybrid zone, resulting in </a:t>
            </a:r>
          </a:p>
        </p:txBody>
      </p:sp>
    </p:spTree>
    <p:extLst>
      <p:ext uri="{BB962C8B-B14F-4D97-AF65-F5344CB8AC3E}">
        <p14:creationId xmlns:p14="http://schemas.microsoft.com/office/powerpoint/2010/main" val="3644452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6966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24.4: Speciation can occur rapidly or slowly and can result from changes in few or many genes </a:t>
            </a:r>
          </a:p>
        </p:txBody>
      </p:sp>
      <p:sp>
        <p:nvSpPr>
          <p:cNvPr id="137218" name="Rectangle 3"/>
          <p:cNvSpPr>
            <a:spLocks noGrp="1" noChangeArrowheads="1"/>
          </p:cNvSpPr>
          <p:nvPr>
            <p:ph idx="1"/>
          </p:nvPr>
        </p:nvSpPr>
        <p:spPr>
          <a:xfrm>
            <a:off x="92439" y="1524000"/>
            <a:ext cx="8991601" cy="5334000"/>
          </a:xfrm>
        </p:spPr>
        <p:txBody>
          <a:bodyPr/>
          <a:lstStyle/>
          <a:p>
            <a:r>
              <a:rPr lang="en-US" altLang="en-US" dirty="0"/>
              <a:t>Question: How long for new species to form and how many </a:t>
            </a:r>
          </a:p>
          <a:p>
            <a:r>
              <a:rPr lang="en-US" altLang="en-US" dirty="0"/>
              <a:t>The rate of speciation can be studied using the fossil record, </a:t>
            </a:r>
          </a:p>
          <a:p>
            <a:r>
              <a:rPr lang="en-US" altLang="en-US" dirty="0"/>
              <a:t>The fossil record includes examples of species that appear suddenly, persist unchanged for some time, and </a:t>
            </a:r>
          </a:p>
          <a:p>
            <a:r>
              <a:rPr lang="en-US" altLang="en-US" b="1" dirty="0"/>
              <a:t>Punctuated equilibria </a:t>
            </a:r>
            <a:r>
              <a:rPr lang="en-US" altLang="en-US" dirty="0"/>
              <a:t>describes these periods of apparent </a:t>
            </a:r>
          </a:p>
          <a:p>
            <a:r>
              <a:rPr lang="en-US" altLang="en-US" dirty="0"/>
              <a:t>The punctuated equilibrium model contrasts with a model of </a:t>
            </a:r>
          </a:p>
        </p:txBody>
      </p:sp>
    </p:spTree>
    <p:extLst>
      <p:ext uri="{BB962C8B-B14F-4D97-AF65-F5344CB8AC3E}">
        <p14:creationId xmlns:p14="http://schemas.microsoft.com/office/powerpoint/2010/main" val="975385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4.16 Two models for the tempo of speciation&#10;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5"/>
          <a:stretch>
            <a:fillRect/>
          </a:stretch>
        </p:blipFill>
        <p:spPr>
          <a:xfrm>
            <a:off x="298704" y="557784"/>
            <a:ext cx="8546592" cy="574243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24.16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327479" y="566737"/>
            <a:ext cx="234679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(a) Punctuated model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97342" y="2960688"/>
            <a:ext cx="53444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Time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27479" y="3557588"/>
            <a:ext cx="197490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(b) Gradual model</a:t>
            </a:r>
          </a:p>
        </p:txBody>
      </p:sp>
    </p:spTree>
    <p:extLst>
      <p:ext uri="{BB962C8B-B14F-4D97-AF65-F5344CB8AC3E}">
        <p14:creationId xmlns:p14="http://schemas.microsoft.com/office/powerpoint/2010/main" val="1166091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Speciation Rates</a:t>
            </a:r>
            <a:endParaRPr lang="en-US" altLang="en-US" dirty="0"/>
          </a:p>
        </p:txBody>
      </p:sp>
      <p:sp>
        <p:nvSpPr>
          <p:cNvPr id="145410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646331"/>
            <a:ext cx="8991600" cy="3773269"/>
          </a:xfrm>
        </p:spPr>
        <p:txBody>
          <a:bodyPr/>
          <a:lstStyle/>
          <a:p>
            <a:r>
              <a:rPr lang="en-US" altLang="en-US" dirty="0"/>
              <a:t>The punctuated pattern in the fossil record suggests that </a:t>
            </a:r>
          </a:p>
          <a:p>
            <a:pPr lvl="1"/>
            <a:r>
              <a:rPr lang="en-US" altLang="en-US" dirty="0"/>
              <a:t>EX: Sunflower </a:t>
            </a:r>
            <a:r>
              <a:rPr lang="en-US" altLang="en-US" i="1" dirty="0"/>
              <a:t>Helianthus </a:t>
            </a:r>
            <a:r>
              <a:rPr lang="en-US" altLang="en-US" i="1" dirty="0" err="1"/>
              <a:t>anomalus</a:t>
            </a:r>
            <a:r>
              <a:rPr lang="en-US" altLang="en-US" i="1" dirty="0"/>
              <a:t> </a:t>
            </a:r>
            <a:r>
              <a:rPr lang="en-US" altLang="en-US" dirty="0"/>
              <a:t>was formed by hybridization between two other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The interval between speciation events can range from 4,000 years (some cichlids) to 40 million years (some beetles), with </a:t>
            </a:r>
          </a:p>
        </p:txBody>
      </p:sp>
      <p:pic>
        <p:nvPicPr>
          <p:cNvPr id="4" name="Picture 3" descr="Figure 24.17 A hybrid sunflower species and its dry sand dune habitat&#10;">
            <a:extLst>
              <a:ext uri="{FF2B5EF4-FFF2-40B4-BE49-F238E27FC236}">
                <a16:creationId xmlns:a16="http://schemas.microsoft.com/office/drawing/2014/main" id="{8BA54D73-899E-4B73-BA51-E07F3BFB2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096" y="4396154"/>
            <a:ext cx="3681808" cy="233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69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Studying the Genetics of Speciation</a:t>
            </a:r>
            <a:endParaRPr lang="en-US" altLang="en-US" dirty="0"/>
          </a:p>
        </p:txBody>
      </p:sp>
      <p:sp>
        <p:nvSpPr>
          <p:cNvPr id="153602" name="Rectangle 3"/>
          <p:cNvSpPr>
            <a:spLocks noGrp="1" noChangeArrowheads="1"/>
          </p:cNvSpPr>
          <p:nvPr>
            <p:ph idx="1"/>
          </p:nvPr>
        </p:nvSpPr>
        <p:spPr>
          <a:xfrm>
            <a:off x="84668" y="671730"/>
            <a:ext cx="8991600" cy="6186269"/>
          </a:xfrm>
        </p:spPr>
        <p:txBody>
          <a:bodyPr/>
          <a:lstStyle/>
          <a:p>
            <a:r>
              <a:rPr lang="en-US" altLang="en-US" dirty="0"/>
              <a:t>A fundamental question of evolutionary biology persists: </a:t>
            </a:r>
          </a:p>
          <a:p>
            <a:endParaRPr lang="en-US" b="1" i="1" dirty="0"/>
          </a:p>
          <a:p>
            <a:r>
              <a:rPr lang="en-US" altLang="en-US" dirty="0"/>
              <a:t>Depending on the species in question, speciation might require </a:t>
            </a:r>
          </a:p>
          <a:p>
            <a:pPr lvl="1"/>
            <a:r>
              <a:rPr lang="en-US" altLang="en-US" dirty="0"/>
              <a:t>EX: In Japanese </a:t>
            </a:r>
            <a:r>
              <a:rPr lang="en-US" altLang="en-US" i="1" dirty="0" err="1"/>
              <a:t>Euhadra</a:t>
            </a:r>
            <a:r>
              <a:rPr lang="en-US" altLang="en-US" dirty="0"/>
              <a:t> snails, the direction of shell spiral affects </a:t>
            </a:r>
          </a:p>
          <a:p>
            <a:pPr lvl="1"/>
            <a:r>
              <a:rPr lang="en-US" altLang="en-US" dirty="0"/>
              <a:t>In monkey flowers (</a:t>
            </a:r>
            <a:r>
              <a:rPr lang="en-US" altLang="en-US" i="1" dirty="0"/>
              <a:t>Mimulus</a:t>
            </a:r>
            <a:r>
              <a:rPr lang="en-US" altLang="en-US" dirty="0"/>
              <a:t>), at least two loci affect flower color, which </a:t>
            </a:r>
          </a:p>
          <a:p>
            <a:pPr lvl="1"/>
            <a:r>
              <a:rPr lang="en-US" altLang="en-US" dirty="0"/>
              <a:t>Pollination that is dominated by either hummingbirds or bees can lead to </a:t>
            </a:r>
          </a:p>
          <a:p>
            <a:pPr lvl="1"/>
            <a:r>
              <a:rPr lang="en-US" altLang="en-US" dirty="0"/>
              <a:t>In other organisms, speciation can be influenced by </a:t>
            </a:r>
          </a:p>
        </p:txBody>
      </p:sp>
    </p:spTree>
    <p:extLst>
      <p:ext uri="{BB962C8B-B14F-4D97-AF65-F5344CB8AC3E}">
        <p14:creationId xmlns:p14="http://schemas.microsoft.com/office/powerpoint/2010/main" val="4188979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From Speciation to Macroevolution</a:t>
            </a:r>
            <a:endParaRPr lang="en-US" altLang="en-US" dirty="0"/>
          </a:p>
        </p:txBody>
      </p:sp>
      <p:sp>
        <p:nvSpPr>
          <p:cNvPr id="159746" name="Rectangle 3"/>
          <p:cNvSpPr>
            <a:spLocks noGrp="1" noChangeArrowheads="1"/>
          </p:cNvSpPr>
          <p:nvPr>
            <p:ph idx="1"/>
          </p:nvPr>
        </p:nvSpPr>
        <p:spPr>
          <a:xfrm>
            <a:off x="95250" y="609600"/>
            <a:ext cx="8991600" cy="3550920"/>
          </a:xfrm>
        </p:spPr>
        <p:txBody>
          <a:bodyPr/>
          <a:lstStyle/>
          <a:p>
            <a:r>
              <a:rPr lang="en-US" altLang="en-US" dirty="0"/>
              <a:t>Microevolution happens on a </a:t>
            </a:r>
          </a:p>
          <a:p>
            <a:endParaRPr lang="en-US" altLang="en-US" dirty="0"/>
          </a:p>
          <a:p>
            <a:r>
              <a:rPr lang="en-US" altLang="en-US" dirty="0"/>
              <a:t>Macroevolution happens on a </a:t>
            </a:r>
          </a:p>
          <a:p>
            <a:endParaRPr lang="en-US" altLang="en-US" dirty="0"/>
          </a:p>
          <a:p>
            <a:r>
              <a:rPr lang="en-US" altLang="en-US" dirty="0"/>
              <a:t>Evolution at both of these levels relies on the same, established </a:t>
            </a:r>
          </a:p>
        </p:txBody>
      </p:sp>
      <p:pic>
        <p:nvPicPr>
          <p:cNvPr id="6" name="Picture 5" descr="Macro vs. micro evolution" title="Macro vs. micro evolution">
            <a:extLst>
              <a:ext uri="{FF2B5EF4-FFF2-40B4-BE49-F238E27FC236}">
                <a16:creationId xmlns:a16="http://schemas.microsoft.com/office/drawing/2014/main" id="{609910CE-DCDD-4815-A1D4-D99C97E09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851" y="3856809"/>
            <a:ext cx="4030298" cy="294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913516"/>
      </p:ext>
    </p:extLst>
  </p:cSld>
  <p:clrMapOvr>
    <a:masterClrMapping/>
  </p:clrMapOvr>
</p:sld>
</file>

<file path=ppt/theme/theme1.xml><?xml version="1.0" encoding="utf-8"?>
<a:theme xmlns:a="http://schemas.openxmlformats.org/drawingml/2006/main" name="Campbell11e_LectureDesign">
  <a:themeElements>
    <a:clrScheme name="1_CC4eActiveLectureQuestions 15">
      <a:dk1>
        <a:srgbClr val="000000"/>
      </a:dk1>
      <a:lt1>
        <a:srgbClr val="FFFFFF"/>
      </a:lt1>
      <a:dk2>
        <a:srgbClr val="0060AF"/>
      </a:dk2>
      <a:lt2>
        <a:srgbClr val="000000"/>
      </a:lt2>
      <a:accent1>
        <a:srgbClr val="F7955A"/>
      </a:accent1>
      <a:accent2>
        <a:srgbClr val="009247"/>
      </a:accent2>
      <a:accent3>
        <a:srgbClr val="FFFFFF"/>
      </a:accent3>
      <a:accent4>
        <a:srgbClr val="000000"/>
      </a:accent4>
      <a:accent5>
        <a:srgbClr val="FAC8B5"/>
      </a:accent5>
      <a:accent6>
        <a:srgbClr val="00843F"/>
      </a:accent6>
      <a:hlink>
        <a:srgbClr val="009999"/>
      </a:hlink>
      <a:folHlink>
        <a:srgbClr val="99CC00"/>
      </a:folHlink>
    </a:clrScheme>
    <a:fontScheme name="1_CC4eActiveLectureQuestions">
      <a:majorFont>
        <a:latin typeface="Times New Roman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C4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5">
        <a:dk1>
          <a:srgbClr val="000000"/>
        </a:dk1>
        <a:lt1>
          <a:srgbClr val="FFFFFF"/>
        </a:lt1>
        <a:dk2>
          <a:srgbClr val="0060AF"/>
        </a:dk2>
        <a:lt2>
          <a:srgbClr val="000000"/>
        </a:lt2>
        <a:accent1>
          <a:srgbClr val="F7955A"/>
        </a:accent1>
        <a:accent2>
          <a:srgbClr val="009247"/>
        </a:accent2>
        <a:accent3>
          <a:srgbClr val="FFFFFF"/>
        </a:accent3>
        <a:accent4>
          <a:srgbClr val="000000"/>
        </a:accent4>
        <a:accent5>
          <a:srgbClr val="FAC8B5"/>
        </a:accent5>
        <a:accent6>
          <a:srgbClr val="00843F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mpbell11e_LectureDesign" id="{1E29558D-F693-462F-BFE8-09589E69881C}" vid="{70B05F25-2FB3-4FD4-980B-A633ABC17E0B}"/>
    </a:ext>
  </a:ext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7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8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Campbell11e_LectureDesign</Template>
  <TotalTime>7244</TotalTime>
  <Words>1958</Words>
  <Application>Microsoft Office PowerPoint</Application>
  <PresentationFormat>On-screen Show (4:3)</PresentationFormat>
  <Paragraphs>355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ＭＳ Ｐゴシック</vt:lpstr>
      <vt:lpstr>Arial</vt:lpstr>
      <vt:lpstr>Geneva</vt:lpstr>
      <vt:lpstr>Times</vt:lpstr>
      <vt:lpstr>Times New Roman</vt:lpstr>
      <vt:lpstr>Wingdings</vt:lpstr>
      <vt:lpstr>ヒラギノ角ゴ Pro W3</vt:lpstr>
      <vt:lpstr>Campbell11e_LectureDesign</vt:lpstr>
      <vt:lpstr>Blank</vt:lpstr>
      <vt:lpstr>14_Blank</vt:lpstr>
      <vt:lpstr>27_Blank</vt:lpstr>
      <vt:lpstr>32_Blank</vt:lpstr>
      <vt:lpstr>45_Blank</vt:lpstr>
      <vt:lpstr>55_Blank</vt:lpstr>
      <vt:lpstr>68_Blank</vt:lpstr>
      <vt:lpstr>CH 24 lecture</vt:lpstr>
      <vt:lpstr>CH 24 Learning Objectives</vt:lpstr>
      <vt:lpstr>Concept 24.1: The biological species concept emphasizes reproductive isolation</vt:lpstr>
      <vt:lpstr>Reproductive Isolation</vt:lpstr>
      <vt:lpstr>Figure 24.3</vt:lpstr>
      <vt:lpstr>Slide 6</vt:lpstr>
      <vt:lpstr>Slide 7</vt:lpstr>
      <vt:lpstr>Slide 8</vt:lpstr>
      <vt:lpstr>Slide 9</vt:lpstr>
      <vt:lpstr>Slide 10</vt:lpstr>
      <vt:lpstr>Slide 11</vt:lpstr>
      <vt:lpstr>Limitations of the Biological Species Concept</vt:lpstr>
      <vt:lpstr>Figure 24.4</vt:lpstr>
      <vt:lpstr>Slide 14</vt:lpstr>
      <vt:lpstr>Concept 24.2: Speciation can take place with or without geographic separation</vt:lpstr>
      <vt:lpstr>1. Allopatric (“Other Country”) Speciation</vt:lpstr>
      <vt:lpstr>The Process of Allopatric Speciation</vt:lpstr>
      <vt:lpstr>Figure 24.6</vt:lpstr>
      <vt:lpstr>2. Sympatric (“Same Country”) Speciation</vt:lpstr>
      <vt:lpstr>A. Polyploidy</vt:lpstr>
      <vt:lpstr>Figure 24.9</vt:lpstr>
      <vt:lpstr>Slide 22</vt:lpstr>
      <vt:lpstr>Slide 23</vt:lpstr>
      <vt:lpstr>B. Sexual Selection</vt:lpstr>
      <vt:lpstr>C. Habitat Differentiation</vt:lpstr>
      <vt:lpstr>Allopatric &amp; Sympatric Speciation: A Review</vt:lpstr>
      <vt:lpstr>Visual comparison of speciation types</vt:lpstr>
      <vt:lpstr>Concept 24.3: Hybrid zones reveal factors that cause reproductive isolation</vt:lpstr>
      <vt:lpstr>Figure 24.13</vt:lpstr>
      <vt:lpstr>Hybrid Zones and Environmental Change</vt:lpstr>
      <vt:lpstr>Hybrid Zones over Time</vt:lpstr>
      <vt:lpstr>1. Reinforcement: Strengthening Reproductive Barriers</vt:lpstr>
      <vt:lpstr>2. Fusion: Weakening Reproductive Barriers</vt:lpstr>
      <vt:lpstr>3. Stability: Continued Formation of Hybrid Individuals</vt:lpstr>
      <vt:lpstr>Concept 24.4: Speciation can occur rapidly or slowly and can result from changes in few or many genes </vt:lpstr>
      <vt:lpstr>Figure 24.16</vt:lpstr>
      <vt:lpstr>Speciation Rates</vt:lpstr>
      <vt:lpstr>Studying the Genetics of Speciation</vt:lpstr>
      <vt:lpstr>From Speciation to Macroevolution</vt:lpstr>
    </vt:vector>
  </TitlesOfParts>
  <Company>Jerome 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Adam W. Hrincevich</dc:creator>
  <cp:lastModifiedBy>Adam Hrincevich</cp:lastModifiedBy>
  <cp:revision>304</cp:revision>
  <cp:lastPrinted>2019-01-22T17:48:04Z</cp:lastPrinted>
  <dcterms:created xsi:type="dcterms:W3CDTF">2010-08-06T18:35:02Z</dcterms:created>
  <dcterms:modified xsi:type="dcterms:W3CDTF">2026-09-02T17:17:13Z</dcterms:modified>
</cp:coreProperties>
</file>