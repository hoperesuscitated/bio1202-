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56" r:id="rId4"/>
    <p:sldId id="259" r:id="rId5"/>
    <p:sldId id="258" r:id="rId6"/>
    <p:sldId id="257" r:id="rId7"/>
  </p:sldIdLst>
  <p:sldSz cx="9144000" cy="6858000" type="screen4x3"/>
  <p:notesSz cx="7077075" cy="93694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0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18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8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44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71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10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10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02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786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0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6AA795-D1A0-4A70-83D5-960D1A8A2518}" type="datetimeFigureOut">
              <a:rPr lang="en-US" smtClean="0"/>
              <a:t>2/13/2022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B4CE3-6D62-427A-8C14-07E45D855B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88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859316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b="1" dirty="0"/>
              <a:t>Tree Building Exercise:</a:t>
            </a:r>
          </a:p>
          <a:p>
            <a:pPr algn="ctr"/>
            <a:r>
              <a:rPr lang="en-US" sz="9600" b="1" dirty="0">
                <a:solidFill>
                  <a:srgbClr val="FF0000"/>
                </a:solidFill>
              </a:rPr>
              <a:t>Men in Hats…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273225"/>
            <a:ext cx="9144000" cy="58477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NOTE: Play this PowerPoint in SLIDE SHOW mode</a:t>
            </a:r>
          </a:p>
        </p:txBody>
      </p:sp>
    </p:spTree>
    <p:extLst>
      <p:ext uri="{BB962C8B-B14F-4D97-AF65-F5344CB8AC3E}">
        <p14:creationId xmlns:p14="http://schemas.microsoft.com/office/powerpoint/2010/main" val="191412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219" y="4579349"/>
            <a:ext cx="1761093" cy="211938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944"/>
            <a:ext cx="1761093" cy="21193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579349"/>
            <a:ext cx="1761093" cy="211938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1292" y="2310147"/>
            <a:ext cx="1755020" cy="211331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5219" y="40944"/>
            <a:ext cx="1761093" cy="21133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322292"/>
            <a:ext cx="1761093" cy="210116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456718" y="6599218"/>
            <a:ext cx="811441" cy="24622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OUTGROUP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0438" y="150126"/>
            <a:ext cx="5164393" cy="3030300"/>
          </a:xfrm>
          <a:prstGeom prst="rect">
            <a:avLst/>
          </a:prstGeom>
          <a:ln w="31750">
            <a:solidFill>
              <a:schemeClr val="tx1"/>
            </a:solidFill>
          </a:ln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91938" y="3629034"/>
            <a:ext cx="4503761" cy="306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17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196" y="3333565"/>
            <a:ext cx="2762250" cy="3324225"/>
          </a:xfrm>
          <a:prstGeom prst="rect">
            <a:avLst/>
          </a:prstGeom>
        </p:spPr>
      </p:pic>
      <p:pic>
        <p:nvPicPr>
          <p:cNvPr id="115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05" y="9810"/>
            <a:ext cx="2762250" cy="3324225"/>
          </a:xfrm>
          <a:prstGeom prst="rect">
            <a:avLst/>
          </a:prstGeom>
        </p:spPr>
      </p:pic>
      <p:pic>
        <p:nvPicPr>
          <p:cNvPr id="116" name="Picture 1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965" y="24707"/>
            <a:ext cx="2762250" cy="3324225"/>
          </a:xfrm>
          <a:prstGeom prst="rect">
            <a:avLst/>
          </a:prstGeom>
        </p:spPr>
      </p:pic>
      <p:pic>
        <p:nvPicPr>
          <p:cNvPr id="117" name="Picture 1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113" y="3343090"/>
            <a:ext cx="2752725" cy="3314700"/>
          </a:xfrm>
          <a:prstGeom prst="rect">
            <a:avLst/>
          </a:prstGeom>
        </p:spPr>
      </p:pic>
      <p:pic>
        <p:nvPicPr>
          <p:cNvPr id="118" name="Picture 1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505" y="3343090"/>
            <a:ext cx="2762250" cy="3314700"/>
          </a:xfrm>
          <a:prstGeom prst="rect">
            <a:avLst/>
          </a:prstGeom>
        </p:spPr>
      </p:pic>
      <p:pic>
        <p:nvPicPr>
          <p:cNvPr id="119" name="Picture 1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357" y="24707"/>
            <a:ext cx="2762250" cy="329565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7062629" y="6518280"/>
            <a:ext cx="1182118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OUTGROUP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345523" y="2511853"/>
            <a:ext cx="6477918" cy="1938992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Build a cladogram (family tree) depicting their evolutionary relatedness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029167" y="3127406"/>
            <a:ext cx="5110630" cy="70788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4000" b="1" dirty="0"/>
              <a:t>How do you do that???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326440" y="2788968"/>
            <a:ext cx="6477918" cy="132343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6 hypothetical individuals with different characters</a:t>
            </a:r>
          </a:p>
        </p:txBody>
      </p:sp>
      <p:grpSp>
        <p:nvGrpSpPr>
          <p:cNvPr id="134" name="Group 133"/>
          <p:cNvGrpSpPr/>
          <p:nvPr/>
        </p:nvGrpSpPr>
        <p:grpSpPr>
          <a:xfrm>
            <a:off x="28222" y="270933"/>
            <a:ext cx="1411107" cy="2703688"/>
            <a:chOff x="28222" y="270933"/>
            <a:chExt cx="1411107" cy="2703688"/>
          </a:xfrm>
        </p:grpSpPr>
        <p:sp>
          <p:nvSpPr>
            <p:cNvPr id="129" name="Right Arrow 128"/>
            <p:cNvSpPr/>
            <p:nvPr/>
          </p:nvSpPr>
          <p:spPr>
            <a:xfrm>
              <a:off x="304800" y="270933"/>
              <a:ext cx="841018" cy="440266"/>
            </a:xfrm>
            <a:prstGeom prst="rightArrow">
              <a:avLst>
                <a:gd name="adj1" fmla="val 47863"/>
                <a:gd name="adj2" fmla="val 83333"/>
              </a:avLst>
            </a:prstGeom>
            <a:pattFill prst="dkHorz">
              <a:fgClr>
                <a:srgbClr val="FF0000"/>
              </a:fgClr>
              <a:bgClr>
                <a:srgbClr val="FFFF00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ight Arrow 129"/>
            <p:cNvSpPr/>
            <p:nvPr/>
          </p:nvSpPr>
          <p:spPr>
            <a:xfrm rot="18901482">
              <a:off x="28222" y="1122917"/>
              <a:ext cx="841018" cy="440266"/>
            </a:xfrm>
            <a:prstGeom prst="rightArrow">
              <a:avLst>
                <a:gd name="adj1" fmla="val 47863"/>
                <a:gd name="adj2" fmla="val 83333"/>
              </a:avLst>
            </a:prstGeom>
            <a:pattFill prst="dkHorz">
              <a:fgClr>
                <a:srgbClr val="FF0000"/>
              </a:fgClr>
              <a:bgClr>
                <a:srgbClr val="FFFF00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2" name="Right Arrow 131"/>
            <p:cNvSpPr/>
            <p:nvPr/>
          </p:nvSpPr>
          <p:spPr>
            <a:xfrm rot="18901482">
              <a:off x="598311" y="1625272"/>
              <a:ext cx="841018" cy="440266"/>
            </a:xfrm>
            <a:prstGeom prst="rightArrow">
              <a:avLst>
                <a:gd name="adj1" fmla="val 47863"/>
                <a:gd name="adj2" fmla="val 83333"/>
              </a:avLst>
            </a:prstGeom>
            <a:pattFill prst="dkHorz">
              <a:fgClr>
                <a:srgbClr val="FF0000"/>
              </a:fgClr>
              <a:bgClr>
                <a:srgbClr val="FFFF00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ight Arrow 132"/>
            <p:cNvSpPr/>
            <p:nvPr/>
          </p:nvSpPr>
          <p:spPr>
            <a:xfrm>
              <a:off x="389467" y="2534355"/>
              <a:ext cx="841018" cy="440266"/>
            </a:xfrm>
            <a:prstGeom prst="rightArrow">
              <a:avLst>
                <a:gd name="adj1" fmla="val 47863"/>
                <a:gd name="adj2" fmla="val 83333"/>
              </a:avLst>
            </a:prstGeom>
            <a:pattFill prst="dkHorz">
              <a:fgClr>
                <a:srgbClr val="FF0000"/>
              </a:fgClr>
              <a:bgClr>
                <a:srgbClr val="FFFF00"/>
              </a:bgClr>
            </a:patt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2396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/>
      <p:bldP spid="126" grpId="0" animBg="1"/>
      <p:bldP spid="126" grpId="1" animBg="1"/>
      <p:bldP spid="127" grpId="0" animBg="1"/>
      <p:bldP spid="127" grpId="1" animBg="1"/>
      <p:bldP spid="128" grpId="0" animBg="1"/>
      <p:bldP spid="12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589513"/>
              </p:ext>
            </p:extLst>
          </p:nvPr>
        </p:nvGraphicFramePr>
        <p:xfrm>
          <a:off x="176267" y="1586428"/>
          <a:ext cx="8769432" cy="515589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52776">
                  <a:extLst>
                    <a:ext uri="{9D8B030D-6E8A-4147-A177-3AD203B41FA5}">
                      <a16:colId xmlns:a16="http://schemas.microsoft.com/office/drawing/2014/main" val="2815426905"/>
                    </a:ext>
                  </a:extLst>
                </a:gridCol>
                <a:gridCol w="1252776">
                  <a:extLst>
                    <a:ext uri="{9D8B030D-6E8A-4147-A177-3AD203B41FA5}">
                      <a16:colId xmlns:a16="http://schemas.microsoft.com/office/drawing/2014/main" val="2928176840"/>
                    </a:ext>
                  </a:extLst>
                </a:gridCol>
                <a:gridCol w="1252776">
                  <a:extLst>
                    <a:ext uri="{9D8B030D-6E8A-4147-A177-3AD203B41FA5}">
                      <a16:colId xmlns:a16="http://schemas.microsoft.com/office/drawing/2014/main" val="3655358574"/>
                    </a:ext>
                  </a:extLst>
                </a:gridCol>
                <a:gridCol w="1252776">
                  <a:extLst>
                    <a:ext uri="{9D8B030D-6E8A-4147-A177-3AD203B41FA5}">
                      <a16:colId xmlns:a16="http://schemas.microsoft.com/office/drawing/2014/main" val="144569039"/>
                    </a:ext>
                  </a:extLst>
                </a:gridCol>
                <a:gridCol w="1252776">
                  <a:extLst>
                    <a:ext uri="{9D8B030D-6E8A-4147-A177-3AD203B41FA5}">
                      <a16:colId xmlns:a16="http://schemas.microsoft.com/office/drawing/2014/main" val="153156661"/>
                    </a:ext>
                  </a:extLst>
                </a:gridCol>
                <a:gridCol w="1252776">
                  <a:extLst>
                    <a:ext uri="{9D8B030D-6E8A-4147-A177-3AD203B41FA5}">
                      <a16:colId xmlns:a16="http://schemas.microsoft.com/office/drawing/2014/main" val="1668603812"/>
                    </a:ext>
                  </a:extLst>
                </a:gridCol>
                <a:gridCol w="1252776">
                  <a:extLst>
                    <a:ext uri="{9D8B030D-6E8A-4147-A177-3AD203B41FA5}">
                      <a16:colId xmlns:a16="http://schemas.microsoft.com/office/drawing/2014/main" val="3219601571"/>
                    </a:ext>
                  </a:extLst>
                </a:gridCol>
              </a:tblGrid>
              <a:tr h="9069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FILL IN TABLE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ANDY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BOB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CARL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DAVE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ERIC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FRANK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229345"/>
                  </a:ext>
                </a:extLst>
              </a:tr>
              <a:tr h="1145877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BOWTIE COLOR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RED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B0F0"/>
                          </a:solidFill>
                        </a:rPr>
                        <a:t>BLUE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en-US" sz="2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B0F0"/>
                          </a:solidFill>
                        </a:rPr>
                        <a:t>BLUE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GREEN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RED</a:t>
                      </a:r>
                      <a:endParaRPr lang="en-US" sz="2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884891"/>
                  </a:ext>
                </a:extLst>
              </a:tr>
              <a:tr h="10981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EYES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C000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BROWN</a:t>
                      </a:r>
                      <a:endParaRPr kumimoji="0" lang="en-US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C000">
                            <a:lumMod val="75000"/>
                          </a:srgbClr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C000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00B0F0"/>
                          </a:solidFill>
                        </a:rPr>
                        <a:t>BLUE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422366"/>
                  </a:ext>
                </a:extLst>
              </a:tr>
              <a:tr h="9069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HAIR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BLONDE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chemeClr val="accent4">
                              <a:lumMod val="50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BROWN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BLONDE</a:t>
                      </a:r>
                      <a:endParaRPr lang="en-US" sz="2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6575123"/>
                  </a:ext>
                </a:extLst>
              </a:tr>
              <a:tr h="109810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HAT</a:t>
                      </a:r>
                    </a:p>
                    <a:p>
                      <a:pPr algn="ctr"/>
                      <a:r>
                        <a:rPr lang="en-US" sz="2000" b="1" dirty="0"/>
                        <a:t>BAND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50"/>
                          </a:solidFill>
                        </a:rPr>
                        <a:t>YES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47745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3097" y="33051"/>
            <a:ext cx="1252602" cy="1507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251" y="28731"/>
            <a:ext cx="1252602" cy="15074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878" y="33051"/>
            <a:ext cx="1252602" cy="15074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8828" y="33051"/>
            <a:ext cx="1248282" cy="15031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290" y="33051"/>
            <a:ext cx="1252602" cy="15031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82253" y="41688"/>
            <a:ext cx="1252602" cy="149448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70756" y="2754489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902154" y="2754489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4133552" y="2754489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308227" y="2754489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6646569" y="2754489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816495" y="2754489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1596084" y="3922550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776901" y="3922550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4023601" y="3922550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225134" y="3922550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6563892" y="3922550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59379" y="3922550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545502" y="4905022"/>
            <a:ext cx="1017075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2776900" y="4905022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008298" y="4905022"/>
            <a:ext cx="1048003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254997" y="4905022"/>
            <a:ext cx="1002837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521315" y="4905022"/>
            <a:ext cx="1075277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759379" y="4905022"/>
            <a:ext cx="1032701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1765403" y="5887494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996801" y="5887494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228199" y="5887494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402874" y="5887494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741216" y="5887494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911142" y="5887494"/>
            <a:ext cx="812800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92293" y="1742006"/>
            <a:ext cx="812800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0" y="-36"/>
            <a:ext cx="9144000" cy="144655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Start off by filling in the matrix with the characters for each individual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8045" y="3714044"/>
            <a:ext cx="1061156" cy="936978"/>
          </a:xfrm>
          <a:prstGeom prst="round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le 37"/>
          <p:cNvSpPr/>
          <p:nvPr/>
        </p:nvSpPr>
        <p:spPr>
          <a:xfrm>
            <a:off x="2762672" y="5723805"/>
            <a:ext cx="1061156" cy="936978"/>
          </a:xfrm>
          <a:prstGeom prst="round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F5D7C1D-2AED-4082-907A-685C3EBA045E}"/>
              </a:ext>
            </a:extLst>
          </p:cNvPr>
          <p:cNvSpPr/>
          <p:nvPr/>
        </p:nvSpPr>
        <p:spPr>
          <a:xfrm>
            <a:off x="253218" y="2656779"/>
            <a:ext cx="1072998" cy="814425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A03C56E-140E-4B90-BF92-45FA21D70DF2}"/>
              </a:ext>
            </a:extLst>
          </p:cNvPr>
          <p:cNvSpPr/>
          <p:nvPr/>
        </p:nvSpPr>
        <p:spPr>
          <a:xfrm>
            <a:off x="253218" y="3776377"/>
            <a:ext cx="1072998" cy="814425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1C57CAF-FF8F-43CF-810C-2B948432213B}"/>
              </a:ext>
            </a:extLst>
          </p:cNvPr>
          <p:cNvSpPr/>
          <p:nvPr/>
        </p:nvSpPr>
        <p:spPr>
          <a:xfrm>
            <a:off x="266733" y="4816677"/>
            <a:ext cx="1072998" cy="71201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2343DBD-EEF0-47F1-B48F-44A8EA18B8F6}"/>
              </a:ext>
            </a:extLst>
          </p:cNvPr>
          <p:cNvSpPr/>
          <p:nvPr/>
        </p:nvSpPr>
        <p:spPr>
          <a:xfrm>
            <a:off x="253218" y="5836287"/>
            <a:ext cx="1072998" cy="712013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70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6" grpId="1" animBg="1"/>
      <p:bldP spid="37" grpId="0" animBg="1"/>
      <p:bldP spid="38" grpId="0" animBg="1"/>
      <p:bldP spid="2" grpId="0" animBg="1"/>
      <p:bldP spid="39" grpId="0" animBg="1"/>
      <p:bldP spid="40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1" y="1570507"/>
            <a:ext cx="7450901" cy="507817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 rot="2304930">
            <a:off x="6270560" y="1516833"/>
            <a:ext cx="864351" cy="5188999"/>
          </a:xfrm>
          <a:prstGeom prst="roundRect">
            <a:avLst/>
          </a:prstGeom>
          <a:solidFill>
            <a:srgbClr val="FFFF00">
              <a:alpha val="2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006743" y="4748477"/>
            <a:ext cx="1851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5 character states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076" y="5271162"/>
            <a:ext cx="1899930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Which one goes where???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" y="1411111"/>
            <a:ext cx="9144000" cy="5446889"/>
            <a:chOff x="1" y="1411111"/>
            <a:chExt cx="9144000" cy="5446889"/>
          </a:xfrm>
        </p:grpSpPr>
        <p:sp>
          <p:nvSpPr>
            <p:cNvPr id="18" name="Rectangle 17"/>
            <p:cNvSpPr/>
            <p:nvPr/>
          </p:nvSpPr>
          <p:spPr>
            <a:xfrm>
              <a:off x="1" y="1411111"/>
              <a:ext cx="9144000" cy="54468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5241" y="1570507"/>
              <a:ext cx="7450901" cy="5078170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872" y="5357972"/>
            <a:ext cx="1252602" cy="15074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8" y="2352954"/>
            <a:ext cx="1252602" cy="15074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7590" y="3859030"/>
            <a:ext cx="1252602" cy="150744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443" y="5366471"/>
            <a:ext cx="1248282" cy="150312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41" y="5354878"/>
            <a:ext cx="1252602" cy="15031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768" y="3871987"/>
            <a:ext cx="1252602" cy="14944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 rot="2959667">
            <a:off x="1330590" y="3322906"/>
            <a:ext cx="414273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Red bowtie, Blue eyes, Blonde hair, and</a:t>
            </a:r>
          </a:p>
          <a:p>
            <a:r>
              <a:rPr lang="en-US" dirty="0"/>
              <a:t>Non-banded hat are all ANCESTRAL states</a:t>
            </a:r>
          </a:p>
        </p:txBody>
      </p:sp>
      <p:sp>
        <p:nvSpPr>
          <p:cNvPr id="21" name="TextBox 20"/>
          <p:cNvSpPr txBox="1"/>
          <p:nvPr/>
        </p:nvSpPr>
        <p:spPr>
          <a:xfrm rot="2959667">
            <a:off x="632001" y="2991548"/>
            <a:ext cx="511421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But WHICH character would be placed on the tree?</a:t>
            </a:r>
          </a:p>
          <a:p>
            <a:r>
              <a:rPr lang="en-US" sz="1600" dirty="0"/>
              <a:t>Is there a character </a:t>
            </a:r>
            <a:r>
              <a:rPr lang="en-US" sz="1600" u="sng" dirty="0"/>
              <a:t>FRANK has and no one else does </a:t>
            </a:r>
            <a:r>
              <a:rPr lang="en-US" sz="1600" dirty="0"/>
              <a:t>or a character </a:t>
            </a:r>
            <a:r>
              <a:rPr lang="en-US" sz="1600" u="sng" dirty="0"/>
              <a:t>FRANK does NOT have and everyone else does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21890" y="5211476"/>
            <a:ext cx="2122110" cy="16293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Are all of the arrows used???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6267" y="5113867"/>
            <a:ext cx="2607733" cy="17269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630332" y="5862467"/>
            <a:ext cx="1267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Brown eyes</a:t>
            </a:r>
          </a:p>
          <a:p>
            <a:r>
              <a:rPr lang="en-US" dirty="0"/>
              <a:t>APPEAR</a:t>
            </a:r>
          </a:p>
        </p:txBody>
      </p:sp>
      <p:sp>
        <p:nvSpPr>
          <p:cNvPr id="28" name="Rectangle 27"/>
          <p:cNvSpPr/>
          <p:nvPr/>
        </p:nvSpPr>
        <p:spPr>
          <a:xfrm rot="19224752">
            <a:off x="2658571" y="680100"/>
            <a:ext cx="873021" cy="53424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 rot="2921543">
            <a:off x="2639407" y="2925276"/>
            <a:ext cx="3632886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Character </a:t>
            </a:r>
            <a:r>
              <a:rPr lang="en-US" sz="1200" u="sng" dirty="0"/>
              <a:t>FRANK + another share and no one else does</a:t>
            </a:r>
            <a:r>
              <a:rPr lang="en-US" sz="1200" dirty="0"/>
              <a:t> (or FRANK + another lack and everyone else has)</a:t>
            </a:r>
            <a:endParaRPr lang="en-US" sz="1200" u="sng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18" y="6318"/>
            <a:ext cx="1252602" cy="150744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86346" y="5043305"/>
            <a:ext cx="1212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Brown hair</a:t>
            </a:r>
          </a:p>
          <a:p>
            <a:r>
              <a:rPr lang="en-US" dirty="0"/>
              <a:t>APPEARS</a:t>
            </a:r>
          </a:p>
        </p:txBody>
      </p:sp>
      <p:sp>
        <p:nvSpPr>
          <p:cNvPr id="31" name="Rectangle 30"/>
          <p:cNvSpPr/>
          <p:nvPr/>
        </p:nvSpPr>
        <p:spPr>
          <a:xfrm rot="19109503">
            <a:off x="3963555" y="1349100"/>
            <a:ext cx="873021" cy="3585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587" y="10519"/>
            <a:ext cx="1252602" cy="1507441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496216" y="5271162"/>
            <a:ext cx="1252602" cy="158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823057" y="214051"/>
            <a:ext cx="16752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OUTGROUP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2341665"/>
            <a:ext cx="1309511" cy="14626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748818" y="122115"/>
            <a:ext cx="1881514" cy="6329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/>
          <p:cNvSpPr txBox="1"/>
          <p:nvPr/>
        </p:nvSpPr>
        <p:spPr>
          <a:xfrm rot="2824230">
            <a:off x="3891496" y="2194538"/>
            <a:ext cx="2901022" cy="6001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100" dirty="0"/>
              <a:t>Character </a:t>
            </a:r>
            <a:r>
              <a:rPr lang="en-US" sz="1100" u="sng" dirty="0"/>
              <a:t>FRANK + ANDY + another share and no one else does</a:t>
            </a:r>
            <a:r>
              <a:rPr lang="en-US" sz="1100" dirty="0"/>
              <a:t> (or FRANK + ANDY + another lack and everyone else has)</a:t>
            </a:r>
            <a:endParaRPr lang="en-US" sz="1100" u="sng" dirty="0"/>
          </a:p>
        </p:txBody>
      </p:sp>
      <p:sp>
        <p:nvSpPr>
          <p:cNvPr id="39" name="TextBox 38"/>
          <p:cNvSpPr txBox="1"/>
          <p:nvPr/>
        </p:nvSpPr>
        <p:spPr>
          <a:xfrm>
            <a:off x="7130799" y="4098864"/>
            <a:ext cx="132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Green bow</a:t>
            </a:r>
          </a:p>
          <a:p>
            <a:r>
              <a:rPr lang="en-US" dirty="0"/>
              <a:t>tie APPEARS</a:t>
            </a:r>
          </a:p>
        </p:txBody>
      </p:sp>
      <p:sp>
        <p:nvSpPr>
          <p:cNvPr id="40" name="Rectangle 39"/>
          <p:cNvSpPr/>
          <p:nvPr/>
        </p:nvSpPr>
        <p:spPr>
          <a:xfrm rot="2785273">
            <a:off x="5015441" y="1417090"/>
            <a:ext cx="2283993" cy="891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69390" y="6139"/>
            <a:ext cx="1252602" cy="1507441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1269370" y="3804355"/>
            <a:ext cx="1259341" cy="1501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 rot="2683113">
            <a:off x="4910702" y="1414371"/>
            <a:ext cx="2486813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Character </a:t>
            </a:r>
            <a:r>
              <a:rPr lang="en-US" sz="1200" u="sng" dirty="0"/>
              <a:t>FRANK + ANDY + CARL + another share and no one else does</a:t>
            </a:r>
            <a:r>
              <a:rPr lang="en-US" sz="1200" dirty="0"/>
              <a:t> (or FRANK + ANDY + CARL + another lack and everyone else has)</a:t>
            </a:r>
            <a:endParaRPr lang="en-US" sz="1200" u="sng" dirty="0"/>
          </a:p>
        </p:txBody>
      </p:sp>
      <p:sp>
        <p:nvSpPr>
          <p:cNvPr id="44" name="TextBox 43"/>
          <p:cNvSpPr txBox="1"/>
          <p:nvPr/>
        </p:nvSpPr>
        <p:spPr>
          <a:xfrm>
            <a:off x="7773506" y="3212699"/>
            <a:ext cx="132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Blue bow</a:t>
            </a:r>
          </a:p>
          <a:p>
            <a:r>
              <a:rPr lang="en-US" dirty="0"/>
              <a:t>tie APPEARS</a:t>
            </a:r>
          </a:p>
        </p:txBody>
      </p:sp>
      <p:sp>
        <p:nvSpPr>
          <p:cNvPr id="46" name="Rectangle 45"/>
          <p:cNvSpPr/>
          <p:nvPr/>
        </p:nvSpPr>
        <p:spPr>
          <a:xfrm rot="2878419">
            <a:off x="3859204" y="2020468"/>
            <a:ext cx="2922119" cy="89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 rot="2555408">
            <a:off x="4992238" y="1489773"/>
            <a:ext cx="2391598" cy="7410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4459" y="46906"/>
            <a:ext cx="1248282" cy="1503121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1271611" y="5343286"/>
            <a:ext cx="1297473" cy="1506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0643" y="40742"/>
            <a:ext cx="1252602" cy="1494484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3761059"/>
            <a:ext cx="1287590" cy="1544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6768" y="5211476"/>
            <a:ext cx="1270822" cy="16539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8183774" y="2097224"/>
            <a:ext cx="10255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Hat</a:t>
            </a:r>
          </a:p>
          <a:p>
            <a:r>
              <a:rPr lang="en-US" dirty="0"/>
              <a:t>   band</a:t>
            </a:r>
          </a:p>
          <a:p>
            <a:r>
              <a:rPr lang="en-US" dirty="0"/>
              <a:t>APPEARS</a:t>
            </a:r>
          </a:p>
        </p:txBody>
      </p:sp>
      <p:sp>
        <p:nvSpPr>
          <p:cNvPr id="49" name="TextBox 48"/>
          <p:cNvSpPr txBox="1"/>
          <p:nvPr/>
        </p:nvSpPr>
        <p:spPr>
          <a:xfrm rot="2724555">
            <a:off x="6357710" y="786834"/>
            <a:ext cx="1624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Character </a:t>
            </a:r>
            <a:r>
              <a:rPr lang="en-US" sz="1200" u="sng" dirty="0"/>
              <a:t>only 1 person has and no one else does</a:t>
            </a:r>
            <a:r>
              <a:rPr lang="en-US" sz="1200" dirty="0"/>
              <a:t> (or everyone else does and this character does not)</a:t>
            </a:r>
            <a:endParaRPr lang="en-US" dirty="0"/>
          </a:p>
        </p:txBody>
      </p:sp>
      <p:sp>
        <p:nvSpPr>
          <p:cNvPr id="51" name="Rectangle 50"/>
          <p:cNvSpPr/>
          <p:nvPr/>
        </p:nvSpPr>
        <p:spPr>
          <a:xfrm rot="2741645">
            <a:off x="6073466" y="722893"/>
            <a:ext cx="1934943" cy="922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1022" y="57131"/>
            <a:ext cx="1252602" cy="150312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7144686" y="4130896"/>
            <a:ext cx="1237583" cy="646331"/>
          </a:xfrm>
          <a:prstGeom prst="rect">
            <a:avLst/>
          </a:prstGeom>
          <a:pattFill prst="pct90">
            <a:fgClr>
              <a:srgbClr val="FFFF00"/>
            </a:fgClr>
            <a:bgClr>
              <a:schemeClr val="tx1"/>
            </a:bgClr>
          </a:patt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Blue bow</a:t>
            </a:r>
          </a:p>
          <a:p>
            <a:r>
              <a:rPr lang="en-US" b="1" dirty="0">
                <a:solidFill>
                  <a:srgbClr val="FF0000"/>
                </a:solidFill>
              </a:rPr>
              <a:t>tie APEARS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59443" y="3245843"/>
            <a:ext cx="1237583" cy="646331"/>
          </a:xfrm>
          <a:prstGeom prst="rect">
            <a:avLst/>
          </a:prstGeom>
          <a:pattFill prst="pct90">
            <a:fgClr>
              <a:srgbClr val="FFFF00"/>
            </a:fgClr>
            <a:bgClr>
              <a:schemeClr val="tx1"/>
            </a:bgClr>
          </a:patt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Green bow</a:t>
            </a:r>
          </a:p>
          <a:p>
            <a:r>
              <a:rPr lang="en-US" b="1" dirty="0">
                <a:solidFill>
                  <a:srgbClr val="FF0000"/>
                </a:solidFill>
              </a:rPr>
              <a:t>tie APEARS</a:t>
            </a:r>
          </a:p>
        </p:txBody>
      </p:sp>
      <p:pic>
        <p:nvPicPr>
          <p:cNvPr id="58" name="Picture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900000">
            <a:off x="6659252" y="1577455"/>
            <a:ext cx="712992" cy="858550"/>
          </a:xfrm>
          <a:prstGeom prst="rect">
            <a:avLst/>
          </a:prstGeom>
        </p:spPr>
      </p:pic>
      <p:pic>
        <p:nvPicPr>
          <p:cNvPr id="59" name="Picture 5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949986">
            <a:off x="5314986" y="1605541"/>
            <a:ext cx="715460" cy="858552"/>
          </a:xfrm>
          <a:prstGeom prst="rect">
            <a:avLst/>
          </a:prstGeom>
        </p:spPr>
      </p:pic>
      <p:sp>
        <p:nvSpPr>
          <p:cNvPr id="61" name="&quot;No&quot; Symbol 60"/>
          <p:cNvSpPr/>
          <p:nvPr/>
        </p:nvSpPr>
        <p:spPr>
          <a:xfrm rot="5400000">
            <a:off x="7794418" y="428766"/>
            <a:ext cx="681350" cy="681350"/>
          </a:xfrm>
          <a:prstGeom prst="noSmoking">
            <a:avLst>
              <a:gd name="adj" fmla="val 788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2" name="&quot;No&quot; Symbol 61"/>
          <p:cNvSpPr/>
          <p:nvPr/>
        </p:nvSpPr>
        <p:spPr>
          <a:xfrm rot="5400000">
            <a:off x="8116874" y="3223294"/>
            <a:ext cx="681350" cy="681350"/>
          </a:xfrm>
          <a:prstGeom prst="noSmoking">
            <a:avLst>
              <a:gd name="adj" fmla="val 788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3" name="&quot;No&quot; Symbol 62"/>
          <p:cNvSpPr/>
          <p:nvPr/>
        </p:nvSpPr>
        <p:spPr>
          <a:xfrm rot="5400000">
            <a:off x="7459734" y="4089575"/>
            <a:ext cx="681350" cy="681350"/>
          </a:xfrm>
          <a:prstGeom prst="noSmoking">
            <a:avLst>
              <a:gd name="adj" fmla="val 7887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297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20" grpId="0" animBg="1"/>
      <p:bldP spid="21" grpId="0" animBg="1"/>
      <p:bldP spid="22" grpId="0" animBg="1"/>
      <p:bldP spid="23" grpId="0" animBg="1"/>
      <p:bldP spid="26" grpId="0"/>
      <p:bldP spid="28" grpId="0" animBg="1"/>
      <p:bldP spid="29" grpId="0" animBg="1"/>
      <p:bldP spid="30" grpId="0"/>
      <p:bldP spid="31" grpId="0" animBg="1"/>
      <p:bldP spid="33" grpId="0" animBg="1"/>
      <p:bldP spid="34" grpId="0"/>
      <p:bldP spid="35" grpId="0" animBg="1"/>
      <p:bldP spid="36" grpId="0" animBg="1"/>
      <p:bldP spid="38" grpId="0" animBg="1"/>
      <p:bldP spid="39" grpId="0"/>
      <p:bldP spid="40" grpId="0" animBg="1"/>
      <p:bldP spid="42" grpId="0" animBg="1"/>
      <p:bldP spid="43" grpId="0" animBg="1"/>
      <p:bldP spid="44" grpId="0"/>
      <p:bldP spid="46" grpId="0" animBg="1"/>
      <p:bldP spid="47" grpId="0" animBg="1"/>
      <p:bldP spid="48" grpId="0" animBg="1"/>
      <p:bldP spid="52" grpId="0" animBg="1"/>
      <p:bldP spid="54" grpId="0" animBg="1"/>
      <p:bldP spid="55" grpId="0"/>
      <p:bldP spid="49" grpId="0"/>
      <p:bldP spid="51" grpId="0" animBg="1"/>
      <p:bldP spid="56" grpId="0" animBg="1"/>
      <p:bldP spid="57" grpId="0" animBg="1"/>
      <p:bldP spid="61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" y="201473"/>
            <a:ext cx="1300323" cy="156487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471" y="194746"/>
            <a:ext cx="1300323" cy="156487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177" y="196989"/>
            <a:ext cx="1300323" cy="156487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500" y="203714"/>
            <a:ext cx="1295839" cy="1560387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0722" y="201473"/>
            <a:ext cx="1300323" cy="156038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6885" y="201473"/>
            <a:ext cx="1300322" cy="155141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697" y="1689054"/>
            <a:ext cx="7450901" cy="5078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1246" y="6005015"/>
            <a:ext cx="957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BROWN</a:t>
            </a:r>
          </a:p>
          <a:p>
            <a:r>
              <a:rPr lang="en-US" b="1" dirty="0"/>
              <a:t>EYES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8769" y="5114137"/>
            <a:ext cx="957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BROWN</a:t>
            </a:r>
          </a:p>
          <a:p>
            <a:r>
              <a:rPr lang="en-US" b="1" dirty="0"/>
              <a:t>HAIR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13831" y="4137546"/>
            <a:ext cx="964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GREEN</a:t>
            </a:r>
          </a:p>
          <a:p>
            <a:r>
              <a:rPr lang="en-US" b="1" dirty="0"/>
              <a:t>BOWTIE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98493" y="3280012"/>
            <a:ext cx="964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BLUE</a:t>
            </a:r>
          </a:p>
          <a:p>
            <a:r>
              <a:rPr lang="en-US" b="1" dirty="0"/>
              <a:t>BOWTIE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987621" y="2518012"/>
            <a:ext cx="749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HAT</a:t>
            </a:r>
          </a:p>
          <a:p>
            <a:r>
              <a:rPr lang="en-US" b="1" dirty="0"/>
              <a:t>BAND</a:t>
            </a:r>
            <a:endParaRPr lang="en-US" sz="4000" b="1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0945" y="5866515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</a:rPr>
              <a:t>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3831" y="5049725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0246" y="3999046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</a:rP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4827" y="3141512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14688" y="2356682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00B050"/>
                </a:solidFill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711" y="4334232"/>
            <a:ext cx="2686506" cy="252376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ANSWER KEY</a:t>
            </a:r>
          </a:p>
          <a:p>
            <a:r>
              <a:rPr lang="en-US" dirty="0"/>
              <a:t>You will see problems like this on the EXAM.  Make sure you understand how to construct these trees if given a matrix (data table) OR create the matrix and tree given a set of items.</a:t>
            </a:r>
          </a:p>
        </p:txBody>
      </p:sp>
    </p:spTree>
    <p:extLst>
      <p:ext uri="{BB962C8B-B14F-4D97-AF65-F5344CB8AC3E}">
        <p14:creationId xmlns:p14="http://schemas.microsoft.com/office/powerpoint/2010/main" val="151517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1890</TotalTime>
  <Words>337</Words>
  <Application>Microsoft Office PowerPoint</Application>
  <PresentationFormat>On-screen Show (4:3)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Hrincevich</dc:creator>
  <cp:lastModifiedBy>Adam W Hrincevich</cp:lastModifiedBy>
  <cp:revision>58</cp:revision>
  <cp:lastPrinted>2020-10-01T21:51:27Z</cp:lastPrinted>
  <dcterms:created xsi:type="dcterms:W3CDTF">2020-09-28T19:46:27Z</dcterms:created>
  <dcterms:modified xsi:type="dcterms:W3CDTF">2022-02-13T22:23:38Z</dcterms:modified>
</cp:coreProperties>
</file>