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00" r:id="rId1"/>
    <p:sldMasterId id="2147483905" r:id="rId2"/>
    <p:sldMasterId id="2147483914" r:id="rId3"/>
    <p:sldMasterId id="2147483940" r:id="rId4"/>
    <p:sldMasterId id="2147483976" r:id="rId5"/>
    <p:sldMasterId id="2147483978" r:id="rId6"/>
    <p:sldMasterId id="2147483992" r:id="rId7"/>
  </p:sldMasterIdLst>
  <p:notesMasterIdLst>
    <p:notesMasterId r:id="rId56"/>
  </p:notesMasterIdLst>
  <p:handoutMasterIdLst>
    <p:handoutMasterId r:id="rId57"/>
  </p:handoutMasterIdLst>
  <p:sldIdLst>
    <p:sldId id="702" r:id="rId8"/>
    <p:sldId id="703" r:id="rId9"/>
    <p:sldId id="505" r:id="rId10"/>
    <p:sldId id="509" r:id="rId11"/>
    <p:sldId id="510" r:id="rId12"/>
    <p:sldId id="511" r:id="rId13"/>
    <p:sldId id="596" r:id="rId14"/>
    <p:sldId id="514" r:id="rId15"/>
    <p:sldId id="517" r:id="rId16"/>
    <p:sldId id="519" r:id="rId17"/>
    <p:sldId id="521" r:id="rId18"/>
    <p:sldId id="527" r:id="rId19"/>
    <p:sldId id="529" r:id="rId20"/>
    <p:sldId id="705" r:id="rId21"/>
    <p:sldId id="537" r:id="rId22"/>
    <p:sldId id="538" r:id="rId23"/>
    <p:sldId id="706" r:id="rId24"/>
    <p:sldId id="609" r:id="rId25"/>
    <p:sldId id="543" r:id="rId26"/>
    <p:sldId id="544" r:id="rId27"/>
    <p:sldId id="546" r:id="rId28"/>
    <p:sldId id="707" r:id="rId29"/>
    <p:sldId id="714" r:id="rId30"/>
    <p:sldId id="710" r:id="rId31"/>
    <p:sldId id="712" r:id="rId32"/>
    <p:sldId id="711" r:id="rId33"/>
    <p:sldId id="548" r:id="rId34"/>
    <p:sldId id="550" r:id="rId35"/>
    <p:sldId id="552" r:id="rId36"/>
    <p:sldId id="615" r:id="rId37"/>
    <p:sldId id="555" r:id="rId38"/>
    <p:sldId id="557" r:id="rId39"/>
    <p:sldId id="560" r:id="rId40"/>
    <p:sldId id="561" r:id="rId41"/>
    <p:sldId id="564" r:id="rId42"/>
    <p:sldId id="713" r:id="rId43"/>
    <p:sldId id="566" r:id="rId44"/>
    <p:sldId id="568" r:id="rId45"/>
    <p:sldId id="570" r:id="rId46"/>
    <p:sldId id="572" r:id="rId47"/>
    <p:sldId id="574" r:id="rId48"/>
    <p:sldId id="627" r:id="rId49"/>
    <p:sldId id="709" r:id="rId50"/>
    <p:sldId id="577" r:id="rId51"/>
    <p:sldId id="628" r:id="rId52"/>
    <p:sldId id="580" r:id="rId53"/>
    <p:sldId id="582" r:id="rId54"/>
    <p:sldId id="635" r:id="rId5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orient="horz" pos="2160">
          <p15:clr>
            <a:srgbClr val="A4A3A4"/>
          </p15:clr>
        </p15:guide>
        <p15:guide id="3"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leen Fitzpatrick"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887E"/>
    <a:srgbClr val="D1300D"/>
    <a:srgbClr val="B9B9B9"/>
    <a:srgbClr val="AA2B15"/>
    <a:srgbClr val="AEB9B1"/>
    <a:srgbClr val="4F6F92"/>
    <a:srgbClr val="F7F7F7"/>
    <a:srgbClr val="0047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2701" autoAdjust="0"/>
  </p:normalViewPr>
  <p:slideViewPr>
    <p:cSldViewPr>
      <p:cViewPr varScale="1">
        <p:scale>
          <a:sx n="81" d="100"/>
          <a:sy n="81" d="100"/>
        </p:scale>
        <p:origin x="1596" y="96"/>
      </p:cViewPr>
      <p:guideLst>
        <p:guide orient="horz" pos="1296"/>
        <p:guide orient="horz" pos="2160"/>
        <p:guide pos="2880"/>
      </p:guideLst>
    </p:cSldViewPr>
  </p:slideViewPr>
  <p:outlineViewPr>
    <p:cViewPr>
      <p:scale>
        <a:sx n="33" d="100"/>
        <a:sy n="33" d="100"/>
      </p:scale>
      <p:origin x="0" y="-29040"/>
    </p:cViewPr>
  </p:outlineViewPr>
  <p:notesTextViewPr>
    <p:cViewPr>
      <p:scale>
        <a:sx n="125" d="100"/>
        <a:sy n="125" d="100"/>
      </p:scale>
      <p:origin x="0" y="0"/>
    </p:cViewPr>
  </p:notesTextViewPr>
  <p:sorterViewPr>
    <p:cViewPr varScale="1">
      <p:scale>
        <a:sx n="1" d="1"/>
        <a:sy n="1" d="1"/>
      </p:scale>
      <p:origin x="0" y="0"/>
    </p:cViewPr>
  </p:sorterViewPr>
  <p:notesViewPr>
    <p:cSldViewPr>
      <p:cViewPr varScale="1">
        <p:scale>
          <a:sx n="70" d="100"/>
          <a:sy n="70" d="100"/>
        </p:scale>
        <p:origin x="-32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commentAuthors" Target="commentAuthors.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handoutMaster" Target="handoutMasters/handoutMaster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ea typeface="ヒラギノ角ゴ Pro W3" pitchFamily="123" charset="-128"/>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2FDBCFE6-7A80-4E41-8712-1C12F7B6050B}" type="datetimeFigureOut">
              <a:rPr lang="en-US" altLang="en-US"/>
              <a:pPr>
                <a:defRPr/>
              </a:pPr>
              <a:t>9/14/2026</a:t>
            </a:fld>
            <a:endParaRPr lang="en-US" alt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ea typeface="ヒラギノ角ゴ Pro W3" pitchFamily="123" charset="-128"/>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1A23EEE-2F46-4732-8626-99218F3EFA81}" type="slidenum">
              <a:rPr lang="en-US" altLang="en-US"/>
              <a:pPr/>
              <a:t>‹#›</a:t>
            </a:fld>
            <a:endParaRPr lang="en-US" altLang="en-US" dirty="0"/>
          </a:p>
        </p:txBody>
      </p:sp>
    </p:spTree>
    <p:extLst>
      <p:ext uri="{BB962C8B-B14F-4D97-AF65-F5344CB8AC3E}">
        <p14:creationId xmlns:p14="http://schemas.microsoft.com/office/powerpoint/2010/main" val="1435027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dirty="0"/>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Arial" charset="0"/>
                <a:ea typeface="ヒラギノ角ゴ Pro W3" pitchFamily="84" charset="-128"/>
                <a:cs typeface="+mn-cs"/>
              </a:defRPr>
            </a:lvl1pPr>
          </a:lstStyle>
          <a:p>
            <a:pPr>
              <a:defRPr/>
            </a:pPr>
            <a:endParaRPr lang="en-US" dirty="0"/>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dirty="0"/>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6D957CC8-6916-4659-8D61-C81A523E1943}" type="slidenum">
              <a:rPr lang="en-US" altLang="en-US"/>
              <a:pPr/>
              <a:t>‹#›</a:t>
            </a:fld>
            <a:endParaRPr lang="en-US" altLang="en-US" dirty="0"/>
          </a:p>
        </p:txBody>
      </p:sp>
    </p:spTree>
    <p:extLst>
      <p:ext uri="{BB962C8B-B14F-4D97-AF65-F5344CB8AC3E}">
        <p14:creationId xmlns:p14="http://schemas.microsoft.com/office/powerpoint/2010/main" val="195475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1pPr>
    <a:lvl2pPr marL="4572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2pPr>
    <a:lvl3pPr marL="9144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3pPr>
    <a:lvl4pPr marL="13716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4pPr>
    <a:lvl5pPr marL="18288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26.1 What kind of organism is this?</a:t>
            </a:r>
          </a:p>
        </p:txBody>
      </p:sp>
      <p:sp>
        <p:nvSpPr>
          <p:cNvPr id="4" name="Slide Number Placeholder 3"/>
          <p:cNvSpPr>
            <a:spLocks noGrp="1"/>
          </p:cNvSpPr>
          <p:nvPr>
            <p:ph type="sldNum" sz="quarter" idx="10"/>
          </p:nvPr>
        </p:nvSpPr>
        <p:spPr/>
        <p:txBody>
          <a:bodyPr/>
          <a:lstStyle/>
          <a:p>
            <a:fld id="{6D957CC8-6916-4659-8D61-C81A523E1943}" type="slidenum">
              <a:rPr lang="en-US" altLang="en-US" smtClean="0"/>
              <a:pPr/>
              <a:t>1</a:t>
            </a:fld>
            <a:endParaRPr lang="en-US" altLang="en-US" dirty="0"/>
          </a:p>
        </p:txBody>
      </p:sp>
    </p:spTree>
    <p:extLst>
      <p:ext uri="{BB962C8B-B14F-4D97-AF65-F5344CB8AC3E}">
        <p14:creationId xmlns:p14="http://schemas.microsoft.com/office/powerpoint/2010/main" val="2304246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9B474EA-30C9-4B4B-814F-698C146683A9}" type="slidenum">
              <a:rPr lang="en-US" altLang="en-US">
                <a:latin typeface="Arial" pitchFamily="34" charset="0"/>
                <a:cs typeface="Arial" pitchFamily="34" charset="0"/>
              </a:rPr>
              <a:pPr/>
              <a:t>3</a:t>
            </a:fld>
            <a:endParaRPr lang="en-US" altLang="en-US" dirty="0">
              <a:latin typeface="Arial" pitchFamily="34" charset="0"/>
              <a:cs typeface="Arial" pitchFamily="34" charset="0"/>
            </a:endParaRPr>
          </a:p>
        </p:txBody>
      </p:sp>
      <p:sp>
        <p:nvSpPr>
          <p:cNvPr id="37891" name="Rectangle 2"/>
          <p:cNvSpPr>
            <a:spLocks noGrp="1" noRot="1" noChangeAspect="1" noChangeArrowheads="1" noTextEdit="1"/>
          </p:cNvSpPr>
          <p:nvPr>
            <p:ph type="sldImg"/>
          </p:nvPr>
        </p:nvSpPr>
        <p:spPr>
          <a:solidFill>
            <a:srgbClr val="FFFFFF"/>
          </a:solidFill>
          <a:ln/>
        </p:spPr>
      </p:sp>
      <p:sp>
        <p:nvSpPr>
          <p:cNvPr id="378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26.2 Convergent evolution of limbless bodies</a:t>
            </a:r>
          </a:p>
        </p:txBody>
      </p:sp>
    </p:spTree>
    <p:extLst>
      <p:ext uri="{BB962C8B-B14F-4D97-AF65-F5344CB8AC3E}">
        <p14:creationId xmlns:p14="http://schemas.microsoft.com/office/powerpoint/2010/main" val="2891498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3A3AB708-211B-4A78-97F7-164CEE85B08D}" type="slidenum">
              <a:rPr lang="en-US" altLang="en-US">
                <a:latin typeface="Arial" pitchFamily="34" charset="0"/>
                <a:cs typeface="Arial" pitchFamily="34" charset="0"/>
              </a:rPr>
              <a:pPr/>
              <a:t>4</a:t>
            </a:fld>
            <a:endParaRPr lang="en-US" altLang="en-US" dirty="0">
              <a:latin typeface="Arial" pitchFamily="34" charset="0"/>
              <a:cs typeface="Arial" pitchFamily="34" charset="0"/>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7312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CA51B4B-A483-4F6E-99A6-C4B512EF1B42}" type="slidenum">
              <a:rPr lang="en-US" altLang="en-US">
                <a:latin typeface="Arial" pitchFamily="34" charset="0"/>
                <a:cs typeface="Arial" pitchFamily="34" charset="0"/>
              </a:rPr>
              <a:pPr/>
              <a:t>5</a:t>
            </a:fld>
            <a:endParaRPr lang="en-US" altLang="en-US" dirty="0">
              <a:latin typeface="Arial" pitchFamily="34" charset="0"/>
              <a:cs typeface="Arial" pitchFamily="3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3820041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BFC226A-53E4-4ABC-BC5F-D18AF47078DC}" type="slidenum">
              <a:rPr lang="en-US" altLang="en-US">
                <a:latin typeface="Arial" pitchFamily="34" charset="0"/>
                <a:cs typeface="Arial" pitchFamily="34" charset="0"/>
              </a:rPr>
              <a:pPr/>
              <a:t>6</a:t>
            </a:fld>
            <a:endParaRPr lang="en-US" altLang="en-US" dirty="0">
              <a:latin typeface="Arial" pitchFamily="34" charset="0"/>
              <a:cs typeface="Arial" pitchFamily="34" charset="0"/>
            </a:endParaRPr>
          </a:p>
        </p:txBody>
      </p:sp>
      <p:sp>
        <p:nvSpPr>
          <p:cNvPr id="50179" name="Rectangle 2"/>
          <p:cNvSpPr>
            <a:spLocks noGrp="1" noRot="1" noChangeAspect="1" noChangeArrowheads="1" noTextEdit="1"/>
          </p:cNvSpPr>
          <p:nvPr>
            <p:ph type="sldImg"/>
          </p:nvPr>
        </p:nvSpPr>
        <p:spPr>
          <a:solidFill>
            <a:srgbClr val="FFFFFF"/>
          </a:solidFill>
          <a:ln/>
        </p:spPr>
      </p:sp>
      <p:sp>
        <p:nvSpPr>
          <p:cNvPr id="5018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241703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26.3 Linnaean classification</a:t>
            </a:r>
          </a:p>
          <a:p>
            <a:endParaRPr lang="en-US" dirty="0">
              <a:latin typeface="Arial"/>
            </a:endParaRPr>
          </a:p>
        </p:txBody>
      </p:sp>
    </p:spTree>
    <p:extLst>
      <p:ext uri="{BB962C8B-B14F-4D97-AF65-F5344CB8AC3E}">
        <p14:creationId xmlns:p14="http://schemas.microsoft.com/office/powerpoint/2010/main" val="217053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46A7FBC8-0B4A-4275-A7FB-2E6A024E8758}" type="slidenum">
              <a:rPr lang="en-US" altLang="en-US">
                <a:latin typeface="Arial" pitchFamily="34" charset="0"/>
                <a:cs typeface="Arial" pitchFamily="34" charset="0"/>
              </a:rPr>
              <a:pPr/>
              <a:t>8</a:t>
            </a:fld>
            <a:endParaRPr lang="en-US" altLang="en-US" dirty="0">
              <a:latin typeface="Arial" pitchFamily="34" charset="0"/>
              <a:cs typeface="Arial" pitchFamily="34" charset="0"/>
            </a:endParaRPr>
          </a:p>
        </p:txBody>
      </p:sp>
      <p:sp>
        <p:nvSpPr>
          <p:cNvPr id="55299" name="Rectangle 2"/>
          <p:cNvSpPr>
            <a:spLocks noGrp="1" noRot="1" noChangeAspect="1" noChangeArrowheads="1" noTextEdit="1"/>
          </p:cNvSpPr>
          <p:nvPr>
            <p:ph type="sldImg"/>
          </p:nvPr>
        </p:nvSpPr>
        <p:spPr>
          <a:solidFill>
            <a:srgbClr val="FFFFFF"/>
          </a:solidFill>
          <a:ln/>
        </p:spPr>
      </p:sp>
      <p:sp>
        <p:nvSpPr>
          <p:cNvPr id="5530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26.4 The connection between classification and phylogeny</a:t>
            </a:r>
          </a:p>
        </p:txBody>
      </p:sp>
    </p:spTree>
    <p:extLst>
      <p:ext uri="{BB962C8B-B14F-4D97-AF65-F5344CB8AC3E}">
        <p14:creationId xmlns:p14="http://schemas.microsoft.com/office/powerpoint/2010/main" val="962777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C559D48-7EB2-4AE1-A494-6FDA371DA0BB}" type="slidenum">
              <a:rPr lang="en-US" altLang="en-US">
                <a:latin typeface="Arial" pitchFamily="34" charset="0"/>
                <a:cs typeface="Arial" pitchFamily="34" charset="0"/>
              </a:rPr>
              <a:pPr/>
              <a:t>9</a:t>
            </a:fld>
            <a:endParaRPr lang="en-US" altLang="en-US" dirty="0">
              <a:latin typeface="Arial" pitchFamily="34" charset="0"/>
              <a:cs typeface="Arial" pitchFamily="34" charset="0"/>
            </a:endParaRPr>
          </a:p>
        </p:txBody>
      </p:sp>
      <p:sp>
        <p:nvSpPr>
          <p:cNvPr id="61443" name="Rectangle 2"/>
          <p:cNvSpPr>
            <a:spLocks noGrp="1" noRot="1" noChangeAspect="1" noChangeArrowheads="1" noTextEdit="1"/>
          </p:cNvSpPr>
          <p:nvPr>
            <p:ph type="sldImg"/>
          </p:nvPr>
        </p:nvSpPr>
        <p:spPr>
          <a:solidFill>
            <a:srgbClr val="FFFFFF"/>
          </a:solidFill>
          <a:ln/>
        </p:spPr>
      </p:sp>
      <p:sp>
        <p:nvSpPr>
          <p:cNvPr id="614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26.5a Visualizing phylogenetic relationships (part 1: parts of a tree)</a:t>
            </a:r>
          </a:p>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3288159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48DFAB7-E229-4A86-AFDF-E761DB7B5D88}" type="slidenum">
              <a:rPr lang="en-US" altLang="en-US">
                <a:latin typeface="Arial" pitchFamily="34" charset="0"/>
                <a:cs typeface="Arial" pitchFamily="34" charset="0"/>
              </a:rPr>
              <a:pPr/>
              <a:t>10</a:t>
            </a:fld>
            <a:endParaRPr lang="en-US" altLang="en-US" dirty="0">
              <a:latin typeface="Arial" pitchFamily="34" charset="0"/>
              <a:cs typeface="Arial" pitchFamily="34" charset="0"/>
            </a:endParaRPr>
          </a:p>
        </p:txBody>
      </p:sp>
      <p:sp>
        <p:nvSpPr>
          <p:cNvPr id="65539" name="Rectangle 2"/>
          <p:cNvSpPr>
            <a:spLocks noGrp="1" noRot="1" noChangeAspect="1" noChangeArrowheads="1" noTextEdit="1"/>
          </p:cNvSpPr>
          <p:nvPr>
            <p:ph type="sldImg"/>
          </p:nvPr>
        </p:nvSpPr>
        <p:spPr>
          <a:solidFill>
            <a:srgbClr val="FFFFFF"/>
          </a:solidFill>
          <a:ln/>
        </p:spPr>
      </p:sp>
      <p:sp>
        <p:nvSpPr>
          <p:cNvPr id="6554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26.5b Visualizing phylogenetic relationships (part 2: alternative forms of tree diagrams)</a:t>
            </a:r>
          </a:p>
        </p:txBody>
      </p:sp>
    </p:spTree>
    <p:extLst>
      <p:ext uri="{BB962C8B-B14F-4D97-AF65-F5344CB8AC3E}">
        <p14:creationId xmlns:p14="http://schemas.microsoft.com/office/powerpoint/2010/main" val="1338499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A738998-5FD3-411F-B77C-010AB982C807}" type="slidenum">
              <a:rPr lang="en-US" altLang="en-US">
                <a:latin typeface="Arial" pitchFamily="34" charset="0"/>
                <a:cs typeface="Arial" pitchFamily="34" charset="0"/>
              </a:rPr>
              <a:pPr/>
              <a:t>11</a:t>
            </a:fld>
            <a:endParaRPr lang="en-US" altLang="en-US" dirty="0">
              <a:latin typeface="Arial" pitchFamily="34" charset="0"/>
              <a:cs typeface="Arial" pitchFamily="34" charset="0"/>
            </a:endParaRPr>
          </a:p>
        </p:txBody>
      </p:sp>
      <p:sp>
        <p:nvSpPr>
          <p:cNvPr id="69635" name="Rectangle 2"/>
          <p:cNvSpPr>
            <a:spLocks noGrp="1" noRot="1" noChangeAspect="1" noChangeArrowheads="1" noTextEdit="1"/>
          </p:cNvSpPr>
          <p:nvPr>
            <p:ph type="sldImg"/>
          </p:nvPr>
        </p:nvSpPr>
        <p:spPr>
          <a:solidFill>
            <a:srgbClr val="FFFFFF"/>
          </a:solidFill>
          <a:ln/>
        </p:spPr>
      </p:sp>
      <p:sp>
        <p:nvSpPr>
          <p:cNvPr id="6963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26.5c Visualizing phylogenetic relationships (part 3: rotating around branch points)</a:t>
            </a:r>
          </a:p>
        </p:txBody>
      </p:sp>
    </p:spTree>
    <p:extLst>
      <p:ext uri="{BB962C8B-B14F-4D97-AF65-F5344CB8AC3E}">
        <p14:creationId xmlns:p14="http://schemas.microsoft.com/office/powerpoint/2010/main" val="2877975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8C111DC-F696-4261-91A1-65669A50ECA2}" type="slidenum">
              <a:rPr lang="en-US" altLang="en-US">
                <a:latin typeface="Arial" pitchFamily="34" charset="0"/>
                <a:cs typeface="Arial" pitchFamily="34" charset="0"/>
              </a:rPr>
              <a:pPr/>
              <a:t>12</a:t>
            </a:fld>
            <a:endParaRPr lang="en-US" altLang="en-US" dirty="0">
              <a:latin typeface="Arial" pitchFamily="34" charset="0"/>
              <a:cs typeface="Arial" pitchFamily="34" charset="0"/>
            </a:endParaRPr>
          </a:p>
        </p:txBody>
      </p:sp>
      <p:sp>
        <p:nvSpPr>
          <p:cNvPr id="81923" name="Rectangle 2"/>
          <p:cNvSpPr>
            <a:spLocks noGrp="1" noRot="1" noChangeAspect="1" noChangeArrowheads="1" noTextEdit="1"/>
          </p:cNvSpPr>
          <p:nvPr>
            <p:ph type="sldImg"/>
          </p:nvPr>
        </p:nvSpPr>
        <p:spPr>
          <a:solidFill>
            <a:srgbClr val="FFFFFF"/>
          </a:solidFill>
          <a:ln/>
        </p:spPr>
      </p:sp>
      <p:sp>
        <p:nvSpPr>
          <p:cNvPr id="819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3777537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A0A5B88B-9F07-4D4E-B9AF-65730BEA2CDD}" type="slidenum">
              <a:rPr lang="en-US" altLang="en-US">
                <a:latin typeface="Arial" pitchFamily="34" charset="0"/>
                <a:cs typeface="Arial" pitchFamily="34" charset="0"/>
              </a:rPr>
              <a:pPr/>
              <a:t>13</a:t>
            </a:fld>
            <a:endParaRPr lang="en-US" altLang="en-US" dirty="0">
              <a:latin typeface="Arial" pitchFamily="34" charset="0"/>
              <a:cs typeface="Arial" pitchFamily="34" charset="0"/>
            </a:endParaRPr>
          </a:p>
        </p:txBody>
      </p:sp>
      <p:sp>
        <p:nvSpPr>
          <p:cNvPr id="86019" name="Rectangle 2"/>
          <p:cNvSpPr>
            <a:spLocks noGrp="1" noRot="1" noChangeAspect="1" noChangeArrowheads="1" noTextEdit="1"/>
          </p:cNvSpPr>
          <p:nvPr>
            <p:ph type="sldImg"/>
          </p:nvPr>
        </p:nvSpPr>
        <p:spPr>
          <a:solidFill>
            <a:srgbClr val="FFFFFF"/>
          </a:solidFill>
          <a:ln/>
        </p:spPr>
      </p:sp>
      <p:sp>
        <p:nvSpPr>
          <p:cNvPr id="860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817953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A0A5B88B-9F07-4D4E-B9AF-65730BEA2CDD}" type="slidenum">
              <a:rPr lang="en-US" altLang="en-US">
                <a:latin typeface="Arial" pitchFamily="34" charset="0"/>
                <a:cs typeface="Arial" pitchFamily="34" charset="0"/>
              </a:rPr>
              <a:pPr/>
              <a:t>14</a:t>
            </a:fld>
            <a:endParaRPr lang="en-US" altLang="en-US" dirty="0">
              <a:latin typeface="Arial" pitchFamily="34" charset="0"/>
              <a:cs typeface="Arial" pitchFamily="34" charset="0"/>
            </a:endParaRPr>
          </a:p>
        </p:txBody>
      </p:sp>
      <p:sp>
        <p:nvSpPr>
          <p:cNvPr id="86019" name="Rectangle 2"/>
          <p:cNvSpPr>
            <a:spLocks noGrp="1" noRot="1" noChangeAspect="1" noChangeArrowheads="1" noTextEdit="1"/>
          </p:cNvSpPr>
          <p:nvPr>
            <p:ph type="sldImg"/>
          </p:nvPr>
        </p:nvSpPr>
        <p:spPr>
          <a:solidFill>
            <a:srgbClr val="FFFFFF"/>
          </a:solidFill>
          <a:ln/>
        </p:spPr>
      </p:sp>
      <p:sp>
        <p:nvSpPr>
          <p:cNvPr id="860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2739315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9BEF761-1404-4BB1-A39F-7A6CC868449F}" type="slidenum">
              <a:rPr lang="en-US" altLang="en-US">
                <a:latin typeface="Arial" pitchFamily="34" charset="0"/>
                <a:cs typeface="Arial" pitchFamily="34" charset="0"/>
              </a:rPr>
              <a:pPr/>
              <a:t>15</a:t>
            </a:fld>
            <a:endParaRPr lang="en-US" altLang="en-US" dirty="0">
              <a:latin typeface="Arial" pitchFamily="34" charset="0"/>
              <a:cs typeface="Arial" pitchFamily="34" charset="0"/>
            </a:endParaRPr>
          </a:p>
        </p:txBody>
      </p:sp>
      <p:sp>
        <p:nvSpPr>
          <p:cNvPr id="102403" name="Rectangle 2"/>
          <p:cNvSpPr>
            <a:spLocks noGrp="1" noRot="1" noChangeAspect="1" noChangeArrowheads="1" noTextEdit="1"/>
          </p:cNvSpPr>
          <p:nvPr>
            <p:ph type="sldImg"/>
          </p:nvPr>
        </p:nvSpPr>
        <p:spPr>
          <a:solidFill>
            <a:srgbClr val="FFFFFF"/>
          </a:solidFill>
          <a:ln/>
        </p:spPr>
      </p:sp>
      <p:sp>
        <p:nvSpPr>
          <p:cNvPr id="1024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2282229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ACE9616-0E96-4043-88BE-3AC68910EBA5}" type="slidenum">
              <a:rPr lang="en-US" altLang="en-US">
                <a:latin typeface="Arial" pitchFamily="34" charset="0"/>
                <a:cs typeface="Arial" pitchFamily="34" charset="0"/>
              </a:rPr>
              <a:pPr/>
              <a:t>16</a:t>
            </a:fld>
            <a:endParaRPr lang="en-US" altLang="en-US" dirty="0">
              <a:latin typeface="Arial" pitchFamily="34" charset="0"/>
              <a:cs typeface="Arial" pitchFamily="34" charset="0"/>
            </a:endParaRPr>
          </a:p>
        </p:txBody>
      </p:sp>
      <p:sp>
        <p:nvSpPr>
          <p:cNvPr id="104451" name="Rectangle 2"/>
          <p:cNvSpPr>
            <a:spLocks noGrp="1" noRot="1" noChangeAspect="1" noChangeArrowheads="1" noTextEdit="1"/>
          </p:cNvSpPr>
          <p:nvPr>
            <p:ph type="sldImg"/>
          </p:nvPr>
        </p:nvSpPr>
        <p:spPr>
          <a:solidFill>
            <a:srgbClr val="FFFFFF"/>
          </a:solidFill>
          <a:ln/>
        </p:spPr>
      </p:sp>
      <p:sp>
        <p:nvSpPr>
          <p:cNvPr id="1044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26.10 Monophyletic, paraphyletic, and polyphyletic groups</a:t>
            </a:r>
          </a:p>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2894244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26.11 Examples of a paraphyletic and a polyphyletic group</a:t>
            </a:r>
          </a:p>
          <a:p>
            <a:endParaRPr lang="en-US" dirty="0">
              <a:latin typeface="Arial"/>
            </a:endParaRPr>
          </a:p>
        </p:txBody>
      </p:sp>
    </p:spTree>
    <p:extLst>
      <p:ext uri="{BB962C8B-B14F-4D97-AF65-F5344CB8AC3E}">
        <p14:creationId xmlns:p14="http://schemas.microsoft.com/office/powerpoint/2010/main" val="3335508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DD8B9266-62AA-42B3-85FF-61BB1EFA421C}" type="slidenum">
              <a:rPr lang="en-US" altLang="en-US">
                <a:latin typeface="Arial" pitchFamily="34" charset="0"/>
                <a:cs typeface="Arial" pitchFamily="34" charset="0"/>
              </a:rPr>
              <a:pPr/>
              <a:t>19</a:t>
            </a:fld>
            <a:endParaRPr lang="en-US" altLang="en-US" dirty="0">
              <a:latin typeface="Arial" pitchFamily="34" charset="0"/>
              <a:cs typeface="Arial" pitchFamily="34" charset="0"/>
            </a:endParaRPr>
          </a:p>
        </p:txBody>
      </p:sp>
      <p:sp>
        <p:nvSpPr>
          <p:cNvPr id="114691" name="Rectangle 2"/>
          <p:cNvSpPr>
            <a:spLocks noGrp="1" noRot="1" noChangeAspect="1" noChangeArrowheads="1" noTextEdit="1"/>
          </p:cNvSpPr>
          <p:nvPr>
            <p:ph type="sldImg"/>
          </p:nvPr>
        </p:nvSpPr>
        <p:spPr>
          <a:solidFill>
            <a:srgbClr val="FFFFFF"/>
          </a:solidFill>
          <a:ln/>
        </p:spPr>
      </p:sp>
      <p:sp>
        <p:nvSpPr>
          <p:cNvPr id="1146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357234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2F463BA1-6267-4993-97EF-E8735CDA95C8}" type="slidenum">
              <a:rPr lang="en-US" altLang="en-US">
                <a:latin typeface="Arial" pitchFamily="34" charset="0"/>
                <a:cs typeface="Arial" pitchFamily="34" charset="0"/>
              </a:rPr>
              <a:pPr/>
              <a:t>20</a:t>
            </a:fld>
            <a:endParaRPr lang="en-US" altLang="en-US" dirty="0">
              <a:latin typeface="Arial" pitchFamily="34" charset="0"/>
              <a:cs typeface="Arial" pitchFamily="34" charset="0"/>
            </a:endParaRPr>
          </a:p>
        </p:txBody>
      </p:sp>
      <p:sp>
        <p:nvSpPr>
          <p:cNvPr id="116739" name="Rectangle 2"/>
          <p:cNvSpPr>
            <a:spLocks noGrp="1" noRot="1" noChangeAspect="1" noChangeArrowheads="1" noTextEdit="1"/>
          </p:cNvSpPr>
          <p:nvPr>
            <p:ph type="sldImg"/>
          </p:nvPr>
        </p:nvSpPr>
        <p:spPr>
          <a:solidFill>
            <a:srgbClr val="FFFFFF"/>
          </a:solidFill>
          <a:ln/>
        </p:spPr>
      </p:sp>
      <p:sp>
        <p:nvSpPr>
          <p:cNvPr id="11674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26.12 Using derived characters to infer phylogeny</a:t>
            </a:r>
          </a:p>
        </p:txBody>
      </p:sp>
    </p:spTree>
    <p:extLst>
      <p:ext uri="{BB962C8B-B14F-4D97-AF65-F5344CB8AC3E}">
        <p14:creationId xmlns:p14="http://schemas.microsoft.com/office/powerpoint/2010/main" val="547823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6BA273B6-949B-47D4-AF87-1A3C8F71273D}" type="slidenum">
              <a:rPr lang="en-US" altLang="en-US">
                <a:latin typeface="Arial" pitchFamily="34" charset="0"/>
                <a:cs typeface="Arial" pitchFamily="34" charset="0"/>
              </a:rPr>
              <a:pPr/>
              <a:t>21</a:t>
            </a:fld>
            <a:endParaRPr lang="en-US" altLang="en-US" dirty="0">
              <a:latin typeface="Arial" pitchFamily="34" charset="0"/>
              <a:cs typeface="Arial" pitchFamily="34" charset="0"/>
            </a:endParaRPr>
          </a:p>
        </p:txBody>
      </p:sp>
      <p:sp>
        <p:nvSpPr>
          <p:cNvPr id="120835" name="Rectangle 2"/>
          <p:cNvSpPr>
            <a:spLocks noGrp="1" noRot="1" noChangeAspect="1" noChangeArrowheads="1" noTextEdit="1"/>
          </p:cNvSpPr>
          <p:nvPr>
            <p:ph type="sldImg"/>
          </p:nvPr>
        </p:nvSpPr>
        <p:spPr>
          <a:solidFill>
            <a:srgbClr val="FFFFFF"/>
          </a:solidFill>
          <a:ln/>
        </p:spPr>
      </p:sp>
      <p:sp>
        <p:nvSpPr>
          <p:cNvPr id="12083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4126410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Use new PowerPoint file “Tree Building Exercise Example Men In Hats”</a:t>
            </a:r>
          </a:p>
        </p:txBody>
      </p:sp>
      <p:sp>
        <p:nvSpPr>
          <p:cNvPr id="4" name="Slide Number Placeholder 3"/>
          <p:cNvSpPr>
            <a:spLocks noGrp="1"/>
          </p:cNvSpPr>
          <p:nvPr>
            <p:ph type="sldNum" sz="quarter" idx="5"/>
          </p:nvPr>
        </p:nvSpPr>
        <p:spPr/>
        <p:txBody>
          <a:bodyPr/>
          <a:lstStyle/>
          <a:p>
            <a:fld id="{6D957CC8-6916-4659-8D61-C81A523E1943}" type="slidenum">
              <a:rPr lang="en-US" altLang="en-US" smtClean="0"/>
              <a:pPr/>
              <a:t>23</a:t>
            </a:fld>
            <a:endParaRPr lang="en-US" altLang="en-US" dirty="0"/>
          </a:p>
        </p:txBody>
      </p:sp>
    </p:spTree>
    <p:extLst>
      <p:ext uri="{BB962C8B-B14F-4D97-AF65-F5344CB8AC3E}">
        <p14:creationId xmlns:p14="http://schemas.microsoft.com/office/powerpoint/2010/main" val="4244218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Use new PowerPoint file “Tree Building Exercise Example Men In Hats”</a:t>
            </a:r>
          </a:p>
        </p:txBody>
      </p:sp>
      <p:sp>
        <p:nvSpPr>
          <p:cNvPr id="4" name="Slide Number Placeholder 3"/>
          <p:cNvSpPr>
            <a:spLocks noGrp="1"/>
          </p:cNvSpPr>
          <p:nvPr>
            <p:ph type="sldNum" sz="quarter" idx="5"/>
          </p:nvPr>
        </p:nvSpPr>
        <p:spPr/>
        <p:txBody>
          <a:bodyPr/>
          <a:lstStyle/>
          <a:p>
            <a:fld id="{6D957CC8-6916-4659-8D61-C81A523E1943}" type="slidenum">
              <a:rPr lang="en-US" altLang="en-US" smtClean="0"/>
              <a:pPr/>
              <a:t>25</a:t>
            </a:fld>
            <a:endParaRPr lang="en-US" altLang="en-US" dirty="0"/>
          </a:p>
        </p:txBody>
      </p:sp>
    </p:spTree>
    <p:extLst>
      <p:ext uri="{BB962C8B-B14F-4D97-AF65-F5344CB8AC3E}">
        <p14:creationId xmlns:p14="http://schemas.microsoft.com/office/powerpoint/2010/main" val="33686603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7AEBBD7-D432-4DA3-99C8-97C688ABBEA7}" type="slidenum">
              <a:rPr lang="en-US" altLang="en-US">
                <a:latin typeface="Arial" pitchFamily="34" charset="0"/>
                <a:cs typeface="Arial" pitchFamily="34" charset="0"/>
              </a:rPr>
              <a:pPr/>
              <a:t>27</a:t>
            </a:fld>
            <a:endParaRPr lang="en-US" altLang="en-US" dirty="0">
              <a:latin typeface="Arial" pitchFamily="34" charset="0"/>
              <a:cs typeface="Arial" pitchFamily="34" charset="0"/>
            </a:endParaRPr>
          </a:p>
        </p:txBody>
      </p:sp>
      <p:sp>
        <p:nvSpPr>
          <p:cNvPr id="124931" name="Rectangle 2"/>
          <p:cNvSpPr>
            <a:spLocks noGrp="1" noRot="1" noChangeAspect="1" noChangeArrowheads="1" noTextEdit="1"/>
          </p:cNvSpPr>
          <p:nvPr>
            <p:ph type="sldImg"/>
          </p:nvPr>
        </p:nvSpPr>
        <p:spPr>
          <a:solidFill>
            <a:srgbClr val="FFFFFF"/>
          </a:solidFill>
          <a:ln/>
        </p:spPr>
      </p:sp>
      <p:sp>
        <p:nvSpPr>
          <p:cNvPr id="1249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26.13 Branch lengths can represent genetic change.</a:t>
            </a:r>
          </a:p>
        </p:txBody>
      </p:sp>
    </p:spTree>
    <p:extLst>
      <p:ext uri="{BB962C8B-B14F-4D97-AF65-F5344CB8AC3E}">
        <p14:creationId xmlns:p14="http://schemas.microsoft.com/office/powerpoint/2010/main" val="390036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FAE36066-1530-440E-8917-38FE43FEF2F5}" type="slidenum">
              <a:rPr lang="en-US" altLang="en-US">
                <a:latin typeface="Arial" pitchFamily="34" charset="0"/>
                <a:cs typeface="Arial" pitchFamily="34" charset="0"/>
              </a:rPr>
              <a:pPr/>
              <a:t>28</a:t>
            </a:fld>
            <a:endParaRPr lang="en-US" altLang="en-US" dirty="0">
              <a:latin typeface="Arial" pitchFamily="34" charset="0"/>
              <a:cs typeface="Arial" pitchFamily="34" charset="0"/>
            </a:endParaRPr>
          </a:p>
        </p:txBody>
      </p:sp>
      <p:sp>
        <p:nvSpPr>
          <p:cNvPr id="129027" name="Rectangle 2"/>
          <p:cNvSpPr>
            <a:spLocks noGrp="1" noRot="1" noChangeAspect="1" noChangeArrowheads="1" noTextEdit="1"/>
          </p:cNvSpPr>
          <p:nvPr>
            <p:ph type="sldImg"/>
          </p:nvPr>
        </p:nvSpPr>
        <p:spPr>
          <a:solidFill>
            <a:srgbClr val="FFFFFF"/>
          </a:solidFill>
          <a:ln/>
        </p:spPr>
      </p:sp>
      <p:sp>
        <p:nvSpPr>
          <p:cNvPr id="1290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26.14 Branch lengths can indicate time.</a:t>
            </a:r>
          </a:p>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345435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20FEF027-5664-46CD-B23E-AE8A86328767}" type="slidenum">
              <a:rPr lang="en-US" altLang="en-US">
                <a:latin typeface="Arial" pitchFamily="34" charset="0"/>
                <a:cs typeface="Arial" pitchFamily="34" charset="0"/>
              </a:rPr>
              <a:pPr/>
              <a:t>29</a:t>
            </a:fld>
            <a:endParaRPr lang="en-US" altLang="en-US" dirty="0">
              <a:latin typeface="Arial" pitchFamily="34" charset="0"/>
              <a:cs typeface="Arial" pitchFamily="34" charset="0"/>
            </a:endParaRPr>
          </a:p>
        </p:txBody>
      </p:sp>
      <p:sp>
        <p:nvSpPr>
          <p:cNvPr id="133123" name="Rectangle 2"/>
          <p:cNvSpPr>
            <a:spLocks noGrp="1" noRot="1" noChangeAspect="1" noChangeArrowheads="1" noTextEdit="1"/>
          </p:cNvSpPr>
          <p:nvPr>
            <p:ph type="sldImg"/>
          </p:nvPr>
        </p:nvSpPr>
        <p:spPr>
          <a:solidFill>
            <a:srgbClr val="FFFFFF"/>
          </a:solidFill>
          <a:ln/>
        </p:spPr>
      </p:sp>
      <p:sp>
        <p:nvSpPr>
          <p:cNvPr id="1331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21127150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26.15 Research method: applying parsimony to a problem in molecular systematics</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a:rPr>
              <a:t>Figure 26.15a Research method: applying parsimony to a problem in molecular systematics (part 1: three possible trees)</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a:rPr>
              <a:t>Figure 26.15b Research method: applying parsimony to a problem in molecular systematics (part 2: table)</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a:rPr>
              <a:t>Figure 26.15c Research method: applying parsimony to a problem in molecular systematics (part 3: comparison)</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Arial"/>
              </a:rPr>
              <a:t>Figure 26.15d Research method: applying parsimony to a problem in molecular systematics (part 4: results)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Arial"/>
            </a:endParaRPr>
          </a:p>
          <a:p>
            <a:endParaRPr lang="en-US" dirty="0">
              <a:latin typeface="Arial"/>
            </a:endParaRPr>
          </a:p>
          <a:p>
            <a:endParaRPr lang="en-US" dirty="0">
              <a:latin typeface="Arial"/>
            </a:endParaRPr>
          </a:p>
        </p:txBody>
      </p:sp>
    </p:spTree>
    <p:extLst>
      <p:ext uri="{BB962C8B-B14F-4D97-AF65-F5344CB8AC3E}">
        <p14:creationId xmlns:p14="http://schemas.microsoft.com/office/powerpoint/2010/main" val="1358019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7F5ACD0A-ECF6-4F31-B128-17D12A9732E5}" type="slidenum">
              <a:rPr lang="en-US" altLang="en-US">
                <a:latin typeface="Arial" pitchFamily="34" charset="0"/>
                <a:cs typeface="Arial" pitchFamily="34" charset="0"/>
              </a:rPr>
              <a:pPr/>
              <a:t>31</a:t>
            </a:fld>
            <a:endParaRPr lang="en-US" altLang="en-US" dirty="0">
              <a:latin typeface="Arial" pitchFamily="34" charset="0"/>
              <a:cs typeface="Arial" pitchFamily="34" charset="0"/>
            </a:endParaRPr>
          </a:p>
        </p:txBody>
      </p:sp>
      <p:sp>
        <p:nvSpPr>
          <p:cNvPr id="139267" name="Rectangle 2"/>
          <p:cNvSpPr>
            <a:spLocks noGrp="1" noRot="1" noChangeAspect="1" noChangeArrowheads="1" noTextEdit="1"/>
          </p:cNvSpPr>
          <p:nvPr>
            <p:ph type="sldImg"/>
          </p:nvPr>
        </p:nvSpPr>
        <p:spPr>
          <a:solidFill>
            <a:srgbClr val="FFFFFF"/>
          </a:solidFill>
          <a:ln/>
        </p:spPr>
      </p:sp>
      <p:sp>
        <p:nvSpPr>
          <p:cNvPr id="1392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974703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54E8489-3A63-4977-8EE0-FE8E5BA74DFF}" type="slidenum">
              <a:rPr lang="en-US" altLang="en-US">
                <a:latin typeface="Arial" pitchFamily="34" charset="0"/>
                <a:cs typeface="Arial" pitchFamily="34" charset="0"/>
              </a:rPr>
              <a:pPr/>
              <a:t>32</a:t>
            </a:fld>
            <a:endParaRPr lang="en-US" altLang="en-US" dirty="0">
              <a:latin typeface="Arial" pitchFamily="34" charset="0"/>
              <a:cs typeface="Arial" pitchFamily="34" charset="0"/>
            </a:endParaRPr>
          </a:p>
        </p:txBody>
      </p:sp>
      <p:sp>
        <p:nvSpPr>
          <p:cNvPr id="143363" name="Rectangle 2"/>
          <p:cNvSpPr>
            <a:spLocks noGrp="1" noRot="1" noChangeAspect="1" noChangeArrowheads="1" noTextEdit="1"/>
          </p:cNvSpPr>
          <p:nvPr>
            <p:ph type="sldImg"/>
          </p:nvPr>
        </p:nvSpPr>
        <p:spPr>
          <a:solidFill>
            <a:srgbClr val="FFFFFF"/>
          </a:solidFill>
          <a:ln/>
        </p:spPr>
      </p:sp>
      <p:sp>
        <p:nvSpPr>
          <p:cNvPr id="143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26.17 Fossil support for a phylogenetic prediction: Dinosaurs built nests and brooded their eggs</a:t>
            </a:r>
          </a:p>
        </p:txBody>
      </p:sp>
    </p:spTree>
    <p:extLst>
      <p:ext uri="{BB962C8B-B14F-4D97-AF65-F5344CB8AC3E}">
        <p14:creationId xmlns:p14="http://schemas.microsoft.com/office/powerpoint/2010/main" val="3234856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B22650BE-365C-41B2-A561-091A5D3D3F1D}" type="slidenum">
              <a:rPr lang="en-US" altLang="en-US">
                <a:latin typeface="Arial" pitchFamily="34" charset="0"/>
                <a:cs typeface="Arial" pitchFamily="34" charset="0"/>
              </a:rPr>
              <a:pPr/>
              <a:t>33</a:t>
            </a:fld>
            <a:endParaRPr lang="en-US" altLang="en-US" dirty="0">
              <a:latin typeface="Arial" pitchFamily="34" charset="0"/>
              <a:cs typeface="Arial" pitchFamily="34" charset="0"/>
            </a:endParaRPr>
          </a:p>
        </p:txBody>
      </p:sp>
      <p:sp>
        <p:nvSpPr>
          <p:cNvPr id="148483" name="Rectangle 2"/>
          <p:cNvSpPr>
            <a:spLocks noGrp="1" noRot="1" noChangeAspect="1" noChangeArrowheads="1" noTextEdit="1"/>
          </p:cNvSpPr>
          <p:nvPr>
            <p:ph type="sldImg"/>
          </p:nvPr>
        </p:nvSpPr>
        <p:spPr>
          <a:solidFill>
            <a:srgbClr val="FFFFFF"/>
          </a:solidFill>
          <a:ln/>
        </p:spPr>
      </p:sp>
      <p:sp>
        <p:nvSpPr>
          <p:cNvPr id="148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959427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65B522DF-BC52-4134-8B72-66BCE05AB580}" type="slidenum">
              <a:rPr lang="en-US" altLang="en-US">
                <a:latin typeface="Arial" pitchFamily="34" charset="0"/>
                <a:cs typeface="Arial" pitchFamily="34" charset="0"/>
              </a:rPr>
              <a:pPr/>
              <a:t>34</a:t>
            </a:fld>
            <a:endParaRPr lang="en-US" altLang="en-US" dirty="0">
              <a:latin typeface="Arial" pitchFamily="34" charset="0"/>
              <a:cs typeface="Arial" pitchFamily="34" charset="0"/>
            </a:endParaRPr>
          </a:p>
        </p:txBody>
      </p:sp>
      <p:sp>
        <p:nvSpPr>
          <p:cNvPr id="150531" name="Rectangle 2"/>
          <p:cNvSpPr>
            <a:spLocks noGrp="1" noRot="1" noChangeAspect="1" noChangeArrowheads="1" noTextEdit="1"/>
          </p:cNvSpPr>
          <p:nvPr>
            <p:ph type="sldImg"/>
          </p:nvPr>
        </p:nvSpPr>
        <p:spPr>
          <a:solidFill>
            <a:srgbClr val="FFFFFF"/>
          </a:solidFill>
          <a:ln/>
        </p:spPr>
      </p:sp>
      <p:sp>
        <p:nvSpPr>
          <p:cNvPr id="150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26.18 Two types of homologous genes</a:t>
            </a:r>
          </a:p>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5564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01F5D66E-FD02-4719-8B14-70F2FAD2A0E5}" type="slidenum">
              <a:rPr lang="en-US" altLang="en-US">
                <a:latin typeface="Arial" pitchFamily="34" charset="0"/>
                <a:cs typeface="Arial" pitchFamily="34" charset="0"/>
              </a:rPr>
              <a:pPr/>
              <a:t>35</a:t>
            </a:fld>
            <a:endParaRPr lang="en-US" altLang="en-US" dirty="0">
              <a:latin typeface="Arial" pitchFamily="34" charset="0"/>
              <a:cs typeface="Arial" pitchFamily="34" charset="0"/>
            </a:endParaRPr>
          </a:p>
        </p:txBody>
      </p:sp>
      <p:sp>
        <p:nvSpPr>
          <p:cNvPr id="156675" name="Rectangle 2"/>
          <p:cNvSpPr>
            <a:spLocks noGrp="1" noRot="1" noChangeAspect="1" noChangeArrowheads="1" noTextEdit="1"/>
          </p:cNvSpPr>
          <p:nvPr>
            <p:ph type="sldImg"/>
          </p:nvPr>
        </p:nvSpPr>
        <p:spPr>
          <a:solidFill>
            <a:srgbClr val="FFFFFF"/>
          </a:solidFill>
          <a:ln/>
        </p:spPr>
      </p:sp>
      <p:sp>
        <p:nvSpPr>
          <p:cNvPr id="15667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26.18 Two types of homologous genes</a:t>
            </a:r>
          </a:p>
        </p:txBody>
      </p:sp>
    </p:spTree>
    <p:extLst>
      <p:ext uri="{BB962C8B-B14F-4D97-AF65-F5344CB8AC3E}">
        <p14:creationId xmlns:p14="http://schemas.microsoft.com/office/powerpoint/2010/main" val="1188444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1E02A5F6-8E7F-426E-BB00-74B9CF21AF9E}" type="slidenum">
              <a:rPr lang="en-US" altLang="en-US">
                <a:latin typeface="Arial" pitchFamily="34" charset="0"/>
                <a:cs typeface="Arial" pitchFamily="34" charset="0"/>
              </a:rPr>
              <a:pPr/>
              <a:t>37</a:t>
            </a:fld>
            <a:endParaRPr lang="en-US" altLang="en-US" dirty="0">
              <a:latin typeface="Arial" pitchFamily="34" charset="0"/>
              <a:cs typeface="Arial" pitchFamily="34" charset="0"/>
            </a:endParaRPr>
          </a:p>
        </p:txBody>
      </p:sp>
      <p:sp>
        <p:nvSpPr>
          <p:cNvPr id="160771" name="Rectangle 2"/>
          <p:cNvSpPr>
            <a:spLocks noGrp="1" noRot="1" noChangeAspect="1" noChangeArrowheads="1" noTextEdit="1"/>
          </p:cNvSpPr>
          <p:nvPr>
            <p:ph type="sldImg"/>
          </p:nvPr>
        </p:nvSpPr>
        <p:spPr>
          <a:solidFill>
            <a:srgbClr val="FFFFFF"/>
          </a:solidFill>
          <a:ln/>
        </p:spPr>
      </p:sp>
      <p:sp>
        <p:nvSpPr>
          <p:cNvPr id="16077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4303431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EC379DDB-354E-4A23-8D0A-1942069DB4B6}" type="slidenum">
              <a:rPr lang="en-US" altLang="en-US">
                <a:latin typeface="Arial" pitchFamily="34" charset="0"/>
                <a:cs typeface="Arial" pitchFamily="34" charset="0"/>
              </a:rPr>
              <a:pPr/>
              <a:t>38</a:t>
            </a:fld>
            <a:endParaRPr lang="en-US" altLang="en-US" dirty="0">
              <a:latin typeface="Arial" pitchFamily="34" charset="0"/>
              <a:cs typeface="Arial" pitchFamily="34" charset="0"/>
            </a:endParaRPr>
          </a:p>
        </p:txBody>
      </p:sp>
      <p:sp>
        <p:nvSpPr>
          <p:cNvPr id="164867" name="Rectangle 2"/>
          <p:cNvSpPr>
            <a:spLocks noGrp="1" noRot="1" noChangeAspect="1" noChangeArrowheads="1" noTextEdit="1"/>
          </p:cNvSpPr>
          <p:nvPr>
            <p:ph type="sldImg"/>
          </p:nvPr>
        </p:nvSpPr>
        <p:spPr>
          <a:solidFill>
            <a:srgbClr val="FFFFFF"/>
          </a:solidFill>
          <a:ln/>
        </p:spPr>
      </p:sp>
      <p:sp>
        <p:nvSpPr>
          <p:cNvPr id="16486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1892794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521A83FF-3884-4111-A0E8-04A0F3DF9C26}" type="slidenum">
              <a:rPr lang="en-US" altLang="en-US">
                <a:latin typeface="Arial" pitchFamily="34" charset="0"/>
                <a:cs typeface="Arial" pitchFamily="34" charset="0"/>
              </a:rPr>
              <a:pPr/>
              <a:t>39</a:t>
            </a:fld>
            <a:endParaRPr lang="en-US" altLang="en-US" dirty="0">
              <a:latin typeface="Arial" pitchFamily="34" charset="0"/>
              <a:cs typeface="Arial" pitchFamily="34" charset="0"/>
            </a:endParaRPr>
          </a:p>
        </p:txBody>
      </p:sp>
      <p:sp>
        <p:nvSpPr>
          <p:cNvPr id="168963" name="Rectangle 2"/>
          <p:cNvSpPr>
            <a:spLocks noGrp="1" noRot="1" noChangeAspect="1" noChangeArrowheads="1" noTextEdit="1"/>
          </p:cNvSpPr>
          <p:nvPr>
            <p:ph type="sldImg"/>
          </p:nvPr>
        </p:nvSpPr>
        <p:spPr>
          <a:solidFill>
            <a:srgbClr val="FFFFFF"/>
          </a:solidFill>
          <a:ln/>
        </p:spPr>
      </p:sp>
      <p:sp>
        <p:nvSpPr>
          <p:cNvPr id="1689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26.19 A molecular clock for mammals</a:t>
            </a:r>
          </a:p>
        </p:txBody>
      </p:sp>
    </p:spTree>
    <p:extLst>
      <p:ext uri="{BB962C8B-B14F-4D97-AF65-F5344CB8AC3E}">
        <p14:creationId xmlns:p14="http://schemas.microsoft.com/office/powerpoint/2010/main" val="19824427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E957934F-A6D8-48E5-806A-ECF4C6E5248E}" type="slidenum">
              <a:rPr lang="en-US" altLang="en-US">
                <a:latin typeface="Arial" pitchFamily="34" charset="0"/>
                <a:cs typeface="Arial" pitchFamily="34" charset="0"/>
              </a:rPr>
              <a:pPr/>
              <a:t>40</a:t>
            </a:fld>
            <a:endParaRPr lang="en-US" altLang="en-US" dirty="0">
              <a:latin typeface="Arial" pitchFamily="34" charset="0"/>
              <a:cs typeface="Arial" pitchFamily="34" charset="0"/>
            </a:endParaRPr>
          </a:p>
        </p:txBody>
      </p:sp>
      <p:sp>
        <p:nvSpPr>
          <p:cNvPr id="173059" name="Rectangle 2"/>
          <p:cNvSpPr>
            <a:spLocks noGrp="1" noRot="1" noChangeAspect="1" noChangeArrowheads="1" noTextEdit="1"/>
          </p:cNvSpPr>
          <p:nvPr>
            <p:ph type="sldImg"/>
          </p:nvPr>
        </p:nvSpPr>
        <p:spPr>
          <a:solidFill>
            <a:srgbClr val="FFFFFF"/>
          </a:solidFill>
          <a:ln/>
        </p:spPr>
      </p:sp>
      <p:sp>
        <p:nvSpPr>
          <p:cNvPr id="17306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3511538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86850A6-5427-442F-A94F-19048D82BB42}" type="slidenum">
              <a:rPr lang="en-US" altLang="en-US">
                <a:latin typeface="Arial" pitchFamily="34" charset="0"/>
                <a:cs typeface="Arial" pitchFamily="34" charset="0"/>
              </a:rPr>
              <a:pPr/>
              <a:t>41</a:t>
            </a:fld>
            <a:endParaRPr lang="en-US" altLang="en-US" dirty="0">
              <a:latin typeface="Arial" pitchFamily="34" charset="0"/>
              <a:cs typeface="Arial" pitchFamily="34" charset="0"/>
            </a:endParaRPr>
          </a:p>
        </p:txBody>
      </p:sp>
      <p:sp>
        <p:nvSpPr>
          <p:cNvPr id="177155" name="Rectangle 2"/>
          <p:cNvSpPr>
            <a:spLocks noGrp="1" noRot="1" noChangeAspect="1" noChangeArrowheads="1" noTextEdit="1"/>
          </p:cNvSpPr>
          <p:nvPr>
            <p:ph type="sldImg"/>
          </p:nvPr>
        </p:nvSpPr>
        <p:spPr>
          <a:solidFill>
            <a:srgbClr val="FFFFFF"/>
          </a:solidFill>
          <a:ln/>
        </p:spPr>
      </p:sp>
      <p:sp>
        <p:nvSpPr>
          <p:cNvPr id="17715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3021717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26.20 Dating the origin of HIV-1 M</a:t>
            </a:r>
          </a:p>
          <a:p>
            <a:endParaRPr lang="en-US" dirty="0">
              <a:latin typeface="Arial"/>
            </a:endParaRPr>
          </a:p>
        </p:txBody>
      </p:sp>
    </p:spTree>
    <p:extLst>
      <p:ext uri="{BB962C8B-B14F-4D97-AF65-F5344CB8AC3E}">
        <p14:creationId xmlns:p14="http://schemas.microsoft.com/office/powerpoint/2010/main" val="16265858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CCE968C4-A3B5-4F08-A075-AAD345E2C2CB}" type="slidenum">
              <a:rPr lang="en-US" altLang="en-US">
                <a:latin typeface="Arial" pitchFamily="34" charset="0"/>
                <a:cs typeface="Arial" pitchFamily="34" charset="0"/>
              </a:rPr>
              <a:pPr/>
              <a:t>44</a:t>
            </a:fld>
            <a:endParaRPr lang="en-US" altLang="en-US" dirty="0">
              <a:latin typeface="Arial" pitchFamily="34" charset="0"/>
              <a:cs typeface="Arial" pitchFamily="34" charset="0"/>
            </a:endParaRPr>
          </a:p>
        </p:txBody>
      </p:sp>
      <p:sp>
        <p:nvSpPr>
          <p:cNvPr id="183299" name="Rectangle 2"/>
          <p:cNvSpPr>
            <a:spLocks noGrp="1" noRot="1" noChangeAspect="1" noChangeArrowheads="1" noTextEdit="1"/>
          </p:cNvSpPr>
          <p:nvPr>
            <p:ph type="sldImg"/>
          </p:nvPr>
        </p:nvSpPr>
        <p:spPr>
          <a:solidFill>
            <a:srgbClr val="FFFFFF"/>
          </a:solidFill>
          <a:ln/>
        </p:spPr>
      </p:sp>
      <p:sp>
        <p:nvSpPr>
          <p:cNvPr id="18330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29528954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26.21 The three domains of life</a:t>
            </a:r>
          </a:p>
          <a:p>
            <a:endParaRPr lang="en-US" dirty="0">
              <a:latin typeface="Arial"/>
            </a:endParaRPr>
          </a:p>
        </p:txBody>
      </p:sp>
    </p:spTree>
    <p:extLst>
      <p:ext uri="{BB962C8B-B14F-4D97-AF65-F5344CB8AC3E}">
        <p14:creationId xmlns:p14="http://schemas.microsoft.com/office/powerpoint/2010/main" val="26817771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4545A74C-2ED2-468D-91C2-D62300A40609}" type="slidenum">
              <a:rPr lang="en-US" altLang="en-US">
                <a:latin typeface="Arial" pitchFamily="34" charset="0"/>
                <a:cs typeface="Arial" pitchFamily="34" charset="0"/>
              </a:rPr>
              <a:pPr/>
              <a:t>46</a:t>
            </a:fld>
            <a:endParaRPr lang="en-US" altLang="en-US" dirty="0">
              <a:latin typeface="Arial" pitchFamily="34" charset="0"/>
              <a:cs typeface="Arial" pitchFamily="34" charset="0"/>
            </a:endParaRPr>
          </a:p>
        </p:txBody>
      </p:sp>
      <p:sp>
        <p:nvSpPr>
          <p:cNvPr id="189443" name="Rectangle 2"/>
          <p:cNvSpPr>
            <a:spLocks noGrp="1" noRot="1" noChangeAspect="1" noChangeArrowheads="1" noTextEdit="1"/>
          </p:cNvSpPr>
          <p:nvPr>
            <p:ph type="sldImg"/>
          </p:nvPr>
        </p:nvSpPr>
        <p:spPr>
          <a:solidFill>
            <a:srgbClr val="FFFFFF"/>
          </a:solidFill>
          <a:ln/>
        </p:spPr>
      </p:sp>
      <p:sp>
        <p:nvSpPr>
          <p:cNvPr id="1894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5467856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Times New Roman" pitchFamily="18" charset="0"/>
                <a:ea typeface="ヒラギノ角ゴ Pro W3" charset="-128"/>
              </a:defRPr>
            </a:lvl1pPr>
            <a:lvl2pPr marL="742950" indent="-285750">
              <a:defRPr sz="1200">
                <a:solidFill>
                  <a:schemeClr val="tx1"/>
                </a:solidFill>
                <a:latin typeface="Times New Roman" pitchFamily="18" charset="0"/>
                <a:ea typeface="ヒラギノ角ゴ Pro W3" charset="-128"/>
              </a:defRPr>
            </a:lvl2pPr>
            <a:lvl3pPr marL="1143000" indent="-228600">
              <a:defRPr sz="1200">
                <a:solidFill>
                  <a:schemeClr val="tx1"/>
                </a:solidFill>
                <a:latin typeface="Times New Roman" pitchFamily="18" charset="0"/>
                <a:ea typeface="ヒラギノ角ゴ Pro W3" charset="-128"/>
              </a:defRPr>
            </a:lvl3pPr>
            <a:lvl4pPr marL="1600200" indent="-228600">
              <a:defRPr sz="1200">
                <a:solidFill>
                  <a:schemeClr val="tx1"/>
                </a:solidFill>
                <a:latin typeface="Times New Roman" pitchFamily="18" charset="0"/>
                <a:ea typeface="ヒラギノ角ゴ Pro W3" charset="-128"/>
              </a:defRPr>
            </a:lvl4pPr>
            <a:lvl5pPr marL="2057400" indent="-228600">
              <a:defRPr sz="1200">
                <a:solidFill>
                  <a:schemeClr val="tx1"/>
                </a:solidFill>
                <a:latin typeface="Times New Roman" pitchFamily="18" charset="0"/>
                <a:ea typeface="ヒラギノ角ゴ Pro W3" charset="-128"/>
              </a:defRPr>
            </a:lvl5pPr>
            <a:lvl6pPr marL="25146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6pPr>
            <a:lvl7pPr marL="29718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7pPr>
            <a:lvl8pPr marL="34290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8pPr>
            <a:lvl9pPr marL="3886200" indent="-228600" eaLnBrk="0" fontAlgn="base" hangingPunct="0">
              <a:spcBef>
                <a:spcPct val="30000"/>
              </a:spcBef>
              <a:spcAft>
                <a:spcPct val="0"/>
              </a:spcAft>
              <a:defRPr sz="1200">
                <a:solidFill>
                  <a:schemeClr val="tx1"/>
                </a:solidFill>
                <a:latin typeface="Times New Roman" pitchFamily="18" charset="0"/>
                <a:ea typeface="ヒラギノ角ゴ Pro W3" charset="-128"/>
              </a:defRPr>
            </a:lvl9pPr>
          </a:lstStyle>
          <a:p>
            <a:fld id="{95865C32-786D-44F6-9030-64E69C0C0677}" type="slidenum">
              <a:rPr lang="en-US" altLang="en-US">
                <a:latin typeface="Arial" pitchFamily="34" charset="0"/>
                <a:cs typeface="Arial" pitchFamily="34" charset="0"/>
              </a:rPr>
              <a:pPr/>
              <a:t>47</a:t>
            </a:fld>
            <a:endParaRPr lang="en-US" altLang="en-US" dirty="0">
              <a:latin typeface="Arial" pitchFamily="34" charset="0"/>
              <a:cs typeface="Arial" pitchFamily="34" charset="0"/>
            </a:endParaRPr>
          </a:p>
        </p:txBody>
      </p:sp>
      <p:sp>
        <p:nvSpPr>
          <p:cNvPr id="193539" name="Rectangle 2"/>
          <p:cNvSpPr>
            <a:spLocks noGrp="1" noRot="1" noChangeAspect="1" noChangeArrowheads="1" noTextEdit="1"/>
          </p:cNvSpPr>
          <p:nvPr>
            <p:ph type="sldImg"/>
          </p:nvPr>
        </p:nvSpPr>
        <p:spPr>
          <a:solidFill>
            <a:srgbClr val="FFFFFF"/>
          </a:solidFill>
          <a:ln/>
        </p:spPr>
      </p:sp>
      <p:sp>
        <p:nvSpPr>
          <p:cNvPr id="19354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dirty="0">
              <a:latin typeface="Times New Roman" pitchFamily="18" charset="0"/>
              <a:ea typeface="ヒラギノ角ゴ Pro W3" charset="-128"/>
            </a:endParaRPr>
          </a:p>
        </p:txBody>
      </p:sp>
    </p:spTree>
    <p:extLst>
      <p:ext uri="{BB962C8B-B14F-4D97-AF65-F5344CB8AC3E}">
        <p14:creationId xmlns:p14="http://schemas.microsoft.com/office/powerpoint/2010/main" val="4283203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26.23 A tangled web of life</a:t>
            </a:r>
          </a:p>
          <a:p>
            <a:endParaRPr lang="en-US" dirty="0">
              <a:latin typeface="Arial"/>
            </a:endParaRPr>
          </a:p>
        </p:txBody>
      </p:sp>
    </p:spTree>
    <p:extLst>
      <p:ext uri="{BB962C8B-B14F-4D97-AF65-F5344CB8AC3E}">
        <p14:creationId xmlns:p14="http://schemas.microsoft.com/office/powerpoint/2010/main" val="42542481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F2B30C"/>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591" t="-1" b="-1"/>
          <a:stretch/>
        </p:blipFill>
        <p:spPr>
          <a:xfrm>
            <a:off x="152400" y="152400"/>
            <a:ext cx="4495800" cy="6356360"/>
          </a:xfrm>
          <a:prstGeom prst="rect">
            <a:avLst/>
          </a:prstGeom>
        </p:spPr>
      </p:pic>
      <p:sp>
        <p:nvSpPr>
          <p:cNvPr id="7" name="Footer Placeholder 2"/>
          <p:cNvSpPr>
            <a:spLocks noGrp="1"/>
          </p:cNvSpPr>
          <p:nvPr>
            <p:ph type="ftr" sz="quarter" idx="3"/>
          </p:nvPr>
        </p:nvSpPr>
        <p:spPr>
          <a:xfrm>
            <a:off x="0" y="6490096"/>
            <a:ext cx="30861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Rectangle 5"/>
          <p:cNvSpPr/>
          <p:nvPr userDrawn="1"/>
        </p:nvSpPr>
        <p:spPr>
          <a:xfrm>
            <a:off x="4876800" y="152400"/>
            <a:ext cx="4114800" cy="5791200"/>
          </a:xfrm>
          <a:prstGeom prst="rect">
            <a:avLst/>
          </a:prstGeom>
        </p:spPr>
        <p:txBody>
          <a:bodyPr wrap="square" anchor="ctr">
            <a:noAutofit/>
          </a:bodyPr>
          <a:lstStyle/>
          <a:p>
            <a:pPr marL="0" marR="0" indent="0" algn="ctr" defTabSz="914400" rtl="0" eaLnBrk="0" fontAlgn="base" latinLnBrk="0" hangingPunct="0">
              <a:lnSpc>
                <a:spcPct val="100000"/>
              </a:lnSpc>
              <a:spcBef>
                <a:spcPct val="0"/>
              </a:spcBef>
              <a:spcAft>
                <a:spcPct val="0"/>
              </a:spcAft>
              <a:buClrTx/>
              <a:buSzTx/>
              <a:buFontTx/>
              <a:buNone/>
              <a:tabLst/>
              <a:defRPr/>
            </a:pPr>
            <a:r>
              <a:rPr lang="en-US" sz="4000" b="1" dirty="0">
                <a:solidFill>
                  <a:srgbClr val="DF4A20"/>
                </a:solidFill>
                <a:effectLst>
                  <a:outerShdw blurRad="38100" dist="38100" dir="2700000" algn="tl">
                    <a:srgbClr val="000000">
                      <a:alpha val="43137"/>
                    </a:srgbClr>
                  </a:outerShdw>
                </a:effectLst>
              </a:rPr>
              <a:t>Chapter 26</a:t>
            </a:r>
            <a:r>
              <a:rPr lang="en-US" sz="3200" b="1" dirty="0">
                <a:solidFill>
                  <a:srgbClr val="DF4A20"/>
                </a:solidFill>
              </a:rPr>
              <a:t/>
            </a:r>
            <a:br>
              <a:rPr lang="en-US" sz="3200" b="1" dirty="0">
                <a:solidFill>
                  <a:srgbClr val="DF4A20"/>
                </a:solidFill>
              </a:rPr>
            </a:br>
            <a:r>
              <a:rPr lang="en-US" sz="3600" dirty="0"/>
              <a:t/>
            </a:r>
            <a:br>
              <a:rPr lang="en-US" sz="3600" dirty="0"/>
            </a:br>
            <a:r>
              <a:rPr lang="en-US" sz="4000" b="1" kern="120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Phylogeny</a:t>
            </a:r>
            <a:r>
              <a:rPr lang="en-US" sz="4000" b="1" kern="1200" baseline="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 and the Tree of Life</a:t>
            </a:r>
            <a:endParaRPr lang="en-US"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08287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2910807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152400" y="1752600"/>
            <a:ext cx="8839199" cy="4737496"/>
          </a:xfrm>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105032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85123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61810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403173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633410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a:t>Click to edit Master title style</a:t>
            </a:r>
            <a:endParaRPr lang="en-US" dirty="0"/>
          </a:p>
        </p:txBody>
      </p:sp>
    </p:spTree>
    <p:extLst>
      <p:ext uri="{BB962C8B-B14F-4D97-AF65-F5344CB8AC3E}">
        <p14:creationId xmlns:p14="http://schemas.microsoft.com/office/powerpoint/2010/main" val="261826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451353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29902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51553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443870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1064379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023937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8"/>
          <p:cNvSpPr>
            <a:spLocks noGrp="1" noChangeArrowheads="1"/>
          </p:cNvSpPr>
          <p:nvPr>
            <p:ph type="body" idx="1"/>
          </p:nvPr>
        </p:nvSpPr>
        <p:spPr bwMode="auto">
          <a:xfrm>
            <a:off x="152400" y="1272910"/>
            <a:ext cx="8839199" cy="5217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13716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6" name="Rectangle 7"/>
          <p:cNvSpPr>
            <a:spLocks noGrp="1" noChangeArrowheads="1"/>
          </p:cNvSpPr>
          <p:nvPr>
            <p:ph type="title"/>
          </p:nvPr>
        </p:nvSpPr>
        <p:spPr bwMode="auto">
          <a:xfrm>
            <a:off x="0" y="0"/>
            <a:ext cx="9144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p>
            <a:pPr lvl="0"/>
            <a:r>
              <a:rPr lang="en-US"/>
              <a:t>Click to edit Master title style</a:t>
            </a:r>
            <a:endParaRPr lang="en-US" dirty="0"/>
          </a:p>
        </p:txBody>
      </p:sp>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93321882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8" r:id="rId3"/>
    <p:sldLayoutId id="2147483907" r:id="rId4"/>
    <p:sldLayoutId id="2147483903" r:id="rId5"/>
    <p:sldLayoutId id="2147483904" r:id="rId6"/>
    <p:sldLayoutId id="2147483909" r:id="rId7"/>
  </p:sldLayoutIdLst>
  <p:hf sldNum="0" hdr="0" ftr="0" dt="0"/>
  <p:txStyles>
    <p:title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
        <p:nvSpPr>
          <p:cNvPr id="4" name="Rectangle 3"/>
          <p:cNvSpPr>
            <a:spLocks noChangeArrowheads="1"/>
          </p:cNvSpPr>
          <p:nvPr/>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en-US" sz="900" dirty="0">
                <a:solidFill>
                  <a:srgbClr val="000000"/>
                </a:solidFill>
                <a:latin typeface="Arial" charset="0"/>
                <a:ea typeface="ＭＳ Ｐゴシック" charset="0"/>
                <a:cs typeface="ＭＳ Ｐゴシック" charset="0"/>
              </a:rPr>
              <a:t>© 2014 Pearson Education, Inc.</a:t>
            </a:r>
          </a:p>
        </p:txBody>
      </p:sp>
    </p:spTree>
    <p:extLst>
      <p:ext uri="{BB962C8B-B14F-4D97-AF65-F5344CB8AC3E}">
        <p14:creationId xmlns:p14="http://schemas.microsoft.com/office/powerpoint/2010/main" val="130376245"/>
      </p:ext>
    </p:extLst>
  </p:cSld>
  <p:clrMap bg1="lt1" tx1="dk1" bg2="lt2" tx2="dk2" accent1="accent1" accent2="accent2" accent3="accent3" accent4="accent4" accent5="accent5" accent6="accent6" hlink="hlink" folHlink="folHlink"/>
  <p:sldLayoutIdLst>
    <p:sldLayoutId id="2147483906" r:id="rId1"/>
  </p:sldLayoutIdLst>
  <p:hf sldNum="0" hdr="0" ftr="0" dt="0"/>
  <p:txStyles>
    <p:titleStyle>
      <a:lvl1pPr algn="ctr" rtl="0" eaLnBrk="1" fontAlgn="base" hangingPunct="1">
        <a:spcBef>
          <a:spcPct val="0"/>
        </a:spcBef>
        <a:spcAft>
          <a:spcPct val="0"/>
        </a:spcAft>
        <a:defRPr sz="44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Times" pitchFamily="84" charset="0"/>
        </a:defRPr>
      </a:lvl6pPr>
      <a:lvl7pPr marL="914400" algn="ctr" rtl="0" eaLnBrk="1" fontAlgn="base" hangingPunct="1">
        <a:spcBef>
          <a:spcPct val="0"/>
        </a:spcBef>
        <a:spcAft>
          <a:spcPct val="0"/>
        </a:spcAft>
        <a:defRPr sz="4400">
          <a:solidFill>
            <a:schemeClr val="tx2"/>
          </a:solidFill>
          <a:latin typeface="Times" pitchFamily="84" charset="0"/>
        </a:defRPr>
      </a:lvl7pPr>
      <a:lvl8pPr marL="1371600" algn="ctr" rtl="0" eaLnBrk="1" fontAlgn="base" hangingPunct="1">
        <a:spcBef>
          <a:spcPct val="0"/>
        </a:spcBef>
        <a:spcAft>
          <a:spcPct val="0"/>
        </a:spcAft>
        <a:defRPr sz="4400">
          <a:solidFill>
            <a:schemeClr val="tx2"/>
          </a:solidFill>
          <a:latin typeface="Times" pitchFamily="84" charset="0"/>
        </a:defRPr>
      </a:lvl8pPr>
      <a:lvl9pPr marL="1828800" algn="ctr" rtl="0" eaLnBrk="1" fontAlgn="base" hangingPunct="1">
        <a:spcBef>
          <a:spcPct val="0"/>
        </a:spcBef>
        <a:spcAft>
          <a:spcPct val="0"/>
        </a:spcAft>
        <a:defRPr sz="4400">
          <a:solidFill>
            <a:schemeClr val="tx2"/>
          </a:solidFill>
          <a:latin typeface="Times" pitchFamily="84" charset="0"/>
        </a:defRPr>
      </a:lvl9pPr>
    </p:titleStyle>
    <p:bodyStyle>
      <a:lvl1pPr marL="0" indent="0" algn="l" rtl="0" eaLnBrk="1" fontAlgn="base" hangingPunct="1">
        <a:spcBef>
          <a:spcPct val="20000"/>
        </a:spcBef>
        <a:spcAft>
          <a:spcPct val="0"/>
        </a:spcAft>
        <a:buNone/>
        <a:defRPr sz="1200">
          <a:solidFill>
            <a:schemeClr val="tx1"/>
          </a:solidFill>
          <a:latin typeface="Arial"/>
          <a:ea typeface="ＭＳ Ｐゴシック" charset="0"/>
          <a:cs typeface="Arial"/>
        </a:defRPr>
      </a:lvl1pPr>
      <a:lvl2pPr marL="4572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2pPr>
      <a:lvl3pPr marL="9144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3pPr>
      <a:lvl4pPr marL="13716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4pPr>
      <a:lvl5pPr marL="18288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215899193"/>
      </p:ext>
    </p:extLst>
  </p:cSld>
  <p:clrMap bg1="lt1" tx1="dk1" bg2="lt2" tx2="dk2" accent1="accent1" accent2="accent2" accent3="accent3" accent4="accent4" accent5="accent5" accent6="accent6" hlink="hlink" folHlink="folHlink"/>
  <p:sldLayoutIdLst>
    <p:sldLayoutId id="2147483915"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2420328539"/>
      </p:ext>
    </p:extLst>
  </p:cSld>
  <p:clrMap bg1="lt1" tx1="dk1" bg2="lt2" tx2="dk2" accent1="accent1" accent2="accent2" accent3="accent3" accent4="accent4" accent5="accent5" accent6="accent6" hlink="hlink" folHlink="folHlink"/>
  <p:sldLayoutIdLst>
    <p:sldLayoutId id="2147483941"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89214996"/>
      </p:ext>
    </p:extLst>
  </p:cSld>
  <p:clrMap bg1="lt1" tx1="dk1" bg2="lt2" tx2="dk2" accent1="accent1" accent2="accent2" accent3="accent3" accent4="accent4" accent5="accent5" accent6="accent6" hlink="hlink" folHlink="folHlink"/>
  <p:sldLayoutIdLst>
    <p:sldLayoutId id="2147483977" r:id="rId1"/>
    <p:sldLayoutId id="2147483994" r:id="rId2"/>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673758514"/>
      </p:ext>
    </p:extLst>
  </p:cSld>
  <p:clrMap bg1="lt1" tx1="dk1" bg2="lt2" tx2="dk2" accent1="accent1" accent2="accent2" accent3="accent3" accent4="accent4" accent5="accent5" accent6="accent6" hlink="hlink" folHlink="folHlink"/>
  <p:sldLayoutIdLst>
    <p:sldLayoutId id="2147483979"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409691860"/>
      </p:ext>
    </p:extLst>
  </p:cSld>
  <p:clrMap bg1="lt1" tx1="dk1" bg2="lt2" tx2="dk2" accent1="accent1" accent2="accent2" accent3="accent3" accent4="accent4" accent5="accent5" accent6="accent6" hlink="hlink" folHlink="folHlink"/>
  <p:sldLayoutIdLst>
    <p:sldLayoutId id="214748399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bioprinciples.biosci.gatech.edu/module-1-evolution/phylogenetic-trees/" TargetMode="External"/><Relationship Id="rId4" Type="http://schemas.openxmlformats.org/officeDocument/2006/relationships/hyperlink" Target="https://www.khanacademy.org/science/high-school-biology/hs-evolution/hs-phylogeny/a/phylogenetic-tree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file:///C:\Documents%20and%20Settings\rajesh.ACEPRO\Desktop\20-Oct\Chapter%2026\Unlabeled\26_15_ApplyParsimony-U.jp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738"/>
            <a:ext cx="9144000" cy="600164"/>
          </a:xfrm>
        </p:spPr>
        <p:txBody>
          <a:bodyPr/>
          <a:lstStyle/>
          <a:p>
            <a:r>
              <a:rPr lang="en-US" dirty="0">
                <a:solidFill>
                  <a:schemeClr val="bg1"/>
                </a:solidFill>
              </a:rPr>
              <a:t>CH 26</a:t>
            </a:r>
          </a:p>
        </p:txBody>
      </p:sp>
      <p:sp>
        <p:nvSpPr>
          <p:cNvPr id="6" name="TextBox 5">
            <a:extLst>
              <a:ext uri="{FF2B5EF4-FFF2-40B4-BE49-F238E27FC236}">
                <a16:creationId xmlns:a16="http://schemas.microsoft.com/office/drawing/2014/main" id="{F7451D56-4B25-42E5-96E6-1EA8A658E9D5}"/>
              </a:ext>
            </a:extLst>
          </p:cNvPr>
          <p:cNvSpPr txBox="1"/>
          <p:nvPr/>
        </p:nvSpPr>
        <p:spPr>
          <a:xfrm>
            <a:off x="0" y="0"/>
            <a:ext cx="9144000" cy="6740307"/>
          </a:xfrm>
          <a:prstGeom prst="rect">
            <a:avLst/>
          </a:prstGeom>
          <a:noFill/>
        </p:spPr>
        <p:txBody>
          <a:bodyPr wrap="square" rtlCol="0">
            <a:spAutoFit/>
          </a:bodyPr>
          <a:lstStyle/>
          <a:p>
            <a:pPr algn="ctr"/>
            <a:r>
              <a:rPr lang="en-US" sz="3600" b="1" dirty="0">
                <a:solidFill>
                  <a:srgbClr val="FF0000"/>
                </a:solidFill>
                <a:cs typeface="Arial" panose="020B0604020202020204" pitchFamily="34" charset="0"/>
              </a:rPr>
              <a:t>LSU BIOL 1202</a:t>
            </a:r>
          </a:p>
          <a:p>
            <a:pPr algn="ctr"/>
            <a:r>
              <a:rPr lang="en-US" sz="3600" b="1" dirty="0">
                <a:cs typeface="Arial" panose="020B0604020202020204" pitchFamily="34" charset="0"/>
              </a:rPr>
              <a:t>General </a:t>
            </a:r>
            <a:r>
              <a:rPr lang="en-US" sz="3600" b="1" dirty="0" smtClean="0">
                <a:cs typeface="Arial" panose="020B0604020202020204" pitchFamily="34" charset="0"/>
              </a:rPr>
              <a:t>Biology </a:t>
            </a:r>
            <a:r>
              <a:rPr lang="en-US" sz="3600" b="1" dirty="0">
                <a:cs typeface="Arial" panose="020B0604020202020204" pitchFamily="34" charset="0"/>
              </a:rPr>
              <a:t>II Lecture</a:t>
            </a: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r>
              <a:rPr lang="en-US" sz="3000" b="1" dirty="0">
                <a:cs typeface="Arial" panose="020B0604020202020204" pitchFamily="34" charset="0"/>
              </a:rPr>
              <a:t>CHAPTER 26</a:t>
            </a:r>
          </a:p>
          <a:p>
            <a:pPr algn="ctr"/>
            <a:r>
              <a:rPr lang="en-US" sz="3000" b="1" i="1" dirty="0">
                <a:cs typeface="Arial" panose="020B0604020202020204" pitchFamily="34" charset="0"/>
              </a:rPr>
              <a:t>Phylogeny and </a:t>
            </a:r>
            <a:r>
              <a:rPr lang="en-US" sz="3000" b="1" i="1" dirty="0" smtClean="0">
                <a:cs typeface="Arial" panose="020B0604020202020204" pitchFamily="34" charset="0"/>
              </a:rPr>
              <a:t>the </a:t>
            </a:r>
            <a:r>
              <a:rPr lang="en-US" sz="3000" b="1" i="1" dirty="0">
                <a:cs typeface="Arial" panose="020B0604020202020204" pitchFamily="34" charset="0"/>
              </a:rPr>
              <a:t>Tree of Life</a:t>
            </a:r>
          </a:p>
          <a:p>
            <a:pPr algn="ctr"/>
            <a:r>
              <a:rPr lang="en-US" sz="3000" b="1" dirty="0">
                <a:cs typeface="Arial" panose="020B0604020202020204" pitchFamily="34" charset="0"/>
              </a:rPr>
              <a:t>Dr. Adam Hrincevich</a:t>
            </a:r>
          </a:p>
        </p:txBody>
      </p:sp>
      <p:pic>
        <p:nvPicPr>
          <p:cNvPr id="5" name="Picture 4" descr="CH 26 opener: A photograph of a snake-like organism is shown.">
            <a:extLst>
              <a:ext uri="{FF2B5EF4-FFF2-40B4-BE49-F238E27FC236}">
                <a16:creationId xmlns:a16="http://schemas.microsoft.com/office/drawing/2014/main" id="{E8DF07F6-FF91-4BB9-A3C2-8A03F87B13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463" y="1447800"/>
            <a:ext cx="5841074" cy="3353827"/>
          </a:xfrm>
          <a:prstGeom prst="rect">
            <a:avLst/>
          </a:prstGeom>
        </p:spPr>
      </p:pic>
    </p:spTree>
    <p:extLst>
      <p:ext uri="{BB962C8B-B14F-4D97-AF65-F5344CB8AC3E}">
        <p14:creationId xmlns:p14="http://schemas.microsoft.com/office/powerpoint/2010/main" val="166129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F93F-1521-445C-8CC2-2099C8AD6BFA}"/>
              </a:ext>
            </a:extLst>
          </p:cNvPr>
          <p:cNvSpPr>
            <a:spLocks noGrp="1"/>
          </p:cNvSpPr>
          <p:nvPr>
            <p:ph type="title"/>
          </p:nvPr>
        </p:nvSpPr>
        <p:spPr>
          <a:xfrm>
            <a:off x="-3875" y="0"/>
            <a:ext cx="9144000" cy="800219"/>
          </a:xfrm>
        </p:spPr>
        <p:txBody>
          <a:bodyPr/>
          <a:lstStyle/>
          <a:p>
            <a:pPr algn="ctr"/>
            <a:r>
              <a:rPr lang="en-US" sz="4000" dirty="0"/>
              <a:t>CH 26 Learning Objectives</a:t>
            </a:r>
          </a:p>
        </p:txBody>
      </p:sp>
      <p:sp>
        <p:nvSpPr>
          <p:cNvPr id="4" name="TextBox 3">
            <a:extLst>
              <a:ext uri="{FF2B5EF4-FFF2-40B4-BE49-F238E27FC236}">
                <a16:creationId xmlns:a16="http://schemas.microsoft.com/office/drawing/2014/main" id="{86360591-B5D1-410A-8B8C-92FD2A2A31B5}"/>
              </a:ext>
            </a:extLst>
          </p:cNvPr>
          <p:cNvSpPr txBox="1"/>
          <p:nvPr/>
        </p:nvSpPr>
        <p:spPr>
          <a:xfrm>
            <a:off x="-3875" y="764024"/>
            <a:ext cx="9140125" cy="6093976"/>
          </a:xfrm>
          <a:prstGeom prst="rect">
            <a:avLst/>
          </a:prstGeom>
          <a:noFill/>
        </p:spPr>
        <p:txBody>
          <a:bodyPr wrap="square" rtlCol="0">
            <a:spAutoFit/>
          </a:bodyPr>
          <a:lstStyle/>
          <a:p>
            <a:pPr marL="457200" indent="-457200">
              <a:buFont typeface="+mj-lt"/>
              <a:buAutoNum type="arabicPeriod"/>
            </a:pPr>
            <a:r>
              <a:rPr lang="en-US" sz="2600" dirty="0"/>
              <a:t>Define phylogeny and explain how phylogenies are used.</a:t>
            </a:r>
          </a:p>
          <a:p>
            <a:pPr marL="457200" indent="-457200">
              <a:buFont typeface="+mj-lt"/>
              <a:buAutoNum type="arabicPeriod"/>
            </a:pPr>
            <a:r>
              <a:rPr lang="en-US" sz="2600" dirty="0"/>
              <a:t>Explain how phylogenetic trees are inferred from data.</a:t>
            </a:r>
          </a:p>
          <a:p>
            <a:pPr marL="457200" indent="-457200">
              <a:buFont typeface="+mj-lt"/>
              <a:buAutoNum type="arabicPeriod"/>
            </a:pPr>
            <a:r>
              <a:rPr lang="en-US" sz="2600" dirty="0"/>
              <a:t>Differentiate between derived and ancestral characters and explain how they are used to construct phylogenetic trees.</a:t>
            </a:r>
          </a:p>
          <a:p>
            <a:pPr marL="457200" indent="-457200">
              <a:buFont typeface="+mj-lt"/>
              <a:buAutoNum type="arabicPeriod"/>
            </a:pPr>
            <a:r>
              <a:rPr lang="en-US" sz="2600" dirty="0"/>
              <a:t>Describe what evidence a genome provides about evolutionary history.</a:t>
            </a:r>
          </a:p>
          <a:p>
            <a:pPr marL="457200" indent="-457200">
              <a:buFont typeface="+mj-lt"/>
              <a:buAutoNum type="arabicPeriod"/>
            </a:pPr>
            <a:r>
              <a:rPr lang="en-US" sz="2600" dirty="0"/>
              <a:t>Explain what molecular clocks are and how they are used.</a:t>
            </a:r>
          </a:p>
          <a:p>
            <a:pPr marL="457200" indent="-457200">
              <a:buFont typeface="+mj-lt"/>
              <a:buAutoNum type="arabicPeriod"/>
            </a:pPr>
            <a:r>
              <a:rPr lang="en-US" sz="2600" dirty="0"/>
              <a:t>Describe the possible structure of the tree of all life.</a:t>
            </a:r>
          </a:p>
          <a:p>
            <a:pPr marL="457200" indent="-457200">
              <a:buFont typeface="+mj-lt"/>
              <a:buAutoNum type="arabicPeriod"/>
            </a:pPr>
            <a:r>
              <a:rPr lang="en-US" sz="2600" b="1" dirty="0">
                <a:solidFill>
                  <a:srgbClr val="FF0000"/>
                </a:solidFill>
              </a:rPr>
              <a:t>Complete online cladogram construction example.</a:t>
            </a:r>
          </a:p>
          <a:p>
            <a:pPr marL="457200" indent="-457200">
              <a:buFont typeface="+mj-lt"/>
              <a:buAutoNum type="arabicPeriod"/>
            </a:pPr>
            <a:r>
              <a:rPr lang="en-US" sz="2600" b="1" dirty="0">
                <a:solidFill>
                  <a:srgbClr val="FF0000"/>
                </a:solidFill>
              </a:rPr>
              <a:t>Complete practice exercises posted to MOODLE</a:t>
            </a:r>
          </a:p>
          <a:p>
            <a:r>
              <a:rPr lang="en-US" sz="2600" dirty="0"/>
              <a:t>I would suggest completing the crossword puzzle to help you understand the terminology and correlate how the terms relate to topics covered in this chapter.</a:t>
            </a:r>
          </a:p>
        </p:txBody>
      </p:sp>
    </p:spTree>
    <p:extLst>
      <p:ext uri="{BB962C8B-B14F-4D97-AF65-F5344CB8AC3E}">
        <p14:creationId xmlns:p14="http://schemas.microsoft.com/office/powerpoint/2010/main" val="4090100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dirty="0"/>
              <a:t>Investigating the Tree of Life</a:t>
            </a:r>
          </a:p>
        </p:txBody>
      </p:sp>
      <p:sp>
        <p:nvSpPr>
          <p:cNvPr id="36867" name="Rectangle 3"/>
          <p:cNvSpPr>
            <a:spLocks noGrp="1" noChangeArrowheads="1"/>
          </p:cNvSpPr>
          <p:nvPr>
            <p:ph idx="1"/>
          </p:nvPr>
        </p:nvSpPr>
        <p:spPr>
          <a:xfrm>
            <a:off x="73570" y="698936"/>
            <a:ext cx="8991600" cy="5728096"/>
          </a:xfrm>
        </p:spPr>
        <p:txBody>
          <a:bodyPr/>
          <a:lstStyle/>
          <a:p>
            <a:r>
              <a:rPr lang="en-US" altLang="en-US" b="1" dirty="0"/>
              <a:t>Phylogeny</a:t>
            </a:r>
            <a:r>
              <a:rPr lang="en-US" altLang="en-US" dirty="0"/>
              <a:t> is the evolutionary history of a species or group </a:t>
            </a:r>
          </a:p>
          <a:p>
            <a:pPr lvl="1"/>
            <a:r>
              <a:rPr lang="en-US" altLang="en-US" dirty="0"/>
              <a:t>EX: A phylogeny shows that legless lizards and snakes evolved from </a:t>
            </a:r>
          </a:p>
          <a:p>
            <a:r>
              <a:rPr lang="en-US" altLang="en-US" dirty="0"/>
              <a:t>The discipline of </a:t>
            </a:r>
            <a:r>
              <a:rPr lang="en-US" altLang="en-US" b="1" dirty="0"/>
              <a:t>systematics</a:t>
            </a:r>
            <a:r>
              <a:rPr lang="en-US" altLang="en-US" dirty="0"/>
              <a:t> classifies organisms and </a:t>
            </a:r>
          </a:p>
        </p:txBody>
      </p:sp>
      <p:pic>
        <p:nvPicPr>
          <p:cNvPr id="2" name="Picture 1" descr="An evolutionary tree is shown, beginning with an ancestral lizard (With limbs). The tree branches into two. One branch leads to Geckos, the other splits into two branches. One branch has a label showing “no limbs”, and leads to Snakes, the other splits into two branches. One branch leads to Iguanas, and the other splits into two branches. One leads to Monitor lizards, and the other has a label showing “no limbs” and leads to Eastern glass lizard.">
            <a:extLst>
              <a:ext uri="{FF2B5EF4-FFF2-40B4-BE49-F238E27FC236}">
                <a16:creationId xmlns:a16="http://schemas.microsoft.com/office/drawing/2014/main" id="{631150D0-273E-41C3-9319-BAF04F20C80B}"/>
              </a:ext>
            </a:extLst>
          </p:cNvPr>
          <p:cNvPicPr>
            <a:picLocks noChangeAspect="1"/>
          </p:cNvPicPr>
          <p:nvPr/>
        </p:nvPicPr>
        <p:blipFill>
          <a:blip r:embed="rId3"/>
          <a:stretch>
            <a:fillRect/>
          </a:stretch>
        </p:blipFill>
        <p:spPr>
          <a:xfrm>
            <a:off x="1682750" y="3578770"/>
            <a:ext cx="5778500" cy="3200400"/>
          </a:xfrm>
          <a:prstGeom prst="rect">
            <a:avLst/>
          </a:prstGeom>
        </p:spPr>
      </p:pic>
    </p:spTree>
    <p:extLst>
      <p:ext uri="{BB962C8B-B14F-4D97-AF65-F5344CB8AC3E}">
        <p14:creationId xmlns:p14="http://schemas.microsoft.com/office/powerpoint/2010/main" val="3540194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1182469"/>
            <a:ext cx="9144000" cy="646331"/>
          </a:xfrm>
        </p:spPr>
        <p:txBody>
          <a:bodyPr/>
          <a:lstStyle/>
          <a:p>
            <a:r>
              <a:rPr lang="en-US" altLang="en-US" dirty="0"/>
              <a:t>Binomial Nomenclature</a:t>
            </a:r>
          </a:p>
        </p:txBody>
      </p:sp>
      <p:sp>
        <p:nvSpPr>
          <p:cNvPr id="45059" name="Rectangle 3"/>
          <p:cNvSpPr>
            <a:spLocks noGrp="1" noChangeArrowheads="1"/>
          </p:cNvSpPr>
          <p:nvPr>
            <p:ph idx="1"/>
          </p:nvPr>
        </p:nvSpPr>
        <p:spPr>
          <a:xfrm>
            <a:off x="152400" y="1828800"/>
            <a:ext cx="4419600" cy="4876800"/>
          </a:xfrm>
        </p:spPr>
        <p:txBody>
          <a:bodyPr/>
          <a:lstStyle/>
          <a:p>
            <a:r>
              <a:rPr lang="en-US" altLang="en-US" dirty="0"/>
              <a:t>In the 18th century, Carolus Linnaeus published a </a:t>
            </a:r>
          </a:p>
          <a:p>
            <a:endParaRPr lang="en-US" altLang="en-US" dirty="0"/>
          </a:p>
          <a:p>
            <a:endParaRPr lang="en-US" altLang="en-US" dirty="0"/>
          </a:p>
          <a:p>
            <a:r>
              <a:rPr lang="en-US" altLang="en-US" dirty="0"/>
              <a:t>Two key features of his system remain useful today: </a:t>
            </a:r>
          </a:p>
        </p:txBody>
      </p:sp>
      <p:sp>
        <p:nvSpPr>
          <p:cNvPr id="5" name="Rectangle 2">
            <a:extLst>
              <a:ext uri="{FF2B5EF4-FFF2-40B4-BE49-F238E27FC236}">
                <a16:creationId xmlns:a16="http://schemas.microsoft.com/office/drawing/2014/main" id="{AC6777CB-3E2B-4518-BFDA-5BCD08FFEC1A}"/>
              </a:ext>
            </a:extLst>
          </p:cNvPr>
          <p:cNvSpPr txBox="1">
            <a:spLocks noChangeArrowheads="1"/>
          </p:cNvSpPr>
          <p:nvPr/>
        </p:nvSpPr>
        <p:spPr bwMode="auto">
          <a:xfrm>
            <a:off x="0" y="0"/>
            <a:ext cx="91440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lvl1pPr marL="0" indent="-450850" algn="l" rtl="0" eaLnBrk="1" fontAlgn="base" hangingPunct="1">
              <a:lnSpc>
                <a:spcPct val="10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altLang="en-US" kern="0" dirty="0">
                <a:solidFill>
                  <a:srgbClr val="FF0000"/>
                </a:solidFill>
              </a:rPr>
              <a:t>Concept 26.1: Phylogenies show evolutionary relationships</a:t>
            </a:r>
          </a:p>
        </p:txBody>
      </p:sp>
      <p:pic>
        <p:nvPicPr>
          <p:cNvPr id="3" name="Picture 2" descr="Picture of Carolus Linnaeus">
            <a:extLst>
              <a:ext uri="{FF2B5EF4-FFF2-40B4-BE49-F238E27FC236}">
                <a16:creationId xmlns:a16="http://schemas.microsoft.com/office/drawing/2014/main" id="{62239B75-E284-4B74-92C9-E854BD83629B}"/>
              </a:ext>
            </a:extLst>
          </p:cNvPr>
          <p:cNvPicPr>
            <a:picLocks noChangeAspect="1"/>
          </p:cNvPicPr>
          <p:nvPr/>
        </p:nvPicPr>
        <p:blipFill>
          <a:blip r:embed="rId3"/>
          <a:stretch>
            <a:fillRect/>
          </a:stretch>
        </p:blipFill>
        <p:spPr>
          <a:xfrm>
            <a:off x="4974022" y="1828800"/>
            <a:ext cx="3810000" cy="4819650"/>
          </a:xfrm>
          <a:prstGeom prst="rect">
            <a:avLst/>
          </a:prstGeom>
        </p:spPr>
      </p:pic>
    </p:spTree>
    <p:extLst>
      <p:ext uri="{BB962C8B-B14F-4D97-AF65-F5344CB8AC3E}">
        <p14:creationId xmlns:p14="http://schemas.microsoft.com/office/powerpoint/2010/main" val="96605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485"/>
            <a:ext cx="9144000" cy="600164"/>
          </a:xfrm>
        </p:spPr>
        <p:txBody>
          <a:bodyPr/>
          <a:lstStyle/>
          <a:p>
            <a:r>
              <a:rPr lang="en-US" dirty="0">
                <a:solidFill>
                  <a:schemeClr val="bg1"/>
                </a:solidFill>
              </a:rPr>
              <a:t>5</a:t>
            </a:r>
          </a:p>
        </p:txBody>
      </p:sp>
      <p:sp>
        <p:nvSpPr>
          <p:cNvPr id="47106" name="Rectangle 2"/>
          <p:cNvSpPr>
            <a:spLocks noGrp="1" noChangeArrowheads="1"/>
          </p:cNvSpPr>
          <p:nvPr>
            <p:ph idx="4294967295"/>
          </p:nvPr>
        </p:nvSpPr>
        <p:spPr>
          <a:xfrm>
            <a:off x="152400" y="152400"/>
            <a:ext cx="8839200" cy="6337300"/>
          </a:xfrm>
        </p:spPr>
        <p:txBody>
          <a:bodyPr/>
          <a:lstStyle/>
          <a:p>
            <a:r>
              <a:rPr lang="en-US" altLang="en-US" dirty="0"/>
              <a:t>The two-part scientific name of </a:t>
            </a:r>
          </a:p>
          <a:p>
            <a:endParaRPr lang="en-US" altLang="en-US" b="1" dirty="0"/>
          </a:p>
          <a:p>
            <a:r>
              <a:rPr lang="en-US" altLang="en-US" dirty="0"/>
              <a:t>The first part </a:t>
            </a:r>
          </a:p>
          <a:p>
            <a:r>
              <a:rPr lang="en-US" altLang="en-US" dirty="0"/>
              <a:t>The second part, called the specific epithet, is unique for </a:t>
            </a:r>
          </a:p>
          <a:p>
            <a:r>
              <a:rPr lang="en-US" altLang="en-US" dirty="0"/>
              <a:t>The first letter of the genus is capitalized, and the entire</a:t>
            </a:r>
          </a:p>
          <a:p>
            <a:r>
              <a:rPr lang="en-US" altLang="en-US" dirty="0"/>
              <a:t>Both parts together describe the scientific name or </a:t>
            </a:r>
          </a:p>
          <a:p>
            <a:endParaRPr lang="en-US" altLang="en-US" dirty="0"/>
          </a:p>
          <a:p>
            <a:endParaRPr lang="en-US" altLang="en-US" dirty="0"/>
          </a:p>
          <a:p>
            <a:r>
              <a:rPr lang="en-US" altLang="en-US" dirty="0"/>
              <a:t>EX: </a:t>
            </a:r>
            <a:endParaRPr lang="en-US" altLang="en-US" u="sng" dirty="0"/>
          </a:p>
        </p:txBody>
      </p:sp>
    </p:spTree>
    <p:extLst>
      <p:ext uri="{BB962C8B-B14F-4D97-AF65-F5344CB8AC3E}">
        <p14:creationId xmlns:p14="http://schemas.microsoft.com/office/powerpoint/2010/main" val="1784489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dirty="0"/>
              <a:t>Hierarchical Classification</a:t>
            </a:r>
          </a:p>
        </p:txBody>
      </p:sp>
      <p:sp>
        <p:nvSpPr>
          <p:cNvPr id="49155" name="Rectangle 3"/>
          <p:cNvSpPr>
            <a:spLocks noGrp="1" noChangeArrowheads="1"/>
          </p:cNvSpPr>
          <p:nvPr>
            <p:ph idx="1"/>
          </p:nvPr>
        </p:nvSpPr>
        <p:spPr>
          <a:xfrm>
            <a:off x="45720" y="713542"/>
            <a:ext cx="9067800" cy="6059269"/>
          </a:xfrm>
        </p:spPr>
        <p:txBody>
          <a:bodyPr/>
          <a:lstStyle/>
          <a:p>
            <a:r>
              <a:rPr lang="en-US" altLang="en-US" dirty="0"/>
              <a:t>Linnaeus introduced a system for grouping species in increasingly </a:t>
            </a:r>
          </a:p>
          <a:p>
            <a:r>
              <a:rPr lang="en-US" altLang="en-US" dirty="0"/>
              <a:t>The taxonomic groups from broad to narrow are </a:t>
            </a:r>
          </a:p>
          <a:p>
            <a:endParaRPr lang="en-US" altLang="en-US" b="1" dirty="0"/>
          </a:p>
          <a:p>
            <a:endParaRPr lang="en-US" altLang="en-US" b="1" dirty="0"/>
          </a:p>
          <a:p>
            <a:r>
              <a:rPr lang="en-US" altLang="en-US" dirty="0"/>
              <a:t>A taxonomic unit at any level of </a:t>
            </a:r>
          </a:p>
          <a:p>
            <a:endParaRPr lang="en-US" altLang="en-US" b="1" dirty="0"/>
          </a:p>
          <a:p>
            <a:r>
              <a:rPr lang="en-US" altLang="en-US" dirty="0"/>
              <a:t>The broader taxa are </a:t>
            </a:r>
          </a:p>
          <a:p>
            <a:pPr lvl="1"/>
            <a:r>
              <a:rPr lang="en-US" altLang="en-US" dirty="0"/>
              <a:t>EX: An order of snails has less genetic diversity than </a:t>
            </a:r>
          </a:p>
          <a:p>
            <a:pPr lvl="1"/>
            <a:endParaRPr lang="en-US" altLang="en-US" dirty="0"/>
          </a:p>
          <a:p>
            <a:r>
              <a:rPr lang="en-US" altLang="en-US" dirty="0"/>
              <a:t>Categories become more </a:t>
            </a:r>
          </a:p>
        </p:txBody>
      </p:sp>
    </p:spTree>
    <p:extLst>
      <p:ext uri="{BB962C8B-B14F-4D97-AF65-F5344CB8AC3E}">
        <p14:creationId xmlns:p14="http://schemas.microsoft.com/office/powerpoint/2010/main" val="567166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26.3</a:t>
            </a:r>
          </a:p>
        </p:txBody>
      </p:sp>
      <p:pic>
        <p:nvPicPr>
          <p:cNvPr id="3" name="Picture 2" descr="A diagram shows the Linnaean classification of a Leopard. At the top is an illustration of a leopard, standing on a disc labeled “Species: Panthera pardus”. This is above another disc (with smaller circles in it) labeled “Genus: Panthera”. This is above another disc (with smaller circles in it) labeled “Family: Felidae”. This is above another disc (with smaller circles in it) labeled “Order: Carnivora”. This is above another disc (with smaller circles in it) labeled “Class: Mammalia”. This is above another disc (with smaller circles in it) labeled “Phylum: Chordata”. This is above another disc (with smaller circles in it) labeled “Kingdom: Animalia”. This is above another disc (with smaller circles in it) labeled “Domain: Eukarya”. At this level are two other discs with the labels “Domain: Bacteria” and “Domain: Archaea”."/>
          <p:cNvPicPr>
            <a:picLocks noChangeAspect="1"/>
          </p:cNvPicPr>
          <p:nvPr/>
        </p:nvPicPr>
        <p:blipFill>
          <a:blip r:embed="rId3"/>
          <a:stretch>
            <a:fillRect/>
          </a:stretch>
        </p:blipFill>
        <p:spPr>
          <a:xfrm>
            <a:off x="1628775" y="166687"/>
            <a:ext cx="5886450" cy="6524625"/>
          </a:xfrm>
          <a:prstGeom prst="rect">
            <a:avLst/>
          </a:prstGeom>
        </p:spPr>
      </p:pic>
    </p:spTree>
    <p:extLst>
      <p:ext uri="{BB962C8B-B14F-4D97-AF65-F5344CB8AC3E}">
        <p14:creationId xmlns:p14="http://schemas.microsoft.com/office/powerpoint/2010/main" val="3796251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0"/>
            <a:ext cx="9144000" cy="646331"/>
          </a:xfrm>
        </p:spPr>
        <p:txBody>
          <a:bodyPr/>
          <a:lstStyle/>
          <a:p>
            <a:r>
              <a:rPr lang="en-US" altLang="en-US" dirty="0"/>
              <a:t>Linking Classification and Phylogeny</a:t>
            </a:r>
          </a:p>
        </p:txBody>
      </p:sp>
      <p:sp>
        <p:nvSpPr>
          <p:cNvPr id="54275" name="Rectangle 3"/>
          <p:cNvSpPr>
            <a:spLocks noGrp="1" noChangeArrowheads="1"/>
          </p:cNvSpPr>
          <p:nvPr>
            <p:ph idx="1"/>
          </p:nvPr>
        </p:nvSpPr>
        <p:spPr>
          <a:xfrm>
            <a:off x="152401" y="820407"/>
            <a:ext cx="3276599" cy="5217186"/>
          </a:xfrm>
        </p:spPr>
        <p:txBody>
          <a:bodyPr/>
          <a:lstStyle/>
          <a:p>
            <a:r>
              <a:rPr lang="en-US" altLang="en-US" dirty="0"/>
              <a:t>The evolutionary history of a group of organisms can be represented in a </a:t>
            </a:r>
          </a:p>
          <a:p>
            <a:endParaRPr lang="en-US" altLang="en-US" b="1" dirty="0"/>
          </a:p>
          <a:p>
            <a:pPr marL="0" indent="0">
              <a:buNone/>
            </a:pPr>
            <a:endParaRPr lang="en-US" altLang="en-US" b="1" dirty="0"/>
          </a:p>
          <a:p>
            <a:r>
              <a:rPr lang="en-US" dirty="0"/>
              <a:t>The "tips" of the </a:t>
            </a:r>
            <a:r>
              <a:rPr lang="en-US" b="1" dirty="0"/>
              <a:t>tree</a:t>
            </a:r>
            <a:r>
              <a:rPr lang="en-US" dirty="0"/>
              <a:t> branches represent </a:t>
            </a:r>
            <a:endParaRPr lang="en-US" altLang="en-US" dirty="0"/>
          </a:p>
        </p:txBody>
      </p:sp>
      <p:pic>
        <p:nvPicPr>
          <p:cNvPr id="2" name="Picture 1" descr="A diagram shows the Linnaean classification of a Leopard. At the top is an illustration of a leopard, standing on a disc labeled “Species: Panthera pardus”. This is above another disc (with smaller circles in it) labeled “Genus: Panthera”. This is above another disc (with smaller circles in it) labeled “Family: Felidae”. This is above another disc (with smaller circles in it) labeled “Order: Carnivora”. This is above another disc (with smaller circles in it) labeled “Class: Mammalia”. This is above another disc (with smaller circles in it) labeled “Phylum: Chordata”. This is above another disc (with smaller circles in it) labeled “Kingdom: Animalia”. This is above another disc (with smaller circles in it) labeled “Domain: Eukarya”. At this level are two other discs with the labels “Domain: Bacteria” and “Domain: Archaea”.">
            <a:extLst>
              <a:ext uri="{FF2B5EF4-FFF2-40B4-BE49-F238E27FC236}">
                <a16:creationId xmlns:a16="http://schemas.microsoft.com/office/drawing/2014/main" id="{CF698B27-D345-443A-B16A-0A86D7A56093}"/>
              </a:ext>
            </a:extLst>
          </p:cNvPr>
          <p:cNvPicPr>
            <a:picLocks noChangeAspect="1"/>
          </p:cNvPicPr>
          <p:nvPr/>
        </p:nvPicPr>
        <p:blipFill>
          <a:blip r:embed="rId3"/>
          <a:stretch>
            <a:fillRect/>
          </a:stretch>
        </p:blipFill>
        <p:spPr>
          <a:xfrm>
            <a:off x="3737502" y="820407"/>
            <a:ext cx="5359201" cy="5217186"/>
          </a:xfrm>
          <a:prstGeom prst="rect">
            <a:avLst/>
          </a:prstGeom>
        </p:spPr>
      </p:pic>
    </p:spTree>
    <p:extLst>
      <p:ext uri="{BB962C8B-B14F-4D97-AF65-F5344CB8AC3E}">
        <p14:creationId xmlns:p14="http://schemas.microsoft.com/office/powerpoint/2010/main" val="2662890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shows the parts of a phylogenic tree. The main branch is labeled common ancestor. It splits into two branches. The first leads to fishes and is labeled an evolutionary lineage. The second splits into two branches. The first leads to frogs and is labeled an ancestor in the lineage. The second splits into two branches. The first leads to lizards and the second splits into two branches. The first leads to chimps and the second leads to humans, both labeled sister taxa."/>
          <p:cNvPicPr>
            <a:picLocks noChangeAspect="1"/>
          </p:cNvPicPr>
          <p:nvPr/>
        </p:nvPicPr>
        <p:blipFill>
          <a:blip r:embed="rId3"/>
          <a:stretch>
            <a:fillRect/>
          </a:stretch>
        </p:blipFill>
        <p:spPr>
          <a:xfrm>
            <a:off x="2095499" y="4065799"/>
            <a:ext cx="4953000" cy="2730991"/>
          </a:xfrm>
          <a:prstGeom prst="rect">
            <a:avLst/>
          </a:prstGeom>
        </p:spPr>
      </p:pic>
      <p:sp>
        <p:nvSpPr>
          <p:cNvPr id="60419" name="Rectangle 2"/>
          <p:cNvSpPr>
            <a:spLocks noGrp="1" noChangeArrowheads="1"/>
          </p:cNvSpPr>
          <p:nvPr>
            <p:ph type="title"/>
          </p:nvPr>
        </p:nvSpPr>
        <p:spPr>
          <a:xfrm>
            <a:off x="0" y="0"/>
            <a:ext cx="9144000" cy="1107996"/>
          </a:xfrm>
        </p:spPr>
        <p:txBody>
          <a:bodyPr/>
          <a:lstStyle/>
          <a:p>
            <a:r>
              <a:rPr lang="en-US" altLang="en-US" dirty="0"/>
              <a:t>What We Can and Cannot Learn from Phylogenetic Trees</a:t>
            </a:r>
          </a:p>
        </p:txBody>
      </p:sp>
      <p:sp>
        <p:nvSpPr>
          <p:cNvPr id="60418" name="Rectangle 2"/>
          <p:cNvSpPr>
            <a:spLocks noGrp="1" noChangeArrowheads="1"/>
          </p:cNvSpPr>
          <p:nvPr>
            <p:ph idx="1"/>
          </p:nvPr>
        </p:nvSpPr>
        <p:spPr>
          <a:xfrm>
            <a:off x="152400" y="1107996"/>
            <a:ext cx="8839199" cy="3540204"/>
          </a:xfrm>
        </p:spPr>
        <p:txBody>
          <a:bodyPr/>
          <a:lstStyle/>
          <a:p>
            <a:r>
              <a:rPr lang="en-US" altLang="en-US" dirty="0"/>
              <a:t>A phylogenetic tree represents a </a:t>
            </a:r>
          </a:p>
          <a:p>
            <a:endParaRPr lang="en-US" altLang="en-US" dirty="0"/>
          </a:p>
          <a:p>
            <a:r>
              <a:rPr lang="en-US" altLang="en-US" dirty="0"/>
              <a:t>Each </a:t>
            </a:r>
            <a:r>
              <a:rPr lang="en-US" altLang="en-US" b="1" dirty="0"/>
              <a:t>branch point </a:t>
            </a:r>
            <a:r>
              <a:rPr lang="en-US" altLang="en-US" dirty="0"/>
              <a:t>represents the divergence of two evolutionary </a:t>
            </a:r>
          </a:p>
          <a:p>
            <a:r>
              <a:rPr lang="en-US" altLang="en-US" b="1" dirty="0"/>
              <a:t>Sister taxa </a:t>
            </a:r>
            <a:r>
              <a:rPr lang="en-US" altLang="en-US" dirty="0"/>
              <a:t>are groups that share an immediate common ancestor that is</a:t>
            </a:r>
          </a:p>
        </p:txBody>
      </p:sp>
    </p:spTree>
    <p:extLst>
      <p:ext uri="{BB962C8B-B14F-4D97-AF65-F5344CB8AC3E}">
        <p14:creationId xmlns:p14="http://schemas.microsoft.com/office/powerpoint/2010/main" val="605905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230" y="-3748"/>
            <a:ext cx="9144000" cy="600164"/>
          </a:xfrm>
        </p:spPr>
        <p:txBody>
          <a:bodyPr/>
          <a:lstStyle/>
          <a:p>
            <a:r>
              <a:rPr lang="en-US" dirty="0">
                <a:solidFill>
                  <a:schemeClr val="bg1"/>
                </a:solidFill>
              </a:rPr>
              <a:t>10</a:t>
            </a:r>
          </a:p>
        </p:txBody>
      </p:sp>
      <p:sp>
        <p:nvSpPr>
          <p:cNvPr id="64514" name="Rectangle 2"/>
          <p:cNvSpPr>
            <a:spLocks noGrp="1" noChangeArrowheads="1"/>
          </p:cNvSpPr>
          <p:nvPr>
            <p:ph idx="4294967295"/>
          </p:nvPr>
        </p:nvSpPr>
        <p:spPr>
          <a:xfrm>
            <a:off x="152400" y="152400"/>
            <a:ext cx="8839200" cy="1600200"/>
          </a:xfrm>
        </p:spPr>
        <p:txBody>
          <a:bodyPr/>
          <a:lstStyle/>
          <a:p>
            <a:r>
              <a:rPr lang="en-US" altLang="en-US" dirty="0"/>
              <a:t>Phylogenetic trees can be drawn horizontally, vertically, or diagonally without </a:t>
            </a:r>
          </a:p>
        </p:txBody>
      </p:sp>
      <p:pic>
        <p:nvPicPr>
          <p:cNvPr id="2" name="Picture 1" descr="A diagram shows the parts of a phylogenic tree arranged vertically . The main branch is labeled common ancestor. It splits into two branches. The first leads to fishes and is labeled an evolutionary lineage. The second splits into two branches. The first leads to frogs and is labeled an ancestor in the lineage. The second splits into two branches. The first leads to lizards and the second splits into two branches. The first leads to chimps and the second leads to humans, both labeled sister taxa. &#10;The diagonal tree shows a horizontal line ending with the label humans. At the start of the line a long vertical line is labeled fishes. A line next to it but shorter in height is labeled frogs. A line next to it but shorter in height is labeled lizards. A line next to it but shorter in height is labeled chimps.">
            <a:extLst>
              <a:ext uri="{FF2B5EF4-FFF2-40B4-BE49-F238E27FC236}">
                <a16:creationId xmlns:a16="http://schemas.microsoft.com/office/drawing/2014/main" id="{7FA466A5-0ACC-420E-A8E4-70411BABEE66}"/>
              </a:ext>
            </a:extLst>
          </p:cNvPr>
          <p:cNvPicPr>
            <a:picLocks noChangeAspect="1"/>
          </p:cNvPicPr>
          <p:nvPr/>
        </p:nvPicPr>
        <p:blipFill>
          <a:blip r:embed="rId3"/>
          <a:stretch>
            <a:fillRect/>
          </a:stretch>
        </p:blipFill>
        <p:spPr>
          <a:xfrm>
            <a:off x="972038" y="1600200"/>
            <a:ext cx="7199923" cy="5105400"/>
          </a:xfrm>
          <a:prstGeom prst="rect">
            <a:avLst/>
          </a:prstGeom>
        </p:spPr>
      </p:pic>
    </p:spTree>
    <p:extLst>
      <p:ext uri="{BB962C8B-B14F-4D97-AF65-F5344CB8AC3E}">
        <p14:creationId xmlns:p14="http://schemas.microsoft.com/office/powerpoint/2010/main" val="2112382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0163"/>
            <a:ext cx="9144000" cy="600164"/>
          </a:xfrm>
        </p:spPr>
        <p:txBody>
          <a:bodyPr/>
          <a:lstStyle/>
          <a:p>
            <a:r>
              <a:rPr lang="en-US" dirty="0">
                <a:solidFill>
                  <a:schemeClr val="bg1"/>
                </a:solidFill>
              </a:rPr>
              <a:t>11</a:t>
            </a:r>
          </a:p>
        </p:txBody>
      </p:sp>
      <p:sp>
        <p:nvSpPr>
          <p:cNvPr id="68610" name="Rectangle 2"/>
          <p:cNvSpPr>
            <a:spLocks noGrp="1" noChangeArrowheads="1"/>
          </p:cNvSpPr>
          <p:nvPr>
            <p:ph idx="4294967295"/>
          </p:nvPr>
        </p:nvSpPr>
        <p:spPr>
          <a:xfrm>
            <a:off x="92075" y="30163"/>
            <a:ext cx="9051925" cy="6827837"/>
          </a:xfrm>
        </p:spPr>
        <p:txBody>
          <a:bodyPr/>
          <a:lstStyle/>
          <a:p>
            <a:r>
              <a:rPr lang="en-US" altLang="en-US" dirty="0"/>
              <a:t>Tree branches can be rotated around a branch point without </a:t>
            </a:r>
          </a:p>
          <a:p>
            <a:pPr lvl="1"/>
            <a:r>
              <a:rPr lang="en-US" altLang="en-US" dirty="0"/>
              <a:t>EX: the tree below depicts the </a:t>
            </a:r>
          </a:p>
          <a:p>
            <a:endParaRPr lang="en-US" altLang="en-US" dirty="0"/>
          </a:p>
          <a:p>
            <a:endParaRPr lang="en-US" altLang="en-US" dirty="0"/>
          </a:p>
          <a:p>
            <a:endParaRPr lang="en-US" altLang="en-US" dirty="0"/>
          </a:p>
          <a:p>
            <a:endParaRPr lang="en-US" altLang="en-US" dirty="0"/>
          </a:p>
          <a:p>
            <a:r>
              <a:rPr lang="en-US" altLang="en-US" dirty="0"/>
              <a:t>Phylogenetic trees show patterns of </a:t>
            </a:r>
          </a:p>
          <a:p>
            <a:endParaRPr lang="en-US" altLang="en-US" dirty="0"/>
          </a:p>
          <a:p>
            <a:r>
              <a:rPr lang="en-US" altLang="en-US" dirty="0"/>
              <a:t>Phylogenetic trees do not indicate </a:t>
            </a:r>
            <a:r>
              <a:rPr lang="en-US" altLang="en-US" b="1" i="1" dirty="0">
                <a:solidFill>
                  <a:srgbClr val="FF0000"/>
                </a:solidFill>
              </a:rPr>
              <a:t>when</a:t>
            </a:r>
            <a:r>
              <a:rPr lang="en-US" altLang="en-US" dirty="0"/>
              <a:t> species evolved </a:t>
            </a:r>
          </a:p>
          <a:p>
            <a:r>
              <a:rPr lang="en-US" altLang="en-US" dirty="0"/>
              <a:t>It should not be assumed that a </a:t>
            </a:r>
          </a:p>
        </p:txBody>
      </p:sp>
      <p:pic>
        <p:nvPicPr>
          <p:cNvPr id="2" name="Picture 1" descr="A diagram shows rotation around the point where a branch splits, thus inverting the subsequent branches without altering data. The main branch is labeled common ancestor. It splits into two branches. The first leads to fishes and is labeled an evolutionary lineage. The second splits into two branches. The first leads to frogs and is labeled an ancestor in the lineage. The second splits into two branches. The first leads to lizards and the second splits into two branches. The first leads to chimps and the second leads to humans, both labeled sister taxa.">
            <a:extLst>
              <a:ext uri="{FF2B5EF4-FFF2-40B4-BE49-F238E27FC236}">
                <a16:creationId xmlns:a16="http://schemas.microsoft.com/office/drawing/2014/main" id="{D3420708-7B7C-4935-A764-9532F417D88A}"/>
              </a:ext>
            </a:extLst>
          </p:cNvPr>
          <p:cNvPicPr>
            <a:picLocks noChangeAspect="1"/>
          </p:cNvPicPr>
          <p:nvPr/>
        </p:nvPicPr>
        <p:blipFill>
          <a:blip r:embed="rId3"/>
          <a:stretch>
            <a:fillRect/>
          </a:stretch>
        </p:blipFill>
        <p:spPr>
          <a:xfrm>
            <a:off x="1933379" y="1600200"/>
            <a:ext cx="5368681" cy="2318562"/>
          </a:xfrm>
          <a:prstGeom prst="rect">
            <a:avLst/>
          </a:prstGeom>
        </p:spPr>
      </p:pic>
      <p:sp>
        <p:nvSpPr>
          <p:cNvPr id="4" name="TextBox 3"/>
          <p:cNvSpPr txBox="1"/>
          <p:nvPr/>
        </p:nvSpPr>
        <p:spPr>
          <a:xfrm>
            <a:off x="357682" y="2174705"/>
            <a:ext cx="1310090" cy="1169551"/>
          </a:xfrm>
          <a:prstGeom prst="rect">
            <a:avLst/>
          </a:prstGeom>
          <a:solidFill>
            <a:srgbClr val="FFFF00"/>
          </a:solidFill>
          <a:ln w="38100">
            <a:solidFill>
              <a:schemeClr val="tx1"/>
            </a:solidFill>
          </a:ln>
        </p:spPr>
        <p:txBody>
          <a:bodyPr wrap="square" rtlCol="0">
            <a:spAutoFit/>
          </a:bodyPr>
          <a:lstStyle/>
          <a:p>
            <a:r>
              <a:rPr lang="en-US" sz="1400" dirty="0"/>
              <a:t>GOOD EXAM QUESTION COMPARING TREES FOR EQUALITY</a:t>
            </a:r>
          </a:p>
        </p:txBody>
      </p:sp>
      <p:sp>
        <p:nvSpPr>
          <p:cNvPr id="5" name="TextBox 4"/>
          <p:cNvSpPr txBox="1"/>
          <p:nvPr/>
        </p:nvSpPr>
        <p:spPr>
          <a:xfrm>
            <a:off x="7567667" y="1928483"/>
            <a:ext cx="1554874" cy="830997"/>
          </a:xfrm>
          <a:prstGeom prst="rect">
            <a:avLst/>
          </a:prstGeom>
          <a:noFill/>
        </p:spPr>
        <p:txBody>
          <a:bodyPr wrap="square" rtlCol="0">
            <a:spAutoFit/>
          </a:bodyPr>
          <a:lstStyle/>
          <a:p>
            <a:pPr algn="ctr"/>
            <a:r>
              <a:rPr lang="en-US" dirty="0">
                <a:hlinkClick r:id="rId4"/>
              </a:rPr>
              <a:t>Tree tutorial</a:t>
            </a:r>
            <a:endParaRPr lang="en-US" dirty="0"/>
          </a:p>
        </p:txBody>
      </p:sp>
      <p:sp>
        <p:nvSpPr>
          <p:cNvPr id="6" name="TextBox 5">
            <a:extLst>
              <a:ext uri="{FF2B5EF4-FFF2-40B4-BE49-F238E27FC236}">
                <a16:creationId xmlns:a16="http://schemas.microsoft.com/office/drawing/2014/main" id="{67EF7839-5762-28FD-949F-358428715524}"/>
              </a:ext>
            </a:extLst>
          </p:cNvPr>
          <p:cNvSpPr txBox="1"/>
          <p:nvPr/>
        </p:nvSpPr>
        <p:spPr>
          <a:xfrm>
            <a:off x="7567667" y="2888085"/>
            <a:ext cx="1554874" cy="830997"/>
          </a:xfrm>
          <a:prstGeom prst="rect">
            <a:avLst/>
          </a:prstGeom>
          <a:noFill/>
        </p:spPr>
        <p:txBody>
          <a:bodyPr wrap="square" rtlCol="0">
            <a:spAutoFit/>
          </a:bodyPr>
          <a:lstStyle/>
          <a:p>
            <a:pPr algn="ctr"/>
            <a:r>
              <a:rPr lang="en-US" dirty="0">
                <a:hlinkClick r:id="rId5"/>
              </a:rPr>
              <a:t>Tree tutorial</a:t>
            </a:r>
            <a:endParaRPr lang="en-US" dirty="0"/>
          </a:p>
        </p:txBody>
      </p:sp>
    </p:spTree>
    <p:extLst>
      <p:ext uri="{BB962C8B-B14F-4D97-AF65-F5344CB8AC3E}">
        <p14:creationId xmlns:p14="http://schemas.microsoft.com/office/powerpoint/2010/main" val="507933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26.2: Phylogenies are inferred from morphological and molecular data</a:t>
            </a:r>
          </a:p>
        </p:txBody>
      </p:sp>
      <p:sp>
        <p:nvSpPr>
          <p:cNvPr id="80899" name="Rectangle 3"/>
          <p:cNvSpPr>
            <a:spLocks noGrp="1" noChangeArrowheads="1"/>
          </p:cNvSpPr>
          <p:nvPr>
            <p:ph idx="1"/>
          </p:nvPr>
        </p:nvSpPr>
        <p:spPr>
          <a:xfrm>
            <a:off x="152400" y="1524000"/>
            <a:ext cx="8839199" cy="5432690"/>
          </a:xfrm>
        </p:spPr>
        <p:txBody>
          <a:bodyPr/>
          <a:lstStyle/>
          <a:p>
            <a:r>
              <a:rPr lang="en-US" altLang="en-US" dirty="0"/>
              <a:t>To infer phylogenies, </a:t>
            </a:r>
            <a:r>
              <a:rPr lang="en-US" altLang="en-US" dirty="0" err="1"/>
              <a:t>systematists</a:t>
            </a:r>
            <a:r>
              <a:rPr lang="en-US" altLang="en-US" dirty="0"/>
              <a:t> gather information about the </a:t>
            </a:r>
          </a:p>
          <a:p>
            <a:endParaRPr lang="en-US" altLang="en-US" dirty="0"/>
          </a:p>
          <a:p>
            <a:r>
              <a:rPr lang="en-US" altLang="en-US" dirty="0"/>
              <a:t>Phenotypic and genetic similarities due to shared ancestry </a:t>
            </a:r>
            <a:endParaRPr lang="en-US" altLang="en-US" b="1" dirty="0"/>
          </a:p>
          <a:p>
            <a:r>
              <a:rPr lang="en-US" altLang="en-US" dirty="0"/>
              <a:t>Organisms with similar morphologies or DNA sequences are likely to be</a:t>
            </a:r>
          </a:p>
          <a:p>
            <a:pPr marL="457200" lvl="1" indent="0">
              <a:buNone/>
            </a:pPr>
            <a:r>
              <a:rPr lang="en-US" altLang="en-US" dirty="0">
                <a:latin typeface="Courier New" panose="02070309020205020404" pitchFamily="49" charset="0"/>
                <a:cs typeface="Courier New" panose="02070309020205020404" pitchFamily="49" charset="0"/>
              </a:rPr>
              <a:t> #1: 5’-ATGGG</a:t>
            </a:r>
            <a:r>
              <a:rPr lang="en-US" altLang="en-US" b="1" dirty="0">
                <a:solidFill>
                  <a:srgbClr val="FF0000"/>
                </a:solidFill>
                <a:latin typeface="Courier New" panose="02070309020205020404" pitchFamily="49" charset="0"/>
                <a:cs typeface="Courier New" panose="02070309020205020404" pitchFamily="49" charset="0"/>
              </a:rPr>
              <a:t>G</a:t>
            </a:r>
            <a:r>
              <a:rPr lang="en-US" altLang="en-US" dirty="0">
                <a:latin typeface="Courier New" panose="02070309020205020404" pitchFamily="49" charset="0"/>
                <a:cs typeface="Courier New" panose="02070309020205020404" pitchFamily="49" charset="0"/>
              </a:rPr>
              <a:t>TA</a:t>
            </a:r>
            <a:r>
              <a:rPr lang="en-US" altLang="en-US" b="1" dirty="0">
                <a:solidFill>
                  <a:srgbClr val="FF0000"/>
                </a:solidFill>
                <a:latin typeface="Courier New" panose="02070309020205020404" pitchFamily="49" charset="0"/>
                <a:cs typeface="Courier New" panose="02070309020205020404" pitchFamily="49" charset="0"/>
              </a:rPr>
              <a:t>T</a:t>
            </a:r>
            <a:r>
              <a:rPr lang="en-US" altLang="en-US" dirty="0">
                <a:latin typeface="Courier New" panose="02070309020205020404" pitchFamily="49" charset="0"/>
                <a:cs typeface="Courier New" panose="02070309020205020404" pitchFamily="49" charset="0"/>
              </a:rPr>
              <a:t>AT</a:t>
            </a:r>
            <a:r>
              <a:rPr lang="en-US" altLang="en-US" b="1" dirty="0">
                <a:solidFill>
                  <a:srgbClr val="0070C0"/>
                </a:solidFill>
                <a:latin typeface="Courier New" panose="02070309020205020404" pitchFamily="49" charset="0"/>
                <a:cs typeface="Courier New" panose="02070309020205020404" pitchFamily="49" charset="0"/>
              </a:rPr>
              <a:t>C</a:t>
            </a:r>
            <a:r>
              <a:rPr lang="en-US" altLang="en-US" dirty="0">
                <a:latin typeface="Courier New" panose="02070309020205020404" pitchFamily="49" charset="0"/>
                <a:cs typeface="Courier New" panose="02070309020205020404" pitchFamily="49" charset="0"/>
              </a:rPr>
              <a:t>GC</a:t>
            </a:r>
            <a:r>
              <a:rPr lang="en-US" altLang="en-US" b="1" dirty="0">
                <a:solidFill>
                  <a:srgbClr val="0070C0"/>
                </a:solidFill>
                <a:latin typeface="Courier New" panose="02070309020205020404" pitchFamily="49" charset="0"/>
                <a:cs typeface="Courier New" panose="02070309020205020404" pitchFamily="49" charset="0"/>
              </a:rPr>
              <a:t>C</a:t>
            </a:r>
            <a:r>
              <a:rPr lang="en-US" altLang="en-US" dirty="0">
                <a:latin typeface="Courier New" panose="02070309020205020404" pitchFamily="49" charset="0"/>
                <a:cs typeface="Courier New" panose="02070309020205020404" pitchFamily="49" charset="0"/>
              </a:rPr>
              <a:t>-3’</a:t>
            </a:r>
          </a:p>
          <a:p>
            <a:pPr marL="457200" lvl="1" indent="0">
              <a:buNone/>
            </a:pPr>
            <a:r>
              <a:rPr lang="en-US" altLang="en-US" dirty="0">
                <a:latin typeface="Courier New" panose="02070309020205020404" pitchFamily="49" charset="0"/>
                <a:cs typeface="Courier New" panose="02070309020205020404" pitchFamily="49" charset="0"/>
              </a:rPr>
              <a:t> #2: 5’-ATGGG</a:t>
            </a:r>
            <a:r>
              <a:rPr lang="en-US" altLang="en-US" b="1" dirty="0">
                <a:solidFill>
                  <a:srgbClr val="00B050"/>
                </a:solidFill>
                <a:latin typeface="Courier New" panose="02070309020205020404" pitchFamily="49" charset="0"/>
                <a:cs typeface="Courier New" panose="02070309020205020404" pitchFamily="49" charset="0"/>
              </a:rPr>
              <a:t>A</a:t>
            </a:r>
            <a:r>
              <a:rPr lang="en-US" altLang="en-US" dirty="0">
                <a:latin typeface="Courier New" panose="02070309020205020404" pitchFamily="49" charset="0"/>
                <a:cs typeface="Courier New" panose="02070309020205020404" pitchFamily="49" charset="0"/>
              </a:rPr>
              <a:t>TA</a:t>
            </a:r>
            <a:r>
              <a:rPr lang="en-US" altLang="en-US" b="1" dirty="0">
                <a:solidFill>
                  <a:srgbClr val="00B050"/>
                </a:solidFill>
                <a:latin typeface="Courier New" panose="02070309020205020404" pitchFamily="49" charset="0"/>
                <a:cs typeface="Courier New" panose="02070309020205020404" pitchFamily="49" charset="0"/>
              </a:rPr>
              <a:t>A</a:t>
            </a:r>
            <a:r>
              <a:rPr lang="en-US" altLang="en-US" dirty="0">
                <a:latin typeface="Courier New" panose="02070309020205020404" pitchFamily="49" charset="0"/>
                <a:cs typeface="Courier New" panose="02070309020205020404" pitchFamily="49" charset="0"/>
              </a:rPr>
              <a:t>AT</a:t>
            </a:r>
            <a:r>
              <a:rPr lang="en-US" altLang="en-US" b="1" dirty="0">
                <a:solidFill>
                  <a:srgbClr val="0070C0"/>
                </a:solidFill>
                <a:latin typeface="Courier New" panose="02070309020205020404" pitchFamily="49" charset="0"/>
                <a:cs typeface="Courier New" panose="02070309020205020404" pitchFamily="49" charset="0"/>
              </a:rPr>
              <a:t>C</a:t>
            </a:r>
            <a:r>
              <a:rPr lang="en-US" altLang="en-US" dirty="0">
                <a:latin typeface="Courier New" panose="02070309020205020404" pitchFamily="49" charset="0"/>
                <a:cs typeface="Courier New" panose="02070309020205020404" pitchFamily="49" charset="0"/>
              </a:rPr>
              <a:t>GC</a:t>
            </a:r>
            <a:r>
              <a:rPr lang="en-US" altLang="en-US" b="1" dirty="0">
                <a:latin typeface="Courier New" panose="02070309020205020404" pitchFamily="49" charset="0"/>
                <a:cs typeface="Courier New" panose="02070309020205020404" pitchFamily="49" charset="0"/>
              </a:rPr>
              <a:t>G</a:t>
            </a:r>
            <a:r>
              <a:rPr lang="en-US" altLang="en-US" dirty="0">
                <a:latin typeface="Courier New" panose="02070309020205020404" pitchFamily="49" charset="0"/>
                <a:cs typeface="Courier New" panose="02070309020205020404" pitchFamily="49" charset="0"/>
              </a:rPr>
              <a:t>-3’</a:t>
            </a:r>
          </a:p>
          <a:p>
            <a:pPr marL="457200" lvl="1" indent="0">
              <a:buNone/>
            </a:pPr>
            <a:r>
              <a:rPr lang="en-US" altLang="en-US" dirty="0">
                <a:latin typeface="Courier New" panose="02070309020205020404" pitchFamily="49" charset="0"/>
                <a:cs typeface="Courier New" panose="02070309020205020404" pitchFamily="49" charset="0"/>
              </a:rPr>
              <a:t> #3: 5’-ATGGG</a:t>
            </a:r>
            <a:r>
              <a:rPr lang="en-US" altLang="en-US" b="1" dirty="0">
                <a:solidFill>
                  <a:srgbClr val="FF0000"/>
                </a:solidFill>
                <a:latin typeface="Courier New" panose="02070309020205020404" pitchFamily="49" charset="0"/>
                <a:cs typeface="Courier New" panose="02070309020205020404" pitchFamily="49" charset="0"/>
              </a:rPr>
              <a:t>G</a:t>
            </a:r>
            <a:r>
              <a:rPr lang="en-US" altLang="en-US" dirty="0">
                <a:latin typeface="Courier New" panose="02070309020205020404" pitchFamily="49" charset="0"/>
                <a:cs typeface="Courier New" panose="02070309020205020404" pitchFamily="49" charset="0"/>
              </a:rPr>
              <a:t>TA</a:t>
            </a:r>
            <a:r>
              <a:rPr lang="en-US" altLang="en-US" b="1" dirty="0">
                <a:solidFill>
                  <a:srgbClr val="FF0000"/>
                </a:solidFill>
                <a:latin typeface="Courier New" panose="02070309020205020404" pitchFamily="49" charset="0"/>
                <a:cs typeface="Courier New" panose="02070309020205020404" pitchFamily="49" charset="0"/>
              </a:rPr>
              <a:t>T</a:t>
            </a:r>
            <a:r>
              <a:rPr lang="en-US" altLang="en-US" dirty="0">
                <a:latin typeface="Courier New" panose="02070309020205020404" pitchFamily="49" charset="0"/>
                <a:cs typeface="Courier New" panose="02070309020205020404" pitchFamily="49" charset="0"/>
              </a:rPr>
              <a:t>AT</a:t>
            </a:r>
            <a:r>
              <a:rPr lang="en-US" altLang="en-US" b="1" dirty="0">
                <a:latin typeface="Courier New" panose="02070309020205020404" pitchFamily="49" charset="0"/>
                <a:cs typeface="Courier New" panose="02070309020205020404" pitchFamily="49" charset="0"/>
              </a:rPr>
              <a:t>G</a:t>
            </a:r>
            <a:r>
              <a:rPr lang="en-US" altLang="en-US" dirty="0">
                <a:latin typeface="Courier New" panose="02070309020205020404" pitchFamily="49" charset="0"/>
                <a:cs typeface="Courier New" panose="02070309020205020404" pitchFamily="49" charset="0"/>
              </a:rPr>
              <a:t>GC</a:t>
            </a:r>
            <a:r>
              <a:rPr lang="en-US" altLang="en-US" b="1" dirty="0">
                <a:solidFill>
                  <a:srgbClr val="0070C0"/>
                </a:solidFill>
                <a:latin typeface="Courier New" panose="02070309020205020404" pitchFamily="49" charset="0"/>
                <a:cs typeface="Courier New" panose="02070309020205020404" pitchFamily="49" charset="0"/>
              </a:rPr>
              <a:t>C</a:t>
            </a:r>
            <a:r>
              <a:rPr lang="en-US" altLang="en-US" dirty="0">
                <a:latin typeface="Courier New" panose="02070309020205020404" pitchFamily="49" charset="0"/>
                <a:cs typeface="Courier New" panose="02070309020205020404" pitchFamily="49" charset="0"/>
              </a:rPr>
              <a:t>-3’</a:t>
            </a:r>
          </a:p>
        </p:txBody>
      </p:sp>
      <p:grpSp>
        <p:nvGrpSpPr>
          <p:cNvPr id="19" name="Group 18" descr="3 changes between DNA sequence"/>
          <p:cNvGrpSpPr/>
          <p:nvPr/>
        </p:nvGrpSpPr>
        <p:grpSpPr>
          <a:xfrm>
            <a:off x="5867400" y="5227320"/>
            <a:ext cx="1439818" cy="548640"/>
            <a:chOff x="4884782" y="5318760"/>
            <a:chExt cx="1439818" cy="548640"/>
          </a:xfrm>
        </p:grpSpPr>
        <p:grpSp>
          <p:nvGrpSpPr>
            <p:cNvPr id="16" name="Group 15"/>
            <p:cNvGrpSpPr/>
            <p:nvPr/>
          </p:nvGrpSpPr>
          <p:grpSpPr>
            <a:xfrm rot="10800000">
              <a:off x="4953000" y="5318760"/>
              <a:ext cx="1371600" cy="548640"/>
              <a:chOff x="-3048000" y="1107996"/>
              <a:chExt cx="1371600" cy="568404"/>
            </a:xfrm>
          </p:grpSpPr>
          <p:cxnSp>
            <p:nvCxnSpPr>
              <p:cNvPr id="11" name="Straight Arrow Connector 10"/>
              <p:cNvCxnSpPr/>
              <p:nvPr/>
            </p:nvCxnSpPr>
            <p:spPr bwMode="auto">
              <a:xfrm>
                <a:off x="-3048000" y="1107996"/>
                <a:ext cx="1371600" cy="0"/>
              </a:xfrm>
              <a:prstGeom prst="straightConnector1">
                <a:avLst/>
              </a:prstGeom>
              <a:solidFill>
                <a:schemeClr val="accent1"/>
              </a:solidFill>
              <a:ln w="50800" cap="flat" cmpd="sng" algn="ctr">
                <a:solidFill>
                  <a:srgbClr val="FF0000"/>
                </a:solidFill>
                <a:prstDash val="solid"/>
                <a:round/>
                <a:headEnd type="none" w="med" len="med"/>
                <a:tailEnd type="triangle"/>
              </a:ln>
              <a:effectLst/>
            </p:spPr>
          </p:cxnSp>
          <p:cxnSp>
            <p:nvCxnSpPr>
              <p:cNvPr id="15" name="Straight Arrow Connector 14"/>
              <p:cNvCxnSpPr/>
              <p:nvPr/>
            </p:nvCxnSpPr>
            <p:spPr bwMode="auto">
              <a:xfrm>
                <a:off x="-3048000" y="1676400"/>
                <a:ext cx="1371600" cy="0"/>
              </a:xfrm>
              <a:prstGeom prst="straightConnector1">
                <a:avLst/>
              </a:prstGeom>
              <a:solidFill>
                <a:schemeClr val="accent1"/>
              </a:solidFill>
              <a:ln w="50800" cap="flat" cmpd="sng" algn="ctr">
                <a:solidFill>
                  <a:srgbClr val="FF0000"/>
                </a:solidFill>
                <a:prstDash val="solid"/>
                <a:round/>
                <a:headEnd type="none" w="med" len="med"/>
                <a:tailEnd type="triangle"/>
              </a:ln>
              <a:effectLst/>
            </p:spPr>
          </p:cxnSp>
          <p:cxnSp>
            <p:nvCxnSpPr>
              <p:cNvPr id="14" name="Straight Connector 13"/>
              <p:cNvCxnSpPr/>
              <p:nvPr/>
            </p:nvCxnSpPr>
            <p:spPr bwMode="auto">
              <a:xfrm>
                <a:off x="-3048000" y="1107996"/>
                <a:ext cx="0" cy="568404"/>
              </a:xfrm>
              <a:prstGeom prst="line">
                <a:avLst/>
              </a:prstGeom>
              <a:solidFill>
                <a:schemeClr val="accent1"/>
              </a:solidFill>
              <a:ln w="50800" cap="flat" cmpd="sng" algn="ctr">
                <a:solidFill>
                  <a:srgbClr val="FF0000"/>
                </a:solidFill>
                <a:prstDash val="solid"/>
                <a:round/>
                <a:headEnd type="none" w="med" len="med"/>
                <a:tailEnd type="none" w="med" len="med"/>
              </a:ln>
              <a:effectLst/>
            </p:spPr>
          </p:cxnSp>
        </p:grpSp>
        <p:sp>
          <p:nvSpPr>
            <p:cNvPr id="18" name="TextBox 17"/>
            <p:cNvSpPr txBox="1"/>
            <p:nvPr/>
          </p:nvSpPr>
          <p:spPr>
            <a:xfrm>
              <a:off x="4884782" y="5410200"/>
              <a:ext cx="1439818" cy="400110"/>
            </a:xfrm>
            <a:prstGeom prst="rect">
              <a:avLst/>
            </a:prstGeom>
            <a:noFill/>
          </p:spPr>
          <p:txBody>
            <a:bodyPr wrap="none" rtlCol="0">
              <a:spAutoFit/>
            </a:bodyPr>
            <a:lstStyle/>
            <a:p>
              <a:r>
                <a:rPr lang="en-US" sz="2000" b="1" dirty="0"/>
                <a:t>3 changes</a:t>
              </a:r>
            </a:p>
          </p:txBody>
        </p:sp>
      </p:grpSp>
      <p:grpSp>
        <p:nvGrpSpPr>
          <p:cNvPr id="28" name="Group 27" descr="4 changes between DNA sequence"/>
          <p:cNvGrpSpPr/>
          <p:nvPr/>
        </p:nvGrpSpPr>
        <p:grpSpPr>
          <a:xfrm>
            <a:off x="5882640" y="6004560"/>
            <a:ext cx="1439818" cy="548640"/>
            <a:chOff x="4884782" y="5318760"/>
            <a:chExt cx="1439818" cy="548640"/>
          </a:xfrm>
        </p:grpSpPr>
        <p:grpSp>
          <p:nvGrpSpPr>
            <p:cNvPr id="29" name="Group 28"/>
            <p:cNvGrpSpPr/>
            <p:nvPr/>
          </p:nvGrpSpPr>
          <p:grpSpPr>
            <a:xfrm rot="10800000">
              <a:off x="4953000" y="5318760"/>
              <a:ext cx="1371600" cy="548640"/>
              <a:chOff x="-3048000" y="1107996"/>
              <a:chExt cx="1371600" cy="568404"/>
            </a:xfrm>
          </p:grpSpPr>
          <p:cxnSp>
            <p:nvCxnSpPr>
              <p:cNvPr id="31" name="Straight Arrow Connector 30"/>
              <p:cNvCxnSpPr/>
              <p:nvPr/>
            </p:nvCxnSpPr>
            <p:spPr bwMode="auto">
              <a:xfrm>
                <a:off x="-3048000" y="1107996"/>
                <a:ext cx="1371600" cy="0"/>
              </a:xfrm>
              <a:prstGeom prst="straightConnector1">
                <a:avLst/>
              </a:prstGeom>
              <a:solidFill>
                <a:schemeClr val="accent1"/>
              </a:solidFill>
              <a:ln w="50800" cap="flat" cmpd="sng" algn="ctr">
                <a:solidFill>
                  <a:srgbClr val="7030A0"/>
                </a:solidFill>
                <a:prstDash val="solid"/>
                <a:round/>
                <a:headEnd type="none" w="med" len="med"/>
                <a:tailEnd type="triangle"/>
              </a:ln>
              <a:effectLst/>
            </p:spPr>
          </p:cxnSp>
          <p:cxnSp>
            <p:nvCxnSpPr>
              <p:cNvPr id="32" name="Straight Arrow Connector 31"/>
              <p:cNvCxnSpPr/>
              <p:nvPr/>
            </p:nvCxnSpPr>
            <p:spPr bwMode="auto">
              <a:xfrm>
                <a:off x="-3048000" y="1676400"/>
                <a:ext cx="1371600" cy="0"/>
              </a:xfrm>
              <a:prstGeom prst="straightConnector1">
                <a:avLst/>
              </a:prstGeom>
              <a:solidFill>
                <a:schemeClr val="accent1"/>
              </a:solidFill>
              <a:ln w="50800" cap="flat" cmpd="sng" algn="ctr">
                <a:solidFill>
                  <a:srgbClr val="7030A0"/>
                </a:solidFill>
                <a:prstDash val="solid"/>
                <a:round/>
                <a:headEnd type="none" w="med" len="med"/>
                <a:tailEnd type="triangle"/>
              </a:ln>
              <a:effectLst/>
            </p:spPr>
          </p:cxnSp>
          <p:cxnSp>
            <p:nvCxnSpPr>
              <p:cNvPr id="33" name="Straight Connector 32"/>
              <p:cNvCxnSpPr/>
              <p:nvPr/>
            </p:nvCxnSpPr>
            <p:spPr bwMode="auto">
              <a:xfrm>
                <a:off x="-3048000" y="1107996"/>
                <a:ext cx="0" cy="568404"/>
              </a:xfrm>
              <a:prstGeom prst="line">
                <a:avLst/>
              </a:prstGeom>
              <a:solidFill>
                <a:schemeClr val="accent1"/>
              </a:solidFill>
              <a:ln w="50800" cap="flat" cmpd="sng" algn="ctr">
                <a:solidFill>
                  <a:srgbClr val="7030A0"/>
                </a:solidFill>
                <a:prstDash val="solid"/>
                <a:round/>
                <a:headEnd type="none" w="med" len="med"/>
                <a:tailEnd type="none" w="med" len="med"/>
              </a:ln>
              <a:effectLst/>
            </p:spPr>
          </p:cxnSp>
        </p:grpSp>
        <p:sp>
          <p:nvSpPr>
            <p:cNvPr id="30" name="TextBox 29" descr="4 changes between DNA sequence"/>
            <p:cNvSpPr txBox="1"/>
            <p:nvPr/>
          </p:nvSpPr>
          <p:spPr>
            <a:xfrm>
              <a:off x="4884782" y="5394960"/>
              <a:ext cx="1439818" cy="400110"/>
            </a:xfrm>
            <a:prstGeom prst="rect">
              <a:avLst/>
            </a:prstGeom>
            <a:noFill/>
          </p:spPr>
          <p:txBody>
            <a:bodyPr wrap="none" rtlCol="0">
              <a:spAutoFit/>
            </a:bodyPr>
            <a:lstStyle/>
            <a:p>
              <a:r>
                <a:rPr lang="en-US" sz="2000" b="1" dirty="0"/>
                <a:t>4 changes</a:t>
              </a:r>
            </a:p>
          </p:txBody>
        </p:sp>
      </p:grpSp>
      <p:grpSp>
        <p:nvGrpSpPr>
          <p:cNvPr id="34" name="Group 33" descr="1 change between DNA sequence"/>
          <p:cNvGrpSpPr/>
          <p:nvPr/>
        </p:nvGrpSpPr>
        <p:grpSpPr>
          <a:xfrm>
            <a:off x="7527836" y="5227320"/>
            <a:ext cx="1527930" cy="1325879"/>
            <a:chOff x="4953000" y="5318760"/>
            <a:chExt cx="1527930" cy="548640"/>
          </a:xfrm>
        </p:grpSpPr>
        <p:grpSp>
          <p:nvGrpSpPr>
            <p:cNvPr id="35" name="Group 34"/>
            <p:cNvGrpSpPr/>
            <p:nvPr/>
          </p:nvGrpSpPr>
          <p:grpSpPr>
            <a:xfrm rot="10800000">
              <a:off x="4953000" y="5318760"/>
              <a:ext cx="1371600" cy="548640"/>
              <a:chOff x="-3048000" y="1107996"/>
              <a:chExt cx="1371600" cy="568404"/>
            </a:xfrm>
          </p:grpSpPr>
          <p:cxnSp>
            <p:nvCxnSpPr>
              <p:cNvPr id="37" name="Straight Arrow Connector 36"/>
              <p:cNvCxnSpPr/>
              <p:nvPr/>
            </p:nvCxnSpPr>
            <p:spPr bwMode="auto">
              <a:xfrm>
                <a:off x="-3048000" y="1107996"/>
                <a:ext cx="1371600" cy="0"/>
              </a:xfrm>
              <a:prstGeom prst="straightConnector1">
                <a:avLst/>
              </a:prstGeom>
              <a:solidFill>
                <a:schemeClr val="accent1"/>
              </a:solidFill>
              <a:ln w="50800" cap="flat" cmpd="sng" algn="ctr">
                <a:solidFill>
                  <a:srgbClr val="00B050"/>
                </a:solidFill>
                <a:prstDash val="solid"/>
                <a:round/>
                <a:headEnd type="none" w="med" len="med"/>
                <a:tailEnd type="triangle"/>
              </a:ln>
              <a:effectLst/>
            </p:spPr>
          </p:cxnSp>
          <p:cxnSp>
            <p:nvCxnSpPr>
              <p:cNvPr id="38" name="Straight Arrow Connector 37"/>
              <p:cNvCxnSpPr/>
              <p:nvPr/>
            </p:nvCxnSpPr>
            <p:spPr bwMode="auto">
              <a:xfrm>
                <a:off x="-3048000" y="1676400"/>
                <a:ext cx="1371600" cy="0"/>
              </a:xfrm>
              <a:prstGeom prst="straightConnector1">
                <a:avLst/>
              </a:prstGeom>
              <a:solidFill>
                <a:schemeClr val="accent1"/>
              </a:solidFill>
              <a:ln w="50800" cap="flat" cmpd="sng" algn="ctr">
                <a:solidFill>
                  <a:srgbClr val="00B050"/>
                </a:solidFill>
                <a:prstDash val="solid"/>
                <a:round/>
                <a:headEnd type="none" w="med" len="med"/>
                <a:tailEnd type="triangle"/>
              </a:ln>
              <a:effectLst/>
            </p:spPr>
          </p:cxnSp>
          <p:cxnSp>
            <p:nvCxnSpPr>
              <p:cNvPr id="39" name="Straight Connector 38"/>
              <p:cNvCxnSpPr/>
              <p:nvPr/>
            </p:nvCxnSpPr>
            <p:spPr bwMode="auto">
              <a:xfrm>
                <a:off x="-3048000" y="1107996"/>
                <a:ext cx="0" cy="568404"/>
              </a:xfrm>
              <a:prstGeom prst="line">
                <a:avLst/>
              </a:prstGeom>
              <a:solidFill>
                <a:schemeClr val="accent1"/>
              </a:solidFill>
              <a:ln w="50800" cap="flat" cmpd="sng" algn="ctr">
                <a:solidFill>
                  <a:srgbClr val="00B050"/>
                </a:solidFill>
                <a:prstDash val="solid"/>
                <a:round/>
                <a:headEnd type="none" w="med" len="med"/>
                <a:tailEnd type="none" w="med" len="med"/>
              </a:ln>
              <a:effectLst/>
            </p:spPr>
          </p:cxnSp>
        </p:grpSp>
        <p:sp>
          <p:nvSpPr>
            <p:cNvPr id="36" name="TextBox 35"/>
            <p:cNvSpPr txBox="1"/>
            <p:nvPr/>
          </p:nvSpPr>
          <p:spPr>
            <a:xfrm>
              <a:off x="4964189" y="5506345"/>
              <a:ext cx="1516741" cy="165563"/>
            </a:xfrm>
            <a:prstGeom prst="rect">
              <a:avLst/>
            </a:prstGeom>
            <a:noFill/>
          </p:spPr>
          <p:txBody>
            <a:bodyPr wrap="square" rtlCol="0">
              <a:spAutoFit/>
            </a:bodyPr>
            <a:lstStyle/>
            <a:p>
              <a:r>
                <a:rPr lang="en-US" sz="2000" b="1" dirty="0"/>
                <a:t>1 change</a:t>
              </a:r>
            </a:p>
          </p:txBody>
        </p:sp>
      </p:grpSp>
      <p:grpSp>
        <p:nvGrpSpPr>
          <p:cNvPr id="2" name="Group 1" descr="comparing 3 DNA sequences"/>
          <p:cNvGrpSpPr/>
          <p:nvPr/>
        </p:nvGrpSpPr>
        <p:grpSpPr>
          <a:xfrm>
            <a:off x="22442" y="5318760"/>
            <a:ext cx="830997" cy="1158240"/>
            <a:chOff x="22442" y="5318760"/>
            <a:chExt cx="830997" cy="1158240"/>
          </a:xfrm>
        </p:grpSpPr>
        <p:grpSp>
          <p:nvGrpSpPr>
            <p:cNvPr id="42" name="Group 41"/>
            <p:cNvGrpSpPr/>
            <p:nvPr/>
          </p:nvGrpSpPr>
          <p:grpSpPr>
            <a:xfrm>
              <a:off x="45720" y="5318760"/>
              <a:ext cx="754018" cy="1158240"/>
              <a:chOff x="-3048000" y="1107996"/>
              <a:chExt cx="1371600" cy="568404"/>
            </a:xfrm>
          </p:grpSpPr>
          <p:cxnSp>
            <p:nvCxnSpPr>
              <p:cNvPr id="44" name="Straight Arrow Connector 43"/>
              <p:cNvCxnSpPr/>
              <p:nvPr/>
            </p:nvCxnSpPr>
            <p:spPr bwMode="auto">
              <a:xfrm>
                <a:off x="-3048000" y="1107996"/>
                <a:ext cx="1371600" cy="0"/>
              </a:xfrm>
              <a:prstGeom prst="straightConnector1">
                <a:avLst/>
              </a:prstGeom>
              <a:solidFill>
                <a:schemeClr val="accent1"/>
              </a:solidFill>
              <a:ln w="50800" cap="flat" cmpd="sng" algn="ctr">
                <a:solidFill>
                  <a:schemeClr val="tx1"/>
                </a:solidFill>
                <a:prstDash val="solid"/>
                <a:round/>
                <a:headEnd type="none" w="med" len="med"/>
                <a:tailEnd type="triangle"/>
              </a:ln>
              <a:effectLst/>
            </p:spPr>
          </p:cxnSp>
          <p:cxnSp>
            <p:nvCxnSpPr>
              <p:cNvPr id="45" name="Straight Arrow Connector 44"/>
              <p:cNvCxnSpPr/>
              <p:nvPr/>
            </p:nvCxnSpPr>
            <p:spPr bwMode="auto">
              <a:xfrm>
                <a:off x="-3048000" y="1676400"/>
                <a:ext cx="1371600" cy="0"/>
              </a:xfrm>
              <a:prstGeom prst="straightConnector1">
                <a:avLst/>
              </a:prstGeom>
              <a:solidFill>
                <a:schemeClr val="accent1"/>
              </a:solidFill>
              <a:ln w="50800" cap="flat" cmpd="sng" algn="ctr">
                <a:solidFill>
                  <a:schemeClr val="tx1"/>
                </a:solidFill>
                <a:prstDash val="solid"/>
                <a:round/>
                <a:headEnd type="none" w="med" len="med"/>
                <a:tailEnd type="triangle"/>
              </a:ln>
              <a:effectLst/>
            </p:spPr>
          </p:cxnSp>
          <p:cxnSp>
            <p:nvCxnSpPr>
              <p:cNvPr id="46" name="Straight Connector 45"/>
              <p:cNvCxnSpPr/>
              <p:nvPr/>
            </p:nvCxnSpPr>
            <p:spPr bwMode="auto">
              <a:xfrm>
                <a:off x="-3048000" y="1107996"/>
                <a:ext cx="0" cy="568404"/>
              </a:xfrm>
              <a:prstGeom prst="line">
                <a:avLst/>
              </a:prstGeom>
              <a:solidFill>
                <a:schemeClr val="accent1"/>
              </a:solidFill>
              <a:ln w="50800" cap="flat" cmpd="sng" algn="ctr">
                <a:solidFill>
                  <a:schemeClr val="tx1"/>
                </a:solidFill>
                <a:prstDash val="solid"/>
                <a:round/>
                <a:headEnd type="none" w="med" len="med"/>
                <a:tailEnd type="none" w="med" len="med"/>
              </a:ln>
              <a:effectLst/>
            </p:spPr>
          </p:cxnSp>
        </p:grpSp>
        <p:sp>
          <p:nvSpPr>
            <p:cNvPr id="20" name="TextBox 19"/>
            <p:cNvSpPr txBox="1"/>
            <p:nvPr/>
          </p:nvSpPr>
          <p:spPr>
            <a:xfrm rot="16200000">
              <a:off x="-84798" y="5465206"/>
              <a:ext cx="1045478" cy="830997"/>
            </a:xfrm>
            <a:prstGeom prst="rect">
              <a:avLst/>
            </a:prstGeom>
            <a:noFill/>
          </p:spPr>
          <p:txBody>
            <a:bodyPr wrap="none" rtlCol="0">
              <a:spAutoFit/>
            </a:bodyPr>
            <a:lstStyle/>
            <a:p>
              <a:pPr algn="ctr"/>
              <a:r>
                <a:rPr lang="en-US" sz="1200" dirty="0"/>
                <a:t>more closely</a:t>
              </a:r>
            </a:p>
            <a:p>
              <a:pPr algn="ctr"/>
              <a:r>
                <a:rPr lang="en-US" sz="1200" dirty="0"/>
                <a:t>related than </a:t>
              </a:r>
            </a:p>
            <a:p>
              <a:pPr algn="ctr"/>
              <a:r>
                <a:rPr lang="en-US" sz="1200" dirty="0"/>
                <a:t>#1 &amp; #2 or </a:t>
              </a:r>
            </a:p>
            <a:p>
              <a:pPr algn="ctr"/>
              <a:r>
                <a:rPr lang="en-US" sz="1200" dirty="0"/>
                <a:t>#2 &amp; #3</a:t>
              </a:r>
            </a:p>
          </p:txBody>
        </p:sp>
      </p:grpSp>
      <p:grpSp>
        <p:nvGrpSpPr>
          <p:cNvPr id="4" name="Group 3" descr="comparing strands of DNA 1 &amp; 2"/>
          <p:cNvGrpSpPr/>
          <p:nvPr/>
        </p:nvGrpSpPr>
        <p:grpSpPr>
          <a:xfrm>
            <a:off x="3158943" y="5150370"/>
            <a:ext cx="2062396" cy="900660"/>
            <a:chOff x="3154180" y="5150370"/>
            <a:chExt cx="2062396" cy="900660"/>
          </a:xfrm>
        </p:grpSpPr>
        <p:sp>
          <p:nvSpPr>
            <p:cNvPr id="3" name="Rectangle 2"/>
            <p:cNvSpPr/>
            <p:nvPr/>
          </p:nvSpPr>
          <p:spPr bwMode="auto">
            <a:xfrm>
              <a:off x="4938009" y="5150370"/>
              <a:ext cx="278567" cy="899160"/>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0" name="Rectangle 39"/>
            <p:cNvSpPr/>
            <p:nvPr/>
          </p:nvSpPr>
          <p:spPr bwMode="auto">
            <a:xfrm>
              <a:off x="3733800" y="5151620"/>
              <a:ext cx="278567" cy="899160"/>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1" name="Rectangle 40"/>
            <p:cNvSpPr/>
            <p:nvPr/>
          </p:nvSpPr>
          <p:spPr bwMode="auto">
            <a:xfrm>
              <a:off x="3154180" y="5151870"/>
              <a:ext cx="278567" cy="899160"/>
            </a:xfrm>
            <a:prstGeom prst="rect">
              <a:avLst/>
            </a:prstGeom>
            <a:no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5" name="Group 4" descr="comparing strands of DNA 2 &amp; 3"/>
          <p:cNvGrpSpPr/>
          <p:nvPr/>
        </p:nvGrpSpPr>
        <p:grpSpPr>
          <a:xfrm>
            <a:off x="3159960" y="5698760"/>
            <a:ext cx="2062396" cy="900660"/>
            <a:chOff x="3150434" y="5698760"/>
            <a:chExt cx="2062396" cy="900660"/>
          </a:xfrm>
        </p:grpSpPr>
        <p:sp>
          <p:nvSpPr>
            <p:cNvPr id="43" name="Rectangle 42"/>
            <p:cNvSpPr/>
            <p:nvPr/>
          </p:nvSpPr>
          <p:spPr bwMode="auto">
            <a:xfrm>
              <a:off x="4934263" y="5698760"/>
              <a:ext cx="278567" cy="899160"/>
            </a:xfrm>
            <a:prstGeom prst="rect">
              <a:avLst/>
            </a:prstGeom>
            <a:noFill/>
            <a:ln w="508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7" name="Rectangle 46"/>
            <p:cNvSpPr/>
            <p:nvPr/>
          </p:nvSpPr>
          <p:spPr bwMode="auto">
            <a:xfrm>
              <a:off x="3730054" y="5700010"/>
              <a:ext cx="278567" cy="899160"/>
            </a:xfrm>
            <a:prstGeom prst="rect">
              <a:avLst/>
            </a:prstGeom>
            <a:noFill/>
            <a:ln w="508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8" name="Rectangle 47"/>
            <p:cNvSpPr/>
            <p:nvPr/>
          </p:nvSpPr>
          <p:spPr bwMode="auto">
            <a:xfrm>
              <a:off x="3150434" y="5700260"/>
              <a:ext cx="278567" cy="899160"/>
            </a:xfrm>
            <a:prstGeom prst="rect">
              <a:avLst/>
            </a:prstGeom>
            <a:noFill/>
            <a:ln w="508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49" name="Rectangle 48"/>
            <p:cNvSpPr/>
            <p:nvPr/>
          </p:nvSpPr>
          <p:spPr bwMode="auto">
            <a:xfrm>
              <a:off x="4324663" y="5700010"/>
              <a:ext cx="278567" cy="899160"/>
            </a:xfrm>
            <a:prstGeom prst="rect">
              <a:avLst/>
            </a:prstGeom>
            <a:noFill/>
            <a:ln w="5080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grpSp>
        <p:nvGrpSpPr>
          <p:cNvPr id="6" name="Group 5" descr="comparing strands of DNA 1 &amp; 3"/>
          <p:cNvGrpSpPr/>
          <p:nvPr/>
        </p:nvGrpSpPr>
        <p:grpSpPr>
          <a:xfrm>
            <a:off x="4346212" y="5151870"/>
            <a:ext cx="266545" cy="1450477"/>
            <a:chOff x="4336686" y="5151870"/>
            <a:chExt cx="266545" cy="1450477"/>
          </a:xfrm>
        </p:grpSpPr>
        <p:sp>
          <p:nvSpPr>
            <p:cNvPr id="50" name="Rectangle 49"/>
            <p:cNvSpPr/>
            <p:nvPr/>
          </p:nvSpPr>
          <p:spPr bwMode="auto">
            <a:xfrm>
              <a:off x="4343401" y="5151870"/>
              <a:ext cx="259830" cy="383226"/>
            </a:xfrm>
            <a:prstGeom prst="rect">
              <a:avLst/>
            </a:prstGeom>
            <a:noFill/>
            <a:ln w="508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51" name="Rectangle 50"/>
            <p:cNvSpPr/>
            <p:nvPr/>
          </p:nvSpPr>
          <p:spPr bwMode="auto">
            <a:xfrm>
              <a:off x="4336686" y="6219121"/>
              <a:ext cx="259830" cy="383226"/>
            </a:xfrm>
            <a:prstGeom prst="rect">
              <a:avLst/>
            </a:prstGeom>
            <a:noFill/>
            <a:ln w="508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913436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0" y="0"/>
            <a:ext cx="9144000" cy="646331"/>
          </a:xfrm>
        </p:spPr>
        <p:txBody>
          <a:bodyPr/>
          <a:lstStyle/>
          <a:p>
            <a:r>
              <a:rPr lang="en-US" altLang="en-US" dirty="0"/>
              <a:t>Sorting Homology from Analogy</a:t>
            </a:r>
          </a:p>
        </p:txBody>
      </p:sp>
      <p:sp>
        <p:nvSpPr>
          <p:cNvPr id="84995" name="Rectangle 3"/>
          <p:cNvSpPr>
            <a:spLocks noGrp="1" noChangeArrowheads="1"/>
          </p:cNvSpPr>
          <p:nvPr>
            <p:ph idx="1"/>
          </p:nvPr>
        </p:nvSpPr>
        <p:spPr>
          <a:xfrm>
            <a:off x="60961" y="615851"/>
            <a:ext cx="9052559" cy="2127349"/>
          </a:xfrm>
        </p:spPr>
        <p:txBody>
          <a:bodyPr/>
          <a:lstStyle/>
          <a:p>
            <a:r>
              <a:rPr lang="en-US" altLang="en-US" dirty="0"/>
              <a:t>Systematists need to determine if a similarity is the result of </a:t>
            </a:r>
          </a:p>
          <a:p>
            <a:pPr lvl="1"/>
            <a:r>
              <a:rPr lang="en-US" altLang="en-US" sz="2400" dirty="0"/>
              <a:t>Homology is </a:t>
            </a:r>
          </a:p>
          <a:p>
            <a:pPr lvl="1"/>
            <a:r>
              <a:rPr lang="en-US" altLang="en-US" sz="2400" dirty="0"/>
              <a:t>Analogy is </a:t>
            </a:r>
          </a:p>
        </p:txBody>
      </p:sp>
      <p:pic>
        <p:nvPicPr>
          <p:cNvPr id="3" name="Picture 2" descr="analogou vs homologous or not comparison between 4 organisms"/>
          <p:cNvPicPr>
            <a:picLocks noChangeAspect="1"/>
          </p:cNvPicPr>
          <p:nvPr/>
        </p:nvPicPr>
        <p:blipFill>
          <a:blip r:embed="rId3"/>
          <a:stretch>
            <a:fillRect/>
          </a:stretch>
        </p:blipFill>
        <p:spPr>
          <a:xfrm>
            <a:off x="1295400" y="2590800"/>
            <a:ext cx="6553200" cy="4104230"/>
          </a:xfrm>
          <a:prstGeom prst="rect">
            <a:avLst/>
          </a:prstGeom>
        </p:spPr>
      </p:pic>
    </p:spTree>
    <p:extLst>
      <p:ext uri="{BB962C8B-B14F-4D97-AF65-F5344CB8AC3E}">
        <p14:creationId xmlns:p14="http://schemas.microsoft.com/office/powerpoint/2010/main" val="1825628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5" y="0"/>
            <a:ext cx="9144000" cy="600164"/>
          </a:xfrm>
        </p:spPr>
        <p:txBody>
          <a:bodyPr/>
          <a:lstStyle/>
          <a:p>
            <a:r>
              <a:rPr lang="en-US" dirty="0">
                <a:solidFill>
                  <a:schemeClr val="bg1"/>
                </a:solidFill>
              </a:rPr>
              <a:t>14</a:t>
            </a:r>
          </a:p>
        </p:txBody>
      </p:sp>
      <p:sp>
        <p:nvSpPr>
          <p:cNvPr id="84995" name="Rectangle 3"/>
          <p:cNvSpPr>
            <a:spLocks noGrp="1" noChangeArrowheads="1"/>
          </p:cNvSpPr>
          <p:nvPr>
            <p:ph idx="4294967295"/>
          </p:nvPr>
        </p:nvSpPr>
        <p:spPr>
          <a:xfrm>
            <a:off x="46220" y="30163"/>
            <a:ext cx="9051925" cy="6827837"/>
          </a:xfrm>
        </p:spPr>
        <p:txBody>
          <a:bodyPr/>
          <a:lstStyle/>
          <a:p>
            <a:r>
              <a:rPr lang="en-US" altLang="en-US" b="1" dirty="0"/>
              <a:t>Convergent evolution </a:t>
            </a:r>
            <a:r>
              <a:rPr lang="en-US" altLang="en-US" dirty="0"/>
              <a:t>is when different taxa/species solve a problem in the same way evolutionarily.  This examines </a:t>
            </a:r>
          </a:p>
          <a:p>
            <a:pPr lvl="1"/>
            <a:r>
              <a:rPr lang="en-US" altLang="en-US" dirty="0"/>
              <a:t>EX: </a:t>
            </a:r>
          </a:p>
          <a:p>
            <a:pPr lvl="1"/>
            <a:r>
              <a:rPr lang="en-US" altLang="en-US" dirty="0">
                <a:solidFill>
                  <a:srgbClr val="00B050"/>
                </a:solidFill>
              </a:rPr>
              <a:t>Similar function/use</a:t>
            </a:r>
            <a:r>
              <a:rPr lang="en-US" altLang="en-US" dirty="0"/>
              <a:t>, but</a:t>
            </a:r>
            <a:endParaRPr lang="en-US" altLang="en-US" dirty="0">
              <a:solidFill>
                <a:srgbClr val="FF0000"/>
              </a:solidFill>
            </a:endParaRPr>
          </a:p>
          <a:p>
            <a:pPr lvl="1"/>
            <a:r>
              <a:rPr lang="en-US" altLang="en-US" dirty="0"/>
              <a:t>Both used for locomotion.  Humans use muscles/tendons, while </a:t>
            </a:r>
          </a:p>
          <a:p>
            <a:r>
              <a:rPr lang="en-US" altLang="en-US" b="1" dirty="0"/>
              <a:t>Divergent evolution </a:t>
            </a:r>
            <a:r>
              <a:rPr lang="en-US" altLang="en-US" dirty="0"/>
              <a:t>is the process by which an ancestral characteristic becomes adapted to new roles.  This examines </a:t>
            </a:r>
          </a:p>
          <a:p>
            <a:pPr lvl="1"/>
            <a:r>
              <a:rPr lang="en-US" altLang="en-US" dirty="0"/>
              <a:t>EX: </a:t>
            </a:r>
          </a:p>
          <a:p>
            <a:pPr lvl="1"/>
            <a:r>
              <a:rPr lang="en-US" altLang="en-US" dirty="0">
                <a:solidFill>
                  <a:srgbClr val="00B050"/>
                </a:solidFill>
              </a:rPr>
              <a:t>Similar structure or anatomy</a:t>
            </a:r>
            <a:r>
              <a:rPr lang="en-US" altLang="en-US" dirty="0"/>
              <a:t>, but</a:t>
            </a:r>
          </a:p>
          <a:p>
            <a:pPr lvl="1"/>
            <a:r>
              <a:rPr lang="en-US" altLang="en-US" dirty="0"/>
              <a:t>Both look like they are “arm” structures.  Humans </a:t>
            </a:r>
          </a:p>
        </p:txBody>
      </p:sp>
    </p:spTree>
    <p:extLst>
      <p:ext uri="{BB962C8B-B14F-4D97-AF65-F5344CB8AC3E}">
        <p14:creationId xmlns:p14="http://schemas.microsoft.com/office/powerpoint/2010/main" val="1726045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26.3: Shared characters are used to construct phylogenetic trees</a:t>
            </a:r>
          </a:p>
        </p:txBody>
      </p:sp>
      <p:sp>
        <p:nvSpPr>
          <p:cNvPr id="101379" name="Rectangle 3"/>
          <p:cNvSpPr>
            <a:spLocks noGrp="1" noChangeArrowheads="1"/>
          </p:cNvSpPr>
          <p:nvPr>
            <p:ph idx="1"/>
          </p:nvPr>
        </p:nvSpPr>
        <p:spPr/>
        <p:txBody>
          <a:bodyPr/>
          <a:lstStyle/>
          <a:p>
            <a:r>
              <a:rPr lang="en-US" altLang="en-US" dirty="0"/>
              <a:t>Once homologous characters have been identified, they can be </a:t>
            </a:r>
          </a:p>
          <a:p>
            <a:r>
              <a:rPr lang="en-US" altLang="en-US" b="1" dirty="0"/>
              <a:t>Cladistics</a:t>
            </a:r>
            <a:r>
              <a:rPr lang="en-US" altLang="en-US" dirty="0"/>
              <a:t> groups organisms by </a:t>
            </a:r>
          </a:p>
          <a:p>
            <a:r>
              <a:rPr lang="en-US" altLang="en-US" dirty="0"/>
              <a:t>A </a:t>
            </a:r>
            <a:r>
              <a:rPr lang="en-US" altLang="en-US" b="1" dirty="0"/>
              <a:t>clade</a:t>
            </a:r>
            <a:r>
              <a:rPr lang="en-US" altLang="en-US" dirty="0"/>
              <a:t> is a group of species that includes an </a:t>
            </a:r>
          </a:p>
          <a:p>
            <a:endParaRPr lang="en-US" altLang="en-US" dirty="0"/>
          </a:p>
          <a:p>
            <a:r>
              <a:rPr lang="en-US" altLang="en-US" dirty="0"/>
              <a:t>Clades can be nested in </a:t>
            </a:r>
          </a:p>
        </p:txBody>
      </p:sp>
    </p:spTree>
    <p:extLst>
      <p:ext uri="{BB962C8B-B14F-4D97-AF65-F5344CB8AC3E}">
        <p14:creationId xmlns:p14="http://schemas.microsoft.com/office/powerpoint/2010/main" val="592910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063"/>
            <a:ext cx="9144000" cy="600164"/>
          </a:xfrm>
        </p:spPr>
        <p:txBody>
          <a:bodyPr/>
          <a:lstStyle/>
          <a:p>
            <a:r>
              <a:rPr lang="en-US" dirty="0">
                <a:solidFill>
                  <a:schemeClr val="bg1"/>
                </a:solidFill>
              </a:rPr>
              <a:t>16</a:t>
            </a:r>
          </a:p>
        </p:txBody>
      </p:sp>
      <p:sp>
        <p:nvSpPr>
          <p:cNvPr id="103427" name="Rectangle 3"/>
          <p:cNvSpPr>
            <a:spLocks noGrp="1" noChangeArrowheads="1"/>
          </p:cNvSpPr>
          <p:nvPr>
            <p:ph idx="4294967295"/>
          </p:nvPr>
        </p:nvSpPr>
        <p:spPr>
          <a:xfrm>
            <a:off x="152400" y="44970"/>
            <a:ext cx="4495800" cy="6781800"/>
          </a:xfrm>
        </p:spPr>
        <p:txBody>
          <a:bodyPr/>
          <a:lstStyle/>
          <a:p>
            <a:r>
              <a:rPr lang="en-US" altLang="en-US" dirty="0"/>
              <a:t>A valid clade is </a:t>
            </a:r>
            <a:r>
              <a:rPr lang="en-US" altLang="en-US" b="1" dirty="0"/>
              <a:t>monophyletic</a:t>
            </a:r>
            <a:r>
              <a:rPr lang="en-US" altLang="en-US" dirty="0"/>
              <a:t>, signifying that it consists of </a:t>
            </a:r>
          </a:p>
          <a:p>
            <a:endParaRPr lang="en-US" altLang="en-US" dirty="0"/>
          </a:p>
          <a:p>
            <a:r>
              <a:rPr lang="en-US" altLang="en-US" dirty="0"/>
              <a:t>A </a:t>
            </a:r>
            <a:r>
              <a:rPr lang="en-US" altLang="en-US" b="1" dirty="0"/>
              <a:t>paraphyletic </a:t>
            </a:r>
            <a:r>
              <a:rPr lang="en-US" altLang="en-US" dirty="0"/>
              <a:t>grouping consists of an ancestral species and </a:t>
            </a:r>
          </a:p>
          <a:p>
            <a:endParaRPr lang="en-US" altLang="en-US" dirty="0"/>
          </a:p>
          <a:p>
            <a:endParaRPr lang="en-US" altLang="en-US" dirty="0"/>
          </a:p>
          <a:p>
            <a:r>
              <a:rPr lang="en-US" altLang="en-US" dirty="0"/>
              <a:t>A </a:t>
            </a:r>
            <a:r>
              <a:rPr lang="en-US" altLang="en-US" b="1" dirty="0"/>
              <a:t>polyphyletic </a:t>
            </a:r>
            <a:r>
              <a:rPr lang="en-US" altLang="en-US" dirty="0"/>
              <a:t>grouping includes distantly related species but does not </a:t>
            </a:r>
          </a:p>
        </p:txBody>
      </p:sp>
      <p:pic>
        <p:nvPicPr>
          <p:cNvPr id="4" name="Picture 3" descr="PANEL A: A phylogenetic tree is shown. From a common ancestor, the tree divides into two branches.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10;(a) Monophyletic group (clade).&#10;From a common ancestor, the tree divides into two branches. One leads to another branching point (labeled 1) that leads to A, and another branching point leading to B and C. These three, the only groups that are in this branch from the common ancestor are labeled Group 1.&#10;(b) Paraphyletic group.&#10;The second branch from the common ancestor leads to another branching point. One of these leads to another branching point labeled 2 that leads to D and E, while the other branching point leads to another branching point that leads to F and G. The taxa D, E and F are highlighted, and labeled Group 2. D and E share a common branching point and are sister taxa, and this branching point divides to lead to F.&#10;(c) Polyphyletic group.&#10;From a common ancestor, the tree divides into two branches at a point labeled 3.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 Taxa A, B, C and D are highlighted and labeled Group 3. A, B and C are in one portion of the tree from the common ancestor, while taxa D is in another section branching from the common ancestor.">
            <a:extLst>
              <a:ext uri="{FF2B5EF4-FFF2-40B4-BE49-F238E27FC236}">
                <a16:creationId xmlns:a16="http://schemas.microsoft.com/office/drawing/2014/main" id="{6ADD7D70-3656-4C02-A3B4-53973EBA4EF6}"/>
              </a:ext>
            </a:extLst>
          </p:cNvPr>
          <p:cNvPicPr>
            <a:picLocks noChangeAspect="1"/>
          </p:cNvPicPr>
          <p:nvPr/>
        </p:nvPicPr>
        <p:blipFill>
          <a:blip r:embed="rId3"/>
          <a:stretch>
            <a:fillRect/>
          </a:stretch>
        </p:blipFill>
        <p:spPr>
          <a:xfrm>
            <a:off x="4888396" y="24063"/>
            <a:ext cx="2045804" cy="2605708"/>
          </a:xfrm>
          <a:prstGeom prst="rect">
            <a:avLst/>
          </a:prstGeom>
        </p:spPr>
      </p:pic>
      <p:pic>
        <p:nvPicPr>
          <p:cNvPr id="5" name="Picture 4" descr="PANEL B: A phylogenetic tree is shown. From a common ancestor, the tree divides into two branches.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10;(a) Monophyletic group (clade).&#10;From a common ancestor, the tree divides into two branches. One leads to another branching point (labeled 1) that leads to A, and another branching point leading to B and C. These three, the only groups that are in this branch from the common ancestor are labeled Group 1.&#10;(b) Paraphyletic group.&#10;The second branch from the common ancestor leads to another branching point. One of these leads to another branching point labeled 2 that leads to D and E, while the other branching point leads to another branching point that leads to F and G. The taxa D, E and F are highlighted, and labeled Group 2. D and E share a common branching point and are sister taxa, and this branching point divides to lead to F.&#10;(c) Polyphyletic group.&#10;From a common ancestor, the tree divides into two branches at a point labeled 3.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 Taxa A, B, C and D are highlighted and labeled Group 3. A, B and C are in one portion of the tree from the common ancestor, while taxa D is in another section branching from the common ancestor.">
            <a:extLst>
              <a:ext uri="{FF2B5EF4-FFF2-40B4-BE49-F238E27FC236}">
                <a16:creationId xmlns:a16="http://schemas.microsoft.com/office/drawing/2014/main" id="{FB5A5FC5-FD99-40A4-A734-5A50F620A7F5}"/>
              </a:ext>
            </a:extLst>
          </p:cNvPr>
          <p:cNvPicPr>
            <a:picLocks noChangeAspect="1"/>
          </p:cNvPicPr>
          <p:nvPr/>
        </p:nvPicPr>
        <p:blipFill>
          <a:blip r:embed="rId4"/>
          <a:stretch>
            <a:fillRect/>
          </a:stretch>
        </p:blipFill>
        <p:spPr>
          <a:xfrm>
            <a:off x="6950242" y="2154858"/>
            <a:ext cx="1981200" cy="2548283"/>
          </a:xfrm>
          <a:prstGeom prst="rect">
            <a:avLst/>
          </a:prstGeom>
        </p:spPr>
      </p:pic>
      <p:pic>
        <p:nvPicPr>
          <p:cNvPr id="6" name="Picture 5" descr="PANEL C: A phylogenetic tree is shown. From a common ancestor, the tree divides into two branches.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10;(a) Monophyletic group (clade).&#10;From a common ancestor, the tree divides into two branches. One leads to another branching point (labeled 1) that leads to A, and another branching point leading to B and C. These three, the only groups that are in this branch from the common ancestor are labeled Group 1.&#10;(b) Paraphyletic group.&#10;The second branch from the common ancestor leads to another branching point. One of these leads to another branching point labeled 2 that leads to D and E, while the other branching point leads to another branching point that leads to F and G. The taxa D, E and F are highlighted, and labeled Group 2. D and E share a common branching point and are sister taxa, and this branching point divides to lead to F.&#10;(c) Polyphyletic group.&#10;From a common ancestor, the tree divides into two branches at a point labeled 3. One leads to another branching point that leads to A, and another branching point leading to B and C. These three, the only groups that are in this branch from the common ancestor. The second branch from the common ancestor leads to another branching point. One of these leads to another branching point that leads to D and E, while the other branching point leads to another branching point that leads to F and G. Taxa A, B, C and D are highlighted and labeled Group 3. A, B and C are in one portion of the tree from the common ancestor, while taxa D is in another section branching from the common ancestor.">
            <a:extLst>
              <a:ext uri="{FF2B5EF4-FFF2-40B4-BE49-F238E27FC236}">
                <a16:creationId xmlns:a16="http://schemas.microsoft.com/office/drawing/2014/main" id="{4D06EBF5-DEB8-4D4E-B024-6B40A3EEB59B}"/>
              </a:ext>
            </a:extLst>
          </p:cNvPr>
          <p:cNvPicPr>
            <a:picLocks noChangeAspect="1"/>
          </p:cNvPicPr>
          <p:nvPr/>
        </p:nvPicPr>
        <p:blipFill>
          <a:blip r:embed="rId5"/>
          <a:stretch>
            <a:fillRect/>
          </a:stretch>
        </p:blipFill>
        <p:spPr>
          <a:xfrm>
            <a:off x="4902752" y="4319222"/>
            <a:ext cx="2017091" cy="2526747"/>
          </a:xfrm>
          <a:prstGeom prst="rect">
            <a:avLst/>
          </a:prstGeom>
        </p:spPr>
      </p:pic>
    </p:spTree>
    <p:extLst>
      <p:ext uri="{BB962C8B-B14F-4D97-AF65-F5344CB8AC3E}">
        <p14:creationId xmlns:p14="http://schemas.microsoft.com/office/powerpoint/2010/main" val="2024081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47" y="31651"/>
            <a:ext cx="9144000" cy="600164"/>
          </a:xfrm>
        </p:spPr>
        <p:txBody>
          <a:bodyPr/>
          <a:lstStyle/>
          <a:p>
            <a:r>
              <a:rPr lang="en-US" dirty="0">
                <a:solidFill>
                  <a:schemeClr val="bg1"/>
                </a:solidFill>
              </a:rPr>
              <a:t>17</a:t>
            </a:r>
          </a:p>
        </p:txBody>
      </p:sp>
      <p:pic>
        <p:nvPicPr>
          <p:cNvPr id="5" name="Picture 4" descr="paraphyletic tree"/>
          <p:cNvPicPr>
            <a:picLocks noChangeAspect="1"/>
          </p:cNvPicPr>
          <p:nvPr/>
        </p:nvPicPr>
        <p:blipFill>
          <a:blip r:embed="rId2"/>
          <a:stretch>
            <a:fillRect/>
          </a:stretch>
        </p:blipFill>
        <p:spPr>
          <a:xfrm>
            <a:off x="5410200" y="590549"/>
            <a:ext cx="3400425" cy="3305175"/>
          </a:xfrm>
          <a:prstGeom prst="rect">
            <a:avLst/>
          </a:prstGeom>
        </p:spPr>
      </p:pic>
      <p:pic>
        <p:nvPicPr>
          <p:cNvPr id="6" name="Picture 5" descr="polyphyletic tree"/>
          <p:cNvPicPr>
            <a:picLocks noChangeAspect="1"/>
          </p:cNvPicPr>
          <p:nvPr/>
        </p:nvPicPr>
        <p:blipFill>
          <a:blip r:embed="rId3"/>
          <a:stretch>
            <a:fillRect/>
          </a:stretch>
        </p:blipFill>
        <p:spPr>
          <a:xfrm>
            <a:off x="304800" y="533400"/>
            <a:ext cx="3276600" cy="3419475"/>
          </a:xfrm>
          <a:prstGeom prst="rect">
            <a:avLst/>
          </a:prstGeom>
        </p:spPr>
      </p:pic>
      <p:pic>
        <p:nvPicPr>
          <p:cNvPr id="4" name="Picture 3" descr="monophyletic tree"/>
          <p:cNvPicPr>
            <a:picLocks noChangeAspect="1"/>
          </p:cNvPicPr>
          <p:nvPr/>
        </p:nvPicPr>
        <p:blipFill>
          <a:blip r:embed="rId4"/>
          <a:stretch>
            <a:fillRect/>
          </a:stretch>
        </p:blipFill>
        <p:spPr>
          <a:xfrm>
            <a:off x="2971800" y="3263695"/>
            <a:ext cx="3400425" cy="3562350"/>
          </a:xfrm>
          <a:prstGeom prst="rect">
            <a:avLst/>
          </a:prstGeom>
        </p:spPr>
      </p:pic>
      <p:sp>
        <p:nvSpPr>
          <p:cNvPr id="7" name="TextBox 6"/>
          <p:cNvSpPr txBox="1"/>
          <p:nvPr/>
        </p:nvSpPr>
        <p:spPr>
          <a:xfrm>
            <a:off x="304800" y="3151075"/>
            <a:ext cx="527709" cy="461665"/>
          </a:xfrm>
          <a:prstGeom prst="rect">
            <a:avLst/>
          </a:prstGeom>
          <a:noFill/>
          <a:ln w="38100">
            <a:solidFill>
              <a:schemeClr val="tx1"/>
            </a:solidFill>
          </a:ln>
        </p:spPr>
        <p:txBody>
          <a:bodyPr wrap="none" rtlCol="0">
            <a:spAutoFit/>
          </a:bodyPr>
          <a:lstStyle/>
          <a:p>
            <a:r>
              <a:rPr lang="en-US" dirty="0"/>
              <a:t>#1</a:t>
            </a:r>
          </a:p>
        </p:txBody>
      </p:sp>
      <p:sp>
        <p:nvSpPr>
          <p:cNvPr id="8" name="TextBox 7"/>
          <p:cNvSpPr txBox="1"/>
          <p:nvPr/>
        </p:nvSpPr>
        <p:spPr>
          <a:xfrm>
            <a:off x="8444373" y="3151075"/>
            <a:ext cx="527709" cy="461665"/>
          </a:xfrm>
          <a:prstGeom prst="rect">
            <a:avLst/>
          </a:prstGeom>
          <a:noFill/>
          <a:ln w="38100">
            <a:solidFill>
              <a:schemeClr val="tx1"/>
            </a:solidFill>
          </a:ln>
        </p:spPr>
        <p:txBody>
          <a:bodyPr wrap="none" rtlCol="0">
            <a:spAutoFit/>
          </a:bodyPr>
          <a:lstStyle/>
          <a:p>
            <a:r>
              <a:rPr lang="en-US" dirty="0"/>
              <a:t>#2</a:t>
            </a:r>
          </a:p>
        </p:txBody>
      </p:sp>
      <p:sp>
        <p:nvSpPr>
          <p:cNvPr id="9" name="TextBox 8"/>
          <p:cNvSpPr txBox="1"/>
          <p:nvPr/>
        </p:nvSpPr>
        <p:spPr>
          <a:xfrm>
            <a:off x="3317545" y="6149609"/>
            <a:ext cx="527709" cy="461665"/>
          </a:xfrm>
          <a:prstGeom prst="rect">
            <a:avLst/>
          </a:prstGeom>
          <a:noFill/>
          <a:ln w="38100">
            <a:solidFill>
              <a:schemeClr val="tx1"/>
            </a:solidFill>
          </a:ln>
        </p:spPr>
        <p:txBody>
          <a:bodyPr wrap="none" rtlCol="0">
            <a:spAutoFit/>
          </a:bodyPr>
          <a:lstStyle/>
          <a:p>
            <a:r>
              <a:rPr lang="en-US" dirty="0"/>
              <a:t>#3</a:t>
            </a:r>
          </a:p>
        </p:txBody>
      </p:sp>
      <p:sp>
        <p:nvSpPr>
          <p:cNvPr id="10" name="TextBox 9"/>
          <p:cNvSpPr txBox="1"/>
          <p:nvPr/>
        </p:nvSpPr>
        <p:spPr>
          <a:xfrm>
            <a:off x="3142557" y="2081512"/>
            <a:ext cx="2744277" cy="461665"/>
          </a:xfrm>
          <a:prstGeom prst="rect">
            <a:avLst/>
          </a:prstGeom>
          <a:solidFill>
            <a:schemeClr val="bg1"/>
          </a:solidFill>
        </p:spPr>
        <p:txBody>
          <a:bodyPr wrap="none" rtlCol="0">
            <a:spAutoFit/>
          </a:bodyPr>
          <a:lstStyle/>
          <a:p>
            <a:r>
              <a:rPr lang="en-US" dirty="0"/>
              <a:t>MONOPLYLETIC?</a:t>
            </a:r>
          </a:p>
        </p:txBody>
      </p:sp>
      <p:sp>
        <p:nvSpPr>
          <p:cNvPr id="12" name="TextBox 11"/>
          <p:cNvSpPr txBox="1"/>
          <p:nvPr/>
        </p:nvSpPr>
        <p:spPr>
          <a:xfrm>
            <a:off x="3192941" y="2112076"/>
            <a:ext cx="2808013" cy="461665"/>
          </a:xfrm>
          <a:prstGeom prst="rect">
            <a:avLst/>
          </a:prstGeom>
          <a:solidFill>
            <a:schemeClr val="bg1"/>
          </a:solidFill>
        </p:spPr>
        <p:txBody>
          <a:bodyPr wrap="none" rtlCol="0">
            <a:spAutoFit/>
          </a:bodyPr>
          <a:lstStyle/>
          <a:p>
            <a:r>
              <a:rPr lang="en-US" dirty="0"/>
              <a:t>POLYPHLYLETIC?</a:t>
            </a:r>
          </a:p>
        </p:txBody>
      </p:sp>
      <p:sp>
        <p:nvSpPr>
          <p:cNvPr id="11" name="TextBox 10"/>
          <p:cNvSpPr txBox="1"/>
          <p:nvPr/>
        </p:nvSpPr>
        <p:spPr>
          <a:xfrm>
            <a:off x="2947290" y="2166857"/>
            <a:ext cx="3106853" cy="461665"/>
          </a:xfrm>
          <a:prstGeom prst="rect">
            <a:avLst/>
          </a:prstGeom>
          <a:solidFill>
            <a:schemeClr val="bg1"/>
          </a:solidFill>
        </p:spPr>
        <p:txBody>
          <a:bodyPr wrap="square" rtlCol="0">
            <a:spAutoFit/>
          </a:bodyPr>
          <a:lstStyle/>
          <a:p>
            <a:pPr algn="ctr"/>
            <a:r>
              <a:rPr lang="en-US" dirty="0"/>
              <a:t>PARAPLYLETIC?</a:t>
            </a:r>
          </a:p>
        </p:txBody>
      </p:sp>
      <p:sp>
        <p:nvSpPr>
          <p:cNvPr id="13" name="TextBox 12"/>
          <p:cNvSpPr txBox="1"/>
          <p:nvPr/>
        </p:nvSpPr>
        <p:spPr>
          <a:xfrm>
            <a:off x="841324" y="5564833"/>
            <a:ext cx="2599366" cy="461665"/>
          </a:xfrm>
          <a:prstGeom prst="rect">
            <a:avLst/>
          </a:prstGeom>
          <a:solidFill>
            <a:schemeClr val="bg1"/>
          </a:solidFill>
        </p:spPr>
        <p:txBody>
          <a:bodyPr wrap="none" rtlCol="0">
            <a:spAutoFit/>
          </a:bodyPr>
          <a:lstStyle/>
          <a:p>
            <a:r>
              <a:rPr lang="en-US" b="1" dirty="0">
                <a:solidFill>
                  <a:srgbClr val="FF0000"/>
                </a:solidFill>
              </a:rPr>
              <a:t>MONOPLYLETIC</a:t>
            </a:r>
          </a:p>
        </p:txBody>
      </p:sp>
      <p:sp>
        <p:nvSpPr>
          <p:cNvPr id="14" name="TextBox 13"/>
          <p:cNvSpPr txBox="1"/>
          <p:nvPr/>
        </p:nvSpPr>
        <p:spPr>
          <a:xfrm>
            <a:off x="5869628" y="31651"/>
            <a:ext cx="2493183" cy="461665"/>
          </a:xfrm>
          <a:prstGeom prst="rect">
            <a:avLst/>
          </a:prstGeom>
          <a:solidFill>
            <a:schemeClr val="bg1"/>
          </a:solidFill>
        </p:spPr>
        <p:txBody>
          <a:bodyPr wrap="none" rtlCol="0">
            <a:spAutoFit/>
          </a:bodyPr>
          <a:lstStyle/>
          <a:p>
            <a:r>
              <a:rPr lang="en-US" b="1" dirty="0">
                <a:solidFill>
                  <a:srgbClr val="FF0000"/>
                </a:solidFill>
              </a:rPr>
              <a:t>PARAPLYLETIC</a:t>
            </a:r>
          </a:p>
        </p:txBody>
      </p:sp>
      <p:sp>
        <p:nvSpPr>
          <p:cNvPr id="15" name="TextBox 14"/>
          <p:cNvSpPr txBox="1"/>
          <p:nvPr/>
        </p:nvSpPr>
        <p:spPr>
          <a:xfrm>
            <a:off x="606259" y="31651"/>
            <a:ext cx="2673681" cy="461665"/>
          </a:xfrm>
          <a:prstGeom prst="rect">
            <a:avLst/>
          </a:prstGeom>
          <a:solidFill>
            <a:schemeClr val="bg1"/>
          </a:solidFill>
        </p:spPr>
        <p:txBody>
          <a:bodyPr wrap="none" rtlCol="0">
            <a:spAutoFit/>
          </a:bodyPr>
          <a:lstStyle/>
          <a:p>
            <a:r>
              <a:rPr lang="en-US" b="1" dirty="0">
                <a:solidFill>
                  <a:srgbClr val="FF0000"/>
                </a:solidFill>
              </a:rPr>
              <a:t>POLYPHLYLETIC</a:t>
            </a:r>
          </a:p>
        </p:txBody>
      </p:sp>
      <p:sp>
        <p:nvSpPr>
          <p:cNvPr id="16" name="TextBox 15"/>
          <p:cNvSpPr txBox="1"/>
          <p:nvPr/>
        </p:nvSpPr>
        <p:spPr>
          <a:xfrm>
            <a:off x="6863188" y="5441723"/>
            <a:ext cx="2092655" cy="1169551"/>
          </a:xfrm>
          <a:prstGeom prst="rect">
            <a:avLst/>
          </a:prstGeom>
          <a:solidFill>
            <a:srgbClr val="FFFF00"/>
          </a:solidFill>
          <a:ln w="38100">
            <a:solidFill>
              <a:schemeClr val="tx1"/>
            </a:solidFill>
          </a:ln>
        </p:spPr>
        <p:txBody>
          <a:bodyPr wrap="square" rtlCol="0">
            <a:spAutoFit/>
          </a:bodyPr>
          <a:lstStyle/>
          <a:p>
            <a:r>
              <a:rPr lang="en-US" sz="1400" dirty="0"/>
              <a:t>GOOD EXAM QUESTION COMPARING TREES WITH VARIOUS GROUPS CIRCLED</a:t>
            </a:r>
          </a:p>
        </p:txBody>
      </p:sp>
    </p:spTree>
    <p:extLst>
      <p:ext uri="{BB962C8B-B14F-4D97-AF65-F5344CB8AC3E}">
        <p14:creationId xmlns:p14="http://schemas.microsoft.com/office/powerpoint/2010/main" val="4241471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phylogenetic tree is shown. From a common ancestor the tree splits into two branches. One leads to the common ancestor of even-toed ungulates. This leads to one branch labeled Other even-toed ungulates, and a deer is shown. The other branch splits into two, leading to hippopotamuses in one branch and cetaceans (whales) in the other. Other even-toed ungulates and hippopotamuses are labeled a paraphyletic group.&#10;From the common ancestor of the entire tree, the other branch leads to a branching point. This leads to Other carnivores, and another branching point. This branch leads to Seals or Bears. Seals and Cetaceans are highlighted, and labeled a polyphyletic group."/>
          <p:cNvPicPr>
            <a:picLocks noChangeAspect="1"/>
          </p:cNvPicPr>
          <p:nvPr/>
        </p:nvPicPr>
        <p:blipFill>
          <a:blip r:embed="rId3"/>
          <a:stretch>
            <a:fillRect/>
          </a:stretch>
        </p:blipFill>
        <p:spPr>
          <a:xfrm>
            <a:off x="366712" y="157162"/>
            <a:ext cx="8410575" cy="6543675"/>
          </a:xfrm>
          <a:prstGeom prst="rect">
            <a:avLst/>
          </a:prstGeom>
        </p:spPr>
      </p:pic>
      <p:sp>
        <p:nvSpPr>
          <p:cNvPr id="5" name="Title 4"/>
          <p:cNvSpPr>
            <a:spLocks noGrp="1"/>
          </p:cNvSpPr>
          <p:nvPr>
            <p:ph type="title"/>
          </p:nvPr>
        </p:nvSpPr>
        <p:spPr/>
        <p:txBody>
          <a:bodyPr/>
          <a:lstStyle/>
          <a:p>
            <a:r>
              <a:rPr lang="en-US" dirty="0"/>
              <a:t>Figure 26.11</a:t>
            </a:r>
          </a:p>
        </p:txBody>
      </p:sp>
      <p:sp>
        <p:nvSpPr>
          <p:cNvPr id="19" name="TextBox 18"/>
          <p:cNvSpPr txBox="1"/>
          <p:nvPr/>
        </p:nvSpPr>
        <p:spPr>
          <a:xfrm>
            <a:off x="0" y="6457890"/>
            <a:ext cx="9158887" cy="400110"/>
          </a:xfrm>
          <a:prstGeom prst="rect">
            <a:avLst/>
          </a:prstGeom>
          <a:solidFill>
            <a:srgbClr val="FFFF00"/>
          </a:solidFill>
        </p:spPr>
        <p:txBody>
          <a:bodyPr wrap="square" rtlCol="0">
            <a:spAutoFit/>
          </a:bodyPr>
          <a:lstStyle/>
          <a:p>
            <a:pPr algn="ctr"/>
            <a:r>
              <a:rPr lang="en-US" sz="2000" i="1" dirty="0"/>
              <a:t>You should be able to identify the different types of PHYLETIC groupings</a:t>
            </a:r>
          </a:p>
        </p:txBody>
      </p:sp>
    </p:spTree>
    <p:extLst>
      <p:ext uri="{BB962C8B-B14F-4D97-AF65-F5344CB8AC3E}">
        <p14:creationId xmlns:p14="http://schemas.microsoft.com/office/powerpoint/2010/main" val="4056448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0" y="0"/>
            <a:ext cx="9144000" cy="1107996"/>
          </a:xfrm>
        </p:spPr>
        <p:txBody>
          <a:bodyPr/>
          <a:lstStyle/>
          <a:p>
            <a:r>
              <a:rPr lang="en-US" altLang="en-US" i="1" dirty="0"/>
              <a:t>Shared Ancestral and Shared Derived Characters</a:t>
            </a:r>
            <a:endParaRPr lang="en-US" altLang="en-US" dirty="0"/>
          </a:p>
        </p:txBody>
      </p:sp>
      <p:sp>
        <p:nvSpPr>
          <p:cNvPr id="113667" name="Rectangle 3"/>
          <p:cNvSpPr>
            <a:spLocks noGrp="1" noChangeArrowheads="1"/>
          </p:cNvSpPr>
          <p:nvPr>
            <p:ph idx="1"/>
          </p:nvPr>
        </p:nvSpPr>
        <p:spPr/>
        <p:txBody>
          <a:bodyPr/>
          <a:lstStyle/>
          <a:p>
            <a:r>
              <a:rPr lang="en-US" altLang="en-US" dirty="0"/>
              <a:t>In comparison with its ancestor, an organism has both </a:t>
            </a:r>
          </a:p>
          <a:p>
            <a:r>
              <a:rPr lang="en-US" altLang="en-US" dirty="0"/>
              <a:t>A </a:t>
            </a:r>
            <a:r>
              <a:rPr lang="en-US" altLang="en-US" b="1" dirty="0"/>
              <a:t>shared ancestral character </a:t>
            </a:r>
            <a:r>
              <a:rPr lang="en-US" altLang="en-US" dirty="0"/>
              <a:t>is a </a:t>
            </a:r>
          </a:p>
          <a:p>
            <a:endParaRPr lang="en-US" altLang="en-US" dirty="0"/>
          </a:p>
          <a:p>
            <a:r>
              <a:rPr lang="en-US" altLang="en-US" dirty="0"/>
              <a:t>A </a:t>
            </a:r>
            <a:r>
              <a:rPr lang="en-US" altLang="en-US" b="1" dirty="0"/>
              <a:t>shared derived character </a:t>
            </a:r>
            <a:r>
              <a:rPr lang="en-US" altLang="en-US" dirty="0"/>
              <a:t>is an </a:t>
            </a:r>
          </a:p>
          <a:p>
            <a:endParaRPr lang="en-US" altLang="en-US" dirty="0"/>
          </a:p>
          <a:p>
            <a:r>
              <a:rPr lang="en-US" altLang="en-US" dirty="0"/>
              <a:t>A character can be both </a:t>
            </a:r>
          </a:p>
        </p:txBody>
      </p:sp>
    </p:spTree>
    <p:extLst>
      <p:ext uri="{BB962C8B-B14F-4D97-AF65-F5344CB8AC3E}">
        <p14:creationId xmlns:p14="http://schemas.microsoft.com/office/powerpoint/2010/main" val="3479781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0" y="0"/>
            <a:ext cx="9144000" cy="646331"/>
          </a:xfrm>
        </p:spPr>
        <p:txBody>
          <a:bodyPr/>
          <a:lstStyle/>
          <a:p>
            <a:r>
              <a:rPr lang="en-US" altLang="en-US" i="1" dirty="0"/>
              <a:t>Inferring Phylogenies Using Derived Characters</a:t>
            </a:r>
            <a:endParaRPr lang="en-US" altLang="en-US" dirty="0"/>
          </a:p>
        </p:txBody>
      </p:sp>
      <p:sp>
        <p:nvSpPr>
          <p:cNvPr id="115715" name="Rectangle 3"/>
          <p:cNvSpPr>
            <a:spLocks noGrp="1" noChangeArrowheads="1"/>
          </p:cNvSpPr>
          <p:nvPr>
            <p:ph idx="1"/>
          </p:nvPr>
        </p:nvSpPr>
        <p:spPr>
          <a:xfrm>
            <a:off x="152400" y="762000"/>
            <a:ext cx="8839199" cy="1524000"/>
          </a:xfrm>
        </p:spPr>
        <p:txBody>
          <a:bodyPr/>
          <a:lstStyle/>
          <a:p>
            <a:r>
              <a:rPr lang="en-US" altLang="en-US" dirty="0"/>
              <a:t>When inferring evolutionary relationships, it is useful to know in which </a:t>
            </a:r>
          </a:p>
        </p:txBody>
      </p:sp>
      <p:pic>
        <p:nvPicPr>
          <p:cNvPr id="2" name="Picture 1" descr="(a) Character table. A diagram shows a table showing the presence of different characteristics in various Taxa. The taxa are Lancelet (outgroup), Lampray, Bass, Frog, Turtle and Leopard. The characters are Vertebral column (backbone), Hinged Jaw, Four walking legs, Amnion and Hair. In the table, there is either a 0 to show the character is not present, or a 1 to show that the character is present in each taxa. Vertebral column (backbone) is not present in Lancelet (outgroup) and it present in Lamprey, Bass, Frog, Turtle and Leopard. Hinged jaw is not present in Lancelet (outgroup) or Lamprey, and is present in Bass, Frog, Turtle and Leopard. Four walking legs are not present in Lancelet (outgroup), Lamprey, or Bass, and are present in Frog, Turtle and Leopard. Amnion is not present in Lancelet (outgroup), lamprey, Bass, or Frog, and is present in Turtle and Leopard. Hair is not present in Lancelet (outgroup), Lamprey, Bass, Frog or Turtle, and is present in Leopard.&#10;&#10;(b) Phylogenetic tree. A phylogenetic tree is shown. From a common ancestor, the tree branches. One direction leads to Lancelet (outgroup), shown as a worm-like organism. The other branch has the label “Vertebral column”. After this label there is another branching point. One direction leads to Lamprey (A tube-shaped fish with a round mouth, and the other branch has the label “Hinged Jaw”. After this label is another branching point. One direction leads to Bass (a fish), and the other branch has the label “Four Walking Legs”. After this label is a branching point. One direction leads to Frog, and the other has the label “Amnion”. After this label is a branching point. One direction leads to Turtle, and the other leads to the label “Hair”, and then leads to Leopard.">
            <a:extLst>
              <a:ext uri="{FF2B5EF4-FFF2-40B4-BE49-F238E27FC236}">
                <a16:creationId xmlns:a16="http://schemas.microsoft.com/office/drawing/2014/main" id="{18AC2884-354D-44ED-8C11-925D6B0A8038}"/>
              </a:ext>
            </a:extLst>
          </p:cNvPr>
          <p:cNvPicPr>
            <a:picLocks noChangeAspect="1"/>
          </p:cNvPicPr>
          <p:nvPr/>
        </p:nvPicPr>
        <p:blipFill>
          <a:blip r:embed="rId3"/>
          <a:stretch>
            <a:fillRect/>
          </a:stretch>
        </p:blipFill>
        <p:spPr>
          <a:xfrm>
            <a:off x="266699" y="2309648"/>
            <a:ext cx="8610600" cy="3562350"/>
          </a:xfrm>
          <a:prstGeom prst="rect">
            <a:avLst/>
          </a:prstGeom>
        </p:spPr>
      </p:pic>
    </p:spTree>
    <p:extLst>
      <p:ext uri="{BB962C8B-B14F-4D97-AF65-F5344CB8AC3E}">
        <p14:creationId xmlns:p14="http://schemas.microsoft.com/office/powerpoint/2010/main" val="3165918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21</a:t>
            </a:r>
          </a:p>
        </p:txBody>
      </p:sp>
      <p:sp>
        <p:nvSpPr>
          <p:cNvPr id="119810" name="Rectangle 2"/>
          <p:cNvSpPr>
            <a:spLocks noGrp="1" noChangeArrowheads="1"/>
          </p:cNvSpPr>
          <p:nvPr>
            <p:ph idx="4294967295"/>
          </p:nvPr>
        </p:nvSpPr>
        <p:spPr>
          <a:xfrm>
            <a:off x="152400" y="228600"/>
            <a:ext cx="8839200" cy="6261100"/>
          </a:xfrm>
        </p:spPr>
        <p:txBody>
          <a:bodyPr/>
          <a:lstStyle/>
          <a:p>
            <a:r>
              <a:rPr lang="en-US" altLang="en-US" dirty="0"/>
              <a:t>An </a:t>
            </a:r>
            <a:r>
              <a:rPr lang="en-US" altLang="en-US" b="1" dirty="0"/>
              <a:t>outgroup </a:t>
            </a:r>
            <a:r>
              <a:rPr lang="en-US" altLang="en-US" dirty="0"/>
              <a:t>is a species or group of species that is closely related to </a:t>
            </a:r>
          </a:p>
          <a:p>
            <a:endParaRPr lang="en-US" altLang="en-US" dirty="0"/>
          </a:p>
          <a:p>
            <a:r>
              <a:rPr lang="en-US" altLang="en-US" dirty="0"/>
              <a:t>The outgroup is a group that has </a:t>
            </a:r>
          </a:p>
          <a:p>
            <a:endParaRPr lang="en-US" altLang="en-US" dirty="0"/>
          </a:p>
          <a:p>
            <a:r>
              <a:rPr lang="en-US" altLang="en-US" dirty="0"/>
              <a:t>Systematists compare each ingroup species with the outgroup to differentiate between </a:t>
            </a:r>
          </a:p>
          <a:p>
            <a:endParaRPr lang="en-US" altLang="en-US" dirty="0"/>
          </a:p>
          <a:p>
            <a:r>
              <a:rPr lang="en-US" altLang="en-US" dirty="0"/>
              <a:t>Characters shared by the outgroup and ingroup are ancestral characters that </a:t>
            </a:r>
          </a:p>
        </p:txBody>
      </p:sp>
    </p:spTree>
    <p:extLst>
      <p:ext uri="{BB962C8B-B14F-4D97-AF65-F5344CB8AC3E}">
        <p14:creationId xmlns:p14="http://schemas.microsoft.com/office/powerpoint/2010/main" val="2170125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34" y="24984"/>
            <a:ext cx="9144000" cy="600164"/>
          </a:xfrm>
        </p:spPr>
        <p:txBody>
          <a:bodyPr/>
          <a:lstStyle/>
          <a:p>
            <a:r>
              <a:rPr lang="en-US" dirty="0">
                <a:solidFill>
                  <a:schemeClr val="bg1"/>
                </a:solidFill>
              </a:rPr>
              <a:t>22</a:t>
            </a:r>
          </a:p>
        </p:txBody>
      </p:sp>
      <p:sp>
        <p:nvSpPr>
          <p:cNvPr id="3" name="Rectangle 2"/>
          <p:cNvSpPr txBox="1">
            <a:spLocks noChangeArrowheads="1"/>
          </p:cNvSpPr>
          <p:nvPr/>
        </p:nvSpPr>
        <p:spPr>
          <a:xfrm>
            <a:off x="0" y="0"/>
            <a:ext cx="9144000" cy="646331"/>
          </a:xfrm>
          <a:prstGeom prst="rect">
            <a:avLst/>
          </a:prstGeom>
        </p:spPr>
        <p:txBody>
          <a:bodyPr/>
          <a:lst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altLang="en-US" i="1" kern="0" dirty="0"/>
              <a:t>Tree Building Activity</a:t>
            </a:r>
            <a:endParaRPr lang="en-US" altLang="en-US" kern="0" dirty="0"/>
          </a:p>
        </p:txBody>
      </p:sp>
      <p:pic>
        <p:nvPicPr>
          <p:cNvPr id="4" name="Picture 4" descr="tree building activity"/>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85800"/>
            <a:ext cx="4724400" cy="403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descr="reindeer data table"/>
          <p:cNvGraphicFramePr>
            <a:graphicFrameLocks noGrp="1"/>
          </p:cNvGraphicFramePr>
          <p:nvPr>
            <p:extLst>
              <p:ext uri="{D42A27DB-BD31-4B8C-83A1-F6EECF244321}">
                <p14:modId xmlns:p14="http://schemas.microsoft.com/office/powerpoint/2010/main" val="689749903"/>
              </p:ext>
            </p:extLst>
          </p:nvPr>
        </p:nvGraphicFramePr>
        <p:xfrm>
          <a:off x="4876800" y="0"/>
          <a:ext cx="4267201" cy="3919538"/>
        </p:xfrm>
        <a:graphic>
          <a:graphicData uri="http://schemas.openxmlformats.org/drawingml/2006/table">
            <a:tbl>
              <a:tblPr firstRow="1" bandRow="1">
                <a:tableStyleId>{073A0DAA-6AF3-43AB-8588-CEC1D06C72B9}</a:tableStyleId>
              </a:tblPr>
              <a:tblGrid>
                <a:gridCol w="885646">
                  <a:extLst>
                    <a:ext uri="{9D8B030D-6E8A-4147-A177-3AD203B41FA5}">
                      <a16:colId xmlns:a16="http://schemas.microsoft.com/office/drawing/2014/main" val="20000"/>
                    </a:ext>
                  </a:extLst>
                </a:gridCol>
                <a:gridCol w="714554">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8163">
                  <a:extLst>
                    <a:ext uri="{9D8B030D-6E8A-4147-A177-3AD203B41FA5}">
                      <a16:colId xmlns:a16="http://schemas.microsoft.com/office/drawing/2014/main" val="20003"/>
                    </a:ext>
                  </a:extLst>
                </a:gridCol>
                <a:gridCol w="805132">
                  <a:extLst>
                    <a:ext uri="{9D8B030D-6E8A-4147-A177-3AD203B41FA5}">
                      <a16:colId xmlns:a16="http://schemas.microsoft.com/office/drawing/2014/main" val="20004"/>
                    </a:ext>
                  </a:extLst>
                </a:gridCol>
                <a:gridCol w="644106">
                  <a:extLst>
                    <a:ext uri="{9D8B030D-6E8A-4147-A177-3AD203B41FA5}">
                      <a16:colId xmlns:a16="http://schemas.microsoft.com/office/drawing/2014/main" val="20005"/>
                    </a:ext>
                  </a:extLst>
                </a:gridCol>
              </a:tblGrid>
              <a:tr h="770061">
                <a:tc>
                  <a:txBody>
                    <a:bodyPr/>
                    <a:lstStyle/>
                    <a:p>
                      <a:endParaRPr lang="en-US" sz="1300" b="0" dirty="0"/>
                    </a:p>
                  </a:txBody>
                  <a:tcPr marL="86541" marR="86541" marT="43269" marB="43269">
                    <a:solidFill>
                      <a:schemeClr val="bg1">
                        <a:lumMod val="85000"/>
                      </a:schemeClr>
                    </a:solidFill>
                  </a:tcPr>
                </a:tc>
                <a:tc>
                  <a:txBody>
                    <a:bodyPr/>
                    <a:lstStyle/>
                    <a:p>
                      <a:r>
                        <a:rPr lang="en-US" sz="1300" b="0" dirty="0">
                          <a:solidFill>
                            <a:schemeClr val="tx1"/>
                          </a:solidFill>
                        </a:rPr>
                        <a:t>Thick Hooves (1)</a:t>
                      </a:r>
                    </a:p>
                  </a:txBody>
                  <a:tcPr marL="86541" marR="86541" marT="43269" marB="43269">
                    <a:solidFill>
                      <a:schemeClr val="bg1">
                        <a:lumMod val="75000"/>
                      </a:schemeClr>
                    </a:solidFill>
                  </a:tcPr>
                </a:tc>
                <a:tc>
                  <a:txBody>
                    <a:bodyPr/>
                    <a:lstStyle/>
                    <a:p>
                      <a:r>
                        <a:rPr lang="en-US" sz="1300" b="0" dirty="0">
                          <a:solidFill>
                            <a:schemeClr val="tx1"/>
                          </a:solidFill>
                        </a:rPr>
                        <a:t>Big Teeth (2)</a:t>
                      </a:r>
                    </a:p>
                  </a:txBody>
                  <a:tcPr marL="86541" marR="86541" marT="43269" marB="43269">
                    <a:solidFill>
                      <a:schemeClr val="bg1">
                        <a:lumMod val="75000"/>
                      </a:schemeClr>
                    </a:solidFill>
                  </a:tcPr>
                </a:tc>
                <a:tc>
                  <a:txBody>
                    <a:bodyPr/>
                    <a:lstStyle/>
                    <a:p>
                      <a:r>
                        <a:rPr lang="en-US" sz="1300" b="0" dirty="0">
                          <a:solidFill>
                            <a:schemeClr val="tx1"/>
                          </a:solidFill>
                        </a:rPr>
                        <a:t>Soft Fur (3)</a:t>
                      </a:r>
                    </a:p>
                  </a:txBody>
                  <a:tcPr marL="86541" marR="86541" marT="43269" marB="43269">
                    <a:solidFill>
                      <a:schemeClr val="bg1">
                        <a:lumMod val="75000"/>
                      </a:schemeClr>
                    </a:solidFill>
                  </a:tcPr>
                </a:tc>
                <a:tc>
                  <a:txBody>
                    <a:bodyPr/>
                    <a:lstStyle/>
                    <a:p>
                      <a:r>
                        <a:rPr lang="en-US" sz="1300" b="0" dirty="0" err="1">
                          <a:solidFill>
                            <a:schemeClr val="tx1"/>
                          </a:solidFill>
                        </a:rPr>
                        <a:t>Squeeky</a:t>
                      </a:r>
                      <a:r>
                        <a:rPr lang="en-US" sz="1300" b="0" dirty="0">
                          <a:solidFill>
                            <a:schemeClr val="tx1"/>
                          </a:solidFill>
                        </a:rPr>
                        <a:t> Voice</a:t>
                      </a:r>
                      <a:r>
                        <a:rPr lang="en-US" sz="1300" b="0" baseline="0" dirty="0">
                          <a:solidFill>
                            <a:schemeClr val="tx1"/>
                          </a:solidFill>
                        </a:rPr>
                        <a:t> (4)</a:t>
                      </a:r>
                      <a:endParaRPr lang="en-US" sz="1300" b="0" dirty="0">
                        <a:solidFill>
                          <a:schemeClr val="tx1"/>
                        </a:solidFill>
                      </a:endParaRPr>
                    </a:p>
                  </a:txBody>
                  <a:tcPr marL="86541" marR="86541" marT="43269" marB="43269">
                    <a:solidFill>
                      <a:schemeClr val="bg1">
                        <a:lumMod val="75000"/>
                      </a:schemeClr>
                    </a:solidFill>
                  </a:tcPr>
                </a:tc>
                <a:tc>
                  <a:txBody>
                    <a:bodyPr/>
                    <a:lstStyle/>
                    <a:p>
                      <a:r>
                        <a:rPr lang="en-US" sz="1300" b="0" dirty="0">
                          <a:solidFill>
                            <a:schemeClr val="tx1"/>
                          </a:solidFill>
                        </a:rPr>
                        <a:t>Red Nose (5)</a:t>
                      </a:r>
                    </a:p>
                  </a:txBody>
                  <a:tcPr marL="86541" marR="86541" marT="43269" marB="43269">
                    <a:solidFill>
                      <a:schemeClr val="bg1">
                        <a:lumMod val="75000"/>
                      </a:schemeClr>
                    </a:solidFill>
                  </a:tcPr>
                </a:tc>
                <a:extLst>
                  <a:ext uri="{0D108BD9-81ED-4DB2-BD59-A6C34878D82A}">
                    <a16:rowId xmlns:a16="http://schemas.microsoft.com/office/drawing/2014/main" val="10000"/>
                  </a:ext>
                </a:extLst>
              </a:tr>
              <a:tr h="539044">
                <a:tc>
                  <a:txBody>
                    <a:bodyPr/>
                    <a:lstStyle/>
                    <a:p>
                      <a:r>
                        <a:rPr lang="en-US" sz="1300" b="0" dirty="0">
                          <a:solidFill>
                            <a:schemeClr val="tx1"/>
                          </a:solidFill>
                        </a:rPr>
                        <a:t>Dasher (D)</a:t>
                      </a:r>
                    </a:p>
                  </a:txBody>
                  <a:tcPr marL="86541" marR="86541" marT="43269" marB="43269">
                    <a:solidFill>
                      <a:schemeClr val="bg1">
                        <a:lumMod val="7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extLst>
                  <a:ext uri="{0D108BD9-81ED-4DB2-BD59-A6C34878D82A}">
                    <a16:rowId xmlns:a16="http://schemas.microsoft.com/office/drawing/2014/main" val="10001"/>
                  </a:ext>
                </a:extLst>
              </a:tr>
              <a:tr h="539044">
                <a:tc>
                  <a:txBody>
                    <a:bodyPr/>
                    <a:lstStyle/>
                    <a:p>
                      <a:r>
                        <a:rPr lang="en-US" sz="1300" b="0" dirty="0" err="1">
                          <a:solidFill>
                            <a:schemeClr val="tx1"/>
                          </a:solidFill>
                        </a:rPr>
                        <a:t>Prancer</a:t>
                      </a:r>
                      <a:r>
                        <a:rPr lang="en-US" sz="1300" b="0" dirty="0">
                          <a:solidFill>
                            <a:schemeClr val="tx1"/>
                          </a:solidFill>
                        </a:rPr>
                        <a:t> (P)</a:t>
                      </a:r>
                    </a:p>
                  </a:txBody>
                  <a:tcPr marL="86541" marR="86541" marT="43269" marB="43269">
                    <a:solidFill>
                      <a:schemeClr val="bg1">
                        <a:lumMod val="7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extLst>
                  <a:ext uri="{0D108BD9-81ED-4DB2-BD59-A6C34878D82A}">
                    <a16:rowId xmlns:a16="http://schemas.microsoft.com/office/drawing/2014/main" val="10002"/>
                  </a:ext>
                </a:extLst>
              </a:tr>
              <a:tr h="454257">
                <a:tc>
                  <a:txBody>
                    <a:bodyPr/>
                    <a:lstStyle/>
                    <a:p>
                      <a:r>
                        <a:rPr lang="en-US" sz="1300" b="0" dirty="0">
                          <a:solidFill>
                            <a:schemeClr val="tx1"/>
                          </a:solidFill>
                        </a:rPr>
                        <a:t>Vixen (V)</a:t>
                      </a:r>
                    </a:p>
                  </a:txBody>
                  <a:tcPr marL="86541" marR="86541" marT="43269" marB="43269">
                    <a:solidFill>
                      <a:schemeClr val="bg1">
                        <a:lumMod val="7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extLst>
                  <a:ext uri="{0D108BD9-81ED-4DB2-BD59-A6C34878D82A}">
                    <a16:rowId xmlns:a16="http://schemas.microsoft.com/office/drawing/2014/main" val="10003"/>
                  </a:ext>
                </a:extLst>
              </a:tr>
              <a:tr h="539044">
                <a:tc>
                  <a:txBody>
                    <a:bodyPr/>
                    <a:lstStyle/>
                    <a:p>
                      <a:r>
                        <a:rPr lang="en-US" sz="1300" b="0" dirty="0">
                          <a:solidFill>
                            <a:schemeClr val="tx1"/>
                          </a:solidFill>
                        </a:rPr>
                        <a:t>Comet</a:t>
                      </a:r>
                      <a:r>
                        <a:rPr lang="en-US" sz="1300" b="0" baseline="0" dirty="0">
                          <a:solidFill>
                            <a:schemeClr val="tx1"/>
                          </a:solidFill>
                        </a:rPr>
                        <a:t> (C)</a:t>
                      </a:r>
                      <a:endParaRPr lang="en-US" sz="1300" b="0" dirty="0">
                        <a:solidFill>
                          <a:schemeClr val="tx1"/>
                        </a:solidFill>
                      </a:endParaRPr>
                    </a:p>
                  </a:txBody>
                  <a:tcPr marL="86541" marR="86541" marT="43269" marB="43269">
                    <a:solidFill>
                      <a:schemeClr val="bg1">
                        <a:lumMod val="7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extLst>
                  <a:ext uri="{0D108BD9-81ED-4DB2-BD59-A6C34878D82A}">
                    <a16:rowId xmlns:a16="http://schemas.microsoft.com/office/drawing/2014/main" val="10004"/>
                  </a:ext>
                </a:extLst>
              </a:tr>
              <a:tr h="539044">
                <a:tc>
                  <a:txBody>
                    <a:bodyPr/>
                    <a:lstStyle/>
                    <a:p>
                      <a:r>
                        <a:rPr lang="en-US" sz="1300" b="0" dirty="0">
                          <a:solidFill>
                            <a:schemeClr val="tx1"/>
                          </a:solidFill>
                        </a:rPr>
                        <a:t>Rudolph (R)</a:t>
                      </a:r>
                    </a:p>
                  </a:txBody>
                  <a:tcPr marL="86541" marR="86541" marT="43269" marB="43269">
                    <a:solidFill>
                      <a:schemeClr val="bg1">
                        <a:lumMod val="7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extLst>
                  <a:ext uri="{0D108BD9-81ED-4DB2-BD59-A6C34878D82A}">
                    <a16:rowId xmlns:a16="http://schemas.microsoft.com/office/drawing/2014/main" val="10005"/>
                  </a:ext>
                </a:extLst>
              </a:tr>
              <a:tr h="539044">
                <a:tc>
                  <a:txBody>
                    <a:bodyPr/>
                    <a:lstStyle/>
                    <a:p>
                      <a:r>
                        <a:rPr lang="en-US" sz="1300" b="0" dirty="0" err="1">
                          <a:solidFill>
                            <a:schemeClr val="tx1"/>
                          </a:solidFill>
                        </a:rPr>
                        <a:t>Blitzen</a:t>
                      </a:r>
                      <a:r>
                        <a:rPr lang="en-US" sz="1300" b="0" dirty="0">
                          <a:solidFill>
                            <a:schemeClr val="tx1"/>
                          </a:solidFill>
                        </a:rPr>
                        <a:t> (B)</a:t>
                      </a:r>
                    </a:p>
                  </a:txBody>
                  <a:tcPr marL="86541" marR="86541" marT="43269" marB="43269">
                    <a:solidFill>
                      <a:schemeClr val="bg1">
                        <a:lumMod val="7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t>Y</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tc>
                  <a:txBody>
                    <a:bodyPr/>
                    <a:lstStyle/>
                    <a:p>
                      <a:pPr algn="ctr"/>
                      <a:r>
                        <a:rPr lang="en-US" sz="2400" dirty="0">
                          <a:solidFill>
                            <a:srgbClr val="FF0000"/>
                          </a:solidFill>
                        </a:rPr>
                        <a:t>N</a:t>
                      </a:r>
                    </a:p>
                  </a:txBody>
                  <a:tcPr marL="86541" marR="86541" marT="43269" marB="43269">
                    <a:solidFill>
                      <a:schemeClr val="bg1">
                        <a:lumMod val="85000"/>
                      </a:schemeClr>
                    </a:solidFill>
                  </a:tcPr>
                </a:tc>
                <a:extLst>
                  <a:ext uri="{0D108BD9-81ED-4DB2-BD59-A6C34878D82A}">
                    <a16:rowId xmlns:a16="http://schemas.microsoft.com/office/drawing/2014/main" val="10006"/>
                  </a:ext>
                </a:extLst>
              </a:tr>
            </a:tbl>
          </a:graphicData>
        </a:graphic>
      </p:graphicFrame>
      <p:sp>
        <p:nvSpPr>
          <p:cNvPr id="6" name="TextBox 6"/>
          <p:cNvSpPr txBox="1">
            <a:spLocks noChangeArrowheads="1"/>
          </p:cNvSpPr>
          <p:nvPr/>
        </p:nvSpPr>
        <p:spPr bwMode="auto">
          <a:xfrm>
            <a:off x="0" y="5103674"/>
            <a:ext cx="91440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800" dirty="0"/>
              <a:t>Based on the information in the table below, construct a cladogram (or family tree) that depicts the relatedness of Christmas reindeer based on ancestral or derived characters.  </a:t>
            </a:r>
            <a:r>
              <a:rPr lang="en-US" altLang="en-US" sz="1800" b="1" dirty="0">
                <a:solidFill>
                  <a:srgbClr val="FF0000"/>
                </a:solidFill>
              </a:rPr>
              <a:t>Place each of the reindeer "D, P, V, C and B" in the boxes on the terminal branches of the tree</a:t>
            </a:r>
            <a:r>
              <a:rPr lang="en-US" altLang="en-US" sz="1800" dirty="0"/>
              <a:t>.  Also, </a:t>
            </a:r>
            <a:r>
              <a:rPr lang="en-US" altLang="en-US" sz="1800" b="1" dirty="0">
                <a:solidFill>
                  <a:srgbClr val="0070C0"/>
                </a:solidFill>
              </a:rPr>
              <a:t>place the character state using the character numbers (1-5) on the dashes which intersect the tree</a:t>
            </a:r>
            <a:r>
              <a:rPr lang="en-US" altLang="en-US" sz="1800" dirty="0"/>
              <a:t>.  Be sure to indicate whether these characters APPEARED or DISAPPEARED at that intersection on the tree.</a:t>
            </a:r>
          </a:p>
        </p:txBody>
      </p:sp>
      <p:sp>
        <p:nvSpPr>
          <p:cNvPr id="7" name="TextBox 3"/>
          <p:cNvSpPr txBox="1">
            <a:spLocks noChangeArrowheads="1"/>
          </p:cNvSpPr>
          <p:nvPr/>
        </p:nvSpPr>
        <p:spPr bwMode="auto">
          <a:xfrm>
            <a:off x="5105398" y="4038600"/>
            <a:ext cx="403860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800" dirty="0"/>
              <a:t>*** For </a:t>
            </a:r>
            <a:r>
              <a:rPr lang="en-US" altLang="en-US" sz="1800" dirty="0" err="1"/>
              <a:t>cladistic</a:t>
            </a:r>
            <a:r>
              <a:rPr lang="en-US" altLang="en-US" sz="1800" dirty="0"/>
              <a:t> purposes, Rudolph will be considered the OUTGROUP since he is the OLDEST</a:t>
            </a:r>
          </a:p>
        </p:txBody>
      </p:sp>
    </p:spTree>
    <p:extLst>
      <p:ext uri="{BB962C8B-B14F-4D97-AF65-F5344CB8AC3E}">
        <p14:creationId xmlns:p14="http://schemas.microsoft.com/office/powerpoint/2010/main" val="921988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6BC0A6-D8BB-435F-85CE-C036B5D04706}"/>
              </a:ext>
            </a:extLst>
          </p:cNvPr>
          <p:cNvSpPr txBox="1"/>
          <p:nvPr/>
        </p:nvSpPr>
        <p:spPr>
          <a:xfrm>
            <a:off x="0" y="859316"/>
            <a:ext cx="9144000" cy="4524315"/>
          </a:xfrm>
          <a:prstGeom prst="rect">
            <a:avLst/>
          </a:prstGeom>
          <a:noFill/>
        </p:spPr>
        <p:txBody>
          <a:bodyPr wrap="square" rtlCol="0">
            <a:spAutoFit/>
          </a:bodyPr>
          <a:lstStyle/>
          <a:p>
            <a:pPr algn="ctr"/>
            <a:r>
              <a:rPr lang="en-US" sz="9600" b="1" dirty="0"/>
              <a:t>Tree Building Exercise:</a:t>
            </a:r>
          </a:p>
          <a:p>
            <a:pPr algn="ctr"/>
            <a:r>
              <a:rPr lang="en-US" sz="9600" b="1" dirty="0">
                <a:solidFill>
                  <a:srgbClr val="FF0000"/>
                </a:solidFill>
              </a:rPr>
              <a:t>Men in Hats…</a:t>
            </a:r>
          </a:p>
        </p:txBody>
      </p:sp>
      <p:sp>
        <p:nvSpPr>
          <p:cNvPr id="4" name="TextBox 3">
            <a:extLst>
              <a:ext uri="{FF2B5EF4-FFF2-40B4-BE49-F238E27FC236}">
                <a16:creationId xmlns:a16="http://schemas.microsoft.com/office/drawing/2014/main" id="{29B16098-CE7A-4496-A5F7-5EA088C047A3}"/>
              </a:ext>
            </a:extLst>
          </p:cNvPr>
          <p:cNvSpPr txBox="1"/>
          <p:nvPr/>
        </p:nvSpPr>
        <p:spPr>
          <a:xfrm>
            <a:off x="3718240" y="6047672"/>
            <a:ext cx="1707519" cy="461665"/>
          </a:xfrm>
          <a:prstGeom prst="rect">
            <a:avLst/>
          </a:prstGeom>
          <a:solidFill>
            <a:srgbClr val="FFFF00"/>
          </a:solidFill>
        </p:spPr>
        <p:txBody>
          <a:bodyPr wrap="none" rtlCol="0">
            <a:spAutoFit/>
          </a:bodyPr>
          <a:lstStyle/>
          <a:p>
            <a:r>
              <a:rPr lang="en-US" dirty="0">
                <a:highlight>
                  <a:srgbClr val="FFFF00"/>
                </a:highlight>
              </a:rPr>
              <a:t>HANDOUT</a:t>
            </a:r>
          </a:p>
        </p:txBody>
      </p:sp>
    </p:spTree>
    <p:extLst>
      <p:ext uri="{BB962C8B-B14F-4D97-AF65-F5344CB8AC3E}">
        <p14:creationId xmlns:p14="http://schemas.microsoft.com/office/powerpoint/2010/main" val="3149993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7B3F4C34-1256-4DC6-A240-AF032365EF2A}"/>
              </a:ext>
            </a:extLst>
          </p:cNvPr>
          <p:cNvPicPr>
            <a:picLocks noChangeAspect="1"/>
          </p:cNvPicPr>
          <p:nvPr/>
        </p:nvPicPr>
        <p:blipFill>
          <a:blip r:embed="rId2"/>
          <a:stretch>
            <a:fillRect/>
          </a:stretch>
        </p:blipFill>
        <p:spPr>
          <a:xfrm>
            <a:off x="751942" y="571101"/>
            <a:ext cx="7640116" cy="5715798"/>
          </a:xfrm>
          <a:prstGeom prst="rect">
            <a:avLst/>
          </a:prstGeom>
        </p:spPr>
      </p:pic>
    </p:spTree>
    <p:extLst>
      <p:ext uri="{BB962C8B-B14F-4D97-AF65-F5344CB8AC3E}">
        <p14:creationId xmlns:p14="http://schemas.microsoft.com/office/powerpoint/2010/main" val="3559685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6BC0A6-D8BB-435F-85CE-C036B5D04706}"/>
              </a:ext>
            </a:extLst>
          </p:cNvPr>
          <p:cNvSpPr txBox="1"/>
          <p:nvPr/>
        </p:nvSpPr>
        <p:spPr>
          <a:xfrm>
            <a:off x="0" y="859316"/>
            <a:ext cx="9144000" cy="4893647"/>
          </a:xfrm>
          <a:prstGeom prst="rect">
            <a:avLst/>
          </a:prstGeom>
          <a:noFill/>
        </p:spPr>
        <p:txBody>
          <a:bodyPr wrap="square" rtlCol="0">
            <a:spAutoFit/>
          </a:bodyPr>
          <a:lstStyle/>
          <a:p>
            <a:pPr algn="ctr"/>
            <a:r>
              <a:rPr lang="en-US" sz="9600" b="1" dirty="0"/>
              <a:t>“Practice Cladogram”</a:t>
            </a:r>
          </a:p>
          <a:p>
            <a:pPr algn="ctr"/>
            <a:r>
              <a:rPr lang="en-US" sz="6000" b="1" dirty="0">
                <a:solidFill>
                  <a:srgbClr val="FF0000"/>
                </a:solidFill>
              </a:rPr>
              <a:t>(possible bonus on EXAM 2)</a:t>
            </a:r>
          </a:p>
        </p:txBody>
      </p:sp>
      <p:sp>
        <p:nvSpPr>
          <p:cNvPr id="4" name="TextBox 3">
            <a:extLst>
              <a:ext uri="{FF2B5EF4-FFF2-40B4-BE49-F238E27FC236}">
                <a16:creationId xmlns:a16="http://schemas.microsoft.com/office/drawing/2014/main" id="{29B16098-CE7A-4496-A5F7-5EA088C047A3}"/>
              </a:ext>
            </a:extLst>
          </p:cNvPr>
          <p:cNvSpPr txBox="1"/>
          <p:nvPr/>
        </p:nvSpPr>
        <p:spPr>
          <a:xfrm>
            <a:off x="3718240" y="6047672"/>
            <a:ext cx="1707519" cy="461665"/>
          </a:xfrm>
          <a:prstGeom prst="rect">
            <a:avLst/>
          </a:prstGeom>
          <a:solidFill>
            <a:srgbClr val="FFFF00"/>
          </a:solidFill>
        </p:spPr>
        <p:txBody>
          <a:bodyPr wrap="none" rtlCol="0">
            <a:spAutoFit/>
          </a:bodyPr>
          <a:lstStyle/>
          <a:p>
            <a:r>
              <a:rPr lang="en-US" dirty="0">
                <a:highlight>
                  <a:srgbClr val="FFFF00"/>
                </a:highlight>
              </a:rPr>
              <a:t>HANDOUT</a:t>
            </a:r>
          </a:p>
        </p:txBody>
      </p:sp>
    </p:spTree>
    <p:extLst>
      <p:ext uri="{BB962C8B-B14F-4D97-AF65-F5344CB8AC3E}">
        <p14:creationId xmlns:p14="http://schemas.microsoft.com/office/powerpoint/2010/main" val="3408833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39622079-5DBB-4D96-9D85-0DCD4A4AC7E6}"/>
              </a:ext>
            </a:extLst>
          </p:cNvPr>
          <p:cNvPicPr>
            <a:picLocks noChangeAspect="1"/>
          </p:cNvPicPr>
          <p:nvPr/>
        </p:nvPicPr>
        <p:blipFill>
          <a:blip r:embed="rId2"/>
          <a:stretch>
            <a:fillRect/>
          </a:stretch>
        </p:blipFill>
        <p:spPr>
          <a:xfrm>
            <a:off x="457200" y="335165"/>
            <a:ext cx="8229600" cy="6187669"/>
          </a:xfrm>
          <a:prstGeom prst="rect">
            <a:avLst/>
          </a:prstGeom>
        </p:spPr>
      </p:pic>
      <p:sp>
        <p:nvSpPr>
          <p:cNvPr id="5" name="TextBox 4">
            <a:extLst>
              <a:ext uri="{FF2B5EF4-FFF2-40B4-BE49-F238E27FC236}">
                <a16:creationId xmlns:a16="http://schemas.microsoft.com/office/drawing/2014/main" id="{1531FB24-F08A-4346-B1EA-252F658C782B}"/>
              </a:ext>
            </a:extLst>
          </p:cNvPr>
          <p:cNvSpPr txBox="1"/>
          <p:nvPr/>
        </p:nvSpPr>
        <p:spPr>
          <a:xfrm>
            <a:off x="0" y="6396335"/>
            <a:ext cx="9144000" cy="461665"/>
          </a:xfrm>
          <a:prstGeom prst="rect">
            <a:avLst/>
          </a:prstGeom>
          <a:solidFill>
            <a:srgbClr val="FFFF00"/>
          </a:solidFill>
        </p:spPr>
        <p:txBody>
          <a:bodyPr wrap="square" rtlCol="0">
            <a:spAutoFit/>
          </a:bodyPr>
          <a:lstStyle/>
          <a:p>
            <a:pPr algn="ctr"/>
            <a:r>
              <a:rPr lang="en-US" dirty="0"/>
              <a:t>ANSWERS ARE ENTERED USING LINK IN MOODLE</a:t>
            </a:r>
          </a:p>
        </p:txBody>
      </p:sp>
    </p:spTree>
    <p:extLst>
      <p:ext uri="{BB962C8B-B14F-4D97-AF65-F5344CB8AC3E}">
        <p14:creationId xmlns:p14="http://schemas.microsoft.com/office/powerpoint/2010/main" val="499362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hylogenetic tree is shown. From a common ancestor, the tree branches. The first branch leads to Drosophila, a fruit fly. The branch leading to this is very long, extending across the entire width of the diagram. The second branch from the common ancestor is short, and leads to another branching point. One branch leads to Lancelet, and is about 80% as long as the Drosophila branch. The second branch is a quarter the length of the lancelet branch, and leads to a branching point. One branch leads to Zebrafish, with a branch length of about 60% the length of the Drosophila branch. The other branch is about 15% of the length of the Zebrafish branch, and leads to another branching point. From here, there is a branch leading to Frog, which is half the length of the Drosophila branch, and another branch, one third the size of the Frog branch, leading to another branching point. One branch leads to chicken, and is 20% of the length of the Drosophila branch, while the other branch, half the length of the branch leading to Chicken, leads to a branching point. Both branched from this point are the same length, less than 10% of the Drosophila branch length. One leads to Human, and the other leads to Mouse.">
            <a:extLst>
              <a:ext uri="{FF2B5EF4-FFF2-40B4-BE49-F238E27FC236}">
                <a16:creationId xmlns:a16="http://schemas.microsoft.com/office/drawing/2014/main" id="{36F6F0C6-231D-4CB6-980C-6FEDA871A586}"/>
              </a:ext>
            </a:extLst>
          </p:cNvPr>
          <p:cNvPicPr>
            <a:picLocks noChangeAspect="1"/>
          </p:cNvPicPr>
          <p:nvPr/>
        </p:nvPicPr>
        <p:blipFill>
          <a:blip r:embed="rId3"/>
          <a:stretch>
            <a:fillRect/>
          </a:stretch>
        </p:blipFill>
        <p:spPr>
          <a:xfrm>
            <a:off x="2488144" y="4203290"/>
            <a:ext cx="4167710" cy="2654710"/>
          </a:xfrm>
          <a:prstGeom prst="rect">
            <a:avLst/>
          </a:prstGeom>
        </p:spPr>
      </p:pic>
      <p:sp>
        <p:nvSpPr>
          <p:cNvPr id="123906" name="Rectangle 2"/>
          <p:cNvSpPr>
            <a:spLocks noGrp="1" noChangeArrowheads="1"/>
          </p:cNvSpPr>
          <p:nvPr>
            <p:ph type="title"/>
          </p:nvPr>
        </p:nvSpPr>
        <p:spPr>
          <a:xfrm>
            <a:off x="0" y="0"/>
            <a:ext cx="9144000" cy="1107996"/>
          </a:xfrm>
        </p:spPr>
        <p:txBody>
          <a:bodyPr/>
          <a:lstStyle/>
          <a:p>
            <a:r>
              <a:rPr lang="en-US" altLang="en-US" dirty="0"/>
              <a:t>Phylogenetic Trees with Proportional Branch Lengths</a:t>
            </a:r>
          </a:p>
        </p:txBody>
      </p:sp>
      <p:sp>
        <p:nvSpPr>
          <p:cNvPr id="123907" name="Rectangle 3"/>
          <p:cNvSpPr>
            <a:spLocks noGrp="1" noChangeArrowheads="1"/>
          </p:cNvSpPr>
          <p:nvPr>
            <p:ph idx="1"/>
          </p:nvPr>
        </p:nvSpPr>
        <p:spPr>
          <a:xfrm>
            <a:off x="152400" y="1107996"/>
            <a:ext cx="8839199" cy="3235404"/>
          </a:xfrm>
        </p:spPr>
        <p:txBody>
          <a:bodyPr/>
          <a:lstStyle/>
          <a:p>
            <a:r>
              <a:rPr lang="en-US" altLang="en-US" dirty="0"/>
              <a:t>In some trees, the length of a branch can reflect the number of genetic changes that have taken place in a </a:t>
            </a:r>
          </a:p>
          <a:p>
            <a:pPr lvl="1"/>
            <a:r>
              <a:rPr lang="en-US" altLang="en-US" dirty="0"/>
              <a:t>EX: the longer the branch lengths connecting two organisms, more </a:t>
            </a:r>
          </a:p>
          <a:p>
            <a:pPr lvl="1"/>
            <a:r>
              <a:rPr lang="en-US" altLang="en-US" dirty="0"/>
              <a:t>Which would have more genetic changes: comparing chicken vs. human -OR- human vs. mouse?</a:t>
            </a:r>
          </a:p>
        </p:txBody>
      </p:sp>
    </p:spTree>
    <p:extLst>
      <p:ext uri="{BB962C8B-B14F-4D97-AF65-F5344CB8AC3E}">
        <p14:creationId xmlns:p14="http://schemas.microsoft.com/office/powerpoint/2010/main" val="3186494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0615"/>
            <a:ext cx="9144000" cy="600164"/>
          </a:xfrm>
        </p:spPr>
        <p:txBody>
          <a:bodyPr/>
          <a:lstStyle/>
          <a:p>
            <a:r>
              <a:rPr lang="en-US" dirty="0">
                <a:solidFill>
                  <a:schemeClr val="bg1"/>
                </a:solidFill>
              </a:rPr>
              <a:t>24</a:t>
            </a:r>
          </a:p>
        </p:txBody>
      </p:sp>
      <p:sp>
        <p:nvSpPr>
          <p:cNvPr id="128002" name="Rectangle 2"/>
          <p:cNvSpPr>
            <a:spLocks noGrp="1" noChangeArrowheads="1"/>
          </p:cNvSpPr>
          <p:nvPr>
            <p:ph idx="4294967295"/>
          </p:nvPr>
        </p:nvSpPr>
        <p:spPr>
          <a:xfrm>
            <a:off x="102473" y="30615"/>
            <a:ext cx="3250327" cy="6801109"/>
          </a:xfrm>
        </p:spPr>
        <p:txBody>
          <a:bodyPr/>
          <a:lstStyle/>
          <a:p>
            <a:r>
              <a:rPr lang="en-US" altLang="en-US" dirty="0"/>
              <a:t>In other trees, branch length can be proportional to time, and branching points can be determined from the </a:t>
            </a:r>
          </a:p>
          <a:p>
            <a:r>
              <a:rPr lang="en-US" altLang="en-US" dirty="0">
                <a:solidFill>
                  <a:srgbClr val="00B050"/>
                </a:solidFill>
              </a:rPr>
              <a:t>Which organism is the most ancient here?</a:t>
            </a:r>
          </a:p>
          <a:p>
            <a:r>
              <a:rPr lang="en-US" altLang="en-US" dirty="0">
                <a:solidFill>
                  <a:srgbClr val="00B050"/>
                </a:solidFill>
              </a:rPr>
              <a:t>How many EXTANT species?</a:t>
            </a:r>
          </a:p>
        </p:txBody>
      </p:sp>
      <p:pic>
        <p:nvPicPr>
          <p:cNvPr id="2" name="Picture 1" descr="A phylogenetic tree is shown. From a common ancestor, the tree branches. The first branch leads to Drosophila, a fruit fly. The branch leading to this is very long, extending across the entire width of the diagram. The second branch from the common ancestor is short, and leads to another branching point. One branch leads to Lancelet, and is about 80% as long as the Drosophila branch. The second branch is a quarter the length of the lancelet branch, and leads to a branching point. One branch leads to Zebrafish, with a branch length of about 60% the length of the Drosophila branch. The other branch is about 15% of the length of the Zebrafish branch, and leads to another branching point. From here, there is a branch leading to Frog, which is half the length of the Drosophila branch, and another branch, one third the size of the Frog branch, leading to another branching point. One branch leads to chicken, and is 20% of the length of the Drosophila branch, while the other branch, half the length of the branch leading to Chicken, leads to a branching point. Both branched from this point are the same length, less than 10% of the Drosophila branch length. One leads to Human, and the other leads to Mouse (repeat)">
            <a:extLst>
              <a:ext uri="{FF2B5EF4-FFF2-40B4-BE49-F238E27FC236}">
                <a16:creationId xmlns:a16="http://schemas.microsoft.com/office/drawing/2014/main" id="{8B38EBE7-3638-40F5-BAE8-5CB5074FBF91}"/>
              </a:ext>
            </a:extLst>
          </p:cNvPr>
          <p:cNvPicPr>
            <a:picLocks noChangeAspect="1"/>
          </p:cNvPicPr>
          <p:nvPr/>
        </p:nvPicPr>
        <p:blipFill>
          <a:blip r:embed="rId3"/>
          <a:stretch>
            <a:fillRect/>
          </a:stretch>
        </p:blipFill>
        <p:spPr>
          <a:xfrm>
            <a:off x="3250327" y="288049"/>
            <a:ext cx="5867399" cy="6543675"/>
          </a:xfrm>
          <a:prstGeom prst="rect">
            <a:avLst/>
          </a:prstGeom>
        </p:spPr>
      </p:pic>
    </p:spTree>
    <p:extLst>
      <p:ext uri="{BB962C8B-B14F-4D97-AF65-F5344CB8AC3E}">
        <p14:creationId xmlns:p14="http://schemas.microsoft.com/office/powerpoint/2010/main" val="17694904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0" y="0"/>
            <a:ext cx="9144000" cy="646331"/>
          </a:xfrm>
        </p:spPr>
        <p:txBody>
          <a:bodyPr/>
          <a:lstStyle/>
          <a:p>
            <a:r>
              <a:rPr lang="en-US" altLang="en-US" dirty="0"/>
              <a:t>Maximum Parsimony and Maximum Likelihood</a:t>
            </a:r>
          </a:p>
        </p:txBody>
      </p:sp>
      <p:sp>
        <p:nvSpPr>
          <p:cNvPr id="132099" name="Rectangle 3"/>
          <p:cNvSpPr>
            <a:spLocks noGrp="1" noChangeArrowheads="1"/>
          </p:cNvSpPr>
          <p:nvPr>
            <p:ph idx="1"/>
          </p:nvPr>
        </p:nvSpPr>
        <p:spPr>
          <a:xfrm>
            <a:off x="152400" y="838200"/>
            <a:ext cx="8839199" cy="5651896"/>
          </a:xfrm>
        </p:spPr>
        <p:txBody>
          <a:bodyPr/>
          <a:lstStyle/>
          <a:p>
            <a:r>
              <a:rPr lang="en-US" altLang="en-US" dirty="0"/>
              <a:t>Systematists can never be sure of finding the </a:t>
            </a:r>
          </a:p>
          <a:p>
            <a:endParaRPr lang="en-US" altLang="en-US" dirty="0"/>
          </a:p>
          <a:p>
            <a:r>
              <a:rPr lang="en-US" altLang="en-US" dirty="0"/>
              <a:t>They narrow possibilities by applying the principles of </a:t>
            </a:r>
          </a:p>
          <a:p>
            <a:r>
              <a:rPr lang="en-US" altLang="en-US" b="1" dirty="0"/>
              <a:t>Maximum parsimony </a:t>
            </a:r>
            <a:r>
              <a:rPr lang="en-US" altLang="en-US" dirty="0"/>
              <a:t>assumes that the tree that requires the </a:t>
            </a:r>
          </a:p>
          <a:p>
            <a:endParaRPr lang="en-US" altLang="en-US" dirty="0"/>
          </a:p>
          <a:p>
            <a:r>
              <a:rPr lang="en-US" altLang="en-US" b="1" dirty="0"/>
              <a:t>Maximum likelihood </a:t>
            </a:r>
            <a:r>
              <a:rPr lang="en-US" altLang="en-US" dirty="0"/>
              <a:t>is based on probability rules about how DNA changes over time (i.e. mutations) and assumes a tree can be found </a:t>
            </a:r>
          </a:p>
        </p:txBody>
      </p:sp>
    </p:spTree>
    <p:extLst>
      <p:ext uri="{BB962C8B-B14F-4D97-AF65-F5344CB8AC3E}">
        <p14:creationId xmlns:p14="http://schemas.microsoft.com/office/powerpoint/2010/main" val="174947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Title 94"/>
          <p:cNvSpPr>
            <a:spLocks noGrp="1"/>
          </p:cNvSpPr>
          <p:nvPr>
            <p:ph type="title"/>
          </p:nvPr>
        </p:nvSpPr>
        <p:spPr>
          <a:xfrm>
            <a:off x="1846" y="30960"/>
            <a:ext cx="9144000" cy="600164"/>
          </a:xfrm>
        </p:spPr>
        <p:txBody>
          <a:bodyPr/>
          <a:lstStyle/>
          <a:p>
            <a:r>
              <a:rPr lang="en-US" dirty="0">
                <a:solidFill>
                  <a:schemeClr val="bg1"/>
                </a:solidFill>
              </a:rPr>
              <a:t>26</a:t>
            </a:r>
          </a:p>
        </p:txBody>
      </p:sp>
      <p:pic>
        <p:nvPicPr>
          <p:cNvPr id="3" name="Picture 2" descr="Figure 26.15 Research method: applying parsimony to a problem in molecular systematics&#10;Figure 26.15a Research method: applying parsimony to a problem in molecular systematics (part 1: three possible trees)&#10;Figure 26.15b Research method: applying parsimony to a problem in molecular systematics (part 2: table)&#10;Figure 26.15c Research method: applying parsimony to a problem in molecular systematics (part 3: comparison)&#10;Figure 26.15d Research method: applying parsimony to a problem in molecular systematics (part 4: results)&#10;"/>
          <p:cNvPicPr>
            <a:picLocks noChangeAspect="1"/>
          </p:cNvPicPr>
          <p:nvPr/>
        </p:nvPicPr>
        <p:blipFill>
          <a:blip r:embed="rId3" r:link="rId4">
            <a:extLst>
              <a:ext uri="{28A0092B-C50C-407E-A947-70E740481C1C}">
                <a14:useLocalDpi xmlns:a14="http://schemas.microsoft.com/office/drawing/2010/main" val="0"/>
              </a:ext>
            </a:extLst>
          </a:blip>
          <a:srcRect b="3243"/>
          <a:stretch>
            <a:fillRect/>
          </a:stretch>
        </p:blipFill>
        <p:spPr>
          <a:xfrm>
            <a:off x="298704" y="1155192"/>
            <a:ext cx="8546592" cy="4547616"/>
          </a:xfrm>
          <a:prstGeom prst="rect">
            <a:avLst/>
          </a:prstGeom>
        </p:spPr>
      </p:pic>
      <p:sp>
        <p:nvSpPr>
          <p:cNvPr id="6" name="TextBox 5"/>
          <p:cNvSpPr txBox="1">
            <a:spLocks noChangeArrowheads="1"/>
          </p:cNvSpPr>
          <p:nvPr/>
        </p:nvSpPr>
        <p:spPr bwMode="auto">
          <a:xfrm>
            <a:off x="5754687" y="1528766"/>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7" name="TextBox 6"/>
          <p:cNvSpPr txBox="1">
            <a:spLocks noChangeArrowheads="1"/>
          </p:cNvSpPr>
          <p:nvPr/>
        </p:nvSpPr>
        <p:spPr bwMode="auto">
          <a:xfrm>
            <a:off x="5754687" y="1798641"/>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8" name="TextBox 8"/>
          <p:cNvSpPr txBox="1">
            <a:spLocks noChangeArrowheads="1"/>
          </p:cNvSpPr>
          <p:nvPr/>
        </p:nvSpPr>
        <p:spPr bwMode="auto">
          <a:xfrm>
            <a:off x="7267575" y="1522416"/>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9" name="TextBox 9"/>
          <p:cNvSpPr txBox="1">
            <a:spLocks noChangeArrowheads="1"/>
          </p:cNvSpPr>
          <p:nvPr/>
        </p:nvSpPr>
        <p:spPr bwMode="auto">
          <a:xfrm>
            <a:off x="7267575" y="1792291"/>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10" name="TextBox 10"/>
          <p:cNvSpPr txBox="1">
            <a:spLocks noChangeArrowheads="1"/>
          </p:cNvSpPr>
          <p:nvPr/>
        </p:nvSpPr>
        <p:spPr bwMode="auto">
          <a:xfrm>
            <a:off x="7267575" y="2079628"/>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11" name="TextBox 15"/>
          <p:cNvSpPr txBox="1">
            <a:spLocks noChangeArrowheads="1"/>
          </p:cNvSpPr>
          <p:nvPr/>
        </p:nvSpPr>
        <p:spPr bwMode="auto">
          <a:xfrm>
            <a:off x="8650287" y="1522416"/>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12" name="TextBox 16"/>
          <p:cNvSpPr txBox="1">
            <a:spLocks noChangeArrowheads="1"/>
          </p:cNvSpPr>
          <p:nvPr/>
        </p:nvSpPr>
        <p:spPr bwMode="auto">
          <a:xfrm>
            <a:off x="8650287" y="1792291"/>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13" name="TextBox 17"/>
          <p:cNvSpPr txBox="1">
            <a:spLocks noChangeArrowheads="1"/>
          </p:cNvSpPr>
          <p:nvPr/>
        </p:nvSpPr>
        <p:spPr bwMode="auto">
          <a:xfrm>
            <a:off x="8650287" y="2079628"/>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14" name="TextBox 20"/>
          <p:cNvSpPr txBox="1">
            <a:spLocks noChangeArrowheads="1"/>
          </p:cNvSpPr>
          <p:nvPr/>
        </p:nvSpPr>
        <p:spPr bwMode="auto">
          <a:xfrm>
            <a:off x="1247775" y="2841628"/>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15" name="TextBox 21"/>
          <p:cNvSpPr txBox="1">
            <a:spLocks noChangeArrowheads="1"/>
          </p:cNvSpPr>
          <p:nvPr/>
        </p:nvSpPr>
        <p:spPr bwMode="auto">
          <a:xfrm>
            <a:off x="1249362" y="3109916"/>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16" name="TextBox 22"/>
          <p:cNvSpPr txBox="1">
            <a:spLocks noChangeArrowheads="1"/>
          </p:cNvSpPr>
          <p:nvPr/>
        </p:nvSpPr>
        <p:spPr bwMode="auto">
          <a:xfrm>
            <a:off x="1250950" y="3398841"/>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17" name="TextBox 24"/>
          <p:cNvSpPr txBox="1">
            <a:spLocks noChangeArrowheads="1"/>
          </p:cNvSpPr>
          <p:nvPr/>
        </p:nvSpPr>
        <p:spPr bwMode="auto">
          <a:xfrm>
            <a:off x="2808287" y="2841628"/>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18" name="TextBox 25"/>
          <p:cNvSpPr txBox="1">
            <a:spLocks noChangeArrowheads="1"/>
          </p:cNvSpPr>
          <p:nvPr/>
        </p:nvSpPr>
        <p:spPr bwMode="auto">
          <a:xfrm>
            <a:off x="2809875" y="3109916"/>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19" name="TextBox 26"/>
          <p:cNvSpPr txBox="1">
            <a:spLocks noChangeArrowheads="1"/>
          </p:cNvSpPr>
          <p:nvPr/>
        </p:nvSpPr>
        <p:spPr bwMode="auto">
          <a:xfrm>
            <a:off x="2809875" y="3397253"/>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20" name="TextBox 29"/>
          <p:cNvSpPr txBox="1">
            <a:spLocks noChangeArrowheads="1"/>
          </p:cNvSpPr>
          <p:nvPr/>
        </p:nvSpPr>
        <p:spPr bwMode="auto">
          <a:xfrm>
            <a:off x="4275137" y="2840041"/>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21" name="TextBox 30"/>
          <p:cNvSpPr txBox="1">
            <a:spLocks noChangeArrowheads="1"/>
          </p:cNvSpPr>
          <p:nvPr/>
        </p:nvSpPr>
        <p:spPr bwMode="auto">
          <a:xfrm>
            <a:off x="4276725" y="3109916"/>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22" name="TextBox 31"/>
          <p:cNvSpPr txBox="1">
            <a:spLocks noChangeArrowheads="1"/>
          </p:cNvSpPr>
          <p:nvPr/>
        </p:nvSpPr>
        <p:spPr bwMode="auto">
          <a:xfrm>
            <a:off x="4276725" y="3397253"/>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23" name="TextBox 34"/>
          <p:cNvSpPr txBox="1">
            <a:spLocks noChangeArrowheads="1"/>
          </p:cNvSpPr>
          <p:nvPr/>
        </p:nvSpPr>
        <p:spPr bwMode="auto">
          <a:xfrm>
            <a:off x="5754687" y="2085978"/>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24" name="TextBox 36"/>
          <p:cNvSpPr txBox="1">
            <a:spLocks noChangeArrowheads="1"/>
          </p:cNvSpPr>
          <p:nvPr/>
        </p:nvSpPr>
        <p:spPr bwMode="auto">
          <a:xfrm>
            <a:off x="5754687" y="2840041"/>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25" name="TextBox 37"/>
          <p:cNvSpPr txBox="1">
            <a:spLocks noChangeArrowheads="1"/>
          </p:cNvSpPr>
          <p:nvPr/>
        </p:nvSpPr>
        <p:spPr bwMode="auto">
          <a:xfrm>
            <a:off x="5754687" y="3109916"/>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26" name="TextBox 38"/>
          <p:cNvSpPr txBox="1">
            <a:spLocks noChangeArrowheads="1"/>
          </p:cNvSpPr>
          <p:nvPr/>
        </p:nvSpPr>
        <p:spPr bwMode="auto">
          <a:xfrm>
            <a:off x="5754687" y="3397253"/>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27" name="TextBox 41"/>
          <p:cNvSpPr txBox="1">
            <a:spLocks noChangeArrowheads="1"/>
          </p:cNvSpPr>
          <p:nvPr/>
        </p:nvSpPr>
        <p:spPr bwMode="auto">
          <a:xfrm>
            <a:off x="7267575" y="2844803"/>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28" name="TextBox 42"/>
          <p:cNvSpPr txBox="1">
            <a:spLocks noChangeArrowheads="1"/>
          </p:cNvSpPr>
          <p:nvPr/>
        </p:nvSpPr>
        <p:spPr bwMode="auto">
          <a:xfrm>
            <a:off x="7267575" y="3113091"/>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29" name="TextBox 43"/>
          <p:cNvSpPr txBox="1">
            <a:spLocks noChangeArrowheads="1"/>
          </p:cNvSpPr>
          <p:nvPr/>
        </p:nvSpPr>
        <p:spPr bwMode="auto">
          <a:xfrm>
            <a:off x="7267575" y="3402016"/>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30" name="TextBox 45"/>
          <p:cNvSpPr txBox="1">
            <a:spLocks noChangeArrowheads="1"/>
          </p:cNvSpPr>
          <p:nvPr/>
        </p:nvSpPr>
        <p:spPr bwMode="auto">
          <a:xfrm>
            <a:off x="8650287" y="2843216"/>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31" name="TextBox 46"/>
          <p:cNvSpPr txBox="1">
            <a:spLocks noChangeArrowheads="1"/>
          </p:cNvSpPr>
          <p:nvPr/>
        </p:nvSpPr>
        <p:spPr bwMode="auto">
          <a:xfrm>
            <a:off x="8650287" y="3113091"/>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32" name="TextBox 47"/>
          <p:cNvSpPr txBox="1">
            <a:spLocks noChangeArrowheads="1"/>
          </p:cNvSpPr>
          <p:nvPr/>
        </p:nvSpPr>
        <p:spPr bwMode="auto">
          <a:xfrm>
            <a:off x="8650287" y="3400428"/>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33" name="TextBox 81"/>
          <p:cNvSpPr txBox="1">
            <a:spLocks noChangeArrowheads="1"/>
          </p:cNvSpPr>
          <p:nvPr/>
        </p:nvSpPr>
        <p:spPr bwMode="auto">
          <a:xfrm>
            <a:off x="5754687" y="4338641"/>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34" name="TextBox 82"/>
          <p:cNvSpPr txBox="1">
            <a:spLocks noChangeArrowheads="1"/>
          </p:cNvSpPr>
          <p:nvPr/>
        </p:nvSpPr>
        <p:spPr bwMode="auto">
          <a:xfrm>
            <a:off x="5754687" y="4606928"/>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35" name="TextBox 83"/>
          <p:cNvSpPr txBox="1">
            <a:spLocks noChangeArrowheads="1"/>
          </p:cNvSpPr>
          <p:nvPr/>
        </p:nvSpPr>
        <p:spPr bwMode="auto">
          <a:xfrm>
            <a:off x="5754687" y="4895853"/>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36" name="TextBox 85"/>
          <p:cNvSpPr txBox="1">
            <a:spLocks noChangeArrowheads="1"/>
          </p:cNvSpPr>
          <p:nvPr/>
        </p:nvSpPr>
        <p:spPr bwMode="auto">
          <a:xfrm>
            <a:off x="7267575" y="4338641"/>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37" name="TextBox 86"/>
          <p:cNvSpPr txBox="1">
            <a:spLocks noChangeArrowheads="1"/>
          </p:cNvSpPr>
          <p:nvPr/>
        </p:nvSpPr>
        <p:spPr bwMode="auto">
          <a:xfrm>
            <a:off x="7267575" y="4606928"/>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38" name="TextBox 87"/>
          <p:cNvSpPr txBox="1">
            <a:spLocks noChangeArrowheads="1"/>
          </p:cNvSpPr>
          <p:nvPr/>
        </p:nvSpPr>
        <p:spPr bwMode="auto">
          <a:xfrm>
            <a:off x="7267575" y="4895853"/>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39" name="TextBox 90"/>
          <p:cNvSpPr txBox="1">
            <a:spLocks noChangeArrowheads="1"/>
          </p:cNvSpPr>
          <p:nvPr/>
        </p:nvSpPr>
        <p:spPr bwMode="auto">
          <a:xfrm>
            <a:off x="8650287" y="4338641"/>
            <a:ext cx="16350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III</a:t>
            </a:r>
          </a:p>
        </p:txBody>
      </p:sp>
      <p:sp>
        <p:nvSpPr>
          <p:cNvPr id="40" name="TextBox 91"/>
          <p:cNvSpPr txBox="1">
            <a:spLocks noChangeArrowheads="1"/>
          </p:cNvSpPr>
          <p:nvPr/>
        </p:nvSpPr>
        <p:spPr bwMode="auto">
          <a:xfrm>
            <a:off x="8650287" y="4606928"/>
            <a:ext cx="10900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II</a:t>
            </a:r>
          </a:p>
        </p:txBody>
      </p:sp>
      <p:sp>
        <p:nvSpPr>
          <p:cNvPr id="41" name="TextBox 92"/>
          <p:cNvSpPr txBox="1">
            <a:spLocks noChangeArrowheads="1"/>
          </p:cNvSpPr>
          <p:nvPr/>
        </p:nvSpPr>
        <p:spPr bwMode="auto">
          <a:xfrm>
            <a:off x="8650287" y="4895853"/>
            <a:ext cx="545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Times New Roman" pitchFamily="18" charset="0"/>
                <a:ea typeface="ＭＳ Ｐゴシック" charset="0"/>
                <a:cs typeface="Times New Roman" pitchFamily="18" charset="0"/>
              </a:rPr>
              <a:t>I</a:t>
            </a:r>
          </a:p>
        </p:txBody>
      </p:sp>
      <p:sp>
        <p:nvSpPr>
          <p:cNvPr id="42" name="TextBox 2"/>
          <p:cNvSpPr txBox="1">
            <a:spLocks noChangeArrowheads="1"/>
          </p:cNvSpPr>
          <p:nvPr/>
        </p:nvSpPr>
        <p:spPr bwMode="auto">
          <a:xfrm>
            <a:off x="333536" y="1149019"/>
            <a:ext cx="8795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C26836"/>
                </a:solidFill>
                <a:latin typeface="Arial"/>
                <a:ea typeface="ＭＳ Ｐゴシック" charset="0"/>
              </a:rPr>
              <a:t>Technique</a:t>
            </a:r>
          </a:p>
        </p:txBody>
      </p:sp>
      <p:sp>
        <p:nvSpPr>
          <p:cNvPr id="43" name="TextBox 18"/>
          <p:cNvSpPr txBox="1">
            <a:spLocks noChangeArrowheads="1"/>
          </p:cNvSpPr>
          <p:nvPr/>
        </p:nvSpPr>
        <p:spPr bwMode="auto">
          <a:xfrm>
            <a:off x="595474" y="2260269"/>
            <a:ext cx="79669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a:t>
            </a:r>
          </a:p>
        </p:txBody>
      </p:sp>
      <p:sp>
        <p:nvSpPr>
          <p:cNvPr id="44" name="TextBox 23"/>
          <p:cNvSpPr txBox="1">
            <a:spLocks noChangeArrowheads="1"/>
          </p:cNvSpPr>
          <p:nvPr/>
        </p:nvSpPr>
        <p:spPr bwMode="auto">
          <a:xfrm>
            <a:off x="1925799" y="2260269"/>
            <a:ext cx="8672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II</a:t>
            </a:r>
          </a:p>
        </p:txBody>
      </p:sp>
      <p:sp>
        <p:nvSpPr>
          <p:cNvPr id="45" name="TextBox 27"/>
          <p:cNvSpPr txBox="1">
            <a:spLocks noChangeArrowheads="1"/>
          </p:cNvSpPr>
          <p:nvPr/>
        </p:nvSpPr>
        <p:spPr bwMode="auto">
          <a:xfrm>
            <a:off x="3194211" y="2260269"/>
            <a:ext cx="93775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III</a:t>
            </a:r>
          </a:p>
        </p:txBody>
      </p:sp>
      <p:sp>
        <p:nvSpPr>
          <p:cNvPr id="46" name="TextBox 35"/>
          <p:cNvSpPr txBox="1">
            <a:spLocks noChangeArrowheads="1"/>
          </p:cNvSpPr>
          <p:nvPr/>
        </p:nvSpPr>
        <p:spPr bwMode="auto">
          <a:xfrm>
            <a:off x="1441611" y="2588882"/>
            <a:ext cx="273953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Three phylogenetic hypotheses:</a:t>
            </a:r>
          </a:p>
        </p:txBody>
      </p:sp>
      <p:sp>
        <p:nvSpPr>
          <p:cNvPr id="47" name="TextBox 55"/>
          <p:cNvSpPr txBox="1">
            <a:spLocks noChangeArrowheads="1"/>
          </p:cNvSpPr>
          <p:nvPr/>
        </p:nvSpPr>
        <p:spPr bwMode="auto">
          <a:xfrm>
            <a:off x="1220587" y="4413482"/>
            <a:ext cx="79669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a:t>
            </a:r>
          </a:p>
        </p:txBody>
      </p:sp>
      <p:sp>
        <p:nvSpPr>
          <p:cNvPr id="48" name="TextBox 56"/>
          <p:cNvSpPr txBox="1">
            <a:spLocks noChangeArrowheads="1"/>
          </p:cNvSpPr>
          <p:nvPr/>
        </p:nvSpPr>
        <p:spPr bwMode="auto">
          <a:xfrm>
            <a:off x="1150737" y="4737332"/>
            <a:ext cx="86722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II</a:t>
            </a:r>
          </a:p>
        </p:txBody>
      </p:sp>
      <p:sp>
        <p:nvSpPr>
          <p:cNvPr id="49" name="TextBox 57"/>
          <p:cNvSpPr txBox="1">
            <a:spLocks noChangeArrowheads="1"/>
          </p:cNvSpPr>
          <p:nvPr/>
        </p:nvSpPr>
        <p:spPr bwMode="auto">
          <a:xfrm>
            <a:off x="1080887" y="5062769"/>
            <a:ext cx="93775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Species </a:t>
            </a:r>
            <a:r>
              <a:rPr lang="en-US" sz="1400" b="1" dirty="0">
                <a:solidFill>
                  <a:srgbClr val="000000"/>
                </a:solidFill>
                <a:latin typeface="Times New Roman" pitchFamily="18" charset="0"/>
                <a:ea typeface="ＭＳ Ｐゴシック" charset="0"/>
                <a:cs typeface="Times New Roman" pitchFamily="18" charset="0"/>
              </a:rPr>
              <a:t>III</a:t>
            </a:r>
          </a:p>
        </p:txBody>
      </p:sp>
      <p:sp>
        <p:nvSpPr>
          <p:cNvPr id="50" name="TextBox 58"/>
          <p:cNvSpPr txBox="1">
            <a:spLocks noChangeArrowheads="1"/>
          </p:cNvSpPr>
          <p:nvPr/>
        </p:nvSpPr>
        <p:spPr bwMode="auto">
          <a:xfrm>
            <a:off x="331587" y="5388207"/>
            <a:ext cx="168956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Ancestral sequence</a:t>
            </a:r>
          </a:p>
        </p:txBody>
      </p:sp>
      <p:sp>
        <p:nvSpPr>
          <p:cNvPr id="51" name="TextBox 60"/>
          <p:cNvSpPr txBox="1">
            <a:spLocks noChangeArrowheads="1"/>
          </p:cNvSpPr>
          <p:nvPr/>
        </p:nvSpPr>
        <p:spPr bwMode="auto">
          <a:xfrm>
            <a:off x="2252462" y="41578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1</a:t>
            </a:r>
          </a:p>
        </p:txBody>
      </p:sp>
      <p:sp>
        <p:nvSpPr>
          <p:cNvPr id="52" name="TextBox 51"/>
          <p:cNvSpPr txBox="1"/>
          <p:nvPr/>
        </p:nvSpPr>
        <p:spPr>
          <a:xfrm>
            <a:off x="2244525" y="4454757"/>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C</a:t>
            </a:r>
          </a:p>
        </p:txBody>
      </p:sp>
      <p:sp>
        <p:nvSpPr>
          <p:cNvPr id="53" name="TextBox 52"/>
          <p:cNvSpPr txBox="1"/>
          <p:nvPr/>
        </p:nvSpPr>
        <p:spPr>
          <a:xfrm>
            <a:off x="2246112" y="4780194"/>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C</a:t>
            </a:r>
          </a:p>
        </p:txBody>
      </p:sp>
      <p:sp>
        <p:nvSpPr>
          <p:cNvPr id="54" name="TextBox 53"/>
          <p:cNvSpPr txBox="1"/>
          <p:nvPr/>
        </p:nvSpPr>
        <p:spPr>
          <a:xfrm>
            <a:off x="2246112" y="5104044"/>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A</a:t>
            </a:r>
          </a:p>
        </p:txBody>
      </p:sp>
      <p:sp>
        <p:nvSpPr>
          <p:cNvPr id="55" name="TextBox 54"/>
          <p:cNvSpPr txBox="1"/>
          <p:nvPr/>
        </p:nvSpPr>
        <p:spPr>
          <a:xfrm>
            <a:off x="2246112" y="5429482"/>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A</a:t>
            </a:r>
          </a:p>
        </p:txBody>
      </p:sp>
      <p:sp>
        <p:nvSpPr>
          <p:cNvPr id="56" name="TextBox 65"/>
          <p:cNvSpPr txBox="1">
            <a:spLocks noChangeArrowheads="1"/>
          </p:cNvSpPr>
          <p:nvPr/>
        </p:nvSpPr>
        <p:spPr bwMode="auto">
          <a:xfrm>
            <a:off x="2716012" y="3932469"/>
            <a:ext cx="3286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Site</a:t>
            </a:r>
          </a:p>
        </p:txBody>
      </p:sp>
      <p:sp>
        <p:nvSpPr>
          <p:cNvPr id="57" name="TextBox 66"/>
          <p:cNvSpPr txBox="1">
            <a:spLocks noChangeArrowheads="1"/>
          </p:cNvSpPr>
          <p:nvPr/>
        </p:nvSpPr>
        <p:spPr bwMode="auto">
          <a:xfrm>
            <a:off x="2617587" y="41578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2</a:t>
            </a:r>
          </a:p>
        </p:txBody>
      </p:sp>
      <p:sp>
        <p:nvSpPr>
          <p:cNvPr id="58" name="TextBox 57"/>
          <p:cNvSpPr txBox="1"/>
          <p:nvPr/>
        </p:nvSpPr>
        <p:spPr>
          <a:xfrm>
            <a:off x="2609650" y="4454757"/>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59" name="TextBox 58"/>
          <p:cNvSpPr txBox="1"/>
          <p:nvPr/>
        </p:nvSpPr>
        <p:spPr>
          <a:xfrm>
            <a:off x="2609650" y="4780194"/>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60" name="TextBox 59"/>
          <p:cNvSpPr txBox="1"/>
          <p:nvPr/>
        </p:nvSpPr>
        <p:spPr>
          <a:xfrm>
            <a:off x="2593775" y="5104044"/>
            <a:ext cx="107402"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G</a:t>
            </a:r>
          </a:p>
        </p:txBody>
      </p:sp>
      <p:sp>
        <p:nvSpPr>
          <p:cNvPr id="61" name="TextBox 60"/>
          <p:cNvSpPr txBox="1"/>
          <p:nvPr/>
        </p:nvSpPr>
        <p:spPr>
          <a:xfrm>
            <a:off x="2601712" y="5429482"/>
            <a:ext cx="107402"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G</a:t>
            </a:r>
          </a:p>
        </p:txBody>
      </p:sp>
      <p:sp>
        <p:nvSpPr>
          <p:cNvPr id="62" name="TextBox 61"/>
          <p:cNvSpPr txBox="1"/>
          <p:nvPr/>
        </p:nvSpPr>
        <p:spPr>
          <a:xfrm>
            <a:off x="2968425" y="4454757"/>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A</a:t>
            </a:r>
          </a:p>
        </p:txBody>
      </p:sp>
      <p:sp>
        <p:nvSpPr>
          <p:cNvPr id="63" name="TextBox 62"/>
          <p:cNvSpPr txBox="1"/>
          <p:nvPr/>
        </p:nvSpPr>
        <p:spPr>
          <a:xfrm>
            <a:off x="2979537" y="4780194"/>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64" name="TextBox 63"/>
          <p:cNvSpPr txBox="1"/>
          <p:nvPr/>
        </p:nvSpPr>
        <p:spPr>
          <a:xfrm>
            <a:off x="2960487" y="5104044"/>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A</a:t>
            </a:r>
          </a:p>
        </p:txBody>
      </p:sp>
      <p:sp>
        <p:nvSpPr>
          <p:cNvPr id="65" name="TextBox 64"/>
          <p:cNvSpPr txBox="1"/>
          <p:nvPr/>
        </p:nvSpPr>
        <p:spPr>
          <a:xfrm>
            <a:off x="2979537" y="5429482"/>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66" name="TextBox 76"/>
          <p:cNvSpPr txBox="1">
            <a:spLocks noChangeArrowheads="1"/>
          </p:cNvSpPr>
          <p:nvPr/>
        </p:nvSpPr>
        <p:spPr bwMode="auto">
          <a:xfrm>
            <a:off x="3347837" y="41578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4</a:t>
            </a:r>
          </a:p>
        </p:txBody>
      </p:sp>
      <p:sp>
        <p:nvSpPr>
          <p:cNvPr id="67" name="TextBox 66"/>
          <p:cNvSpPr txBox="1"/>
          <p:nvPr/>
        </p:nvSpPr>
        <p:spPr>
          <a:xfrm>
            <a:off x="3338312" y="4454757"/>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68" name="TextBox 67"/>
          <p:cNvSpPr txBox="1"/>
          <p:nvPr/>
        </p:nvSpPr>
        <p:spPr>
          <a:xfrm>
            <a:off x="3335137" y="4780194"/>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C</a:t>
            </a:r>
          </a:p>
        </p:txBody>
      </p:sp>
      <p:sp>
        <p:nvSpPr>
          <p:cNvPr id="69" name="TextBox 68"/>
          <p:cNvSpPr txBox="1"/>
          <p:nvPr/>
        </p:nvSpPr>
        <p:spPr>
          <a:xfrm>
            <a:off x="3319262" y="5104044"/>
            <a:ext cx="99386"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C</a:t>
            </a:r>
          </a:p>
        </p:txBody>
      </p:sp>
      <p:sp>
        <p:nvSpPr>
          <p:cNvPr id="70" name="TextBox 69"/>
          <p:cNvSpPr txBox="1"/>
          <p:nvPr/>
        </p:nvSpPr>
        <p:spPr>
          <a:xfrm>
            <a:off x="3346250" y="5429482"/>
            <a:ext cx="84960" cy="166199"/>
          </a:xfrm>
          <a:prstGeom prst="rect">
            <a:avLst/>
          </a:prstGeom>
          <a:noFill/>
        </p:spPr>
        <p:txBody>
          <a:bodyPr wrap="none" lIns="0" tIns="0" rIns="0" bIns="0">
            <a:spAutoFit/>
          </a:bodyPr>
          <a:lstStyle/>
          <a:p>
            <a:pPr fontAlgn="auto">
              <a:spcBef>
                <a:spcPts val="0"/>
              </a:spcBef>
              <a:spcAft>
                <a:spcPts val="0"/>
              </a:spcAft>
              <a:defRPr/>
            </a:pPr>
            <a:r>
              <a:rPr lang="en-US" sz="1080" b="1" dirty="0">
                <a:solidFill>
                  <a:srgbClr val="000000"/>
                </a:solidFill>
                <a:latin typeface="Arial"/>
                <a:ea typeface="ＭＳ Ｐゴシック" charset="0"/>
              </a:rPr>
              <a:t>T</a:t>
            </a:r>
          </a:p>
        </p:txBody>
      </p:sp>
      <p:sp>
        <p:nvSpPr>
          <p:cNvPr id="71" name="TextBox 66"/>
          <p:cNvSpPr txBox="1">
            <a:spLocks noChangeArrowheads="1"/>
          </p:cNvSpPr>
          <p:nvPr/>
        </p:nvSpPr>
        <p:spPr bwMode="auto">
          <a:xfrm>
            <a:off x="2985092" y="4157894"/>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000000"/>
                </a:solidFill>
                <a:latin typeface="Arial"/>
                <a:ea typeface="ＭＳ Ｐゴシック" charset="0"/>
              </a:rPr>
              <a:t>3</a:t>
            </a:r>
          </a:p>
        </p:txBody>
      </p:sp>
      <p:sp>
        <p:nvSpPr>
          <p:cNvPr id="72" name="TextBox 4"/>
          <p:cNvSpPr txBox="1">
            <a:spLocks noChangeArrowheads="1"/>
          </p:cNvSpPr>
          <p:nvPr/>
        </p:nvSpPr>
        <p:spPr bwMode="auto">
          <a:xfrm>
            <a:off x="5100638" y="1540238"/>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1/C</a:t>
            </a:r>
          </a:p>
        </p:txBody>
      </p:sp>
      <p:sp>
        <p:nvSpPr>
          <p:cNvPr id="73" name="TextBox 7"/>
          <p:cNvSpPr txBox="1">
            <a:spLocks noChangeArrowheads="1"/>
          </p:cNvSpPr>
          <p:nvPr/>
        </p:nvSpPr>
        <p:spPr bwMode="auto">
          <a:xfrm>
            <a:off x="6937375" y="1408476"/>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1/C</a:t>
            </a:r>
          </a:p>
        </p:txBody>
      </p:sp>
      <p:sp>
        <p:nvSpPr>
          <p:cNvPr id="74" name="TextBox 11"/>
          <p:cNvSpPr txBox="1">
            <a:spLocks noChangeArrowheads="1"/>
          </p:cNvSpPr>
          <p:nvPr/>
        </p:nvSpPr>
        <p:spPr bwMode="auto">
          <a:xfrm>
            <a:off x="6794500" y="2278426"/>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1/C</a:t>
            </a:r>
          </a:p>
        </p:txBody>
      </p:sp>
      <p:sp>
        <p:nvSpPr>
          <p:cNvPr id="75" name="TextBox 12"/>
          <p:cNvSpPr txBox="1">
            <a:spLocks noChangeArrowheads="1"/>
          </p:cNvSpPr>
          <p:nvPr/>
        </p:nvSpPr>
        <p:spPr bwMode="auto">
          <a:xfrm>
            <a:off x="8340725" y="1965688"/>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1/C</a:t>
            </a:r>
          </a:p>
        </p:txBody>
      </p:sp>
      <p:sp>
        <p:nvSpPr>
          <p:cNvPr id="76" name="TextBox 13"/>
          <p:cNvSpPr txBox="1">
            <a:spLocks noChangeArrowheads="1"/>
          </p:cNvSpPr>
          <p:nvPr/>
        </p:nvSpPr>
        <p:spPr bwMode="auto">
          <a:xfrm>
            <a:off x="8194675" y="2278426"/>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1/C</a:t>
            </a:r>
          </a:p>
        </p:txBody>
      </p:sp>
      <p:sp>
        <p:nvSpPr>
          <p:cNvPr id="77" name="TextBox 14"/>
          <p:cNvSpPr txBox="1">
            <a:spLocks noChangeArrowheads="1"/>
          </p:cNvSpPr>
          <p:nvPr/>
        </p:nvSpPr>
        <p:spPr bwMode="auto">
          <a:xfrm>
            <a:off x="8351838" y="2718163"/>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3/A</a:t>
            </a:r>
          </a:p>
        </p:txBody>
      </p:sp>
      <p:sp>
        <p:nvSpPr>
          <p:cNvPr id="78" name="TextBox 32"/>
          <p:cNvSpPr txBox="1">
            <a:spLocks noChangeArrowheads="1"/>
          </p:cNvSpPr>
          <p:nvPr/>
        </p:nvSpPr>
        <p:spPr bwMode="auto">
          <a:xfrm>
            <a:off x="5118100" y="2845163"/>
            <a:ext cx="20358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2/T</a:t>
            </a:r>
          </a:p>
        </p:txBody>
      </p:sp>
      <p:sp>
        <p:nvSpPr>
          <p:cNvPr id="79" name="TextBox 33"/>
          <p:cNvSpPr txBox="1">
            <a:spLocks noChangeArrowheads="1"/>
          </p:cNvSpPr>
          <p:nvPr/>
        </p:nvSpPr>
        <p:spPr bwMode="auto">
          <a:xfrm>
            <a:off x="5449888" y="2718163"/>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3/A</a:t>
            </a:r>
          </a:p>
        </p:txBody>
      </p:sp>
      <p:sp>
        <p:nvSpPr>
          <p:cNvPr id="80" name="TextBox 39"/>
          <p:cNvSpPr txBox="1">
            <a:spLocks noChangeArrowheads="1"/>
          </p:cNvSpPr>
          <p:nvPr/>
        </p:nvSpPr>
        <p:spPr bwMode="auto">
          <a:xfrm>
            <a:off x="6621463" y="2845163"/>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3/A</a:t>
            </a:r>
          </a:p>
        </p:txBody>
      </p:sp>
      <p:sp>
        <p:nvSpPr>
          <p:cNvPr id="81" name="TextBox 40"/>
          <p:cNvSpPr txBox="1">
            <a:spLocks noChangeArrowheads="1"/>
          </p:cNvSpPr>
          <p:nvPr/>
        </p:nvSpPr>
        <p:spPr bwMode="auto">
          <a:xfrm>
            <a:off x="6989763" y="2718163"/>
            <a:ext cx="20358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2/T</a:t>
            </a:r>
          </a:p>
        </p:txBody>
      </p:sp>
      <p:sp>
        <p:nvSpPr>
          <p:cNvPr id="82" name="TextBox 44"/>
          <p:cNvSpPr txBox="1">
            <a:spLocks noChangeArrowheads="1"/>
          </p:cNvSpPr>
          <p:nvPr/>
        </p:nvSpPr>
        <p:spPr bwMode="auto">
          <a:xfrm>
            <a:off x="8004175" y="2845163"/>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4/C</a:t>
            </a:r>
          </a:p>
        </p:txBody>
      </p:sp>
      <p:sp>
        <p:nvSpPr>
          <p:cNvPr id="83" name="TextBox 48"/>
          <p:cNvSpPr txBox="1">
            <a:spLocks noChangeArrowheads="1"/>
          </p:cNvSpPr>
          <p:nvPr/>
        </p:nvSpPr>
        <p:spPr bwMode="auto">
          <a:xfrm>
            <a:off x="5461000" y="3284901"/>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4/C</a:t>
            </a:r>
          </a:p>
        </p:txBody>
      </p:sp>
      <p:sp>
        <p:nvSpPr>
          <p:cNvPr id="84" name="TextBox 49"/>
          <p:cNvSpPr txBox="1">
            <a:spLocks noChangeArrowheads="1"/>
          </p:cNvSpPr>
          <p:nvPr/>
        </p:nvSpPr>
        <p:spPr bwMode="auto">
          <a:xfrm>
            <a:off x="5153025" y="3592876"/>
            <a:ext cx="47769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3/A 4/C</a:t>
            </a:r>
          </a:p>
        </p:txBody>
      </p:sp>
      <p:sp>
        <p:nvSpPr>
          <p:cNvPr id="85" name="TextBox 50"/>
          <p:cNvSpPr txBox="1">
            <a:spLocks noChangeArrowheads="1"/>
          </p:cNvSpPr>
          <p:nvPr/>
        </p:nvSpPr>
        <p:spPr bwMode="auto">
          <a:xfrm>
            <a:off x="6983413" y="3286488"/>
            <a:ext cx="21961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4/C</a:t>
            </a:r>
          </a:p>
        </p:txBody>
      </p:sp>
      <p:sp>
        <p:nvSpPr>
          <p:cNvPr id="86" name="TextBox 51"/>
          <p:cNvSpPr txBox="1">
            <a:spLocks noChangeArrowheads="1"/>
          </p:cNvSpPr>
          <p:nvPr/>
        </p:nvSpPr>
        <p:spPr bwMode="auto">
          <a:xfrm>
            <a:off x="6697663" y="3592876"/>
            <a:ext cx="46166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2/T 4/C</a:t>
            </a:r>
          </a:p>
        </p:txBody>
      </p:sp>
      <p:sp>
        <p:nvSpPr>
          <p:cNvPr id="87" name="TextBox 52"/>
          <p:cNvSpPr txBox="1">
            <a:spLocks noChangeArrowheads="1"/>
          </p:cNvSpPr>
          <p:nvPr/>
        </p:nvSpPr>
        <p:spPr bwMode="auto">
          <a:xfrm>
            <a:off x="8362950" y="3284901"/>
            <a:ext cx="20358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2/T</a:t>
            </a:r>
          </a:p>
        </p:txBody>
      </p:sp>
      <p:sp>
        <p:nvSpPr>
          <p:cNvPr id="88" name="TextBox 53"/>
          <p:cNvSpPr txBox="1">
            <a:spLocks noChangeArrowheads="1"/>
          </p:cNvSpPr>
          <p:nvPr/>
        </p:nvSpPr>
        <p:spPr bwMode="auto">
          <a:xfrm>
            <a:off x="8069263" y="3592876"/>
            <a:ext cx="46166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2/T 3/A</a:t>
            </a:r>
          </a:p>
        </p:txBody>
      </p:sp>
      <p:sp>
        <p:nvSpPr>
          <p:cNvPr id="89" name="TextBox 75"/>
          <p:cNvSpPr txBox="1">
            <a:spLocks noChangeArrowheads="1"/>
          </p:cNvSpPr>
          <p:nvPr/>
        </p:nvSpPr>
        <p:spPr bwMode="auto">
          <a:xfrm>
            <a:off x="4794250" y="3931013"/>
            <a:ext cx="64601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dirty="0">
                <a:solidFill>
                  <a:srgbClr val="C26836"/>
                </a:solidFill>
                <a:latin typeface="Arial"/>
                <a:ea typeface="ＭＳ Ｐゴシック" charset="0"/>
              </a:rPr>
              <a:t>Results</a:t>
            </a:r>
          </a:p>
        </p:txBody>
      </p:sp>
      <p:sp>
        <p:nvSpPr>
          <p:cNvPr id="90" name="TextBox 84"/>
          <p:cNvSpPr txBox="1">
            <a:spLocks noChangeArrowheads="1"/>
          </p:cNvSpPr>
          <p:nvPr/>
        </p:nvSpPr>
        <p:spPr bwMode="auto">
          <a:xfrm>
            <a:off x="5216525" y="5118463"/>
            <a:ext cx="56425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6 events</a:t>
            </a:r>
          </a:p>
        </p:txBody>
      </p:sp>
      <p:sp>
        <p:nvSpPr>
          <p:cNvPr id="91" name="TextBox 88"/>
          <p:cNvSpPr txBox="1">
            <a:spLocks noChangeArrowheads="1"/>
          </p:cNvSpPr>
          <p:nvPr/>
        </p:nvSpPr>
        <p:spPr bwMode="auto">
          <a:xfrm>
            <a:off x="6750050" y="5118463"/>
            <a:ext cx="56425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7 events</a:t>
            </a:r>
          </a:p>
        </p:txBody>
      </p:sp>
      <p:sp>
        <p:nvSpPr>
          <p:cNvPr id="92" name="TextBox 89"/>
          <p:cNvSpPr txBox="1">
            <a:spLocks noChangeArrowheads="1"/>
          </p:cNvSpPr>
          <p:nvPr/>
        </p:nvSpPr>
        <p:spPr bwMode="auto">
          <a:xfrm>
            <a:off x="8066088" y="5118463"/>
            <a:ext cx="56425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100" b="1" dirty="0">
                <a:solidFill>
                  <a:srgbClr val="000000"/>
                </a:solidFill>
                <a:latin typeface="Arial"/>
                <a:ea typeface="ＭＳ Ｐゴシック" charset="0"/>
              </a:rPr>
              <a:t>7 events</a:t>
            </a:r>
          </a:p>
        </p:txBody>
      </p:sp>
      <p:grpSp>
        <p:nvGrpSpPr>
          <p:cNvPr id="2" name="Group 1" descr="1"/>
          <p:cNvGrpSpPr/>
          <p:nvPr/>
        </p:nvGrpSpPr>
        <p:grpSpPr>
          <a:xfrm>
            <a:off x="348254" y="2601001"/>
            <a:ext cx="182880" cy="205184"/>
            <a:chOff x="348254" y="2601001"/>
            <a:chExt cx="182880" cy="205184"/>
          </a:xfrm>
        </p:grpSpPr>
        <p:sp>
          <p:nvSpPr>
            <p:cNvPr id="98" name="Oval 97"/>
            <p:cNvSpPr/>
            <p:nvPr/>
          </p:nvSpPr>
          <p:spPr bwMode="auto">
            <a:xfrm>
              <a:off x="348254" y="2612153"/>
              <a:ext cx="182880" cy="182880"/>
            </a:xfrm>
            <a:prstGeom prst="ellipse">
              <a:avLst/>
            </a:prstGeom>
            <a:solidFill>
              <a:srgbClr val="0092C8"/>
            </a:solidFill>
            <a:ln w="25400" cap="flat" cmpd="sng" algn="ctr">
              <a:solidFill>
                <a:srgbClr val="0092C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Times" pitchFamily="84" charset="0"/>
                <a:ea typeface="ＭＳ Ｐゴシック" charset="0"/>
              </a:endParaRPr>
            </a:p>
          </p:txBody>
        </p:sp>
        <p:sp>
          <p:nvSpPr>
            <p:cNvPr id="100" name="TextBox 12"/>
            <p:cNvSpPr txBox="1">
              <a:spLocks noChangeArrowheads="1"/>
            </p:cNvSpPr>
            <p:nvPr/>
          </p:nvSpPr>
          <p:spPr bwMode="auto">
            <a:xfrm>
              <a:off x="390001" y="2601001"/>
              <a:ext cx="99386"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lnSpc>
                  <a:spcPts val="1600"/>
                </a:lnSpc>
              </a:pPr>
              <a:r>
                <a:rPr lang="en-US" sz="1400" b="1" dirty="0">
                  <a:solidFill>
                    <a:srgbClr val="FFFFFF"/>
                  </a:solidFill>
                  <a:latin typeface="Arial"/>
                  <a:ea typeface="ＭＳ Ｐゴシック" charset="0"/>
                </a:rPr>
                <a:t>1</a:t>
              </a:r>
            </a:p>
          </p:txBody>
        </p:sp>
      </p:grpSp>
      <p:grpSp>
        <p:nvGrpSpPr>
          <p:cNvPr id="101" name="Group 100" descr="2"/>
          <p:cNvGrpSpPr/>
          <p:nvPr/>
        </p:nvGrpSpPr>
        <p:grpSpPr>
          <a:xfrm>
            <a:off x="347616" y="4166791"/>
            <a:ext cx="182880" cy="205184"/>
            <a:chOff x="348254" y="2601001"/>
            <a:chExt cx="182880" cy="205184"/>
          </a:xfrm>
        </p:grpSpPr>
        <p:sp>
          <p:nvSpPr>
            <p:cNvPr id="102" name="Oval 101"/>
            <p:cNvSpPr/>
            <p:nvPr/>
          </p:nvSpPr>
          <p:spPr bwMode="auto">
            <a:xfrm>
              <a:off x="348254" y="2612153"/>
              <a:ext cx="182880" cy="182880"/>
            </a:xfrm>
            <a:prstGeom prst="ellipse">
              <a:avLst/>
            </a:prstGeom>
            <a:solidFill>
              <a:srgbClr val="0092C8"/>
            </a:solidFill>
            <a:ln w="25400" cap="flat" cmpd="sng" algn="ctr">
              <a:solidFill>
                <a:srgbClr val="0092C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Times" pitchFamily="84" charset="0"/>
                <a:ea typeface="ＭＳ Ｐゴシック" charset="0"/>
              </a:endParaRPr>
            </a:p>
          </p:txBody>
        </p:sp>
        <p:sp>
          <p:nvSpPr>
            <p:cNvPr id="103" name="TextBox 12"/>
            <p:cNvSpPr txBox="1">
              <a:spLocks noChangeArrowheads="1"/>
            </p:cNvSpPr>
            <p:nvPr/>
          </p:nvSpPr>
          <p:spPr bwMode="auto">
            <a:xfrm>
              <a:off x="390001" y="2601001"/>
              <a:ext cx="99386"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lnSpc>
                  <a:spcPts val="1600"/>
                </a:lnSpc>
              </a:pPr>
              <a:r>
                <a:rPr lang="en-US" sz="1400" b="1" dirty="0">
                  <a:solidFill>
                    <a:srgbClr val="FFFFFF"/>
                  </a:solidFill>
                  <a:latin typeface="Arial"/>
                  <a:ea typeface="ＭＳ Ｐゴシック" charset="0"/>
                </a:rPr>
                <a:t>2</a:t>
              </a:r>
            </a:p>
          </p:txBody>
        </p:sp>
      </p:grpSp>
      <p:grpSp>
        <p:nvGrpSpPr>
          <p:cNvPr id="104" name="Group 103" descr="4"/>
          <p:cNvGrpSpPr/>
          <p:nvPr/>
        </p:nvGrpSpPr>
        <p:grpSpPr>
          <a:xfrm>
            <a:off x="4800451" y="2601875"/>
            <a:ext cx="182880" cy="205184"/>
            <a:chOff x="348254" y="2601001"/>
            <a:chExt cx="182880" cy="205184"/>
          </a:xfrm>
        </p:grpSpPr>
        <p:sp>
          <p:nvSpPr>
            <p:cNvPr id="105" name="Oval 104"/>
            <p:cNvSpPr/>
            <p:nvPr/>
          </p:nvSpPr>
          <p:spPr bwMode="auto">
            <a:xfrm>
              <a:off x="348254" y="2612153"/>
              <a:ext cx="182880" cy="182880"/>
            </a:xfrm>
            <a:prstGeom prst="ellipse">
              <a:avLst/>
            </a:prstGeom>
            <a:solidFill>
              <a:srgbClr val="0092C8"/>
            </a:solidFill>
            <a:ln w="25400" cap="flat" cmpd="sng" algn="ctr">
              <a:solidFill>
                <a:srgbClr val="0092C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Times" pitchFamily="84" charset="0"/>
                <a:ea typeface="ＭＳ Ｐゴシック" charset="0"/>
              </a:endParaRPr>
            </a:p>
          </p:txBody>
        </p:sp>
        <p:sp>
          <p:nvSpPr>
            <p:cNvPr id="106" name="TextBox 12"/>
            <p:cNvSpPr txBox="1">
              <a:spLocks noChangeArrowheads="1"/>
            </p:cNvSpPr>
            <p:nvPr/>
          </p:nvSpPr>
          <p:spPr bwMode="auto">
            <a:xfrm>
              <a:off x="390001" y="2601001"/>
              <a:ext cx="99386"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lnSpc>
                  <a:spcPts val="1600"/>
                </a:lnSpc>
              </a:pPr>
              <a:r>
                <a:rPr lang="en-US" sz="1400" b="1" dirty="0">
                  <a:solidFill>
                    <a:srgbClr val="FFFFFF"/>
                  </a:solidFill>
                  <a:latin typeface="Arial"/>
                  <a:ea typeface="ＭＳ Ｐゴシック" charset="0"/>
                </a:rPr>
                <a:t>4</a:t>
              </a:r>
            </a:p>
          </p:txBody>
        </p:sp>
      </p:grpSp>
      <p:grpSp>
        <p:nvGrpSpPr>
          <p:cNvPr id="107" name="Group 106" descr="3"/>
          <p:cNvGrpSpPr/>
          <p:nvPr/>
        </p:nvGrpSpPr>
        <p:grpSpPr>
          <a:xfrm>
            <a:off x="4803322" y="1393998"/>
            <a:ext cx="182880" cy="205184"/>
            <a:chOff x="348254" y="2601001"/>
            <a:chExt cx="182880" cy="205184"/>
          </a:xfrm>
        </p:grpSpPr>
        <p:sp>
          <p:nvSpPr>
            <p:cNvPr id="108" name="Oval 107"/>
            <p:cNvSpPr/>
            <p:nvPr/>
          </p:nvSpPr>
          <p:spPr bwMode="auto">
            <a:xfrm>
              <a:off x="348254" y="2612153"/>
              <a:ext cx="182880" cy="182880"/>
            </a:xfrm>
            <a:prstGeom prst="ellipse">
              <a:avLst/>
            </a:prstGeom>
            <a:solidFill>
              <a:srgbClr val="0092C8"/>
            </a:solidFill>
            <a:ln w="25400" cap="flat" cmpd="sng" algn="ctr">
              <a:solidFill>
                <a:srgbClr val="0092C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dirty="0">
                <a:solidFill>
                  <a:srgbClr val="000000"/>
                </a:solidFill>
                <a:latin typeface="Times" pitchFamily="84" charset="0"/>
                <a:ea typeface="ＭＳ Ｐゴシック" charset="0"/>
              </a:endParaRPr>
            </a:p>
          </p:txBody>
        </p:sp>
        <p:sp>
          <p:nvSpPr>
            <p:cNvPr id="109" name="TextBox 12"/>
            <p:cNvSpPr txBox="1">
              <a:spLocks noChangeArrowheads="1"/>
            </p:cNvSpPr>
            <p:nvPr/>
          </p:nvSpPr>
          <p:spPr bwMode="auto">
            <a:xfrm>
              <a:off x="390001" y="2601001"/>
              <a:ext cx="99386" cy="20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lnSpc>
                  <a:spcPts val="1600"/>
                </a:lnSpc>
              </a:pPr>
              <a:r>
                <a:rPr lang="en-US" sz="1400" b="1" dirty="0">
                  <a:solidFill>
                    <a:srgbClr val="FFFFFF"/>
                  </a:solidFill>
                  <a:latin typeface="Arial"/>
                  <a:ea typeface="ＭＳ Ｐゴシック" charset="0"/>
                </a:rPr>
                <a:t>3</a:t>
              </a:r>
            </a:p>
          </p:txBody>
        </p:sp>
      </p:grpSp>
      <p:sp>
        <p:nvSpPr>
          <p:cNvPr id="4" name="TextBox 3"/>
          <p:cNvSpPr txBox="1"/>
          <p:nvPr/>
        </p:nvSpPr>
        <p:spPr>
          <a:xfrm>
            <a:off x="-652" y="0"/>
            <a:ext cx="8773556" cy="492443"/>
          </a:xfrm>
          <a:prstGeom prst="rect">
            <a:avLst/>
          </a:prstGeom>
          <a:noFill/>
        </p:spPr>
        <p:txBody>
          <a:bodyPr wrap="none" rtlCol="0">
            <a:spAutoFit/>
          </a:bodyPr>
          <a:lstStyle/>
          <a:p>
            <a:r>
              <a:rPr lang="en-US" sz="2600" dirty="0">
                <a:latin typeface="Arial"/>
              </a:rPr>
              <a:t>Applying parsimony to a problem in molecular systematics</a:t>
            </a:r>
            <a:endParaRPr lang="en-US" sz="2600" dirty="0"/>
          </a:p>
        </p:txBody>
      </p:sp>
      <p:sp>
        <p:nvSpPr>
          <p:cNvPr id="94" name="TextBox 93"/>
          <p:cNvSpPr txBox="1"/>
          <p:nvPr/>
        </p:nvSpPr>
        <p:spPr>
          <a:xfrm>
            <a:off x="10072" y="6001032"/>
            <a:ext cx="5870002" cy="830997"/>
          </a:xfrm>
          <a:prstGeom prst="rect">
            <a:avLst/>
          </a:prstGeom>
          <a:noFill/>
        </p:spPr>
        <p:txBody>
          <a:bodyPr wrap="square" rtlCol="0">
            <a:spAutoFit/>
          </a:bodyPr>
          <a:lstStyle/>
          <a:p>
            <a:r>
              <a:rPr lang="en-US" dirty="0"/>
              <a:t>So which two species would be more closely related using this approach?</a:t>
            </a:r>
          </a:p>
        </p:txBody>
      </p:sp>
      <p:sp>
        <p:nvSpPr>
          <p:cNvPr id="5" name="Rectangle 4" descr="red box"/>
          <p:cNvSpPr/>
          <p:nvPr/>
        </p:nvSpPr>
        <p:spPr bwMode="auto">
          <a:xfrm>
            <a:off x="4724400" y="1205211"/>
            <a:ext cx="1295400" cy="435738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1" name="Rectangle 110" descr="green box"/>
          <p:cNvSpPr/>
          <p:nvPr/>
        </p:nvSpPr>
        <p:spPr bwMode="auto">
          <a:xfrm>
            <a:off x="6257544" y="1205211"/>
            <a:ext cx="1295400" cy="4357389"/>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2" name="Rectangle 111" descr="blue box"/>
          <p:cNvSpPr/>
          <p:nvPr/>
        </p:nvSpPr>
        <p:spPr bwMode="auto">
          <a:xfrm>
            <a:off x="7696200" y="1205211"/>
            <a:ext cx="1295400" cy="4357389"/>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93" name="Down Arrow 92" descr="arrow 1"/>
          <p:cNvSpPr/>
          <p:nvPr/>
        </p:nvSpPr>
        <p:spPr bwMode="auto">
          <a:xfrm>
            <a:off x="6679674" y="244770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3" name="Down Arrow 112" descr="arrow 2"/>
          <p:cNvSpPr/>
          <p:nvPr/>
        </p:nvSpPr>
        <p:spPr bwMode="auto">
          <a:xfrm>
            <a:off x="8066088" y="244770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4" name="Down Arrow 113" descr="arrow 3"/>
          <p:cNvSpPr/>
          <p:nvPr/>
        </p:nvSpPr>
        <p:spPr bwMode="auto">
          <a:xfrm>
            <a:off x="5181457" y="244770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5" name="Down Arrow 114" descr="arrow 4"/>
          <p:cNvSpPr/>
          <p:nvPr/>
        </p:nvSpPr>
        <p:spPr bwMode="auto">
          <a:xfrm>
            <a:off x="7009761" y="381671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6" name="Down Arrow 115" descr="arrow 5"/>
          <p:cNvSpPr/>
          <p:nvPr/>
        </p:nvSpPr>
        <p:spPr bwMode="auto">
          <a:xfrm>
            <a:off x="8396175" y="381671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117" name="Down Arrow 116" descr="arrow 6"/>
          <p:cNvSpPr/>
          <p:nvPr/>
        </p:nvSpPr>
        <p:spPr bwMode="auto">
          <a:xfrm>
            <a:off x="5511544" y="3816713"/>
            <a:ext cx="449263" cy="228600"/>
          </a:xfrm>
          <a:prstGeom prst="downArrow">
            <a:avLst>
              <a:gd name="adj1" fmla="val 33717"/>
              <a:gd name="adj2" fmla="val 50000"/>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Tree>
    <p:extLst>
      <p:ext uri="{BB962C8B-B14F-4D97-AF65-F5344CB8AC3E}">
        <p14:creationId xmlns:p14="http://schemas.microsoft.com/office/powerpoint/2010/main" val="2878367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n evolutionary tree is shown. From a common ancestor, the tree branches in two directions. One branch leads to Lizards and Snakes. The other leads to another branching point, labeled Common ancestor of crocodilians, dinosaurs and birds. This branching point leads in two directions. One leads to Crocodilians, and the other leads to another branching point, that leads in two directions. One branch leads to Ornithischian dinosaurs, and a diagram of a beaked, herbivorous dinosaur with a crest on its head. The other branch leads to a branching point that divides into two directions, one lead to Saurischian dinosaurs other than birds, shown by a diagram of a carnivorous dinosaur, and the other branch to birds."/>
          <p:cNvPicPr>
            <a:picLocks noChangeAspect="1"/>
          </p:cNvPicPr>
          <p:nvPr/>
        </p:nvPicPr>
        <p:blipFill>
          <a:blip r:embed="rId3"/>
          <a:stretch>
            <a:fillRect/>
          </a:stretch>
        </p:blipFill>
        <p:spPr>
          <a:xfrm>
            <a:off x="2000250" y="3397770"/>
            <a:ext cx="5143500" cy="3429000"/>
          </a:xfrm>
          <a:prstGeom prst="rect">
            <a:avLst/>
          </a:prstGeom>
        </p:spPr>
      </p:pic>
      <p:sp>
        <p:nvSpPr>
          <p:cNvPr id="138242" name="Rectangle 2"/>
          <p:cNvSpPr>
            <a:spLocks noGrp="1" noChangeArrowheads="1"/>
          </p:cNvSpPr>
          <p:nvPr>
            <p:ph type="title"/>
          </p:nvPr>
        </p:nvSpPr>
        <p:spPr>
          <a:xfrm>
            <a:off x="0" y="0"/>
            <a:ext cx="9144000" cy="646331"/>
          </a:xfrm>
        </p:spPr>
        <p:txBody>
          <a:bodyPr/>
          <a:lstStyle/>
          <a:p>
            <a:r>
              <a:rPr lang="en-US" altLang="en-US" dirty="0"/>
              <a:t>Phylogenetic Trees as Hypotheses</a:t>
            </a:r>
          </a:p>
        </p:txBody>
      </p:sp>
      <p:sp>
        <p:nvSpPr>
          <p:cNvPr id="138243" name="Rectangle 3"/>
          <p:cNvSpPr>
            <a:spLocks noGrp="1" noChangeArrowheads="1"/>
          </p:cNvSpPr>
          <p:nvPr>
            <p:ph idx="1"/>
          </p:nvPr>
        </p:nvSpPr>
        <p:spPr>
          <a:xfrm>
            <a:off x="76200" y="583370"/>
            <a:ext cx="8991600" cy="2984290"/>
          </a:xfrm>
        </p:spPr>
        <p:txBody>
          <a:bodyPr/>
          <a:lstStyle/>
          <a:p>
            <a:r>
              <a:rPr lang="en-US" altLang="en-US" dirty="0"/>
              <a:t>The best hypothesis for a phylogenetic tree fits the most data: </a:t>
            </a:r>
          </a:p>
          <a:p>
            <a:r>
              <a:rPr lang="en-US" altLang="en-US" dirty="0"/>
              <a:t>Phylogenetic bracketing allows us to predict features of an </a:t>
            </a:r>
          </a:p>
          <a:p>
            <a:pPr lvl="1"/>
            <a:r>
              <a:rPr lang="en-US" altLang="en-US" dirty="0"/>
              <a:t>EX: phylogenetic bracketing allows us to </a:t>
            </a:r>
          </a:p>
        </p:txBody>
      </p:sp>
    </p:spTree>
    <p:extLst>
      <p:ext uri="{BB962C8B-B14F-4D97-AF65-F5344CB8AC3E}">
        <p14:creationId xmlns:p14="http://schemas.microsoft.com/office/powerpoint/2010/main" val="2522259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A photograph shows the location of front limbs beside a hind limb in the fossil, and eggs on the opposite end of the fossil.&#10;B). A drawing shows a dinosaur, curled around a nest of eggs.">
            <a:extLst>
              <a:ext uri="{FF2B5EF4-FFF2-40B4-BE49-F238E27FC236}">
                <a16:creationId xmlns:a16="http://schemas.microsoft.com/office/drawing/2014/main" id="{DB340F34-9B89-4E9E-8C82-E52BF9E03F29}"/>
              </a:ext>
            </a:extLst>
          </p:cNvPr>
          <p:cNvPicPr>
            <a:picLocks noChangeAspect="1"/>
          </p:cNvPicPr>
          <p:nvPr/>
        </p:nvPicPr>
        <p:blipFill>
          <a:blip r:embed="rId3"/>
          <a:stretch>
            <a:fillRect/>
          </a:stretch>
        </p:blipFill>
        <p:spPr>
          <a:xfrm>
            <a:off x="1454169" y="3533775"/>
            <a:ext cx="6235660" cy="3248025"/>
          </a:xfrm>
          <a:prstGeom prst="rect">
            <a:avLst/>
          </a:prstGeom>
        </p:spPr>
      </p:pic>
      <p:sp>
        <p:nvSpPr>
          <p:cNvPr id="3" name="Title 2"/>
          <p:cNvSpPr>
            <a:spLocks noGrp="1"/>
          </p:cNvSpPr>
          <p:nvPr>
            <p:ph type="title"/>
          </p:nvPr>
        </p:nvSpPr>
        <p:spPr>
          <a:xfrm>
            <a:off x="0" y="0"/>
            <a:ext cx="9144000" cy="600164"/>
          </a:xfrm>
        </p:spPr>
        <p:txBody>
          <a:bodyPr/>
          <a:lstStyle/>
          <a:p>
            <a:r>
              <a:rPr lang="en-US" dirty="0">
                <a:solidFill>
                  <a:schemeClr val="bg1"/>
                </a:solidFill>
              </a:rPr>
              <a:t>28</a:t>
            </a:r>
          </a:p>
        </p:txBody>
      </p:sp>
      <p:sp>
        <p:nvSpPr>
          <p:cNvPr id="142338" name="Rectangle 2"/>
          <p:cNvSpPr>
            <a:spLocks noGrp="1" noChangeArrowheads="1"/>
          </p:cNvSpPr>
          <p:nvPr>
            <p:ph idx="4294967295"/>
          </p:nvPr>
        </p:nvSpPr>
        <p:spPr>
          <a:xfrm>
            <a:off x="152400" y="152400"/>
            <a:ext cx="8839200" cy="6337300"/>
          </a:xfrm>
        </p:spPr>
        <p:txBody>
          <a:bodyPr/>
          <a:lstStyle/>
          <a:p>
            <a:r>
              <a:rPr lang="en-US" altLang="en-US" dirty="0"/>
              <a:t>Birds and crocodiles share several features: </a:t>
            </a:r>
          </a:p>
          <a:p>
            <a:endParaRPr lang="en-US" altLang="en-US" dirty="0"/>
          </a:p>
          <a:p>
            <a:r>
              <a:rPr lang="en-US" altLang="en-US" dirty="0"/>
              <a:t>These features likely evolved in a common ancestor and were shared by </a:t>
            </a:r>
          </a:p>
          <a:p>
            <a:endParaRPr lang="en-US" altLang="en-US" dirty="0"/>
          </a:p>
          <a:p>
            <a:r>
              <a:rPr lang="en-US" altLang="en-US" dirty="0"/>
              <a:t>The fossil record supports </a:t>
            </a:r>
          </a:p>
        </p:txBody>
      </p:sp>
    </p:spTree>
    <p:extLst>
      <p:ext uri="{BB962C8B-B14F-4D97-AF65-F5344CB8AC3E}">
        <p14:creationId xmlns:p14="http://schemas.microsoft.com/office/powerpoint/2010/main" val="1620628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26.4: An organism</a:t>
            </a:r>
            <a:r>
              <a:rPr lang="ja-JP" altLang="en-US" dirty="0">
                <a:solidFill>
                  <a:srgbClr val="FF0000"/>
                </a:solidFill>
              </a:rPr>
              <a:t>’</a:t>
            </a:r>
            <a:r>
              <a:rPr lang="en-US" altLang="ja-JP" dirty="0">
                <a:solidFill>
                  <a:srgbClr val="FF0000"/>
                </a:solidFill>
              </a:rPr>
              <a:t>s evolutionary history is documented in its genome</a:t>
            </a:r>
            <a:endParaRPr lang="en-US" altLang="en-US" dirty="0">
              <a:solidFill>
                <a:srgbClr val="FF0000"/>
              </a:solidFill>
            </a:endParaRPr>
          </a:p>
        </p:txBody>
      </p:sp>
      <p:sp>
        <p:nvSpPr>
          <p:cNvPr id="147459" name="Rectangle 3"/>
          <p:cNvSpPr>
            <a:spLocks noGrp="1" noChangeArrowheads="1"/>
          </p:cNvSpPr>
          <p:nvPr>
            <p:ph idx="1"/>
          </p:nvPr>
        </p:nvSpPr>
        <p:spPr>
          <a:xfrm>
            <a:off x="152400" y="1143000"/>
            <a:ext cx="8991600" cy="5715000"/>
          </a:xfrm>
        </p:spPr>
        <p:txBody>
          <a:bodyPr/>
          <a:lstStyle/>
          <a:p>
            <a:r>
              <a:rPr lang="en-US" altLang="en-US" dirty="0"/>
              <a:t>Comparing nucleic acids or other molecules to infer relatedness is a valuable approach for </a:t>
            </a:r>
          </a:p>
          <a:p>
            <a:endParaRPr lang="en-US" altLang="ja-JP" dirty="0"/>
          </a:p>
          <a:p>
            <a:r>
              <a:rPr lang="en-US" altLang="en-US" dirty="0"/>
              <a:t>DNA that codes for rRNA changes relatively slowly and is useful for investigating branching points </a:t>
            </a:r>
            <a:r>
              <a:rPr lang="en-US" dirty="0"/>
              <a:t>that diverged </a:t>
            </a:r>
            <a:endParaRPr lang="en-US" altLang="en-US" dirty="0"/>
          </a:p>
          <a:p>
            <a:r>
              <a:rPr lang="en-US" altLang="en-US" dirty="0"/>
              <a:t>mtDNA evolves rapidly and can be used to </a:t>
            </a:r>
          </a:p>
          <a:p>
            <a:endParaRPr lang="en-US" altLang="en-US" dirty="0"/>
          </a:p>
          <a:p>
            <a:pPr lvl="1"/>
            <a:r>
              <a:rPr lang="en-US" altLang="en-US" dirty="0"/>
              <a:t>mutation rate is </a:t>
            </a:r>
          </a:p>
          <a:p>
            <a:pPr lvl="1"/>
            <a:r>
              <a:rPr lang="en-US" altLang="en-US" dirty="0"/>
              <a:t>subject to </a:t>
            </a:r>
          </a:p>
          <a:p>
            <a:pPr lvl="1"/>
            <a:r>
              <a:rPr lang="en-US" altLang="en-US" dirty="0"/>
              <a:t>lacks the DNA </a:t>
            </a:r>
          </a:p>
        </p:txBody>
      </p:sp>
    </p:spTree>
    <p:extLst>
      <p:ext uri="{BB962C8B-B14F-4D97-AF65-F5344CB8AC3E}">
        <p14:creationId xmlns:p14="http://schemas.microsoft.com/office/powerpoint/2010/main" val="37342786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0" y="0"/>
            <a:ext cx="9144000" cy="646331"/>
          </a:xfrm>
        </p:spPr>
        <p:txBody>
          <a:bodyPr/>
          <a:lstStyle/>
          <a:p>
            <a:r>
              <a:rPr lang="en-US" altLang="en-US" dirty="0"/>
              <a:t>Gene Duplications and Gene Families</a:t>
            </a:r>
          </a:p>
        </p:txBody>
      </p:sp>
      <p:sp>
        <p:nvSpPr>
          <p:cNvPr id="149507" name="Rectangle 3"/>
          <p:cNvSpPr>
            <a:spLocks noGrp="1" noChangeArrowheads="1"/>
          </p:cNvSpPr>
          <p:nvPr>
            <p:ph idx="1"/>
          </p:nvPr>
        </p:nvSpPr>
        <p:spPr>
          <a:xfrm>
            <a:off x="152401" y="646330"/>
            <a:ext cx="5867399" cy="6211669"/>
          </a:xfrm>
        </p:spPr>
        <p:txBody>
          <a:bodyPr/>
          <a:lstStyle/>
          <a:p>
            <a:r>
              <a:rPr lang="en-US" altLang="en-US" dirty="0"/>
              <a:t>Gene duplication increases the number of genes in the genome, providing more </a:t>
            </a:r>
          </a:p>
          <a:p>
            <a:endParaRPr lang="en-US" altLang="en-US" dirty="0"/>
          </a:p>
          <a:p>
            <a:r>
              <a:rPr lang="en-US" altLang="en-US" dirty="0"/>
              <a:t>Repeated gene duplications result in </a:t>
            </a:r>
          </a:p>
          <a:p>
            <a:r>
              <a:rPr lang="en-US" altLang="en-US" dirty="0"/>
              <a:t>Duplicated genes can be traced to a </a:t>
            </a:r>
          </a:p>
          <a:p>
            <a:r>
              <a:rPr lang="en-US" altLang="en-US" b="1" dirty="0"/>
              <a:t>Orthologous genes </a:t>
            </a:r>
            <a:r>
              <a:rPr lang="en-US" altLang="en-US" dirty="0"/>
              <a:t>are found in a </a:t>
            </a:r>
            <a:r>
              <a:rPr lang="en-US" altLang="en-US" b="1" dirty="0">
                <a:solidFill>
                  <a:srgbClr val="FF0000"/>
                </a:solidFill>
              </a:rPr>
              <a:t>single copy </a:t>
            </a:r>
            <a:r>
              <a:rPr lang="en-US" altLang="en-US" dirty="0"/>
              <a:t>in the genome and are </a:t>
            </a:r>
          </a:p>
          <a:p>
            <a:r>
              <a:rPr lang="en-US" altLang="en-US" dirty="0"/>
              <a:t>They can diverge only </a:t>
            </a:r>
          </a:p>
        </p:txBody>
      </p:sp>
      <p:pic>
        <p:nvPicPr>
          <p:cNvPr id="2" name="Picture 1" descr="A strand of DNA is shown, with a section highlighted and labeled Ancestral Gene. The DNA strand is labeled as being from an Ancestral Species. An arrow leads to the label Speciation with divergence of gene. Two arrows point from this label to two DNA strands from two different species, Species A and Species B. The gene in Species A has a small red section highlighted, and the gene in Species B has a small yellow section highlighted. These genes are labeled Orthologous genes."/>
          <p:cNvPicPr>
            <a:picLocks noChangeAspect="1"/>
          </p:cNvPicPr>
          <p:nvPr/>
        </p:nvPicPr>
        <p:blipFill>
          <a:blip r:embed="rId3"/>
          <a:stretch>
            <a:fillRect/>
          </a:stretch>
        </p:blipFill>
        <p:spPr>
          <a:xfrm>
            <a:off x="5867400" y="1219200"/>
            <a:ext cx="3228679" cy="4953000"/>
          </a:xfrm>
          <a:prstGeom prst="rect">
            <a:avLst/>
          </a:prstGeom>
        </p:spPr>
      </p:pic>
    </p:spTree>
    <p:extLst>
      <p:ext uri="{BB962C8B-B14F-4D97-AF65-F5344CB8AC3E}">
        <p14:creationId xmlns:p14="http://schemas.microsoft.com/office/powerpoint/2010/main" val="966843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2492"/>
            <a:ext cx="9144000" cy="600164"/>
          </a:xfrm>
        </p:spPr>
        <p:txBody>
          <a:bodyPr/>
          <a:lstStyle/>
          <a:p>
            <a:r>
              <a:rPr lang="en-US" dirty="0">
                <a:solidFill>
                  <a:schemeClr val="bg1"/>
                </a:solidFill>
              </a:rPr>
              <a:t>31</a:t>
            </a:r>
          </a:p>
        </p:txBody>
      </p:sp>
      <p:sp>
        <p:nvSpPr>
          <p:cNvPr id="155650" name="Rectangle 2"/>
          <p:cNvSpPr>
            <a:spLocks noGrp="1" noChangeArrowheads="1"/>
          </p:cNvSpPr>
          <p:nvPr>
            <p:ph idx="4294967295"/>
          </p:nvPr>
        </p:nvSpPr>
        <p:spPr>
          <a:xfrm>
            <a:off x="152400" y="152400"/>
            <a:ext cx="4419600" cy="6337300"/>
          </a:xfrm>
        </p:spPr>
        <p:txBody>
          <a:bodyPr/>
          <a:lstStyle/>
          <a:p>
            <a:r>
              <a:rPr lang="en-US" altLang="en-US" b="1" dirty="0"/>
              <a:t>Paralogous genes </a:t>
            </a:r>
            <a:r>
              <a:rPr lang="en-US" altLang="en-US" dirty="0"/>
              <a:t>result from gene duplication so are found in </a:t>
            </a:r>
          </a:p>
          <a:p>
            <a:endParaRPr lang="en-US" altLang="en-US" dirty="0"/>
          </a:p>
          <a:p>
            <a:r>
              <a:rPr lang="en-US" altLang="en-US" dirty="0"/>
              <a:t>They can diverge within the species that carries them and </a:t>
            </a:r>
          </a:p>
        </p:txBody>
      </p:sp>
      <p:pic>
        <p:nvPicPr>
          <p:cNvPr id="2" name="Picture 1" descr="A DNA strand from Species C is shown, with a section labeled Ancestral Gene. Gene duplication and divergence occur, resulting in two copies of the gene in a single strand of DNA. One has a yellow section highlighted, and the other has an orange section highlighted. They are labeled paralogous genes, and are present in Species C after many generations.">
            <a:extLst>
              <a:ext uri="{FF2B5EF4-FFF2-40B4-BE49-F238E27FC236}">
                <a16:creationId xmlns:a16="http://schemas.microsoft.com/office/drawing/2014/main" id="{C73324E2-BAAA-4C51-96FB-7D21D64AF017}"/>
              </a:ext>
            </a:extLst>
          </p:cNvPr>
          <p:cNvPicPr>
            <a:picLocks noChangeAspect="1"/>
          </p:cNvPicPr>
          <p:nvPr/>
        </p:nvPicPr>
        <p:blipFill>
          <a:blip r:embed="rId3"/>
          <a:stretch>
            <a:fillRect/>
          </a:stretch>
        </p:blipFill>
        <p:spPr>
          <a:xfrm>
            <a:off x="5150068" y="91966"/>
            <a:ext cx="3867806" cy="6666731"/>
          </a:xfrm>
          <a:prstGeom prst="rect">
            <a:avLst/>
          </a:prstGeom>
        </p:spPr>
      </p:pic>
    </p:spTree>
    <p:extLst>
      <p:ext uri="{BB962C8B-B14F-4D97-AF65-F5344CB8AC3E}">
        <p14:creationId xmlns:p14="http://schemas.microsoft.com/office/powerpoint/2010/main" val="886302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A26B7-891E-4B70-BCA4-6C6A8CB14093}"/>
              </a:ext>
            </a:extLst>
          </p:cNvPr>
          <p:cNvSpPr>
            <a:spLocks noGrp="1"/>
          </p:cNvSpPr>
          <p:nvPr>
            <p:ph type="title"/>
          </p:nvPr>
        </p:nvSpPr>
        <p:spPr/>
        <p:txBody>
          <a:bodyPr/>
          <a:lstStyle/>
          <a:p>
            <a:r>
              <a:rPr lang="en-US" dirty="0"/>
              <a:t>Orthologous  vs. Paralogous genes example</a:t>
            </a:r>
          </a:p>
        </p:txBody>
      </p:sp>
      <p:pic>
        <p:nvPicPr>
          <p:cNvPr id="4" name="Picture 3" descr="Chart, radar chart&#10;&#10;Description automatically generated">
            <a:extLst>
              <a:ext uri="{FF2B5EF4-FFF2-40B4-BE49-F238E27FC236}">
                <a16:creationId xmlns:a16="http://schemas.microsoft.com/office/drawing/2014/main" id="{2AB6B17E-B4F6-411D-AE2B-CE25D7BA3981}"/>
              </a:ext>
            </a:extLst>
          </p:cNvPr>
          <p:cNvPicPr>
            <a:picLocks noChangeAspect="1"/>
          </p:cNvPicPr>
          <p:nvPr/>
        </p:nvPicPr>
        <p:blipFill>
          <a:blip r:embed="rId2"/>
          <a:stretch>
            <a:fillRect/>
          </a:stretch>
        </p:blipFill>
        <p:spPr>
          <a:xfrm>
            <a:off x="695324" y="3695700"/>
            <a:ext cx="7753350" cy="3162300"/>
          </a:xfrm>
          <a:prstGeom prst="rect">
            <a:avLst/>
          </a:prstGeom>
        </p:spPr>
      </p:pic>
      <p:sp>
        <p:nvSpPr>
          <p:cNvPr id="7" name="TextBox 6">
            <a:extLst>
              <a:ext uri="{FF2B5EF4-FFF2-40B4-BE49-F238E27FC236}">
                <a16:creationId xmlns:a16="http://schemas.microsoft.com/office/drawing/2014/main" id="{C663BA7F-E81A-4A4F-B74D-7046CF47CF37}"/>
              </a:ext>
            </a:extLst>
          </p:cNvPr>
          <p:cNvSpPr txBox="1"/>
          <p:nvPr/>
        </p:nvSpPr>
        <p:spPr>
          <a:xfrm>
            <a:off x="0" y="600164"/>
            <a:ext cx="9143999" cy="3539430"/>
          </a:xfrm>
          <a:prstGeom prst="rect">
            <a:avLst/>
          </a:prstGeom>
          <a:noFill/>
        </p:spPr>
        <p:txBody>
          <a:bodyPr wrap="square" rtlCol="0">
            <a:spAutoFit/>
          </a:bodyPr>
          <a:lstStyle/>
          <a:p>
            <a:pPr marL="457200" indent="-457200">
              <a:buClr>
                <a:srgbClr val="D1300D"/>
              </a:buClr>
              <a:buFont typeface="Wingdings" panose="05000000000000000000" pitchFamily="2" charset="2"/>
              <a:buChar char="§"/>
            </a:pPr>
            <a:r>
              <a:rPr lang="en-US" sz="2800" i="1" dirty="0"/>
              <a:t>Orthologous</a:t>
            </a:r>
            <a:r>
              <a:rPr lang="en-US" sz="2800" dirty="0"/>
              <a:t> genes are found in different organisms, but are derived from a single common ancestral gene present </a:t>
            </a:r>
            <a:endParaRPr lang="en-US" sz="2800" u="sng" dirty="0"/>
          </a:p>
          <a:p>
            <a:pPr marL="457200" indent="-457200">
              <a:buClr>
                <a:srgbClr val="D1300D"/>
              </a:buClr>
              <a:buFont typeface="Wingdings" panose="05000000000000000000" pitchFamily="2" charset="2"/>
              <a:buChar char="§"/>
            </a:pPr>
            <a:r>
              <a:rPr lang="en-US" sz="2800" i="1" dirty="0"/>
              <a:t>Paralogous</a:t>
            </a:r>
            <a:r>
              <a:rPr lang="en-US" sz="2800" dirty="0"/>
              <a:t> genes are genes present in a particular organism that are related to each other </a:t>
            </a:r>
            <a:br>
              <a:rPr lang="en-US" sz="2800" dirty="0"/>
            </a:br>
            <a:endParaRPr lang="en-US" sz="2800" u="sng" dirty="0"/>
          </a:p>
          <a:p>
            <a:pPr marL="457200" indent="-457200">
              <a:buClr>
                <a:srgbClr val="D1300D"/>
              </a:buClr>
              <a:buFont typeface="Wingdings" panose="05000000000000000000" pitchFamily="2" charset="2"/>
              <a:buChar char="§"/>
            </a:pPr>
            <a:r>
              <a:rPr lang="en-US" sz="2800" dirty="0"/>
              <a:t>Below is an example using the HISTONE gene</a:t>
            </a:r>
          </a:p>
          <a:p>
            <a:pPr marL="457200" indent="-457200">
              <a:buClr>
                <a:srgbClr val="D1300D"/>
              </a:buClr>
              <a:buFont typeface="Wingdings" panose="05000000000000000000" pitchFamily="2" charset="2"/>
              <a:buChar char="§"/>
            </a:pPr>
            <a:endParaRPr lang="en-US" sz="2800" dirty="0"/>
          </a:p>
        </p:txBody>
      </p:sp>
    </p:spTree>
    <p:extLst>
      <p:ext uri="{BB962C8B-B14F-4D97-AF65-F5344CB8AC3E}">
        <p14:creationId xmlns:p14="http://schemas.microsoft.com/office/powerpoint/2010/main" val="1839218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altLang="en-US" dirty="0"/>
              <a:t>Genome Evolution</a:t>
            </a:r>
          </a:p>
        </p:txBody>
      </p:sp>
      <p:sp>
        <p:nvSpPr>
          <p:cNvPr id="159747" name="Rectangle 3"/>
          <p:cNvSpPr>
            <a:spLocks noGrp="1" noChangeArrowheads="1"/>
          </p:cNvSpPr>
          <p:nvPr>
            <p:ph idx="1"/>
          </p:nvPr>
        </p:nvSpPr>
        <p:spPr>
          <a:xfrm>
            <a:off x="152400" y="762000"/>
            <a:ext cx="8839199" cy="5943600"/>
          </a:xfrm>
        </p:spPr>
        <p:txBody>
          <a:bodyPr/>
          <a:lstStyle/>
          <a:p>
            <a:r>
              <a:rPr lang="en-US" altLang="en-US" dirty="0"/>
              <a:t>Orthologous genes are widespread and extend across </a:t>
            </a:r>
          </a:p>
          <a:p>
            <a:pPr lvl="1"/>
            <a:r>
              <a:rPr lang="en-US" altLang="en-US" dirty="0"/>
              <a:t>EX: humans and mice diverged about </a:t>
            </a:r>
          </a:p>
          <a:p>
            <a:pPr lvl="1"/>
            <a:endParaRPr lang="en-US" altLang="en-US" dirty="0"/>
          </a:p>
          <a:p>
            <a:pPr lvl="1"/>
            <a:endParaRPr lang="en-US" altLang="en-US" dirty="0"/>
          </a:p>
          <a:p>
            <a:r>
              <a:rPr lang="en-US" altLang="en-US" dirty="0"/>
              <a:t>Gene number and the complexity of an organism are not </a:t>
            </a:r>
          </a:p>
          <a:p>
            <a:pPr lvl="1"/>
            <a:r>
              <a:rPr lang="en-US" altLang="en-US" dirty="0"/>
              <a:t>EX: humans have only four times as many genes as </a:t>
            </a:r>
          </a:p>
          <a:p>
            <a:pPr lvl="1"/>
            <a:endParaRPr lang="en-US" altLang="en-US" dirty="0"/>
          </a:p>
          <a:p>
            <a:r>
              <a:rPr lang="en-US" altLang="en-US" dirty="0"/>
              <a:t>Genes in complex organisms appear to be very versatile, and each gene can </a:t>
            </a:r>
          </a:p>
        </p:txBody>
      </p:sp>
    </p:spTree>
    <p:extLst>
      <p:ext uri="{BB962C8B-B14F-4D97-AF65-F5344CB8AC3E}">
        <p14:creationId xmlns:p14="http://schemas.microsoft.com/office/powerpoint/2010/main" val="3023221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0" y="0"/>
            <a:ext cx="9144000" cy="1107996"/>
          </a:xfrm>
        </p:spPr>
        <p:txBody>
          <a:bodyPr/>
          <a:lstStyle/>
          <a:p>
            <a:r>
              <a:rPr lang="en-US" altLang="en-US" dirty="0">
                <a:solidFill>
                  <a:srgbClr val="FF0000"/>
                </a:solidFill>
              </a:rPr>
              <a:t>Concept 26.5: Molecular clocks help track evolutionary time</a:t>
            </a:r>
          </a:p>
        </p:txBody>
      </p:sp>
      <p:sp>
        <p:nvSpPr>
          <p:cNvPr id="163843" name="Rectangle 3"/>
          <p:cNvSpPr>
            <a:spLocks noGrp="1" noChangeArrowheads="1"/>
          </p:cNvSpPr>
          <p:nvPr>
            <p:ph idx="1"/>
          </p:nvPr>
        </p:nvSpPr>
        <p:spPr>
          <a:xfrm>
            <a:off x="152400" y="1060698"/>
            <a:ext cx="8839199" cy="5750004"/>
          </a:xfrm>
        </p:spPr>
        <p:txBody>
          <a:bodyPr/>
          <a:lstStyle/>
          <a:p>
            <a:r>
              <a:rPr lang="en-US" altLang="en-US" dirty="0"/>
              <a:t>To extend phylogenies beyond the fossil record, we must make an </a:t>
            </a:r>
          </a:p>
          <a:p>
            <a:endParaRPr lang="en-US" altLang="en-US" dirty="0"/>
          </a:p>
          <a:p>
            <a:r>
              <a:rPr lang="en-US" altLang="en-US" dirty="0"/>
              <a:t>A </a:t>
            </a:r>
            <a:r>
              <a:rPr lang="en-US" altLang="en-US" b="1" dirty="0"/>
              <a:t>molecular clock </a:t>
            </a:r>
            <a:r>
              <a:rPr lang="en-US" altLang="en-US" dirty="0"/>
              <a:t>uses constant rates of evolution in some genes to </a:t>
            </a:r>
          </a:p>
          <a:p>
            <a:endParaRPr lang="en-US" altLang="en-US" dirty="0"/>
          </a:p>
          <a:p>
            <a:r>
              <a:rPr lang="en-US" altLang="en-US" dirty="0"/>
              <a:t>In </a:t>
            </a:r>
            <a:r>
              <a:rPr lang="en-US" altLang="en-US" b="1" dirty="0"/>
              <a:t>orthologous genes</a:t>
            </a:r>
            <a:r>
              <a:rPr lang="en-US" altLang="en-US" dirty="0"/>
              <a:t>, nucleotide substitutions are assumed to be </a:t>
            </a:r>
          </a:p>
          <a:p>
            <a:endParaRPr lang="en-US" altLang="en-US" i="1" dirty="0"/>
          </a:p>
          <a:p>
            <a:r>
              <a:rPr lang="en-US" altLang="en-US" dirty="0"/>
              <a:t>In </a:t>
            </a:r>
            <a:r>
              <a:rPr lang="en-US" altLang="en-US" b="1" dirty="0"/>
              <a:t>paralogous genes</a:t>
            </a:r>
            <a:r>
              <a:rPr lang="en-US" altLang="en-US" dirty="0"/>
              <a:t>, nucleotide substitutions are proportional to the </a:t>
            </a:r>
            <a:endParaRPr lang="en-US" altLang="en-US" i="1" dirty="0"/>
          </a:p>
        </p:txBody>
      </p:sp>
    </p:spTree>
    <p:extLst>
      <p:ext uri="{BB962C8B-B14F-4D97-AF65-F5344CB8AC3E}">
        <p14:creationId xmlns:p14="http://schemas.microsoft.com/office/powerpoint/2010/main" val="3214945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236"/>
            <a:ext cx="9144000" cy="600164"/>
          </a:xfrm>
        </p:spPr>
        <p:txBody>
          <a:bodyPr/>
          <a:lstStyle/>
          <a:p>
            <a:r>
              <a:rPr lang="en-US" dirty="0">
                <a:solidFill>
                  <a:schemeClr val="bg1"/>
                </a:solidFill>
              </a:rPr>
              <a:t>34</a:t>
            </a:r>
          </a:p>
        </p:txBody>
      </p:sp>
      <p:sp>
        <p:nvSpPr>
          <p:cNvPr id="167938" name="Rectangle 2"/>
          <p:cNvSpPr>
            <a:spLocks noGrp="1" noChangeArrowheads="1"/>
          </p:cNvSpPr>
          <p:nvPr>
            <p:ph idx="4294967295"/>
          </p:nvPr>
        </p:nvSpPr>
        <p:spPr>
          <a:xfrm>
            <a:off x="152400" y="44450"/>
            <a:ext cx="8839200" cy="2546350"/>
          </a:xfrm>
        </p:spPr>
        <p:txBody>
          <a:bodyPr/>
          <a:lstStyle/>
          <a:p>
            <a:r>
              <a:rPr lang="en-US" altLang="en-US" dirty="0"/>
              <a:t>Molecular clocks are calibrated against branches whose dates </a:t>
            </a:r>
          </a:p>
          <a:p>
            <a:r>
              <a:rPr lang="en-US" altLang="en-US" dirty="0"/>
              <a:t>Individual genes </a:t>
            </a:r>
          </a:p>
          <a:p>
            <a:r>
              <a:rPr lang="en-US" altLang="en-US" dirty="0"/>
              <a:t>Primate proteins appear to have </a:t>
            </a:r>
          </a:p>
        </p:txBody>
      </p:sp>
      <p:pic>
        <p:nvPicPr>
          <p:cNvPr id="6" name="Picture 5" descr="A graph is shown. On the X axis is Divergence time in units of millions of years. The range is from 0 to 120. On the Y axis is Number of mutations. The range is from 0 to 90&#10;A line extends from the origin (0 years, 0 mutations) to 120 million years, 75 mutations. There are many data points along this line, but three are highlighted. They are below the line of best fit. They are at 25 million years, 4 mutations and 30 million years, 5 mutations, and 35 million years, 10 mutations. The line reaches 15 mutations at 25 million years, and raises to 20 mutations at 35 million years, above the highlighted data points."/>
          <p:cNvPicPr>
            <a:picLocks noChangeAspect="1"/>
          </p:cNvPicPr>
          <p:nvPr/>
        </p:nvPicPr>
        <p:blipFill>
          <a:blip r:embed="rId3"/>
          <a:stretch>
            <a:fillRect/>
          </a:stretch>
        </p:blipFill>
        <p:spPr>
          <a:xfrm>
            <a:off x="838199" y="2590800"/>
            <a:ext cx="7467600" cy="4172834"/>
          </a:xfrm>
          <a:prstGeom prst="rect">
            <a:avLst/>
          </a:prstGeom>
        </p:spPr>
      </p:pic>
    </p:spTree>
    <p:extLst>
      <p:ext uri="{BB962C8B-B14F-4D97-AF65-F5344CB8AC3E}">
        <p14:creationId xmlns:p14="http://schemas.microsoft.com/office/powerpoint/2010/main" val="5483899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0" y="0"/>
            <a:ext cx="9144000" cy="646331"/>
          </a:xfrm>
        </p:spPr>
        <p:txBody>
          <a:bodyPr/>
          <a:lstStyle/>
          <a:p>
            <a:r>
              <a:rPr lang="en-US" altLang="en-US" i="1" dirty="0"/>
              <a:t>Differences and Problems in Clock Speed</a:t>
            </a:r>
            <a:endParaRPr lang="en-US" altLang="en-US" dirty="0"/>
          </a:p>
        </p:txBody>
      </p:sp>
      <p:sp>
        <p:nvSpPr>
          <p:cNvPr id="172035" name="Rectangle 3"/>
          <p:cNvSpPr>
            <a:spLocks noGrp="1" noChangeArrowheads="1"/>
          </p:cNvSpPr>
          <p:nvPr>
            <p:ph idx="1"/>
          </p:nvPr>
        </p:nvSpPr>
        <p:spPr>
          <a:xfrm>
            <a:off x="76200" y="762000"/>
            <a:ext cx="8991600" cy="6023043"/>
          </a:xfrm>
        </p:spPr>
        <p:txBody>
          <a:bodyPr/>
          <a:lstStyle/>
          <a:p>
            <a:r>
              <a:rPr lang="en-US" altLang="en-US" dirty="0"/>
              <a:t>If most of the evolutionary change has no effect on fitness, then </a:t>
            </a:r>
          </a:p>
          <a:p>
            <a:r>
              <a:rPr lang="en-US" altLang="en-US" dirty="0"/>
              <a:t>Differences in clock rate for different genes are a function of the importance of the gene and how critical the </a:t>
            </a:r>
          </a:p>
          <a:p>
            <a:r>
              <a:rPr lang="en-US" altLang="en-US" dirty="0"/>
              <a:t>The molecular clock does not run as smoothly as expected if </a:t>
            </a:r>
          </a:p>
          <a:p>
            <a:r>
              <a:rPr lang="en-US" altLang="en-US" dirty="0"/>
              <a:t>Irregularities result from </a:t>
            </a:r>
          </a:p>
          <a:p>
            <a:r>
              <a:rPr lang="en-US" altLang="en-US" dirty="0"/>
              <a:t>Estimates of evolutionary divergences older than the fossil record have a </a:t>
            </a:r>
          </a:p>
          <a:p>
            <a:r>
              <a:rPr lang="en-US" altLang="en-US" dirty="0"/>
              <a:t>The use of multiple genes or genes that evolved in different </a:t>
            </a:r>
          </a:p>
        </p:txBody>
      </p:sp>
    </p:spTree>
    <p:extLst>
      <p:ext uri="{BB962C8B-B14F-4D97-AF65-F5344CB8AC3E}">
        <p14:creationId xmlns:p14="http://schemas.microsoft.com/office/powerpoint/2010/main" val="501207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0" y="0"/>
            <a:ext cx="9144000" cy="1107996"/>
          </a:xfrm>
        </p:spPr>
        <p:txBody>
          <a:bodyPr/>
          <a:lstStyle/>
          <a:p>
            <a:r>
              <a:rPr lang="en-US" altLang="en-US" dirty="0"/>
              <a:t>Applying a Molecular Clock: Dating the Origin of HIV</a:t>
            </a:r>
          </a:p>
        </p:txBody>
      </p:sp>
      <p:sp>
        <p:nvSpPr>
          <p:cNvPr id="176131" name="Rectangle 3"/>
          <p:cNvSpPr>
            <a:spLocks noGrp="1" noChangeArrowheads="1"/>
          </p:cNvSpPr>
          <p:nvPr>
            <p:ph idx="1"/>
          </p:nvPr>
        </p:nvSpPr>
        <p:spPr>
          <a:xfrm>
            <a:off x="152400" y="1143000"/>
            <a:ext cx="8839199" cy="5715000"/>
          </a:xfrm>
        </p:spPr>
        <p:txBody>
          <a:bodyPr/>
          <a:lstStyle/>
          <a:p>
            <a:r>
              <a:rPr lang="en-US" altLang="en-US" dirty="0"/>
              <a:t>Phylogenetic analysis shows that HIV is descended from </a:t>
            </a:r>
          </a:p>
          <a:p>
            <a:endParaRPr lang="en-US" altLang="en-US" dirty="0"/>
          </a:p>
          <a:p>
            <a:r>
              <a:rPr lang="en-US" altLang="en-US" dirty="0"/>
              <a:t>HIV spread to </a:t>
            </a:r>
          </a:p>
          <a:p>
            <a:r>
              <a:rPr lang="en-US" altLang="en-US" dirty="0"/>
              <a:t>Comparison of HIV samples shows that the virus evolved in a </a:t>
            </a:r>
          </a:p>
          <a:p>
            <a:r>
              <a:rPr lang="en-US" altLang="en-US" dirty="0"/>
              <a:t>Application of a molecular clock to one strain of HIV suggests that the strain spread to </a:t>
            </a:r>
          </a:p>
          <a:p>
            <a:endParaRPr lang="en-US" altLang="en-US" dirty="0"/>
          </a:p>
          <a:p>
            <a:r>
              <a:rPr lang="en-US" altLang="en-US" dirty="0"/>
              <a:t>A more advanced molecular clock approach estimated </a:t>
            </a:r>
          </a:p>
        </p:txBody>
      </p:sp>
    </p:spTree>
    <p:extLst>
      <p:ext uri="{BB962C8B-B14F-4D97-AF65-F5344CB8AC3E}">
        <p14:creationId xmlns:p14="http://schemas.microsoft.com/office/powerpoint/2010/main" val="13548323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26.20</a:t>
            </a:r>
          </a:p>
        </p:txBody>
      </p:sp>
      <p:pic>
        <p:nvPicPr>
          <p:cNvPr id="4" name="Picture 3" descr="A graph is shown. On the X-axis is the Year. The range is from nineteen hundred to the year two thousand. On the Y-axis is the Index od base changes between HIV gene sequences. Inset in the graph is a diagram of an HIV virus. The data points begin at about 1985, and tread to increase from 0.11 to 0.15 in 2000. There is an Adjusted best-fit line (accounts for uncertain dates of HIV sequences), which decreases from the 0.15 in 2000 to 0 in around the year nineteen thirty. Shading around the line of best fit shows the estimated range, which widens as it goes earlier in the timeline."/>
          <p:cNvPicPr>
            <a:picLocks noChangeAspect="1"/>
          </p:cNvPicPr>
          <p:nvPr/>
        </p:nvPicPr>
        <p:blipFill>
          <a:blip r:embed="rId3"/>
          <a:stretch>
            <a:fillRect/>
          </a:stretch>
        </p:blipFill>
        <p:spPr>
          <a:xfrm>
            <a:off x="1366837" y="138112"/>
            <a:ext cx="6410325" cy="6581775"/>
          </a:xfrm>
          <a:prstGeom prst="rect">
            <a:avLst/>
          </a:prstGeom>
        </p:spPr>
      </p:pic>
    </p:spTree>
    <p:extLst>
      <p:ext uri="{BB962C8B-B14F-4D97-AF65-F5344CB8AC3E}">
        <p14:creationId xmlns:p14="http://schemas.microsoft.com/office/powerpoint/2010/main" val="1001278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548B7F1-D182-49F5-987C-5505FE15292E}"/>
              </a:ext>
            </a:extLst>
          </p:cNvPr>
          <p:cNvSpPr>
            <a:spLocks noGrp="1"/>
          </p:cNvSpPr>
          <p:nvPr>
            <p:ph type="title"/>
          </p:nvPr>
        </p:nvSpPr>
        <p:spPr>
          <a:xfrm>
            <a:off x="0" y="0"/>
            <a:ext cx="9144000" cy="685800"/>
          </a:xfrm>
        </p:spPr>
        <p:txBody>
          <a:bodyPr>
            <a:noAutofit/>
          </a:bodyPr>
          <a:lstStyle/>
          <a:p>
            <a:pPr algn="ctr"/>
            <a:r>
              <a:rPr lang="en-US" sz="2800" b="1" dirty="0">
                <a:latin typeface="Arial" panose="020B0604020202020204" pitchFamily="34" charset="0"/>
                <a:cs typeface="Arial" panose="020B0604020202020204" pitchFamily="34" charset="0"/>
              </a:rPr>
              <a:t>Scales at which Organisms “Mutate” or “Evolve”</a:t>
            </a:r>
          </a:p>
        </p:txBody>
      </p:sp>
      <p:pic>
        <p:nvPicPr>
          <p:cNvPr id="13" name="Picture 12" descr="Logo, company name&#10;&#10;Description automatically generated">
            <a:extLst>
              <a:ext uri="{FF2B5EF4-FFF2-40B4-BE49-F238E27FC236}">
                <a16:creationId xmlns:a16="http://schemas.microsoft.com/office/drawing/2014/main" id="{7A9A3402-8079-4B9F-9597-AA2AAE6CF756}"/>
              </a:ext>
            </a:extLst>
          </p:cNvPr>
          <p:cNvPicPr>
            <a:picLocks noChangeAspect="1"/>
          </p:cNvPicPr>
          <p:nvPr/>
        </p:nvPicPr>
        <p:blipFill>
          <a:blip r:embed="rId2"/>
          <a:stretch>
            <a:fillRect/>
          </a:stretch>
        </p:blipFill>
        <p:spPr>
          <a:xfrm>
            <a:off x="457200" y="794129"/>
            <a:ext cx="8229600" cy="4814316"/>
          </a:xfrm>
          <a:prstGeom prst="rect">
            <a:avLst/>
          </a:prstGeom>
        </p:spPr>
      </p:pic>
      <p:sp>
        <p:nvSpPr>
          <p:cNvPr id="14" name="TextBox 13">
            <a:extLst>
              <a:ext uri="{FF2B5EF4-FFF2-40B4-BE49-F238E27FC236}">
                <a16:creationId xmlns:a16="http://schemas.microsoft.com/office/drawing/2014/main" id="{09FAD19B-DB52-4708-B502-7EDF3AC2C050}"/>
              </a:ext>
            </a:extLst>
          </p:cNvPr>
          <p:cNvSpPr txBox="1"/>
          <p:nvPr/>
        </p:nvSpPr>
        <p:spPr>
          <a:xfrm>
            <a:off x="0" y="5780782"/>
            <a:ext cx="9144000" cy="1077218"/>
          </a:xfrm>
          <a:prstGeom prst="rect">
            <a:avLst/>
          </a:prstGeom>
          <a:noFill/>
        </p:spPr>
        <p:txBody>
          <a:bodyPr wrap="square" rtlCol="0">
            <a:spAutoFit/>
          </a:bodyPr>
          <a:lstStyle/>
          <a:p>
            <a:r>
              <a:rPr lang="en-US" sz="1600" dirty="0"/>
              <a:t>The timescales over which organisms “mutate” or “evolve” vary dramatically from months (viruses) to millions of years (animals). The figure above plots the average genome size in base-pairs (x-axis) versus the average mutation-rate(y-axis) for various organisms. In addition, a second y-axis (“minimum time to 1% mutation”) illustrate approximate timescales corresponding to each rate.</a:t>
            </a:r>
          </a:p>
        </p:txBody>
      </p:sp>
      <p:sp>
        <p:nvSpPr>
          <p:cNvPr id="2" name="TextBox 1">
            <a:extLst>
              <a:ext uri="{FF2B5EF4-FFF2-40B4-BE49-F238E27FC236}">
                <a16:creationId xmlns:a16="http://schemas.microsoft.com/office/drawing/2014/main" id="{2A6D514B-DB5A-E7AF-556A-4F93814C96A1}"/>
              </a:ext>
            </a:extLst>
          </p:cNvPr>
          <p:cNvSpPr txBox="1"/>
          <p:nvPr/>
        </p:nvSpPr>
        <p:spPr>
          <a:xfrm>
            <a:off x="4114800" y="716155"/>
            <a:ext cx="2362200" cy="584775"/>
          </a:xfrm>
          <a:prstGeom prst="rect">
            <a:avLst/>
          </a:prstGeom>
          <a:solidFill>
            <a:srgbClr val="FFFF00"/>
          </a:solidFill>
          <a:ln w="25400">
            <a:solidFill>
              <a:schemeClr val="tx1"/>
            </a:solidFill>
          </a:ln>
        </p:spPr>
        <p:txBody>
          <a:bodyPr wrap="square" rtlCol="0">
            <a:spAutoFit/>
          </a:bodyPr>
          <a:lstStyle/>
          <a:p>
            <a:r>
              <a:rPr lang="en-US" sz="1600" b="1" dirty="0">
                <a:solidFill>
                  <a:srgbClr val="FF0000"/>
                </a:solidFill>
              </a:rPr>
              <a:t>So…What is the “take away” message here?</a:t>
            </a:r>
          </a:p>
        </p:txBody>
      </p:sp>
    </p:spTree>
    <p:extLst>
      <p:ext uri="{BB962C8B-B14F-4D97-AF65-F5344CB8AC3E}">
        <p14:creationId xmlns:p14="http://schemas.microsoft.com/office/powerpoint/2010/main" val="4063958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0" y="0"/>
            <a:ext cx="9144000" cy="1143000"/>
          </a:xfrm>
        </p:spPr>
        <p:txBody>
          <a:bodyPr/>
          <a:lstStyle/>
          <a:p>
            <a:r>
              <a:rPr lang="en-US" altLang="en-US" dirty="0">
                <a:solidFill>
                  <a:srgbClr val="FF0000"/>
                </a:solidFill>
              </a:rPr>
              <a:t>Concept 26.6: Our understanding of the tree of life continues to change based on new data</a:t>
            </a:r>
          </a:p>
        </p:txBody>
      </p:sp>
      <p:sp>
        <p:nvSpPr>
          <p:cNvPr id="182275" name="Rectangle 3"/>
          <p:cNvSpPr>
            <a:spLocks noGrp="1" noChangeArrowheads="1"/>
          </p:cNvSpPr>
          <p:nvPr>
            <p:ph idx="1"/>
          </p:nvPr>
        </p:nvSpPr>
        <p:spPr>
          <a:xfrm>
            <a:off x="152400" y="1066800"/>
            <a:ext cx="8839199" cy="5715000"/>
          </a:xfrm>
        </p:spPr>
        <p:txBody>
          <a:bodyPr/>
          <a:lstStyle/>
          <a:p>
            <a:r>
              <a:rPr lang="en-US" altLang="en-US" dirty="0"/>
              <a:t>Recently, we have gained insight into the very deepest branches of the </a:t>
            </a:r>
          </a:p>
          <a:p>
            <a:endParaRPr lang="en-US" altLang="en-US" dirty="0"/>
          </a:p>
          <a:p>
            <a:r>
              <a:rPr lang="en-US" altLang="en-US" dirty="0"/>
              <a:t>Early taxonomists classified all </a:t>
            </a:r>
          </a:p>
          <a:p>
            <a:endParaRPr lang="en-US" altLang="en-US" dirty="0"/>
          </a:p>
          <a:p>
            <a:r>
              <a:rPr lang="en-US" altLang="en-US" dirty="0"/>
              <a:t>Later, five kingdoms were recognized: </a:t>
            </a:r>
          </a:p>
          <a:p>
            <a:endParaRPr lang="en-US" altLang="en-US" dirty="0"/>
          </a:p>
          <a:p>
            <a:r>
              <a:rPr lang="en-US" altLang="en-US" dirty="0"/>
              <a:t>More recently, the three-domain system has been adopted: </a:t>
            </a:r>
            <a:endParaRPr lang="en-US" altLang="en-US" b="1" dirty="0"/>
          </a:p>
          <a:p>
            <a:r>
              <a:rPr lang="en-US" altLang="en-US" dirty="0"/>
              <a:t>The three-domain system is </a:t>
            </a:r>
          </a:p>
        </p:txBody>
      </p:sp>
    </p:spTree>
    <p:extLst>
      <p:ext uri="{BB962C8B-B14F-4D97-AF65-F5344CB8AC3E}">
        <p14:creationId xmlns:p14="http://schemas.microsoft.com/office/powerpoint/2010/main" val="37318825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26.21</a:t>
            </a:r>
          </a:p>
        </p:txBody>
      </p:sp>
      <p:pic>
        <p:nvPicPr>
          <p:cNvPr id="4" name="Picture 3" descr="A phylogenetic tree is shown for the three domains of life (Eukarya, Archaea, and Bacteria).&#10;The tree branches in two directions from the first point, labeled Common ancestor of all life. One branch leads in the direction of Eukarya and Archaea, and the other branch leads to Bacteria.&#10;The branch leading to Eukarya and Archaea divide, one branch leading to each domain.&#10;The branch leading to Eukarya divides into four branches. One leads to Euglenozoans, and the other three lead to branching points. The first leads to Forams in one direction, and another branching point in the other that leads to Diatoms and Ciliates. The second branching point leads to Red algae in one direction, and a branching point that leads to green algae and land plants in the other direction.&#10;The third branching point leads to amoebas in one direction, and a branching point that leads to fungi and animals in the other direction. Land plants, Fungi and Animals are all highlighted.&#10;The branch leading to Archaea leads to a branching point. One direction leads to Euryarcheotes, and the other leads to a branching point that leads to Thaumarchaeotes and Crenarcheotes.&#10;The branch from the common ancestor leading towards Bacteria leads to a branching point. This branching point divides into three directions. The first leads to a branching point that splits to Proteobacteria and Mitochondria (shown with an asterisk). The second branch leads to a branching point that divides into Chlamydias and Spirochetes. The third branch leads to a branching point that leads to Gram-positive bacteria in one direction, and to a branching point that leads to cyanobacteria and Chloroplasts (shown with an asterisk) in the other direction."/>
          <p:cNvPicPr>
            <a:picLocks noChangeAspect="1"/>
          </p:cNvPicPr>
          <p:nvPr/>
        </p:nvPicPr>
        <p:blipFill>
          <a:blip r:embed="rId3"/>
          <a:stretch>
            <a:fillRect/>
          </a:stretch>
        </p:blipFill>
        <p:spPr>
          <a:xfrm>
            <a:off x="2066925" y="204787"/>
            <a:ext cx="5010150" cy="6448425"/>
          </a:xfrm>
          <a:prstGeom prst="rect">
            <a:avLst/>
          </a:prstGeom>
        </p:spPr>
      </p:pic>
      <p:sp>
        <p:nvSpPr>
          <p:cNvPr id="3" name="Right Brace 2">
            <a:extLst>
              <a:ext uri="{FF2B5EF4-FFF2-40B4-BE49-F238E27FC236}">
                <a16:creationId xmlns:a16="http://schemas.microsoft.com/office/drawing/2014/main" id="{91C60750-34D2-0EFD-E8B4-B924ECBB88EF}"/>
              </a:ext>
            </a:extLst>
          </p:cNvPr>
          <p:cNvSpPr/>
          <p:nvPr/>
        </p:nvSpPr>
        <p:spPr bwMode="auto">
          <a:xfrm>
            <a:off x="7077075" y="1752599"/>
            <a:ext cx="685800" cy="2031207"/>
          </a:xfrm>
          <a:prstGeom prst="rightBrace">
            <a:avLst>
              <a:gd name="adj1" fmla="val 32777"/>
              <a:gd name="adj2" fmla="val 50000"/>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7" name="Right Brace 6">
            <a:extLst>
              <a:ext uri="{FF2B5EF4-FFF2-40B4-BE49-F238E27FC236}">
                <a16:creationId xmlns:a16="http://schemas.microsoft.com/office/drawing/2014/main" id="{28173498-4F63-BFB6-8909-9D2434D42B78}"/>
              </a:ext>
            </a:extLst>
          </p:cNvPr>
          <p:cNvSpPr/>
          <p:nvPr/>
        </p:nvSpPr>
        <p:spPr bwMode="auto">
          <a:xfrm>
            <a:off x="7077075" y="3958113"/>
            <a:ext cx="685800" cy="1528287"/>
          </a:xfrm>
          <a:prstGeom prst="rightBrace">
            <a:avLst>
              <a:gd name="adj1" fmla="val 32777"/>
              <a:gd name="adj2" fmla="val 50000"/>
            </a:avLst>
          </a:pr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84" charset="0"/>
            </a:endParaRPr>
          </a:p>
        </p:txBody>
      </p:sp>
      <p:sp>
        <p:nvSpPr>
          <p:cNvPr id="9" name="TextBox 8">
            <a:extLst>
              <a:ext uri="{FF2B5EF4-FFF2-40B4-BE49-F238E27FC236}">
                <a16:creationId xmlns:a16="http://schemas.microsoft.com/office/drawing/2014/main" id="{0FAB5731-71D0-0AAD-7392-16F9B211FDBD}"/>
              </a:ext>
            </a:extLst>
          </p:cNvPr>
          <p:cNvSpPr txBox="1"/>
          <p:nvPr/>
        </p:nvSpPr>
        <p:spPr>
          <a:xfrm>
            <a:off x="7762875" y="2306537"/>
            <a:ext cx="1043877" cy="923330"/>
          </a:xfrm>
          <a:prstGeom prst="rect">
            <a:avLst/>
          </a:prstGeom>
          <a:noFill/>
        </p:spPr>
        <p:txBody>
          <a:bodyPr wrap="none" rtlCol="0">
            <a:spAutoFit/>
          </a:bodyPr>
          <a:lstStyle/>
          <a:p>
            <a:pPr algn="ctr"/>
            <a:r>
              <a:rPr lang="en-US" sz="1800" dirty="0"/>
              <a:t>Eukarya</a:t>
            </a:r>
          </a:p>
          <a:p>
            <a:pPr algn="ctr"/>
            <a:r>
              <a:rPr lang="en-US" sz="1800" dirty="0"/>
              <a:t>vs.</a:t>
            </a:r>
          </a:p>
          <a:p>
            <a:pPr algn="ctr"/>
            <a:r>
              <a:rPr lang="en-US" sz="1800" dirty="0"/>
              <a:t>Archaea</a:t>
            </a:r>
          </a:p>
        </p:txBody>
      </p:sp>
      <p:sp>
        <p:nvSpPr>
          <p:cNvPr id="11" name="TextBox 10">
            <a:extLst>
              <a:ext uri="{FF2B5EF4-FFF2-40B4-BE49-F238E27FC236}">
                <a16:creationId xmlns:a16="http://schemas.microsoft.com/office/drawing/2014/main" id="{B944B14E-A0C7-CFD0-77F2-AA90B895D0B2}"/>
              </a:ext>
            </a:extLst>
          </p:cNvPr>
          <p:cNvSpPr txBox="1"/>
          <p:nvPr/>
        </p:nvSpPr>
        <p:spPr>
          <a:xfrm>
            <a:off x="7762875" y="4260591"/>
            <a:ext cx="1043877" cy="923330"/>
          </a:xfrm>
          <a:prstGeom prst="rect">
            <a:avLst/>
          </a:prstGeom>
          <a:noFill/>
        </p:spPr>
        <p:txBody>
          <a:bodyPr wrap="none" rtlCol="0">
            <a:spAutoFit/>
          </a:bodyPr>
          <a:lstStyle/>
          <a:p>
            <a:pPr algn="ctr"/>
            <a:r>
              <a:rPr lang="en-US" sz="1800" dirty="0"/>
              <a:t>Archaea</a:t>
            </a:r>
          </a:p>
          <a:p>
            <a:pPr algn="ctr"/>
            <a:r>
              <a:rPr lang="en-US" sz="1800" dirty="0"/>
              <a:t>vs.</a:t>
            </a:r>
          </a:p>
          <a:p>
            <a:pPr algn="ctr"/>
            <a:r>
              <a:rPr lang="en-US" sz="1800" dirty="0"/>
              <a:t>Bacteria</a:t>
            </a:r>
          </a:p>
        </p:txBody>
      </p:sp>
    </p:spTree>
    <p:extLst>
      <p:ext uri="{BB962C8B-B14F-4D97-AF65-F5344CB8AC3E}">
        <p14:creationId xmlns:p14="http://schemas.microsoft.com/office/powerpoint/2010/main" val="28172117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0" y="0"/>
            <a:ext cx="9144000" cy="646331"/>
          </a:xfrm>
        </p:spPr>
        <p:txBody>
          <a:bodyPr/>
          <a:lstStyle/>
          <a:p>
            <a:r>
              <a:rPr lang="en-US" altLang="en-US" dirty="0"/>
              <a:t>The Important Role of Horizontal Gene Transfer</a:t>
            </a:r>
          </a:p>
        </p:txBody>
      </p:sp>
      <p:sp>
        <p:nvSpPr>
          <p:cNvPr id="188419" name="Rectangle 3"/>
          <p:cNvSpPr>
            <a:spLocks noGrp="1" noChangeArrowheads="1"/>
          </p:cNvSpPr>
          <p:nvPr>
            <p:ph idx="1"/>
          </p:nvPr>
        </p:nvSpPr>
        <p:spPr>
          <a:xfrm>
            <a:off x="72190" y="625642"/>
            <a:ext cx="8991600" cy="6096000"/>
          </a:xfrm>
        </p:spPr>
        <p:txBody>
          <a:bodyPr/>
          <a:lstStyle/>
          <a:p>
            <a:r>
              <a:rPr lang="en-US" altLang="en-US" dirty="0"/>
              <a:t>The tree of life suggests that eukaryotes and archaea are more </a:t>
            </a:r>
          </a:p>
          <a:p>
            <a:endParaRPr lang="en-US" altLang="en-US" dirty="0"/>
          </a:p>
          <a:p>
            <a:r>
              <a:rPr lang="en-US" altLang="en-US" dirty="0"/>
              <a:t>The tree of life is based largely on rRNA genes; but, some </a:t>
            </a:r>
          </a:p>
          <a:p>
            <a:r>
              <a:rPr lang="en-US" altLang="en-US" dirty="0"/>
              <a:t>There have been substantial interchanges of genes between </a:t>
            </a:r>
          </a:p>
          <a:p>
            <a:r>
              <a:rPr lang="en-US" altLang="en-US" b="1" dirty="0"/>
              <a:t>Horizontal gene</a:t>
            </a:r>
            <a:r>
              <a:rPr lang="en-US" altLang="en-US" dirty="0"/>
              <a:t> </a:t>
            </a:r>
            <a:r>
              <a:rPr lang="en-US" altLang="en-US" b="1" dirty="0"/>
              <a:t>transfer </a:t>
            </a:r>
            <a:r>
              <a:rPr lang="en-US" altLang="en-US" dirty="0"/>
              <a:t>is the </a:t>
            </a:r>
          </a:p>
          <a:p>
            <a:endParaRPr lang="en-US" altLang="en-US" dirty="0"/>
          </a:p>
          <a:p>
            <a:r>
              <a:rPr lang="en-US" altLang="en-US" dirty="0"/>
              <a:t>Horizontal gene transfer occurs by exchange of transposable elements and </a:t>
            </a:r>
          </a:p>
        </p:txBody>
      </p:sp>
    </p:spTree>
    <p:extLst>
      <p:ext uri="{BB962C8B-B14F-4D97-AF65-F5344CB8AC3E}">
        <p14:creationId xmlns:p14="http://schemas.microsoft.com/office/powerpoint/2010/main" val="2508152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41</a:t>
            </a:r>
          </a:p>
        </p:txBody>
      </p:sp>
      <p:sp>
        <p:nvSpPr>
          <p:cNvPr id="192514" name="Rectangle 2"/>
          <p:cNvSpPr>
            <a:spLocks noGrp="1" noChangeArrowheads="1"/>
          </p:cNvSpPr>
          <p:nvPr>
            <p:ph idx="4294967295"/>
          </p:nvPr>
        </p:nvSpPr>
        <p:spPr>
          <a:xfrm>
            <a:off x="91190" y="76200"/>
            <a:ext cx="8991600" cy="6781800"/>
          </a:xfrm>
        </p:spPr>
        <p:txBody>
          <a:bodyPr/>
          <a:lstStyle/>
          <a:p>
            <a:r>
              <a:rPr lang="en-US" altLang="en-US" dirty="0"/>
              <a:t>Disparities between gene trees can be explained by the </a:t>
            </a:r>
          </a:p>
          <a:p>
            <a:r>
              <a:rPr lang="en-US" altLang="en-US" dirty="0"/>
              <a:t>Horizontal gene transfer has played a key role in the evolution of </a:t>
            </a:r>
          </a:p>
          <a:p>
            <a:r>
              <a:rPr lang="en-US" altLang="en-US" dirty="0"/>
              <a:t>Eukaryotes can acquire nuclear genes from </a:t>
            </a:r>
          </a:p>
          <a:p>
            <a:endParaRPr lang="en-US" altLang="en-US" dirty="0"/>
          </a:p>
          <a:p>
            <a:pPr lvl="1"/>
            <a:r>
              <a:rPr lang="en-US" altLang="en-US" dirty="0"/>
              <a:t>EX: the alga </a:t>
            </a:r>
            <a:r>
              <a:rPr lang="en-US" altLang="en-US" i="1" dirty="0"/>
              <a:t>Galdieria sulphuraria</a:t>
            </a:r>
            <a:r>
              <a:rPr lang="en-US" altLang="en-US" dirty="0"/>
              <a:t> acquired about 5% of its genes from </a:t>
            </a:r>
          </a:p>
          <a:p>
            <a:r>
              <a:rPr lang="en-US" altLang="en-US" dirty="0"/>
              <a:t>Some biologists argue that horizontal gene transfer was so common, early life history should be shown as a </a:t>
            </a:r>
          </a:p>
          <a:p>
            <a:r>
              <a:rPr lang="en-US" altLang="en-US" dirty="0"/>
              <a:t>Bottom Line: Determining precise relatedness among organisms can be </a:t>
            </a:r>
          </a:p>
        </p:txBody>
      </p:sp>
    </p:spTree>
    <p:extLst>
      <p:ext uri="{BB962C8B-B14F-4D97-AF65-F5344CB8AC3E}">
        <p14:creationId xmlns:p14="http://schemas.microsoft.com/office/powerpoint/2010/main" val="236658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26.23</a:t>
            </a:r>
          </a:p>
        </p:txBody>
      </p:sp>
      <p:pic>
        <p:nvPicPr>
          <p:cNvPr id="3" name="Picture 2" descr="A diagram shows a tangle of arrows, leading from Ancestral cell populations to the three domains of life, Eukarya, Archaea and Bacteria. Three of the lines leading to Eukarya are labeled Animalia, Fungi and Plantae. Two arrows leading to Archaea are labeled Euryarchaeota&#10;and Crenarchaeota. An arrow pointing to Bacteria splits into two. One continues to Bacteria and is labeled Cyanobacteria, while the other points to Plantae, and is labeled Chloroplasts. Another arrow also splits in two, one continuing to Bacteria and is labeled Proteobacteria while the other points to the branching point common to all Eukarya and is labeled Mitochondira."/>
          <p:cNvPicPr>
            <a:picLocks noChangeAspect="1"/>
          </p:cNvPicPr>
          <p:nvPr/>
        </p:nvPicPr>
        <p:blipFill>
          <a:blip r:embed="rId3"/>
          <a:stretch>
            <a:fillRect/>
          </a:stretch>
        </p:blipFill>
        <p:spPr>
          <a:xfrm>
            <a:off x="1285875" y="209550"/>
            <a:ext cx="6572250" cy="6438900"/>
          </a:xfrm>
          <a:prstGeom prst="rect">
            <a:avLst/>
          </a:prstGeom>
        </p:spPr>
      </p:pic>
    </p:spTree>
    <p:extLst>
      <p:ext uri="{BB962C8B-B14F-4D97-AF65-F5344CB8AC3E}">
        <p14:creationId xmlns:p14="http://schemas.microsoft.com/office/powerpoint/2010/main" val="2383458517"/>
      </p:ext>
    </p:extLst>
  </p:cSld>
  <p:clrMapOvr>
    <a:masterClrMapping/>
  </p:clrMapOvr>
</p:sld>
</file>

<file path=ppt/theme/theme1.xml><?xml version="1.0" encoding="utf-8"?>
<a:theme xmlns:a="http://schemas.openxmlformats.org/drawingml/2006/main" name="Campbell11e_LectureDesign">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mpbell11e_LectureDesign" id="{1E29558D-F693-462F-BFE8-09589E69881C}" vid="{70B05F25-2FB3-4FD4-980B-A633ABC17E0B}"/>
    </a:ext>
  </a:ext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rtlCol="0" anchor="ctr"/>
      <a:lstStyle>
        <a:defPPr algn="ctr">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6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4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5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42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Campbell11e_LectureDesign</Template>
  <TotalTime>11190</TotalTime>
  <Words>2380</Words>
  <Application>Microsoft Office PowerPoint</Application>
  <PresentationFormat>On-screen Show (4:3)</PresentationFormat>
  <Paragraphs>486</Paragraphs>
  <Slides>48</Slides>
  <Notes>41</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48</vt:i4>
      </vt:variant>
    </vt:vector>
  </HeadingPairs>
  <TitlesOfParts>
    <vt:vector size="63" baseType="lpstr">
      <vt:lpstr>ＭＳ Ｐゴシック</vt:lpstr>
      <vt:lpstr>Arial</vt:lpstr>
      <vt:lpstr>Courier New</vt:lpstr>
      <vt:lpstr>Geneva</vt:lpstr>
      <vt:lpstr>Times</vt:lpstr>
      <vt:lpstr>Times New Roman</vt:lpstr>
      <vt:lpstr>Wingdings</vt:lpstr>
      <vt:lpstr>ヒラギノ角ゴ Pro W3</vt:lpstr>
      <vt:lpstr>Campbell11e_LectureDesign</vt:lpstr>
      <vt:lpstr>Blank</vt:lpstr>
      <vt:lpstr>3_Blank</vt:lpstr>
      <vt:lpstr>16_Blank</vt:lpstr>
      <vt:lpstr>34_Blank</vt:lpstr>
      <vt:lpstr>35_Blank</vt:lpstr>
      <vt:lpstr>42_Blank</vt:lpstr>
      <vt:lpstr>CH 26</vt:lpstr>
      <vt:lpstr>CH 26 Learning Objectives</vt:lpstr>
      <vt:lpstr>Investigating the Tree of Life</vt:lpstr>
      <vt:lpstr>Binomial Nomenclature</vt:lpstr>
      <vt:lpstr>5</vt:lpstr>
      <vt:lpstr>Hierarchical Classification</vt:lpstr>
      <vt:lpstr>Figure 26.3</vt:lpstr>
      <vt:lpstr>Linking Classification and Phylogeny</vt:lpstr>
      <vt:lpstr>What We Can and Cannot Learn from Phylogenetic Trees</vt:lpstr>
      <vt:lpstr>10</vt:lpstr>
      <vt:lpstr>11</vt:lpstr>
      <vt:lpstr>Concept 26.2: Phylogenies are inferred from morphological and molecular data</vt:lpstr>
      <vt:lpstr>Sorting Homology from Analogy</vt:lpstr>
      <vt:lpstr>14</vt:lpstr>
      <vt:lpstr>Concept 26.3: Shared characters are used to construct phylogenetic trees</vt:lpstr>
      <vt:lpstr>16</vt:lpstr>
      <vt:lpstr>17</vt:lpstr>
      <vt:lpstr>Figure 26.11</vt:lpstr>
      <vt:lpstr>Shared Ancestral and Shared Derived Characters</vt:lpstr>
      <vt:lpstr>Inferring Phylogenies Using Derived Characters</vt:lpstr>
      <vt:lpstr>21</vt:lpstr>
      <vt:lpstr>22</vt:lpstr>
      <vt:lpstr>PowerPoint Presentation</vt:lpstr>
      <vt:lpstr>PowerPoint Presentation</vt:lpstr>
      <vt:lpstr>PowerPoint Presentation</vt:lpstr>
      <vt:lpstr>PowerPoint Presentation</vt:lpstr>
      <vt:lpstr>Phylogenetic Trees with Proportional Branch Lengths</vt:lpstr>
      <vt:lpstr>24</vt:lpstr>
      <vt:lpstr>Maximum Parsimony and Maximum Likelihood</vt:lpstr>
      <vt:lpstr>26</vt:lpstr>
      <vt:lpstr>Phylogenetic Trees as Hypotheses</vt:lpstr>
      <vt:lpstr>28</vt:lpstr>
      <vt:lpstr>Concept 26.4: An organism’s evolutionary history is documented in its genome</vt:lpstr>
      <vt:lpstr>Gene Duplications and Gene Families</vt:lpstr>
      <vt:lpstr>31</vt:lpstr>
      <vt:lpstr>Orthologous  vs. Paralogous genes example</vt:lpstr>
      <vt:lpstr>Genome Evolution</vt:lpstr>
      <vt:lpstr>Concept 26.5: Molecular clocks help track evolutionary time</vt:lpstr>
      <vt:lpstr>34</vt:lpstr>
      <vt:lpstr>Differences and Problems in Clock Speed</vt:lpstr>
      <vt:lpstr>Applying a Molecular Clock: Dating the Origin of HIV</vt:lpstr>
      <vt:lpstr>Figure 26.20</vt:lpstr>
      <vt:lpstr>Scales at which Organisms “Mutate” or “Evolve”</vt:lpstr>
      <vt:lpstr>Concept 26.6: Our understanding of the tree of life continues to change based on new data</vt:lpstr>
      <vt:lpstr>Figure 26.21</vt:lpstr>
      <vt:lpstr>The Important Role of Horizontal Gene Transfer</vt:lpstr>
      <vt:lpstr>41</vt:lpstr>
      <vt:lpstr>Figure 26.23</vt:lpstr>
    </vt:vector>
  </TitlesOfParts>
  <Company>Jerome 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Adam W. Hrincevich</dc:creator>
  <cp:lastModifiedBy>Adam Hrincevich</cp:lastModifiedBy>
  <cp:revision>533</cp:revision>
  <dcterms:created xsi:type="dcterms:W3CDTF">2010-08-06T18:35:02Z</dcterms:created>
  <dcterms:modified xsi:type="dcterms:W3CDTF">2026-09-14T22:55:18Z</dcterms:modified>
</cp:coreProperties>
</file>