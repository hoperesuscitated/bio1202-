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900" r:id="rId1"/>
    <p:sldMasterId id="2147483905" r:id="rId2"/>
    <p:sldMasterId id="2147483918" r:id="rId3"/>
    <p:sldMasterId id="2147483950" r:id="rId4"/>
    <p:sldMasterId id="2147483956" r:id="rId5"/>
    <p:sldMasterId id="2147483976" r:id="rId6"/>
  </p:sldMasterIdLst>
  <p:notesMasterIdLst>
    <p:notesMasterId r:id="rId61"/>
  </p:notesMasterIdLst>
  <p:handoutMasterIdLst>
    <p:handoutMasterId r:id="rId62"/>
  </p:handoutMasterIdLst>
  <p:sldIdLst>
    <p:sldId id="702" r:id="rId7"/>
    <p:sldId id="703" r:id="rId8"/>
    <p:sldId id="505" r:id="rId9"/>
    <p:sldId id="510" r:id="rId10"/>
    <p:sldId id="512" r:id="rId11"/>
    <p:sldId id="515" r:id="rId12"/>
    <p:sldId id="603" r:id="rId13"/>
    <p:sldId id="711" r:id="rId14"/>
    <p:sldId id="521" r:id="rId15"/>
    <p:sldId id="522" r:id="rId16"/>
    <p:sldId id="524" r:id="rId17"/>
    <p:sldId id="525" r:id="rId18"/>
    <p:sldId id="526" r:id="rId19"/>
    <p:sldId id="528" r:id="rId20"/>
    <p:sldId id="529" r:id="rId21"/>
    <p:sldId id="531" r:id="rId22"/>
    <p:sldId id="533" r:id="rId23"/>
    <p:sldId id="535" r:id="rId24"/>
    <p:sldId id="537" r:id="rId25"/>
    <p:sldId id="538" r:id="rId26"/>
    <p:sldId id="541" r:id="rId27"/>
    <p:sldId id="613" r:id="rId28"/>
    <p:sldId id="543" r:id="rId29"/>
    <p:sldId id="704" r:id="rId30"/>
    <p:sldId id="545" r:id="rId31"/>
    <p:sldId id="616" r:id="rId32"/>
    <p:sldId id="549" r:id="rId33"/>
    <p:sldId id="551" r:id="rId34"/>
    <p:sldId id="552" r:id="rId35"/>
    <p:sldId id="555" r:id="rId36"/>
    <p:sldId id="557" r:id="rId37"/>
    <p:sldId id="708" r:id="rId38"/>
    <p:sldId id="619" r:id="rId39"/>
    <p:sldId id="559" r:id="rId40"/>
    <p:sldId id="560" r:id="rId41"/>
    <p:sldId id="622" r:id="rId42"/>
    <p:sldId id="566" r:id="rId43"/>
    <p:sldId id="705" r:id="rId44"/>
    <p:sldId id="572" r:id="rId45"/>
    <p:sldId id="706" r:id="rId46"/>
    <p:sldId id="707" r:id="rId47"/>
    <p:sldId id="709" r:id="rId48"/>
    <p:sldId id="576" r:id="rId49"/>
    <p:sldId id="632" r:id="rId50"/>
    <p:sldId id="710" r:id="rId51"/>
    <p:sldId id="578" r:id="rId52"/>
    <p:sldId id="582" r:id="rId53"/>
    <p:sldId id="584" r:id="rId54"/>
    <p:sldId id="587" r:id="rId55"/>
    <p:sldId id="588" r:id="rId56"/>
    <p:sldId id="590" r:id="rId57"/>
    <p:sldId id="640" r:id="rId58"/>
    <p:sldId id="644" r:id="rId59"/>
    <p:sldId id="593" r:id="rId6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160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thleen Fitzpatrick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33"/>
    <a:srgbClr val="61887E"/>
    <a:srgbClr val="D1300D"/>
    <a:srgbClr val="B9B9B9"/>
    <a:srgbClr val="AA2B15"/>
    <a:srgbClr val="AEB9B1"/>
    <a:srgbClr val="4F6F92"/>
    <a:srgbClr val="F7F7F7"/>
    <a:srgbClr val="0047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4" autoAdjust="0"/>
    <p:restoredTop sz="91971" autoAdjust="0"/>
  </p:normalViewPr>
  <p:slideViewPr>
    <p:cSldViewPr>
      <p:cViewPr varScale="1">
        <p:scale>
          <a:sx n="80" d="100"/>
          <a:sy n="80" d="100"/>
        </p:scale>
        <p:origin x="155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04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3294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commentAuthors" Target="commentAuthor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ea typeface="ヒラギノ角ゴ Pro W3" pitchFamily="12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2FDBCFE6-7A80-4E41-8712-1C12F7B6050B}" type="datetimeFigureOut">
              <a:rPr lang="en-US" altLang="en-US"/>
              <a:pPr>
                <a:defRPr/>
              </a:pPr>
              <a:t>8/29/2026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ea typeface="ヒラギノ角ゴ Pro W3" pitchFamily="12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1A23EEE-2F46-4732-8626-99218F3EFA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5027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ヒラギノ角ゴ Pro W3" pitchFamily="8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ヒラギノ角ゴ Pro W3" pitchFamily="8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2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ヒラギノ角ゴ Pro W3" pitchFamily="8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957CC8-6916-4659-8D61-C81A523E19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4750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23.1 Is this finch evolving?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957CC8-6916-4659-8D61-C81A523E1943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8396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07776BC0-29B7-40C1-95D7-68357C0066C4}" type="slidenum">
              <a:rPr lang="en-US" altLang="en-US">
                <a:latin typeface="Arial" pitchFamily="34" charset="0"/>
                <a:cs typeface="Arial" pitchFamily="34" charset="0"/>
              </a:rPr>
              <a:pPr/>
              <a:t>3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99691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E89AF13F-3E22-4A0A-899D-C6A60F89BCC4}" type="slidenum">
              <a:rPr lang="en-US" altLang="en-US">
                <a:latin typeface="Arial" pitchFamily="34" charset="0"/>
                <a:cs typeface="Arial" pitchFamily="34" charset="0"/>
              </a:rPr>
              <a:pPr/>
              <a:t>4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3083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C2A42004-D6EB-445D-BAA8-94D807C7BA79}" type="slidenum">
              <a:rPr lang="en-US" altLang="en-US">
                <a:latin typeface="Arial" pitchFamily="34" charset="0"/>
                <a:cs typeface="Arial" pitchFamily="34" charset="0"/>
              </a:rPr>
              <a:pPr/>
              <a:t>5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41287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7CCDEAD5-30AA-4BF4-9534-ED21C6D52746}" type="slidenum">
              <a:rPr lang="en-US" altLang="en-US">
                <a:latin typeface="Arial" pitchFamily="34" charset="0"/>
                <a:cs typeface="Arial" pitchFamily="34" charset="0"/>
              </a:rPr>
              <a:pPr/>
              <a:t>6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9381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23.4 Extensive genetic variation at the molecular level of the alcohol dehydrogenase (</a:t>
            </a:r>
            <a:r>
              <a:rPr lang="en-US" dirty="0" err="1">
                <a:latin typeface="Arial"/>
              </a:rPr>
              <a:t>Adh</a:t>
            </a:r>
            <a:r>
              <a:rPr lang="en-US" dirty="0">
                <a:latin typeface="Arial"/>
              </a:rPr>
              <a:t>) gene in fruit flies (</a:t>
            </a:r>
            <a:r>
              <a:rPr lang="en-US" i="1" dirty="0" err="1">
                <a:latin typeface="Arial"/>
              </a:rPr>
              <a:t>Drosophilia</a:t>
            </a:r>
            <a:r>
              <a:rPr lang="en-US" i="1" dirty="0">
                <a:latin typeface="Arial"/>
              </a:rPr>
              <a:t> melanogaster</a:t>
            </a:r>
            <a:r>
              <a:rPr lang="en-US" dirty="0">
                <a:latin typeface="Arial"/>
              </a:rPr>
              <a:t>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1269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64021" indent="-293854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75417" indent="-235083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45584" indent="-235083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115750" indent="-235083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85918" indent="-23508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3056085" indent="-23508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526251" indent="-23508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996419" indent="-23508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689AB417-9A73-4797-A95E-12C5308E49A5}" type="slidenum">
              <a:rPr lang="en-US" altLang="en-US">
                <a:latin typeface="Arial" pitchFamily="34" charset="0"/>
                <a:cs typeface="Arial" pitchFamily="34" charset="0"/>
              </a:rPr>
              <a:pPr/>
              <a:t>8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defTabSz="940334" eaLnBrk="1" hangingPunct="1">
              <a:defRPr/>
            </a:pPr>
            <a:r>
              <a:rPr lang="en-US" dirty="0">
                <a:latin typeface="Arial"/>
              </a:rPr>
              <a:t>Figure 23.5 Non-heritable variation</a:t>
            </a:r>
          </a:p>
        </p:txBody>
      </p:sp>
    </p:spTree>
    <p:extLst>
      <p:ext uri="{BB962C8B-B14F-4D97-AF65-F5344CB8AC3E}">
        <p14:creationId xmlns:p14="http://schemas.microsoft.com/office/powerpoint/2010/main" val="2330073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007139FB-044D-4AF9-B464-0E92F69D07B5}" type="slidenum">
              <a:rPr lang="en-US" altLang="en-US">
                <a:latin typeface="Arial" pitchFamily="34" charset="0"/>
                <a:cs typeface="Arial" pitchFamily="34" charset="0"/>
              </a:rPr>
              <a:pPr/>
              <a:t>9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085531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E19A897B-00EC-4D88-A0A8-C70ABDA959E4}" type="slidenum">
              <a:rPr lang="en-US" altLang="en-US">
                <a:latin typeface="Arial" pitchFamily="34" charset="0"/>
                <a:cs typeface="Arial" pitchFamily="34" charset="0"/>
              </a:rPr>
              <a:pPr/>
              <a:t>10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58734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2CF85246-B949-45E8-BD34-3E92059D52C1}" type="slidenum">
              <a:rPr lang="en-US" altLang="en-US">
                <a:latin typeface="Arial" pitchFamily="34" charset="0"/>
                <a:cs typeface="Arial" pitchFamily="34" charset="0"/>
              </a:rPr>
              <a:pPr/>
              <a:t>11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856383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9148732B-6673-45E5-A749-4F2E62A4095D}" type="slidenum">
              <a:rPr lang="en-US" altLang="en-US">
                <a:latin typeface="Arial" pitchFamily="34" charset="0"/>
                <a:cs typeface="Arial" pitchFamily="34" charset="0"/>
              </a:rPr>
              <a:pPr/>
              <a:t>12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246519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E8888F55-D234-4DD3-88F8-632B8F004F91}" type="slidenum">
              <a:rPr lang="en-US" altLang="en-US">
                <a:latin typeface="Arial" pitchFamily="34" charset="0"/>
                <a:cs typeface="Arial" pitchFamily="34" charset="0"/>
              </a:rPr>
              <a:pPr/>
              <a:t>13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234506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6EF3AD73-E845-48EB-BFD6-110B80AE49CF}" type="slidenum">
              <a:rPr lang="en-US" altLang="en-US">
                <a:latin typeface="Arial" pitchFamily="34" charset="0"/>
                <a:cs typeface="Arial" pitchFamily="34" charset="0"/>
              </a:rPr>
              <a:pPr/>
              <a:t>14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201733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740437CB-C4B2-4CAC-888C-55214344B7F9}" type="slidenum">
              <a:rPr lang="en-US" altLang="en-US">
                <a:latin typeface="Arial" pitchFamily="34" charset="0"/>
                <a:cs typeface="Arial" pitchFamily="34" charset="0"/>
              </a:rPr>
              <a:pPr/>
              <a:t>15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</a:rPr>
              <a:t>Figure 23.6 One species, two populations</a:t>
            </a:r>
          </a:p>
        </p:txBody>
      </p:sp>
    </p:spTree>
    <p:extLst>
      <p:ext uri="{BB962C8B-B14F-4D97-AF65-F5344CB8AC3E}">
        <p14:creationId xmlns:p14="http://schemas.microsoft.com/office/powerpoint/2010/main" val="16962637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CBED554A-44EE-4E38-B389-24862EEBC86D}" type="slidenum">
              <a:rPr lang="en-US" altLang="en-US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pPr/>
              <a:t>16</a:t>
            </a:fld>
            <a:endParaRPr lang="en-US" altLang="en-US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</a:rPr>
              <a:t>Figure 23.8c Hardy-Weinberg equilibrium (part 3: alleles showing incomplete dominance)</a:t>
            </a:r>
          </a:p>
          <a:p>
            <a:pPr eaLnBrk="1" hangingPunct="1"/>
            <a:endParaRPr lang="en-US" altLang="en-US" dirty="0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7310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4C952228-35CC-471B-8D30-ED1ACF80E77F}" type="slidenum">
              <a:rPr lang="en-US" altLang="en-US">
                <a:latin typeface="Arial" pitchFamily="34" charset="0"/>
                <a:cs typeface="Arial" pitchFamily="34" charset="0"/>
              </a:rPr>
              <a:pPr/>
              <a:t>17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48876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7DD7BBB0-C2FF-40A6-A035-130103116DE7}" type="slidenum">
              <a:rPr lang="en-US" altLang="en-US">
                <a:latin typeface="Arial" pitchFamily="34" charset="0"/>
                <a:cs typeface="Arial" pitchFamily="34" charset="0"/>
              </a:rPr>
              <a:pPr/>
              <a:t>18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719128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09FE0519-8928-4239-9D14-1B781DEE69E5}" type="slidenum">
              <a:rPr lang="en-US" altLang="en-US">
                <a:latin typeface="Arial" pitchFamily="34" charset="0"/>
                <a:cs typeface="Arial" pitchFamily="34" charset="0"/>
              </a:rPr>
              <a:pPr/>
              <a:t>19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71555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D5C4AA6B-22EE-483B-B4F8-7940121DE2CF}" type="slidenum">
              <a:rPr lang="en-US" altLang="en-US">
                <a:latin typeface="Arial" pitchFamily="34" charset="0"/>
                <a:cs typeface="Arial" pitchFamily="34" charset="0"/>
              </a:rPr>
              <a:pPr/>
              <a:t>20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016360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5D127A27-411B-41C7-BC6C-B575F0363A30}" type="slidenum">
              <a:rPr lang="en-US" altLang="en-US">
                <a:latin typeface="Arial" pitchFamily="34" charset="0"/>
                <a:cs typeface="Arial" pitchFamily="34" charset="0"/>
              </a:rPr>
              <a:pPr/>
              <a:t>21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89989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23.8a Hardy-Weinberg equilibrium (part 1: Punnett square)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71605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969DB099-FEA8-452B-AF04-01DE53E2BDC8}" type="slidenum">
              <a:rPr lang="en-US" altLang="en-US">
                <a:latin typeface="Arial" pitchFamily="34" charset="0"/>
                <a:cs typeface="Arial" pitchFamily="34" charset="0"/>
              </a:rPr>
              <a:pPr/>
              <a:t>23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</a:rPr>
              <a:t>Figure 23.8d Hardy-Weinberg equilibrium (part 4: Hardy-Weinberg equation)</a:t>
            </a:r>
          </a:p>
        </p:txBody>
      </p:sp>
    </p:spTree>
    <p:extLst>
      <p:ext uri="{BB962C8B-B14F-4D97-AF65-F5344CB8AC3E}">
        <p14:creationId xmlns:p14="http://schemas.microsoft.com/office/powerpoint/2010/main" val="41311763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"/>
                <a:cs typeface="Arial" charset="0"/>
              </a:defRPr>
            </a:lvl1pPr>
            <a:lvl2pPr marL="741363" indent="-284163">
              <a:defRPr sz="2400">
                <a:solidFill>
                  <a:schemeClr val="tx1"/>
                </a:solidFill>
                <a:latin typeface="Times"/>
                <a:cs typeface="Arial" charset="0"/>
              </a:defRPr>
            </a:lvl2pPr>
            <a:lvl3pPr marL="1141413" indent="-227013">
              <a:defRPr sz="2400">
                <a:solidFill>
                  <a:schemeClr val="tx1"/>
                </a:solidFill>
                <a:latin typeface="Times"/>
                <a:cs typeface="Arial" charset="0"/>
              </a:defRPr>
            </a:lvl3pPr>
            <a:lvl4pPr marL="1598613" indent="-227013">
              <a:defRPr sz="2400">
                <a:solidFill>
                  <a:schemeClr val="tx1"/>
                </a:solidFill>
                <a:latin typeface="Times"/>
                <a:cs typeface="Arial" charset="0"/>
              </a:defRPr>
            </a:lvl4pPr>
            <a:lvl5pPr marL="2055813" indent="-227013">
              <a:defRPr sz="2400">
                <a:solidFill>
                  <a:schemeClr val="tx1"/>
                </a:solidFill>
                <a:latin typeface="Times"/>
                <a:cs typeface="Arial" charset="0"/>
              </a:defRPr>
            </a:lvl5pPr>
            <a:lvl6pPr marL="2513013" indent="-227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cs typeface="Arial" charset="0"/>
              </a:defRPr>
            </a:lvl6pPr>
            <a:lvl7pPr marL="2970213" indent="-227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cs typeface="Arial" charset="0"/>
              </a:defRPr>
            </a:lvl7pPr>
            <a:lvl8pPr marL="3427413" indent="-227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cs typeface="Arial" charset="0"/>
              </a:defRPr>
            </a:lvl8pPr>
            <a:lvl9pPr marL="3884613" indent="-2270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/>
                <a:cs typeface="Arial" charset="0"/>
              </a:defRPr>
            </a:lvl9pPr>
          </a:lstStyle>
          <a:p>
            <a:pPr eaLnBrk="1" hangingPunct="1"/>
            <a:fld id="{9FFE46EB-1DAD-45AE-9951-9BA9D747F656}" type="slidenum">
              <a:rPr lang="en-US" altLang="en-US" sz="1200" smtClean="0">
                <a:latin typeface="Times New Roman" pitchFamily="18" charset="0"/>
              </a:rPr>
              <a:pPr eaLnBrk="1" hangingPunct="1"/>
              <a:t>24</a:t>
            </a:fld>
            <a:endParaRPr lang="en-US" altLang="en-US" sz="1200">
              <a:latin typeface="Times New Roman" pitchFamily="18" charset="0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36A5A801-BE17-40DE-96BB-E546BB3A13A4}" type="slidenum">
              <a:rPr lang="en-US" altLang="en-US">
                <a:latin typeface="Arial" pitchFamily="34" charset="0"/>
                <a:cs typeface="Arial" pitchFamily="34" charset="0"/>
              </a:rPr>
              <a:pPr/>
              <a:t>25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271506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Table 23.1 Conditions for Hardy-Weinberg equilibrium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58993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52066909-5FFF-47F1-B3DD-CE7DBFD84F5C}" type="slidenum">
              <a:rPr lang="en-US" altLang="en-US">
                <a:latin typeface="Arial" pitchFamily="34" charset="0"/>
                <a:cs typeface="Arial" pitchFamily="34" charset="0"/>
              </a:rPr>
              <a:pPr/>
              <a:t>27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6180681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C0B2F2F7-73AC-420A-B855-A64DD9C7A080}" type="slidenum">
              <a:rPr lang="en-US" altLang="en-US">
                <a:latin typeface="Arial" pitchFamily="34" charset="0"/>
                <a:cs typeface="Arial" pitchFamily="34" charset="0"/>
              </a:rPr>
              <a:pPr/>
              <a:t>28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r>
              <a:rPr lang="en-US" b="1" dirty="0"/>
              <a:t>All 50 states in the United States require newborns to be screened for PKU</a:t>
            </a:r>
            <a:r>
              <a:rPr lang="en-US" dirty="0"/>
              <a:t> . Many other countries also routinely screen infants for PKU</a:t>
            </a:r>
            <a:endParaRPr lang="en-US" altLang="en-US" dirty="0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43689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6E9D73A3-2CB1-4292-8887-42BE684A20F1}" type="slidenum">
              <a:rPr lang="en-US" altLang="en-US">
                <a:latin typeface="Arial" pitchFamily="34" charset="0"/>
                <a:cs typeface="Arial" pitchFamily="34" charset="0"/>
              </a:rPr>
              <a:pPr/>
              <a:t>29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424355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A344FB4E-BEBD-491E-B04A-7129C017FBC6}" type="slidenum">
              <a:rPr lang="en-US" altLang="en-US">
                <a:latin typeface="Arial" pitchFamily="34" charset="0"/>
                <a:cs typeface="Arial" pitchFamily="34" charset="0"/>
              </a:rPr>
              <a:pPr/>
              <a:t>30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478617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97E6F019-C815-4FCF-B9C2-04A8FC613F1C}" type="slidenum">
              <a:rPr lang="en-US" altLang="en-US">
                <a:latin typeface="Arial" pitchFamily="34" charset="0"/>
                <a:cs typeface="Arial" pitchFamily="34" charset="0"/>
              </a:rPr>
              <a:pPr/>
              <a:t>31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3896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57CC8-6916-4659-8D61-C81A523E1943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32318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23.9_3 Genetic drift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55225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655D626A-7489-477A-AEE7-45F928F97513}" type="slidenum">
              <a:rPr lang="en-US" altLang="en-US">
                <a:latin typeface="Arial" pitchFamily="34" charset="0"/>
                <a:cs typeface="Arial" pitchFamily="34" charset="0"/>
              </a:rPr>
              <a:pPr/>
              <a:t>34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425855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3380C48F-35F0-4C85-94D7-B20D7C1650A6}" type="slidenum">
              <a:rPr lang="en-US" altLang="en-US">
                <a:latin typeface="Arial" pitchFamily="34" charset="0"/>
                <a:cs typeface="Arial" pitchFamily="34" charset="0"/>
              </a:rPr>
              <a:pPr/>
              <a:t>35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241690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23.10_3 The bottleneck effect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775844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1EBD3047-1182-45B6-B9F7-35B4B3FE675B}" type="slidenum">
              <a:rPr lang="en-US" altLang="en-US">
                <a:latin typeface="Arial" pitchFamily="34" charset="0"/>
                <a:cs typeface="Arial" pitchFamily="34" charset="0"/>
              </a:rPr>
              <a:pPr/>
              <a:t>37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248174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58255" indent="-291636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66546" indent="-233309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33164" indent="-233309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99782" indent="-233309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66401" indent="-23330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3033019" indent="-23330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99637" indent="-23330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966256" indent="-23330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6B8F3BFB-87CE-4BCC-9F13-BB1906400F47}" type="slidenum">
              <a:rPr lang="en-US" altLang="en-US">
                <a:latin typeface="Arial" pitchFamily="34" charset="0"/>
                <a:cs typeface="Arial" pitchFamily="34" charset="0"/>
              </a:rPr>
              <a:pPr/>
              <a:t>38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581602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B537C640-915F-4B45-A8C5-EE622CF2848C}" type="slidenum">
              <a:rPr lang="en-US" altLang="en-US">
                <a:latin typeface="Arial" pitchFamily="34" charset="0"/>
                <a:cs typeface="Arial" pitchFamily="34" charset="0"/>
              </a:rPr>
              <a:pPr/>
              <a:t>39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 dirty="0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5974584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63487" indent="-293648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74595" indent="-234919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44433" indent="-234919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114270" indent="-234919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84109" indent="-23491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3053947" indent="-23491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523784" indent="-23491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993623" indent="-234919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A1BC7C43-58D4-43F1-A126-1B12BCA7582D}" type="slidenum">
              <a:rPr lang="en-US" altLang="en-US">
                <a:latin typeface="Arial" pitchFamily="34" charset="0"/>
                <a:cs typeface="Arial" pitchFamily="34" charset="0"/>
              </a:rPr>
              <a:pPr/>
              <a:t>40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371570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957CC8-6916-4659-8D61-C81A523E1943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804464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3013A09F-FE3A-4225-AE8F-A11F2281A91D}" type="slidenum">
              <a:rPr lang="en-US" altLang="en-US">
                <a:latin typeface="Arial" pitchFamily="34" charset="0"/>
                <a:cs typeface="Arial" pitchFamily="34" charset="0"/>
              </a:rPr>
              <a:pPr/>
              <a:t>43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008269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23.13 Modes of selection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507319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5753E5D5-52FA-4755-950C-CF9F675FEB51}" type="slidenum">
              <a:rPr lang="en-US" altLang="en-US">
                <a:latin typeface="Arial" pitchFamily="34" charset="0"/>
                <a:cs typeface="Arial" pitchFamily="34" charset="0"/>
              </a:rPr>
              <a:pPr/>
              <a:t>46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</a:rPr>
              <a:t>Figure 23.14 Movable jaw bones in snakes</a:t>
            </a:r>
          </a:p>
        </p:txBody>
      </p:sp>
    </p:spTree>
    <p:extLst>
      <p:ext uri="{BB962C8B-B14F-4D97-AF65-F5344CB8AC3E}">
        <p14:creationId xmlns:p14="http://schemas.microsoft.com/office/powerpoint/2010/main" val="61295312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138DBB66-A42B-4D6B-8185-A8963DDB237C}" type="slidenum">
              <a:rPr lang="en-US" altLang="en-US">
                <a:latin typeface="Arial" pitchFamily="34" charset="0"/>
                <a:cs typeface="Arial" pitchFamily="34" charset="0"/>
              </a:rPr>
              <a:pPr/>
              <a:t>47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</a:rPr>
              <a:t>Figure 23.15 Sexual dimorphism and sexual selection</a:t>
            </a:r>
          </a:p>
        </p:txBody>
      </p:sp>
    </p:spTree>
    <p:extLst>
      <p:ext uri="{BB962C8B-B14F-4D97-AF65-F5344CB8AC3E}">
        <p14:creationId xmlns:p14="http://schemas.microsoft.com/office/powerpoint/2010/main" val="65608346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8818ED90-059E-4CA5-99E2-E62DB53E9F9E}" type="slidenum">
              <a:rPr lang="en-US" altLang="en-US">
                <a:latin typeface="Arial" pitchFamily="34" charset="0"/>
                <a:cs typeface="Arial" pitchFamily="34" charset="0"/>
              </a:rPr>
              <a:pPr/>
              <a:t>48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1610365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45D32768-6B87-4706-9458-7B6B34AE5787}" type="slidenum">
              <a:rPr lang="en-US" altLang="en-US">
                <a:latin typeface="Arial" pitchFamily="34" charset="0"/>
                <a:cs typeface="Arial" pitchFamily="34" charset="0"/>
              </a:rPr>
              <a:pPr/>
              <a:t>49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535752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2F289709-09DC-461E-A6B8-11CD0A73DFDD}" type="slidenum">
              <a:rPr lang="en-US" altLang="en-US">
                <a:latin typeface="Arial" pitchFamily="34" charset="0"/>
                <a:cs typeface="Arial" pitchFamily="34" charset="0"/>
              </a:rPr>
              <a:pPr/>
              <a:t>50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21705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E72E3C8D-0083-432D-8D5C-C0CBB597C2CA}" type="slidenum">
              <a:rPr lang="en-US" altLang="en-US">
                <a:latin typeface="Arial" pitchFamily="34" charset="0"/>
                <a:cs typeface="Arial" pitchFamily="34" charset="0"/>
              </a:rPr>
              <a:pPr/>
              <a:t>51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7861510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23.18a Make connections: the sickle-cell allele (part 1: molecular events and consequences)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030977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856906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ヒラギノ角ゴ Pro W3" charset="-128"/>
              </a:defRPr>
            </a:lvl9pPr>
          </a:lstStyle>
          <a:p>
            <a:fld id="{E0109C01-E91A-4B1A-A5A7-23A23EF92E77}" type="slidenum">
              <a:rPr lang="en-US" altLang="en-US">
                <a:latin typeface="Arial" pitchFamily="34" charset="0"/>
                <a:cs typeface="Arial" pitchFamily="34" charset="0"/>
              </a:rPr>
              <a:pPr/>
              <a:t>54</a:t>
            </a:fld>
            <a:endParaRPr lang="en-US" alt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itchFamily="18" charset="0"/>
              <a:ea typeface="ヒラギノ角ゴ Pro W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08879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F2B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91" t="-1" b="-1"/>
          <a:stretch/>
        </p:blipFill>
        <p:spPr>
          <a:xfrm>
            <a:off x="152400" y="152400"/>
            <a:ext cx="4495800" cy="6356360"/>
          </a:xfrm>
          <a:prstGeom prst="rect">
            <a:avLst/>
          </a:prstGeom>
        </p:spPr>
      </p:pic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0" y="649009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4876800" y="152400"/>
            <a:ext cx="4114800" cy="579120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rgbClr val="DF4A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23</a:t>
            </a:r>
            <a:r>
              <a:rPr lang="en-US" sz="3200" b="1" dirty="0">
                <a:solidFill>
                  <a:srgbClr val="DF4A20"/>
                </a:solidFill>
              </a:rPr>
              <a:t/>
            </a:r>
            <a:br>
              <a:rPr lang="en-US" sz="3200" b="1" dirty="0">
                <a:solidFill>
                  <a:srgbClr val="DF4A20"/>
                </a:solidFill>
              </a:rPr>
            </a:br>
            <a:r>
              <a:rPr lang="en-US" sz="3600" dirty="0"/>
              <a:t/>
            </a:r>
            <a:br>
              <a:rPr lang="en-US" sz="3600" dirty="0"/>
            </a:br>
            <a:r>
              <a:rPr lang="en-US" sz="40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ヒラギノ角ゴ Pro W3" charset="-128"/>
                <a:cs typeface="+mn-cs"/>
              </a:rPr>
              <a:t>The Evolution of Populations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08287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and 2 line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7472" indent="-347472">
              <a:buClr>
                <a:srgbClr val="DF4A20"/>
              </a:buClr>
              <a:defRPr/>
            </a:lvl1pPr>
            <a:lvl2pPr marL="740664" indent="-283464">
              <a:buClr>
                <a:srgbClr val="DF4A20"/>
              </a:buClr>
              <a:defRPr/>
            </a:lvl2pPr>
            <a:lvl3pPr marL="1143000" indent="-228600">
              <a:buClr>
                <a:srgbClr val="DF4A20"/>
              </a:buClr>
              <a:defRPr/>
            </a:lvl3pPr>
            <a:lvl4pPr marL="1600200" indent="-228600">
              <a:buClr>
                <a:srgbClr val="DF4A20"/>
              </a:buClr>
              <a:defRPr/>
            </a:lvl4pPr>
            <a:lvl5pPr marL="2057400" indent="-228600">
              <a:buClr>
                <a:srgbClr val="DF4A2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807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line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52600"/>
            <a:ext cx="8839199" cy="4737496"/>
          </a:xfrm>
        </p:spPr>
        <p:txBody>
          <a:bodyPr/>
          <a:lstStyle>
            <a:lvl1pPr marL="347472" indent="-347472">
              <a:buClr>
                <a:srgbClr val="DF4A20"/>
              </a:buClr>
              <a:defRPr/>
            </a:lvl1pPr>
            <a:lvl2pPr marL="740664" indent="-283464">
              <a:buClr>
                <a:srgbClr val="DF4A20"/>
              </a:buClr>
              <a:defRPr/>
            </a:lvl2pPr>
            <a:lvl3pPr marL="1143000" indent="-228600">
              <a:buClr>
                <a:srgbClr val="DF4A20"/>
              </a:buClr>
              <a:defRPr/>
            </a:lvl3pPr>
            <a:lvl4pPr marL="1600200" indent="-228600">
              <a:buClr>
                <a:srgbClr val="DF4A20"/>
              </a:buClr>
              <a:defRPr/>
            </a:lvl4pPr>
            <a:lvl5pPr marL="2057400" indent="-228600">
              <a:buClr>
                <a:srgbClr val="DF4A2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320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7472" indent="-347472">
              <a:buClr>
                <a:srgbClr val="DF4A20"/>
              </a:buClr>
              <a:defRPr/>
            </a:lvl1pPr>
            <a:lvl2pPr marL="740664" indent="-283464">
              <a:buClr>
                <a:srgbClr val="DF4A20"/>
              </a:buClr>
              <a:defRPr/>
            </a:lvl2pPr>
            <a:lvl3pPr marL="1143000" indent="-228600">
              <a:buClr>
                <a:srgbClr val="DF4A20"/>
              </a:buClr>
              <a:defRPr/>
            </a:lvl3pPr>
            <a:lvl4pPr marL="1600200" indent="-228600">
              <a:buClr>
                <a:srgbClr val="DF4A20"/>
              </a:buClr>
              <a:defRPr/>
            </a:lvl4pPr>
            <a:lvl5pPr marL="2057400" indent="-228600">
              <a:buClr>
                <a:srgbClr val="DF4A2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232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105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733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33410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8264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0218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4074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29463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59221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272910"/>
            <a:ext cx="8839199" cy="5217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13716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26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182880" tIns="91440" rIns="228600" bIns="9144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218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8" r:id="rId3"/>
    <p:sldLayoutId id="2147483907" r:id="rId4"/>
    <p:sldLayoutId id="2147483903" r:id="rId5"/>
    <p:sldLayoutId id="2147483904" r:id="rId6"/>
    <p:sldLayoutId id="2147483909" r:id="rId7"/>
  </p:sldLayoutIdLst>
  <p:hf sldNum="0" hdr="0" ftr="0" dt="0"/>
  <p:txStyles>
    <p:titleStyle>
      <a:lvl1pPr marL="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/>
          <a:ea typeface="Arial" panose="020B0604020202020204" pitchFamily="34" charset="0"/>
          <a:cs typeface="Arial"/>
        </a:defRPr>
      </a:lvl1pPr>
      <a:lvl2pPr marL="4508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9D002D"/>
          </a:solidFill>
          <a:latin typeface="Times New Roman" charset="0"/>
          <a:ea typeface="Geneva" charset="0"/>
          <a:cs typeface="Arial" charset="0"/>
        </a:defRPr>
      </a:lvl2pPr>
      <a:lvl3pPr marL="4508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9D002D"/>
          </a:solidFill>
          <a:latin typeface="Times New Roman" charset="0"/>
          <a:ea typeface="Geneva" charset="0"/>
          <a:cs typeface="Arial" charset="0"/>
        </a:defRPr>
      </a:lvl3pPr>
      <a:lvl4pPr marL="4508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9D002D"/>
          </a:solidFill>
          <a:latin typeface="Times New Roman" charset="0"/>
          <a:ea typeface="Geneva" charset="0"/>
          <a:cs typeface="Arial" charset="0"/>
        </a:defRPr>
      </a:lvl4pPr>
      <a:lvl5pPr marL="4508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9D002D"/>
          </a:solidFill>
          <a:latin typeface="Times New Roman" charset="0"/>
          <a:ea typeface="Geneva" charset="0"/>
          <a:cs typeface="Arial" charset="0"/>
        </a:defRPr>
      </a:lvl5pPr>
      <a:lvl6pPr marL="9080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6pPr>
      <a:lvl7pPr marL="13652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7pPr>
      <a:lvl8pPr marL="18224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8pPr>
      <a:lvl9pPr marL="22796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9pPr>
    </p:titleStyle>
    <p:bodyStyle>
      <a:lvl1pPr marL="347472" indent="-347472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800">
          <a:solidFill>
            <a:schemeClr val="tx1"/>
          </a:solidFill>
          <a:latin typeface="Arial" charset="0"/>
          <a:ea typeface="Arial" panose="020B0604020202020204" pitchFamily="34" charset="0"/>
          <a:cs typeface="+mn-cs"/>
        </a:defRPr>
      </a:lvl1pPr>
      <a:lvl2pPr marL="740664" indent="-283464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60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40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20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200">
          <a:solidFill>
            <a:schemeClr val="tx1"/>
          </a:solidFill>
          <a:latin typeface="Arial" charset="0"/>
          <a:ea typeface="+mn-ea"/>
          <a:cs typeface="+mn-cs"/>
        </a:defRPr>
      </a:lvl5pPr>
      <a:lvl6pPr marL="3316288" indent="-347663" algn="l" rtl="0" eaLnBrk="1" fontAlgn="base" hangingPunct="1">
        <a:spcBef>
          <a:spcPct val="45000"/>
        </a:spcBef>
        <a:spcAft>
          <a:spcPct val="20000"/>
        </a:spcAft>
        <a:buClr>
          <a:schemeClr val="tx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3773488" indent="-347663" algn="l" rtl="0" eaLnBrk="1" fontAlgn="base" hangingPunct="1">
        <a:spcBef>
          <a:spcPct val="45000"/>
        </a:spcBef>
        <a:spcAft>
          <a:spcPct val="20000"/>
        </a:spcAft>
        <a:buClr>
          <a:schemeClr val="tx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4230688" indent="-347663" algn="l" rtl="0" eaLnBrk="1" fontAlgn="base" hangingPunct="1">
        <a:spcBef>
          <a:spcPct val="45000"/>
        </a:spcBef>
        <a:spcAft>
          <a:spcPct val="20000"/>
        </a:spcAft>
        <a:buClr>
          <a:schemeClr val="tx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4687888" indent="-347663" algn="l" rtl="0" eaLnBrk="1" fontAlgn="base" hangingPunct="1">
        <a:spcBef>
          <a:spcPct val="45000"/>
        </a:spcBef>
        <a:spcAft>
          <a:spcPct val="20000"/>
        </a:spcAft>
        <a:buClr>
          <a:schemeClr val="tx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rPr>
              <a:t>© 2014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30376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1" fontAlgn="base" hangingPunct="1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9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22805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9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9333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9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60152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z="900" dirty="0">
              <a:solidFill>
                <a:srgbClr val="00000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5186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npr.org/templates/story/story.php?storyId=124768140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Relationship Id="rId4" Type="http://schemas.openxmlformats.org/officeDocument/2006/relationships/image" Target="file:///C:\Documents%20and%20Settings\rajesh.ACEPRO\Desktop\14-July\Chapter%2023\Unlabeled\23_08aHardyWeinberg-U.jpg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file:///C:\Documents%20and%20Settings\rajesh.ACEPRO\Desktop\14-July\Chapter%2023\Unlabeled\23_08dHardyWeinberg-U.jpg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Program%20Files/TurningPoint/2003/Questions.htm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4" Type="http://schemas.openxmlformats.org/officeDocument/2006/relationships/image" Target="file:///C:\Documents%20and%20Settings\rajesh.ACEPRO\Desktop\14-July\Chapter%2023\Unlabeled\23_T01HardyWeinbergEQ-U.jpg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Relationship Id="rId4" Type="http://schemas.openxmlformats.org/officeDocument/2006/relationships/image" Target="file:///C:\Documents%20and%20Settings\rajesh.ACEPRO\Desktop\14-July\Chapter%2023\Unlabeled\23_10BottleneckEffect_3-U.jpg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microsoft.com/office/2007/relationships/hdphoto" Target="../media/hdphoto2.wdp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microsoft.com/office/2007/relationships/hdphoto" Target="../media/hdphoto1.wdp"/><Relationship Id="rId4" Type="http://schemas.openxmlformats.org/officeDocument/2006/relationships/image" Target="../media/image2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ustraliangeographic.com.au/blogs/creatura-blog/2019/07/the-blanket-octopus-looks-like-a-rainbow-ghost-alien/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biointeractive.org/classroom-resources/genetic-treatment-sickle-cell-disease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CH 23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451D56-4B25-42E5-96E6-1EA8A658E9D5}"/>
              </a:ext>
            </a:extLst>
          </p:cNvPr>
          <p:cNvSpPr txBox="1"/>
          <p:nvPr/>
        </p:nvSpPr>
        <p:spPr>
          <a:xfrm>
            <a:off x="0" y="0"/>
            <a:ext cx="9144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cs typeface="Arial" panose="020B0604020202020204" pitchFamily="34" charset="0"/>
              </a:rPr>
              <a:t>LSU BIOL 1202</a:t>
            </a:r>
          </a:p>
          <a:p>
            <a:pPr algn="ctr"/>
            <a:r>
              <a:rPr lang="en-US" sz="3600" b="1" dirty="0">
                <a:cs typeface="Arial" panose="020B0604020202020204" pitchFamily="34" charset="0"/>
              </a:rPr>
              <a:t>General </a:t>
            </a:r>
            <a:r>
              <a:rPr lang="en-US" sz="3600" b="1" dirty="0" smtClean="0">
                <a:cs typeface="Arial" panose="020B0604020202020204" pitchFamily="34" charset="0"/>
              </a:rPr>
              <a:t>Biology </a:t>
            </a:r>
            <a:r>
              <a:rPr lang="en-US" sz="3600" b="1" dirty="0">
                <a:cs typeface="Arial" panose="020B0604020202020204" pitchFamily="34" charset="0"/>
              </a:rPr>
              <a:t>II Lecture</a:t>
            </a: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endParaRPr lang="en-US" sz="3000" b="1" dirty="0">
              <a:cs typeface="Arial" panose="020B0604020202020204" pitchFamily="34" charset="0"/>
            </a:endParaRPr>
          </a:p>
          <a:p>
            <a:pPr algn="ctr"/>
            <a:r>
              <a:rPr lang="en-US" sz="3000" b="1" dirty="0">
                <a:cs typeface="Arial" panose="020B0604020202020204" pitchFamily="34" charset="0"/>
              </a:rPr>
              <a:t>CHAPTER 23</a:t>
            </a:r>
          </a:p>
          <a:p>
            <a:pPr algn="ctr"/>
            <a:r>
              <a:rPr lang="en-US" sz="3000" b="1" i="1" dirty="0">
                <a:cs typeface="Arial" panose="020B0604020202020204" pitchFamily="34" charset="0"/>
              </a:rPr>
              <a:t>The Evolution of Populations</a:t>
            </a:r>
          </a:p>
          <a:p>
            <a:pPr algn="ctr"/>
            <a:r>
              <a:rPr lang="en-US" sz="3000" b="1" dirty="0">
                <a:cs typeface="Arial" panose="020B0604020202020204" pitchFamily="34" charset="0"/>
              </a:rPr>
              <a:t>Dr. Adam Hrincevich</a:t>
            </a:r>
          </a:p>
        </p:txBody>
      </p:sp>
      <p:pic>
        <p:nvPicPr>
          <p:cNvPr id="5" name="Picture 4" descr="Figure 23.1 Is this finch evolving?&#10;" title="Figure 23.1 Is this finch evolving?">
            <a:extLst>
              <a:ext uri="{FF2B5EF4-FFF2-40B4-BE49-F238E27FC236}">
                <a16:creationId xmlns:a16="http://schemas.microsoft.com/office/drawing/2014/main" id="{0674298F-1977-4944-A2B7-F9A10F4209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296" y="1447800"/>
            <a:ext cx="5769407" cy="334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292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EF93F-1521-445C-8CC2-2099C8AD6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875" y="0"/>
            <a:ext cx="9144000" cy="800219"/>
          </a:xfrm>
        </p:spPr>
        <p:txBody>
          <a:bodyPr/>
          <a:lstStyle/>
          <a:p>
            <a:pPr algn="ctr"/>
            <a:r>
              <a:rPr lang="en-US" sz="4000" dirty="0"/>
              <a:t>CH 23 Learning Objectives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360591-B5D1-410A-8B8C-92FD2A2A31B5}"/>
              </a:ext>
            </a:extLst>
          </p:cNvPr>
          <p:cNvSpPr txBox="1"/>
          <p:nvPr/>
        </p:nvSpPr>
        <p:spPr>
          <a:xfrm>
            <a:off x="9041" y="1164134"/>
            <a:ext cx="914012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Describe how genetic variation arises and explain why it is </a:t>
            </a:r>
            <a:r>
              <a:rPr lang="en-US" sz="2800"/>
              <a:t>a prerequisite </a:t>
            </a:r>
            <a:r>
              <a:rPr lang="en-US" sz="2800" dirty="0"/>
              <a:t>for evolution.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Use allele-frequency data to predict the genotype frequencies of a population in Hardy-Weinberg equilibrium.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Differentiate between how natural selection, genetic drift, and gene flow affect allele frequencies in a population.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Explain how natural selection can lead to adaptation.</a:t>
            </a:r>
          </a:p>
          <a:p>
            <a:endParaRPr lang="en-US" sz="2800" dirty="0"/>
          </a:p>
          <a:p>
            <a:r>
              <a:rPr lang="en-US" sz="2800" dirty="0"/>
              <a:t>I would suggest completing the crossword puzzle to help you understand the terminology and correlate how the terms relate to topics covered in this chapter.</a:t>
            </a:r>
          </a:p>
        </p:txBody>
      </p:sp>
    </p:spTree>
    <p:extLst>
      <p:ext uri="{BB962C8B-B14F-4D97-AF65-F5344CB8AC3E}">
        <p14:creationId xmlns:p14="http://schemas.microsoft.com/office/powerpoint/2010/main" val="4090100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Smallest Unit of Evolution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50802" y="651933"/>
            <a:ext cx="5791200" cy="6172201"/>
          </a:xfrm>
        </p:spPr>
        <p:txBody>
          <a:bodyPr/>
          <a:lstStyle/>
          <a:p>
            <a:r>
              <a:rPr lang="en-US" altLang="en-US" dirty="0"/>
              <a:t>A common misconception is that individual organisms </a:t>
            </a:r>
          </a:p>
          <a:p>
            <a:r>
              <a:rPr lang="en-US" altLang="en-US" dirty="0"/>
              <a:t>Natural selection acts on </a:t>
            </a:r>
            <a:r>
              <a:rPr lang="en-US" altLang="en-US" i="1" dirty="0"/>
              <a:t>individuals</a:t>
            </a:r>
            <a:r>
              <a:rPr lang="en-US" altLang="en-US" dirty="0"/>
              <a:t>, but only </a:t>
            </a:r>
          </a:p>
          <a:p>
            <a:endParaRPr lang="en-US" altLang="en-US" dirty="0"/>
          </a:p>
          <a:p>
            <a:r>
              <a:rPr lang="en-US" altLang="en-US" dirty="0"/>
              <a:t>EX: A population of medium ground finches on Daphne Major Island</a:t>
            </a:r>
          </a:p>
          <a:p>
            <a:pPr lvl="1"/>
            <a:r>
              <a:rPr lang="en-US" altLang="en-US" dirty="0"/>
              <a:t>During a drought, large-beaked birds were more likely to crack large </a:t>
            </a:r>
          </a:p>
          <a:p>
            <a:r>
              <a:rPr lang="en-US" altLang="en-US" dirty="0"/>
              <a:t>So, the finch population evolved, not the </a:t>
            </a:r>
          </a:p>
          <a:p>
            <a:endParaRPr lang="en-US" altLang="en-US" dirty="0"/>
          </a:p>
        </p:txBody>
      </p:sp>
      <p:pic>
        <p:nvPicPr>
          <p:cNvPr id="3074" name="Picture 2" descr="Beak length graph" title="Beak length grap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4712" y="3048000"/>
            <a:ext cx="3339288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417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021" y="0"/>
            <a:ext cx="9144000" cy="600164"/>
          </a:xfrm>
        </p:spPr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</a:rPr>
              <a:t>The Smallest Unit of Evolution more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38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200" y="76200"/>
            <a:ext cx="8991600" cy="6705600"/>
          </a:xfrm>
          <a:prstGeom prst="rect">
            <a:avLst/>
          </a:prstGeom>
        </p:spPr>
        <p:txBody>
          <a:bodyPr/>
          <a:lstStyle/>
          <a:p>
            <a:r>
              <a:rPr lang="en-US" altLang="en-US" b="1" dirty="0"/>
              <a:t>Microevolution</a:t>
            </a:r>
            <a:r>
              <a:rPr lang="en-US" altLang="en-US" dirty="0"/>
              <a:t> is a change in allele frequencies in a population </a:t>
            </a:r>
          </a:p>
          <a:p>
            <a:endParaRPr lang="en-US" altLang="en-US" dirty="0"/>
          </a:p>
          <a:p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3 main mechanisms cause allele frequency change: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/>
              <a:t>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/>
              <a:t>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/>
              <a:t> </a:t>
            </a:r>
          </a:p>
          <a:p>
            <a:r>
              <a:rPr lang="en-US" altLang="en-US" dirty="0"/>
              <a:t>Only natural selection consistently causes </a:t>
            </a:r>
          </a:p>
          <a:p>
            <a:pPr lvl="1"/>
            <a:endParaRPr lang="en-US" altLang="en-US" dirty="0"/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34" y="1024466"/>
            <a:ext cx="3757945" cy="222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758266" y="1244601"/>
            <a:ext cx="39285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EX: All modern domestic dogs are descendants of the Gray wolf. Good article about this (</a:t>
            </a:r>
            <a:r>
              <a:rPr lang="en-US" dirty="0">
                <a:hlinkClick r:id="rId4"/>
              </a:rPr>
              <a:t>click me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49919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15663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Concept 23.1: Genetic variation makes evolution possible</a:t>
            </a:r>
            <a:endParaRPr lang="en-US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52400" y="1049338"/>
            <a:ext cx="8991600" cy="5791200"/>
          </a:xfrm>
        </p:spPr>
        <p:txBody>
          <a:bodyPr/>
          <a:lstStyle/>
          <a:p>
            <a:r>
              <a:rPr lang="en-US" altLang="en-US" b="1" dirty="0"/>
              <a:t>Genetic </a:t>
            </a:r>
            <a:r>
              <a:rPr lang="en-US" altLang="en-US" b="1"/>
              <a:t>variation</a:t>
            </a:r>
            <a:r>
              <a:rPr lang="en-US" altLang="en-US"/>
              <a:t> </a:t>
            </a:r>
            <a:r>
              <a:rPr lang="en-US" altLang="en-US" smtClean="0"/>
              <a:t>among </a:t>
            </a:r>
            <a:r>
              <a:rPr lang="en-US" altLang="en-US" dirty="0"/>
              <a:t>individuals is caused by differences in </a:t>
            </a:r>
          </a:p>
          <a:p>
            <a:r>
              <a:rPr lang="en-US" altLang="en-US" dirty="0"/>
              <a:t>Variation in heritable traits is a prerequisite for evolution by </a:t>
            </a:r>
          </a:p>
          <a:p>
            <a:r>
              <a:rPr lang="en-US" altLang="en-US" dirty="0"/>
              <a:t>Phenotype is the product of inherited genotype and </a:t>
            </a:r>
          </a:p>
          <a:p>
            <a:endParaRPr lang="en-US" altLang="en-US" dirty="0"/>
          </a:p>
          <a:p>
            <a:r>
              <a:rPr lang="en-US" altLang="en-US" dirty="0"/>
              <a:t>Some phenotypic differences are determined by a single gene and can be classified on an “either-or” basis</a:t>
            </a:r>
          </a:p>
          <a:p>
            <a:r>
              <a:rPr lang="en-US" altLang="en-US" dirty="0"/>
              <a:t>Other phenotypic differences are determined by the influence of two or more genes and vary </a:t>
            </a:r>
          </a:p>
        </p:txBody>
      </p:sp>
    </p:spTree>
    <p:extLst>
      <p:ext uri="{BB962C8B-B14F-4D97-AF65-F5344CB8AC3E}">
        <p14:creationId xmlns:p14="http://schemas.microsoft.com/office/powerpoint/2010/main" val="3445086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15663"/>
          </a:xfrm>
        </p:spPr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</a:rPr>
              <a:t>Concept 23.1: Genetic variation makes evolution possible cont.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2705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2400" y="304800"/>
            <a:ext cx="8991600" cy="6553200"/>
          </a:xfrm>
        </p:spPr>
        <p:txBody>
          <a:bodyPr/>
          <a:lstStyle/>
          <a:p>
            <a:r>
              <a:rPr lang="en-US" dirty="0"/>
              <a:t>Genetic variation can be measured as gene variability or </a:t>
            </a:r>
          </a:p>
          <a:p>
            <a:r>
              <a:rPr lang="en-US" dirty="0"/>
              <a:t>For gene variability, average heterozygosity measures the average percent of loci that are </a:t>
            </a:r>
          </a:p>
          <a:p>
            <a:endParaRPr lang="en-US" dirty="0"/>
          </a:p>
          <a:p>
            <a:r>
              <a:rPr lang="en-US" altLang="en-US" dirty="0"/>
              <a:t>Nucleotide variability is measured by comparing the DNA sequences of </a:t>
            </a:r>
          </a:p>
          <a:p>
            <a:r>
              <a:rPr lang="en-US" altLang="en-US" dirty="0"/>
              <a:t>Most differences occur in noncoding regions (introns, ~</a:t>
            </a:r>
          </a:p>
          <a:p>
            <a:r>
              <a:rPr lang="en-US" altLang="en-US" dirty="0"/>
              <a:t>Variations that occur in coding regions (exons, ~10% of the human genome) rarely change the amino acid sequence of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186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gure 23.4 Extensive genetic variation at the molecular level of the alcohol dehydrogenase (Adh) gene in fruit flies (Drosophilia melanogaster)&#10;" title="Figure 23.4 Extensive genetic variation at the molecular level of the alcohol dehydrogenase (Adh) gene in fruit flies (Drosophilia melanogaster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5" y="438150"/>
            <a:ext cx="8553450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216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2492" y="0"/>
            <a:ext cx="9144000" cy="60016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32770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2400" y="76200"/>
            <a:ext cx="8839200" cy="2362200"/>
          </a:xfrm>
        </p:spPr>
        <p:txBody>
          <a:bodyPr/>
          <a:lstStyle/>
          <a:p>
            <a:r>
              <a:rPr lang="en-US" altLang="en-US" dirty="0"/>
              <a:t>Some phenotypic variation does not result from genetic differences among individuals, but rather from </a:t>
            </a:r>
            <a:endParaRPr lang="en-US" altLang="en-US" u="sng" dirty="0"/>
          </a:p>
          <a:p>
            <a:r>
              <a:rPr lang="en-US" altLang="en-US" dirty="0"/>
              <a:t>Only genetically determined variation can </a:t>
            </a:r>
          </a:p>
        </p:txBody>
      </p:sp>
      <p:pic>
        <p:nvPicPr>
          <p:cNvPr id="4" name="Picture 2" descr="http://ritter.tea.state.tx.us/student.assessment/resources/online/2009/taksm_g08_science/images/4graphicaa.gif" title="Alligator nest with egg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763309"/>
            <a:ext cx="5105400" cy="394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334000" y="2362200"/>
            <a:ext cx="3810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temperature at which alligator eggs develop determines their sex. Eggs hatched between </a:t>
            </a:r>
            <a:r>
              <a:rPr lang="en-US" b="1" dirty="0">
                <a:solidFill>
                  <a:srgbClr val="0070C0"/>
                </a:solidFill>
              </a:rPr>
              <a:t>90</a:t>
            </a:r>
            <a:r>
              <a:rPr lang="en-US" sz="3200" b="1" baseline="30000" dirty="0">
                <a:solidFill>
                  <a:srgbClr val="0070C0"/>
                </a:solidFill>
                <a:latin typeface="Times New Roman"/>
                <a:cs typeface="Times New Roman"/>
              </a:rPr>
              <a:t>◦</a:t>
            </a:r>
            <a:r>
              <a:rPr lang="en-US" b="1" baseline="3000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F to 93</a:t>
            </a:r>
            <a:r>
              <a:rPr lang="en-US" sz="3200" b="1" baseline="30000" dirty="0">
                <a:solidFill>
                  <a:srgbClr val="0070C0"/>
                </a:solidFill>
                <a:latin typeface="Times New Roman"/>
                <a:cs typeface="Times New Roman"/>
              </a:rPr>
              <a:t>◦</a:t>
            </a:r>
            <a:r>
              <a:rPr lang="en-US" b="1" baseline="3000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F become MALES</a:t>
            </a:r>
            <a:r>
              <a:rPr lang="en-US" dirty="0"/>
              <a:t>, and those hatched between </a:t>
            </a:r>
            <a:r>
              <a:rPr lang="en-US" b="1" dirty="0">
                <a:solidFill>
                  <a:srgbClr val="FF0000"/>
                </a:solidFill>
              </a:rPr>
              <a:t>82</a:t>
            </a:r>
            <a:r>
              <a:rPr lang="en-US" sz="3200" b="1" baseline="30000" dirty="0">
                <a:solidFill>
                  <a:srgbClr val="FF0000"/>
                </a:solidFill>
                <a:latin typeface="Times New Roman"/>
                <a:cs typeface="Times New Roman"/>
              </a:rPr>
              <a:t>◦</a:t>
            </a:r>
            <a:r>
              <a:rPr lang="en-US" b="1" baseline="300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F to 86</a:t>
            </a:r>
            <a:r>
              <a:rPr lang="en-US" sz="3200" b="1" baseline="30000" dirty="0">
                <a:solidFill>
                  <a:srgbClr val="FF0000"/>
                </a:solidFill>
                <a:latin typeface="Times New Roman"/>
                <a:cs typeface="Times New Roman"/>
              </a:rPr>
              <a:t>◦</a:t>
            </a:r>
            <a:r>
              <a:rPr lang="en-US" b="1" baseline="300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F become FEMALES</a:t>
            </a:r>
            <a:r>
              <a:rPr lang="en-US" dirty="0"/>
              <a:t>. Intermediate temperature ranges produces a mix of both male and females.</a:t>
            </a:r>
          </a:p>
        </p:txBody>
      </p:sp>
    </p:spTree>
    <p:extLst>
      <p:ext uri="{BB962C8B-B14F-4D97-AF65-F5344CB8AC3E}">
        <p14:creationId xmlns:p14="http://schemas.microsoft.com/office/powerpoint/2010/main" val="1473173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dirty="0"/>
              <a:t>Formation of New Alleles</a:t>
            </a:r>
            <a:endParaRPr lang="en-US" alt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New alleles arise by mutation, a change in the </a:t>
            </a:r>
          </a:p>
          <a:p>
            <a:endParaRPr lang="en-US" altLang="en-US" dirty="0"/>
          </a:p>
          <a:p>
            <a:r>
              <a:rPr lang="en-US" altLang="en-US" dirty="0"/>
              <a:t>New genes and alleles can arise by </a:t>
            </a:r>
          </a:p>
          <a:p>
            <a:r>
              <a:rPr lang="en-US" altLang="en-US" dirty="0"/>
              <a:t>Sexual reproduction can result in genetic variation by </a:t>
            </a:r>
          </a:p>
          <a:p>
            <a:r>
              <a:rPr lang="en-US" altLang="en-US" dirty="0"/>
              <a:t>Only mutations in cells that produce gametes can be </a:t>
            </a:r>
          </a:p>
          <a:p>
            <a:endParaRPr lang="en-US" altLang="en-US" dirty="0"/>
          </a:p>
          <a:p>
            <a:r>
              <a:rPr lang="en-US" altLang="en-US" dirty="0"/>
              <a:t>A point mutation is a change in a single nucleotide in a </a:t>
            </a:r>
          </a:p>
        </p:txBody>
      </p:sp>
    </p:spTree>
    <p:extLst>
      <p:ext uri="{BB962C8B-B14F-4D97-AF65-F5344CB8AC3E}">
        <p14:creationId xmlns:p14="http://schemas.microsoft.com/office/powerpoint/2010/main" val="4224189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0" y="9525"/>
            <a:ext cx="9144000" cy="600164"/>
          </a:xfrm>
        </p:spPr>
        <p:txBody>
          <a:bodyPr/>
          <a:lstStyle/>
          <a:p>
            <a:r>
              <a:rPr lang="en-US" altLang="en-US" i="1" dirty="0">
                <a:solidFill>
                  <a:schemeClr val="bg1"/>
                </a:solidFill>
              </a:rPr>
              <a:t>Formation of New Alleles contd.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0962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2400" y="9525"/>
            <a:ext cx="8839200" cy="5410200"/>
          </a:xfrm>
        </p:spPr>
        <p:txBody>
          <a:bodyPr/>
          <a:lstStyle/>
          <a:p>
            <a:r>
              <a:rPr lang="en-US" altLang="en-US" dirty="0"/>
              <a:t>The effects of </a:t>
            </a:r>
          </a:p>
          <a:p>
            <a:pPr lvl="1"/>
            <a:r>
              <a:rPr lang="en-US" altLang="en-US" dirty="0"/>
              <a:t>Mutations that alter the phenotype are </a:t>
            </a:r>
          </a:p>
          <a:p>
            <a:pPr lvl="1"/>
            <a:r>
              <a:rPr lang="en-US" altLang="en-US" dirty="0"/>
              <a:t>Harmful mutations can be hidden from selection in 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Mutations that result in a change in phenotype are sometimes, </a:t>
            </a:r>
          </a:p>
          <a:p>
            <a:pPr lvl="1"/>
            <a:r>
              <a:rPr lang="en-US" altLang="en-US" dirty="0"/>
              <a:t>Point mutations in non-coding regions (introns) generally result in </a:t>
            </a:r>
            <a:r>
              <a:rPr lang="en-US" altLang="en-US" b="1" dirty="0"/>
              <a:t>neutral variation</a:t>
            </a:r>
            <a:r>
              <a:rPr lang="en-US" altLang="en-US" dirty="0"/>
              <a:t>, conferring no selective </a:t>
            </a:r>
          </a:p>
          <a:p>
            <a:pPr lvl="1"/>
            <a:r>
              <a:rPr lang="en-US" altLang="en-US" dirty="0"/>
              <a:t>Mutations to genes can be neutral because of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3C2AD6-BB39-4D1F-8427-D52541A57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88" y="5257800"/>
            <a:ext cx="8764223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115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/>
          <a:p>
            <a:r>
              <a:rPr lang="en-US" altLang="en-US" i="1"/>
              <a:t>Altering Gene Number or Position</a:t>
            </a:r>
            <a:endParaRPr lang="en-US" alt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Chromosomal mutations that delete, disrupt, or rearrange </a:t>
            </a:r>
          </a:p>
          <a:p>
            <a:r>
              <a:rPr lang="en-US" altLang="en-US" dirty="0"/>
              <a:t>Duplication of small pieces of DNA increases genome </a:t>
            </a:r>
          </a:p>
          <a:p>
            <a:r>
              <a:rPr lang="en-US" altLang="en-US" dirty="0"/>
              <a:t>Duplicated genes can take on new functions by </a:t>
            </a:r>
          </a:p>
          <a:p>
            <a:endParaRPr lang="en-US" altLang="en-US" dirty="0"/>
          </a:p>
          <a:p>
            <a:r>
              <a:rPr lang="en-US" altLang="en-US" dirty="0"/>
              <a:t>An ancestral odor-detecting gene has been duplicated many times: Humans have 380 copies of the gene, and </a:t>
            </a:r>
          </a:p>
        </p:txBody>
      </p:sp>
    </p:spTree>
    <p:extLst>
      <p:ext uri="{BB962C8B-B14F-4D97-AF65-F5344CB8AC3E}">
        <p14:creationId xmlns:p14="http://schemas.microsoft.com/office/powerpoint/2010/main" val="1765018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Rapid Reproduction</a:t>
            </a:r>
            <a:endParaRPr lang="en-US" alt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Mutation rates are </a:t>
            </a:r>
          </a:p>
          <a:p>
            <a:r>
              <a:rPr lang="en-US" altLang="en-US" dirty="0"/>
              <a:t>The average is about one mutation in every </a:t>
            </a:r>
          </a:p>
          <a:p>
            <a:endParaRPr lang="en-US" altLang="en-US" dirty="0"/>
          </a:p>
          <a:p>
            <a:r>
              <a:rPr lang="en-US" altLang="en-US" dirty="0"/>
              <a:t>Mutation rates are often lower in prokaryotes, but short generation times allow </a:t>
            </a:r>
          </a:p>
          <a:p>
            <a:endParaRPr lang="en-US" altLang="en-US" dirty="0"/>
          </a:p>
          <a:p>
            <a:r>
              <a:rPr lang="en-US" altLang="en-US" dirty="0"/>
              <a:t>Viruses have both high mutation rates and </a:t>
            </a:r>
          </a:p>
          <a:p>
            <a:endParaRPr lang="en-US" altLang="en-US" dirty="0"/>
          </a:p>
          <a:p>
            <a:pPr lvl="1"/>
            <a:r>
              <a:rPr lang="en-US" altLang="en-US" dirty="0"/>
              <a:t>EX: HIV has a </a:t>
            </a:r>
          </a:p>
        </p:txBody>
      </p:sp>
    </p:spTree>
    <p:extLst>
      <p:ext uri="{BB962C8B-B14F-4D97-AF65-F5344CB8AC3E}">
        <p14:creationId xmlns:p14="http://schemas.microsoft.com/office/powerpoint/2010/main" val="3285993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Sexual Reproduction</a:t>
            </a:r>
            <a:endParaRPr lang="en-US" alt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839199" cy="5575696"/>
          </a:xfrm>
        </p:spPr>
        <p:txBody>
          <a:bodyPr/>
          <a:lstStyle/>
          <a:p>
            <a:r>
              <a:rPr lang="en-US" altLang="en-US" dirty="0"/>
              <a:t>In organisms that reproduce sexually, most genetic variation results from </a:t>
            </a:r>
          </a:p>
          <a:p>
            <a:r>
              <a:rPr lang="en-US" altLang="en-US" dirty="0"/>
              <a:t>Sexual reproduction can shuffle existing alleles into new combinations through three mechanisms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b="1" dirty="0"/>
              <a:t>Crossing over</a:t>
            </a:r>
            <a:r>
              <a:rPr lang="en-US" altLang="en-US" dirty="0"/>
              <a:t>: </a:t>
            </a:r>
          </a:p>
          <a:p>
            <a:pPr marL="971550" lvl="1" indent="-514350">
              <a:buFont typeface="+mj-lt"/>
              <a:buAutoNum type="arabicPeriod"/>
            </a:pPr>
            <a:endParaRPr lang="en-US" alt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altLang="en-US" b="1" dirty="0"/>
              <a:t>Independent assortment</a:t>
            </a:r>
            <a:r>
              <a:rPr lang="en-US" altLang="en-US" dirty="0"/>
              <a:t>: </a:t>
            </a:r>
          </a:p>
          <a:p>
            <a:pPr marL="971550" lvl="1" indent="-514350">
              <a:buFont typeface="+mj-lt"/>
              <a:buAutoNum type="arabicPeriod"/>
            </a:pPr>
            <a:endParaRPr lang="en-US" alt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altLang="en-US" b="1" dirty="0"/>
              <a:t>Fertilization</a:t>
            </a:r>
            <a:r>
              <a:rPr lang="en-US" altLang="en-US" dirty="0"/>
              <a:t>: 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26996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56966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Concept 23.2: The Hardy-Weinberg equation can be used to test whether a population is evolving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752600"/>
            <a:ext cx="8839199" cy="2057400"/>
          </a:xfrm>
        </p:spPr>
        <p:txBody>
          <a:bodyPr/>
          <a:lstStyle/>
          <a:p>
            <a:r>
              <a:rPr lang="en-US" altLang="en-US" dirty="0"/>
              <a:t>Genetic variation is required for a population to evolve, but </a:t>
            </a:r>
          </a:p>
          <a:p>
            <a:r>
              <a:rPr lang="en-US" altLang="en-US" dirty="0"/>
              <a:t>One or more factors that cause evolution must be at work for </a:t>
            </a:r>
          </a:p>
        </p:txBody>
      </p:sp>
      <p:pic>
        <p:nvPicPr>
          <p:cNvPr id="2" name="Picture 1" descr="Evolution of humans" title="Evolution of humans">
            <a:extLst>
              <a:ext uri="{FF2B5EF4-FFF2-40B4-BE49-F238E27FC236}">
                <a16:creationId xmlns:a16="http://schemas.microsoft.com/office/drawing/2014/main" id="{2BA82AE5-74A8-45E9-90D5-08FF89BD1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3886658"/>
            <a:ext cx="8839199" cy="259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404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igure 23.6 One species, two populations&#10;" title="Figure 23.6 One species, two populati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369" y="3522133"/>
            <a:ext cx="6782084" cy="330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Gene Pools and Allele Frequencies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685800"/>
            <a:ext cx="8839199" cy="2971800"/>
          </a:xfrm>
        </p:spPr>
        <p:txBody>
          <a:bodyPr/>
          <a:lstStyle/>
          <a:p>
            <a:r>
              <a:rPr lang="en-US" altLang="en-US" dirty="0"/>
              <a:t>A </a:t>
            </a:r>
            <a:r>
              <a:rPr lang="en-US" altLang="en-US" b="1" dirty="0"/>
              <a:t>population </a:t>
            </a:r>
            <a:r>
              <a:rPr lang="en-US" altLang="en-US" dirty="0"/>
              <a:t>is a localized group of individuals capable of </a:t>
            </a:r>
          </a:p>
          <a:p>
            <a:endParaRPr lang="en-US" altLang="en-US" dirty="0"/>
          </a:p>
          <a:p>
            <a:r>
              <a:rPr lang="en-US" altLang="en-US" dirty="0"/>
              <a:t>Populations are not always geographically isolated, but individuals typically only breed with </a:t>
            </a:r>
          </a:p>
        </p:txBody>
      </p:sp>
    </p:spTree>
    <p:extLst>
      <p:ext uri="{BB962C8B-B14F-4D97-AF65-F5344CB8AC3E}">
        <p14:creationId xmlns:p14="http://schemas.microsoft.com/office/powerpoint/2010/main" val="6610795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0053" y="0"/>
            <a:ext cx="9144000" cy="600164"/>
          </a:xfrm>
        </p:spPr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</a:rPr>
              <a:t>Gene Pools and Allele Frequencies contd.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137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200" y="50800"/>
            <a:ext cx="5257800" cy="6773863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gene pool </a:t>
            </a:r>
            <a:r>
              <a:rPr lang="en-US" dirty="0"/>
              <a:t>consists of all the alleles for all </a:t>
            </a:r>
          </a:p>
          <a:p>
            <a:endParaRPr lang="en-US" dirty="0"/>
          </a:p>
          <a:p>
            <a:r>
              <a:rPr lang="en-US" dirty="0"/>
              <a:t>A locus is fixed if all individuals in a population are </a:t>
            </a:r>
          </a:p>
          <a:p>
            <a:endParaRPr lang="en-US" dirty="0"/>
          </a:p>
          <a:p>
            <a:r>
              <a:rPr lang="en-US" dirty="0"/>
              <a:t>If there are two or more alleles for a locus, diploid individuals may be either </a:t>
            </a:r>
          </a:p>
          <a:p>
            <a:endParaRPr lang="en-US" dirty="0"/>
          </a:p>
          <a:p>
            <a:r>
              <a:rPr lang="en-US" dirty="0"/>
              <a:t>This example of flower color illustrates </a:t>
            </a:r>
            <a:r>
              <a:rPr lang="en-US" b="1" dirty="0"/>
              <a:t>INCOMPLETE</a:t>
            </a:r>
            <a:r>
              <a:rPr lang="en-US" dirty="0"/>
              <a:t> dominance (or “</a:t>
            </a:r>
          </a:p>
          <a:p>
            <a:endParaRPr lang="en-US" dirty="0"/>
          </a:p>
        </p:txBody>
      </p:sp>
      <p:pic>
        <p:nvPicPr>
          <p:cNvPr id="2" name="Picture 1" descr="Figure 23.8c Hardy-Weinberg equilibrium (part 3: alleles showing incomplete dominance)&#10;" title="Figure 23.8c Hardy-Weinberg equilibrium (part 3: alleles showing incomplete dominance)">
            <a:extLst>
              <a:ext uri="{FF2B5EF4-FFF2-40B4-BE49-F238E27FC236}">
                <a16:creationId xmlns:a16="http://schemas.microsoft.com/office/drawing/2014/main" id="{3E3B3ECE-3DDC-4698-8889-06679C53D6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1" y="0"/>
            <a:ext cx="2819400" cy="678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027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2" y="-12032"/>
            <a:ext cx="9144000" cy="600164"/>
          </a:xfrm>
        </p:spPr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</a:rPr>
              <a:t>Gene Pools and Allele Frequencies continued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3490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0" y="76200"/>
            <a:ext cx="8839200" cy="6705600"/>
          </a:xfrm>
        </p:spPr>
        <p:txBody>
          <a:bodyPr/>
          <a:lstStyle/>
          <a:p>
            <a:r>
              <a:rPr lang="en-US" altLang="en-US" dirty="0"/>
              <a:t>The frequency of an allele in a population can be calculated</a:t>
            </a:r>
          </a:p>
          <a:p>
            <a:pPr lvl="1"/>
            <a:r>
              <a:rPr lang="en-US" altLang="en-US" dirty="0"/>
              <a:t>For diploid organisms, the total number of alleles at a locus is the </a:t>
            </a:r>
          </a:p>
          <a:p>
            <a:pPr lvl="1"/>
            <a:r>
              <a:rPr lang="en-US" altLang="en-US" dirty="0"/>
              <a:t>The total number of dominant alleles at a locus is two alleles for each homozygous dominant individual plus one allele for each heterozygous individual; the same logic applies </a:t>
            </a:r>
          </a:p>
          <a:p>
            <a:r>
              <a:rPr lang="en-US" altLang="en-US" dirty="0"/>
              <a:t>If there are two alleles at a locus,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 are used to represent their frequencies (where “p” if the dominant allele and “q” is the recessive allele)</a:t>
            </a:r>
          </a:p>
          <a:p>
            <a:r>
              <a:rPr lang="en-US" altLang="en-US" dirty="0"/>
              <a:t>The frequency of all alleles in a population will add up to 1</a:t>
            </a:r>
          </a:p>
          <a:p>
            <a:pPr lvl="1"/>
            <a:r>
              <a:rPr lang="en-US" altLang="en-US" dirty="0"/>
              <a:t>So</a:t>
            </a:r>
            <a:r>
              <a:rPr lang="en-US" altLang="en-US" i="1" dirty="0"/>
              <a:t>……. 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36181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15663"/>
          </a:xfrm>
        </p:spPr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</a:rPr>
              <a:t>Gene Pools and Allele Frequencies continued more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7586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304800" y="87313"/>
            <a:ext cx="8839200" cy="6705600"/>
          </a:xfrm>
        </p:spPr>
        <p:txBody>
          <a:bodyPr/>
          <a:lstStyle/>
          <a:p>
            <a:r>
              <a:rPr lang="en-US" altLang="en-US" dirty="0"/>
              <a:t>EX: Wildflowers color is </a:t>
            </a:r>
            <a:r>
              <a:rPr lang="en-US" altLang="en-US" dirty="0" err="1" smtClean="0"/>
              <a:t>incomepletely</a:t>
            </a:r>
            <a:r>
              <a:rPr lang="en-US" altLang="en-US" dirty="0" smtClean="0"/>
              <a:t> </a:t>
            </a:r>
            <a:r>
              <a:rPr lang="en-US" altLang="en-US" dirty="0"/>
              <a:t>dominant</a:t>
            </a:r>
          </a:p>
          <a:p>
            <a:pPr lvl="1"/>
            <a:r>
              <a:rPr lang="en-US" altLang="en-US" dirty="0"/>
              <a:t>320 </a:t>
            </a:r>
            <a:r>
              <a:rPr lang="en-US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</a:t>
            </a:r>
            <a:r>
              <a:rPr lang="en-US" altLang="en-US" dirty="0"/>
              <a:t> flowers (</a:t>
            </a:r>
            <a:r>
              <a:rPr lang="en-US" altLang="en-US" i="1" dirty="0"/>
              <a:t>C</a:t>
            </a:r>
            <a:r>
              <a:rPr lang="en-US" altLang="en-US" b="1" i="1" baseline="30000" dirty="0">
                <a:solidFill>
                  <a:srgbClr val="FF0000"/>
                </a:solidFill>
              </a:rPr>
              <a:t>R</a:t>
            </a:r>
            <a:r>
              <a:rPr lang="en-US" altLang="en-US" i="1" dirty="0"/>
              <a:t>C</a:t>
            </a:r>
            <a:r>
              <a:rPr lang="en-US" altLang="en-US" b="1" i="1" baseline="30000" dirty="0">
                <a:solidFill>
                  <a:srgbClr val="FF0000"/>
                </a:solidFill>
              </a:rPr>
              <a:t>R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160 </a:t>
            </a:r>
            <a:r>
              <a:rPr lang="en-US" altLang="en-US" dirty="0">
                <a:solidFill>
                  <a:srgbClr val="FF99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pink</a:t>
            </a:r>
            <a:r>
              <a:rPr lang="en-US" altLang="en-US" dirty="0"/>
              <a:t> flowers (</a:t>
            </a:r>
            <a:r>
              <a:rPr lang="en-US" altLang="en-US" i="1" dirty="0"/>
              <a:t>C</a:t>
            </a:r>
            <a:r>
              <a:rPr lang="en-US" altLang="en-US" b="1" i="1" baseline="30000" dirty="0">
                <a:solidFill>
                  <a:srgbClr val="FF0000"/>
                </a:solidFill>
              </a:rPr>
              <a:t>R</a:t>
            </a:r>
            <a:r>
              <a:rPr lang="en-US" altLang="en-US" dirty="0"/>
              <a:t>C</a:t>
            </a:r>
            <a:r>
              <a:rPr lang="en-US" altLang="en-US" baseline="30000" dirty="0"/>
              <a:t>W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20 </a:t>
            </a:r>
            <a:r>
              <a:rPr lang="en-US" altLang="en-US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white</a:t>
            </a:r>
            <a:r>
              <a:rPr lang="en-US" altLang="en-US" dirty="0"/>
              <a:t> flowers (</a:t>
            </a:r>
            <a:r>
              <a:rPr lang="en-US" altLang="en-US" i="1" dirty="0"/>
              <a:t>C</a:t>
            </a:r>
            <a:r>
              <a:rPr lang="en-US" altLang="en-US" i="1" baseline="30000" dirty="0"/>
              <a:t>W</a:t>
            </a:r>
            <a:r>
              <a:rPr lang="en-US" altLang="en-US" i="1" dirty="0"/>
              <a:t>C</a:t>
            </a:r>
            <a:r>
              <a:rPr lang="en-US" altLang="en-US" i="1" baseline="30000" dirty="0"/>
              <a:t>W</a:t>
            </a:r>
            <a:r>
              <a:rPr lang="en-US" altLang="en-US" dirty="0"/>
              <a:t>) </a:t>
            </a:r>
          </a:p>
          <a:p>
            <a:r>
              <a:rPr lang="en-US" altLang="en-US" dirty="0"/>
              <a:t>Calculate the number of copies of each allele</a:t>
            </a:r>
          </a:p>
          <a:p>
            <a:pPr lvl="1"/>
            <a:r>
              <a:rPr lang="en-US" altLang="en-US" i="1" dirty="0"/>
              <a:t>C</a:t>
            </a:r>
            <a:r>
              <a:rPr lang="en-US" altLang="en-US" b="1" i="1" baseline="30000" dirty="0">
                <a:solidFill>
                  <a:srgbClr val="FF0000"/>
                </a:solidFill>
              </a:rPr>
              <a:t>R</a:t>
            </a:r>
            <a:r>
              <a:rPr lang="en-US" altLang="en-US" i="1" baseline="30000" dirty="0"/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en-US" dirty="0"/>
              <a:t>(320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× </a:t>
            </a:r>
            <a:r>
              <a:rPr lang="en-US" altLang="en-US" dirty="0"/>
              <a:t>2)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altLang="en-US" dirty="0"/>
              <a:t>160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endParaRPr lang="en-US" altLang="en-US" dirty="0"/>
          </a:p>
          <a:p>
            <a:pPr lvl="1"/>
            <a:r>
              <a:rPr lang="en-US" altLang="en-US" i="1" dirty="0"/>
              <a:t>C</a:t>
            </a:r>
            <a:r>
              <a:rPr lang="en-US" altLang="en-US" i="1" baseline="30000" dirty="0"/>
              <a:t>W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en-US" dirty="0"/>
              <a:t>(20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× </a:t>
            </a:r>
            <a:r>
              <a:rPr lang="en-US" altLang="en-US" dirty="0"/>
              <a:t>2)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altLang="en-US" dirty="0"/>
              <a:t>160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endParaRPr lang="en-US" altLang="en-US" dirty="0"/>
          </a:p>
          <a:p>
            <a:r>
              <a:rPr lang="en-US" altLang="en-US" dirty="0"/>
              <a:t>Calculate the frequency of each allele</a:t>
            </a:r>
          </a:p>
          <a:p>
            <a:pPr lvl="1"/>
            <a:r>
              <a:rPr lang="en-US" altLang="en-US" i="1" dirty="0"/>
              <a:t>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dirty="0"/>
              <a:t>frequency of </a:t>
            </a:r>
            <a:r>
              <a:rPr lang="en-US" altLang="en-US" i="1" dirty="0"/>
              <a:t>C</a:t>
            </a:r>
            <a:r>
              <a:rPr lang="en-US" altLang="en-US" b="1" i="1" baseline="30000" dirty="0">
                <a:solidFill>
                  <a:srgbClr val="FF0000"/>
                </a:solidFill>
              </a:rPr>
              <a:t>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dirty="0"/>
              <a:t>800</a:t>
            </a:r>
            <a:r>
              <a:rPr lang="en-US" altLang="en-US" dirty="0">
                <a:sym typeface="Symbol" pitchFamily="18" charset="2"/>
              </a:rPr>
              <a:t>/(800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altLang="en-US" dirty="0"/>
              <a:t>200)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dirty="0"/>
              <a:t>0.8 (80%)</a:t>
            </a:r>
          </a:p>
          <a:p>
            <a:pPr lvl="1"/>
            <a:r>
              <a:rPr lang="en-US" altLang="en-US" i="1" dirty="0"/>
              <a:t>q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dirty="0"/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− </a:t>
            </a:r>
            <a:r>
              <a:rPr lang="en-US" altLang="en-US" i="1" dirty="0"/>
              <a:t>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dirty="0"/>
              <a:t>0.2 (20%)</a:t>
            </a:r>
          </a:p>
          <a:p>
            <a:r>
              <a:rPr lang="en-US" altLang="en-US" dirty="0"/>
              <a:t>The sum of alleles is always 1 (100%)</a:t>
            </a:r>
          </a:p>
          <a:p>
            <a:pPr lvl="1"/>
            <a:r>
              <a:rPr lang="en-US" altLang="en-US" dirty="0">
                <a:sym typeface="Symbol" pitchFamily="18" charset="2"/>
              </a:rPr>
              <a:t>0.8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altLang="en-US" dirty="0"/>
              <a:t>0.2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dirty="0"/>
              <a:t>1.0 (or 100%)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74494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Hardy-Weinberg Equation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820406"/>
            <a:ext cx="8839199" cy="5885193"/>
          </a:xfrm>
        </p:spPr>
        <p:txBody>
          <a:bodyPr/>
          <a:lstStyle/>
          <a:p>
            <a:r>
              <a:rPr lang="en-US" altLang="en-US" dirty="0"/>
              <a:t>The Hardy-Weinberg (HW) equation describes the genetic makeup we expect for a population that is </a:t>
            </a:r>
            <a:r>
              <a:rPr lang="en-US" altLang="en-US" i="1" dirty="0"/>
              <a:t>not </a:t>
            </a:r>
            <a:endParaRPr lang="en-US" altLang="en-US" dirty="0"/>
          </a:p>
          <a:p>
            <a:r>
              <a:rPr lang="en-US" altLang="en-US" dirty="0"/>
              <a:t>In a population where gametes contribute to the next generation randomly and Mendelian inheritance occurs, allele and genotype frequencies remain constant from </a:t>
            </a:r>
          </a:p>
          <a:p>
            <a:r>
              <a:rPr lang="en-US" altLang="en-US" dirty="0"/>
              <a:t>Such a population is in </a:t>
            </a:r>
          </a:p>
          <a:p>
            <a:r>
              <a:rPr lang="en-US" altLang="en-US" dirty="0"/>
              <a:t>If the observed genetic makeup of the population differs from expectations under HW, it suggests that the 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18783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dirty="0"/>
              <a:t>Hardy-Weinberg Equilibrium</a:t>
            </a:r>
            <a:endParaRPr lang="en-US" altLang="en-US" dirty="0"/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820407"/>
            <a:ext cx="8839199" cy="5217186"/>
          </a:xfrm>
        </p:spPr>
        <p:txBody>
          <a:bodyPr/>
          <a:lstStyle/>
          <a:p>
            <a:r>
              <a:rPr lang="en-US" altLang="en-US" dirty="0"/>
              <a:t>HW equilibrium describes the constant frequency of alleles in such a gene pool</a:t>
            </a:r>
          </a:p>
          <a:p>
            <a:r>
              <a:rPr lang="en-US" altLang="en-US" dirty="0"/>
              <a:t>Consider, for example, the same population of 500 wildflowers and 1,000 alleles where</a:t>
            </a:r>
          </a:p>
          <a:p>
            <a:pPr lvl="1"/>
            <a:r>
              <a:rPr lang="en-US" altLang="en-US" i="1" dirty="0"/>
              <a:t>p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en-US" dirty="0"/>
              <a:t>frequency of </a:t>
            </a:r>
            <a:r>
              <a:rPr lang="en-US" altLang="en-US" i="1" dirty="0"/>
              <a:t>C</a:t>
            </a:r>
            <a:r>
              <a:rPr lang="en-US" altLang="en-US" b="1" i="1" baseline="30000" dirty="0">
                <a:solidFill>
                  <a:srgbClr val="FF0000"/>
                </a:solidFill>
              </a:rPr>
              <a:t>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/>
              <a:t>(dominant allele)</a:t>
            </a:r>
            <a:r>
              <a:rPr lang="en-US" altLang="en-US" dirty="0"/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endParaRPr lang="en-US" altLang="en-US" dirty="0"/>
          </a:p>
          <a:p>
            <a:pPr lvl="1"/>
            <a:r>
              <a:rPr lang="en-US" altLang="en-US" i="1" dirty="0"/>
              <a:t>q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en-US" dirty="0"/>
              <a:t>frequency of </a:t>
            </a:r>
            <a:r>
              <a:rPr lang="en-US" altLang="en-US" i="1" dirty="0"/>
              <a:t>C</a:t>
            </a:r>
            <a:r>
              <a:rPr lang="en-US" altLang="en-US" i="1" baseline="30000" dirty="0"/>
              <a:t>W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/>
              <a:t>(recessive allele)</a:t>
            </a:r>
            <a:r>
              <a:rPr lang="en-US" altLang="en-US" dirty="0"/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en-US" dirty="0"/>
              <a:t>	</a:t>
            </a:r>
          </a:p>
        </p:txBody>
      </p:sp>
      <p:pic>
        <p:nvPicPr>
          <p:cNvPr id="5" name="Picture 4" descr="Allele distribution" title="Allele distribu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12" y="3898733"/>
            <a:ext cx="8334375" cy="294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593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HWE</a:t>
            </a:r>
          </a:p>
        </p:txBody>
      </p:sp>
      <p:sp>
        <p:nvSpPr>
          <p:cNvPr id="79874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2400" y="1273175"/>
            <a:ext cx="8839200" cy="5216525"/>
          </a:xfrm>
        </p:spPr>
        <p:txBody>
          <a:bodyPr/>
          <a:lstStyle/>
          <a:p>
            <a:r>
              <a:rPr lang="en-US" altLang="en-US" dirty="0"/>
              <a:t>The frequency of genotypes can be calculated</a:t>
            </a:r>
          </a:p>
          <a:p>
            <a:pPr lvl="1"/>
            <a:r>
              <a:rPr lang="en-US" altLang="en-US" i="1" dirty="0"/>
              <a:t>C</a:t>
            </a:r>
            <a:r>
              <a:rPr lang="en-US" altLang="en-US" b="1" i="1" baseline="30000" dirty="0">
                <a:solidFill>
                  <a:srgbClr val="FF0000"/>
                </a:solidFill>
              </a:rPr>
              <a:t>R</a:t>
            </a:r>
            <a:r>
              <a:rPr lang="en-US" altLang="en-US" i="1" dirty="0"/>
              <a:t>C</a:t>
            </a:r>
            <a:r>
              <a:rPr lang="en-US" altLang="en-US" b="1" i="1" baseline="30000" dirty="0">
                <a:solidFill>
                  <a:srgbClr val="FF0000"/>
                </a:solidFill>
              </a:rPr>
              <a:t>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i="1" dirty="0"/>
              <a:t>p</a:t>
            </a:r>
            <a:r>
              <a:rPr lang="en-US" altLang="en-US" baseline="30000" dirty="0"/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dirty="0"/>
              <a:t>0.8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× </a:t>
            </a:r>
            <a:r>
              <a:rPr lang="en-US" altLang="en-US" dirty="0"/>
              <a:t>0.8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endParaRPr lang="en-US" altLang="en-US" dirty="0"/>
          </a:p>
          <a:p>
            <a:pPr lvl="1"/>
            <a:r>
              <a:rPr lang="en-US" altLang="en-US" i="1" dirty="0"/>
              <a:t>C</a:t>
            </a:r>
            <a:r>
              <a:rPr lang="en-US" altLang="en-US" b="1" i="1" baseline="30000" dirty="0">
                <a:solidFill>
                  <a:srgbClr val="FF0000"/>
                </a:solidFill>
              </a:rPr>
              <a:t>R</a:t>
            </a:r>
            <a:r>
              <a:rPr lang="en-US" altLang="en-US" i="1" dirty="0"/>
              <a:t>C</a:t>
            </a:r>
            <a:r>
              <a:rPr lang="en-US" altLang="en-US" i="1" baseline="30000" dirty="0"/>
              <a:t>W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dirty="0"/>
              <a:t>2</a:t>
            </a:r>
            <a:r>
              <a:rPr lang="en-US" altLang="en-US" i="1" dirty="0"/>
              <a:t>pq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dirty="0"/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× </a:t>
            </a:r>
            <a:r>
              <a:rPr lang="en-US" altLang="en-US" dirty="0"/>
              <a:t>0.8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× </a:t>
            </a:r>
            <a:r>
              <a:rPr lang="en-US" altLang="en-US" dirty="0"/>
              <a:t>0.2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endParaRPr lang="en-US" altLang="en-US" dirty="0"/>
          </a:p>
          <a:p>
            <a:pPr lvl="1"/>
            <a:r>
              <a:rPr lang="en-US" altLang="en-US" i="1" dirty="0"/>
              <a:t>C</a:t>
            </a:r>
            <a:r>
              <a:rPr lang="en-US" altLang="en-US" i="1" baseline="30000" dirty="0"/>
              <a:t>W</a:t>
            </a:r>
            <a:r>
              <a:rPr lang="en-US" altLang="en-US" i="1" dirty="0"/>
              <a:t>C</a:t>
            </a:r>
            <a:r>
              <a:rPr lang="en-US" altLang="en-US" i="1" baseline="30000" dirty="0"/>
              <a:t>W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i="1" dirty="0"/>
              <a:t>q</a:t>
            </a:r>
            <a:r>
              <a:rPr lang="en-US" altLang="en-US" baseline="30000" dirty="0"/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dirty="0"/>
              <a:t>0.2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× </a:t>
            </a:r>
            <a:r>
              <a:rPr lang="en-US" altLang="en-US" dirty="0"/>
              <a:t>0.2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endParaRPr lang="en-US" altLang="en-US" dirty="0"/>
          </a:p>
          <a:p>
            <a:r>
              <a:rPr lang="en-US" altLang="en-US" dirty="0"/>
              <a:t>The frequency of genotypes can be confirmed using a </a:t>
            </a:r>
          </a:p>
        </p:txBody>
      </p:sp>
    </p:spTree>
    <p:extLst>
      <p:ext uri="{BB962C8B-B14F-4D97-AF65-F5344CB8AC3E}">
        <p14:creationId xmlns:p14="http://schemas.microsoft.com/office/powerpoint/2010/main" val="36354077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 23.8a Hardy-Weinberg equilibrium (part 1: Punnett square)&#10;" title="Figure 23.8a Hardy-Weinberg equilibrium (part 1: Punnett square)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944880" y="213360"/>
            <a:ext cx="7254240" cy="6431280"/>
          </a:xfrm>
          <a:prstGeom prst="rect">
            <a:avLst/>
          </a:prstGeom>
        </p:spPr>
      </p:pic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1457783" y="294764"/>
            <a:ext cx="6274153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300" b="1">
                <a:solidFill>
                  <a:srgbClr val="000000"/>
                </a:solidFill>
                <a:latin typeface="Arial"/>
                <a:ea typeface="ＭＳ Ｐゴシック" charset="0"/>
              </a:rPr>
              <a:t>Gene pool of the initial (parental) generation: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1335088" y="956628"/>
            <a:ext cx="2279470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80% </a:t>
            </a:r>
            <a:r>
              <a:rPr lang="en-US" sz="23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C</a:t>
            </a:r>
            <a:r>
              <a:rPr lang="en-US" sz="2300" b="1" i="1" baseline="30000" dirty="0">
                <a:solidFill>
                  <a:srgbClr val="FF0000"/>
                </a:solidFill>
                <a:latin typeface="Arial"/>
                <a:ea typeface="ＭＳ Ｐゴシック" charset="0"/>
              </a:rPr>
              <a:t>R</a:t>
            </a:r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(</a:t>
            </a:r>
            <a:r>
              <a:rPr lang="en-US" sz="23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p</a:t>
            </a:r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</a:t>
            </a:r>
            <a:r>
              <a:rPr lang="en-US" sz="2300" b="1" dirty="0">
                <a:solidFill>
                  <a:srgbClr val="000000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rPr>
              <a:t>=</a:t>
            </a:r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0.8)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5564188" y="956628"/>
            <a:ext cx="2353208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20% </a:t>
            </a:r>
            <a:r>
              <a:rPr lang="en-US" sz="23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C</a:t>
            </a:r>
            <a:r>
              <a:rPr lang="en-US" sz="2300" b="1" i="1" baseline="30000" dirty="0">
                <a:solidFill>
                  <a:srgbClr val="000000"/>
                </a:solidFill>
                <a:latin typeface="Arial"/>
                <a:ea typeface="ＭＳ Ｐゴシック" charset="0"/>
              </a:rPr>
              <a:t>W</a:t>
            </a:r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 (</a:t>
            </a:r>
            <a:r>
              <a:rPr lang="en-US" sz="23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q</a:t>
            </a:r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</a:t>
            </a:r>
            <a:r>
              <a:rPr lang="en-US" sz="2300" b="1" dirty="0">
                <a:solidFill>
                  <a:srgbClr val="000000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rPr>
              <a:t>=</a:t>
            </a:r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0.2)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316036" y="3552000"/>
            <a:ext cx="355867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300" b="1" i="1" dirty="0">
                <a:solidFill>
                  <a:srgbClr val="FFFFFF"/>
                </a:solidFill>
                <a:latin typeface="Arial"/>
                <a:ea typeface="ＭＳ Ｐゴシック" charset="0"/>
              </a:rPr>
              <a:t>C</a:t>
            </a:r>
            <a:r>
              <a:rPr lang="en-US" sz="2300" b="1" i="1" baseline="30000" dirty="0">
                <a:solidFill>
                  <a:srgbClr val="FFFFFF"/>
                </a:solidFill>
                <a:latin typeface="Arial"/>
                <a:ea typeface="ＭＳ Ｐゴシック" charset="0"/>
              </a:rPr>
              <a:t>R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551641" y="2057845"/>
            <a:ext cx="355867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300" b="1" i="1" dirty="0">
                <a:solidFill>
                  <a:srgbClr val="FFFFFF"/>
                </a:solidFill>
                <a:latin typeface="Arial"/>
                <a:ea typeface="ＭＳ Ｐゴシック" charset="0"/>
              </a:rPr>
              <a:t>C</a:t>
            </a:r>
            <a:r>
              <a:rPr lang="en-US" sz="2300" b="1" i="1" baseline="30000" dirty="0">
                <a:solidFill>
                  <a:srgbClr val="FFFFFF"/>
                </a:solidFill>
                <a:latin typeface="Arial"/>
                <a:ea typeface="ＭＳ Ｐゴシック" charset="0"/>
              </a:rPr>
              <a:t>R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812646" y="2035619"/>
            <a:ext cx="399148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3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C</a:t>
            </a:r>
            <a:r>
              <a:rPr lang="en-US" sz="2300" b="1" i="1" baseline="30000" dirty="0">
                <a:solidFill>
                  <a:srgbClr val="000000"/>
                </a:solidFill>
                <a:latin typeface="Arial"/>
                <a:ea typeface="ＭＳ Ｐゴシック" charset="0"/>
              </a:rPr>
              <a:t>W</a:t>
            </a:r>
          </a:p>
        </p:txBody>
      </p:sp>
      <p:sp>
        <p:nvSpPr>
          <p:cNvPr id="12" name="TextBox 5"/>
          <p:cNvSpPr txBox="1">
            <a:spLocks noChangeArrowheads="1"/>
          </p:cNvSpPr>
          <p:nvPr/>
        </p:nvSpPr>
        <p:spPr bwMode="auto">
          <a:xfrm>
            <a:off x="4772956" y="1653101"/>
            <a:ext cx="918521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Sperm</a:t>
            </a:r>
          </a:p>
        </p:txBody>
      </p:sp>
      <p:sp>
        <p:nvSpPr>
          <p:cNvPr id="13" name="TextBox 6"/>
          <p:cNvSpPr txBox="1">
            <a:spLocks noChangeArrowheads="1"/>
          </p:cNvSpPr>
          <p:nvPr/>
        </p:nvSpPr>
        <p:spPr bwMode="auto">
          <a:xfrm>
            <a:off x="6458881" y="2029270"/>
            <a:ext cx="923330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3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q</a:t>
            </a:r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</a:t>
            </a:r>
            <a:r>
              <a:rPr lang="en-US" sz="2300" b="1" dirty="0">
                <a:solidFill>
                  <a:srgbClr val="000000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rPr>
              <a:t>=</a:t>
            </a:r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0.2</a:t>
            </a:r>
          </a:p>
        </p:txBody>
      </p:sp>
      <p:sp>
        <p:nvSpPr>
          <p:cNvPr id="14" name="TextBox 7"/>
          <p:cNvSpPr txBox="1">
            <a:spLocks noChangeArrowheads="1"/>
          </p:cNvSpPr>
          <p:nvPr/>
        </p:nvSpPr>
        <p:spPr bwMode="auto">
          <a:xfrm>
            <a:off x="4126844" y="2045145"/>
            <a:ext cx="923330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3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p</a:t>
            </a:r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</a:t>
            </a:r>
            <a:r>
              <a:rPr lang="en-US" sz="2300" b="1" dirty="0">
                <a:solidFill>
                  <a:srgbClr val="000000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rPr>
              <a:t>=</a:t>
            </a:r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0.8</a:t>
            </a:r>
          </a:p>
        </p:txBody>
      </p:sp>
      <p:sp>
        <p:nvSpPr>
          <p:cNvPr id="16" name="TextBox 9"/>
          <p:cNvSpPr txBox="1">
            <a:spLocks noChangeArrowheads="1"/>
          </p:cNvSpPr>
          <p:nvPr/>
        </p:nvSpPr>
        <p:spPr bwMode="auto">
          <a:xfrm>
            <a:off x="1081575" y="4043362"/>
            <a:ext cx="923330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3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p</a:t>
            </a:r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</a:t>
            </a:r>
            <a:r>
              <a:rPr lang="en-US" sz="2300" b="1" dirty="0">
                <a:solidFill>
                  <a:srgbClr val="000000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rPr>
              <a:t>=</a:t>
            </a:r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0.8</a:t>
            </a:r>
          </a:p>
        </p:txBody>
      </p:sp>
      <p:sp>
        <p:nvSpPr>
          <p:cNvPr id="17" name="TextBox 10"/>
          <p:cNvSpPr txBox="1">
            <a:spLocks noChangeArrowheads="1"/>
          </p:cNvSpPr>
          <p:nvPr/>
        </p:nvSpPr>
        <p:spPr bwMode="auto">
          <a:xfrm>
            <a:off x="1000613" y="4695825"/>
            <a:ext cx="719749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300" b="1">
                <a:solidFill>
                  <a:srgbClr val="000000"/>
                </a:solidFill>
                <a:latin typeface="Arial"/>
                <a:ea typeface="ＭＳ Ｐゴシック" charset="0"/>
              </a:rPr>
              <a:t>Eggs</a:t>
            </a:r>
          </a:p>
        </p:txBody>
      </p:sp>
      <p:sp>
        <p:nvSpPr>
          <p:cNvPr id="18" name="TextBox 11"/>
          <p:cNvSpPr txBox="1">
            <a:spLocks noChangeArrowheads="1"/>
          </p:cNvSpPr>
          <p:nvPr/>
        </p:nvSpPr>
        <p:spPr bwMode="auto">
          <a:xfrm>
            <a:off x="1278425" y="5564187"/>
            <a:ext cx="399148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3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C</a:t>
            </a:r>
            <a:r>
              <a:rPr lang="en-US" sz="2300" b="1" i="1" baseline="30000" dirty="0">
                <a:solidFill>
                  <a:srgbClr val="000000"/>
                </a:solidFill>
                <a:latin typeface="Arial"/>
                <a:ea typeface="ＭＳ Ｐゴシック" charset="0"/>
              </a:rPr>
              <a:t>W</a:t>
            </a:r>
          </a:p>
        </p:txBody>
      </p:sp>
      <p:sp>
        <p:nvSpPr>
          <p:cNvPr id="19" name="TextBox 12"/>
          <p:cNvSpPr txBox="1">
            <a:spLocks noChangeArrowheads="1"/>
          </p:cNvSpPr>
          <p:nvPr/>
        </p:nvSpPr>
        <p:spPr bwMode="auto">
          <a:xfrm>
            <a:off x="1081575" y="6053137"/>
            <a:ext cx="923330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3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q</a:t>
            </a:r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</a:t>
            </a:r>
            <a:r>
              <a:rPr lang="en-US" sz="2300" b="1" dirty="0">
                <a:solidFill>
                  <a:srgbClr val="000000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rPr>
              <a:t>=</a:t>
            </a:r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0.2</a:t>
            </a:r>
          </a:p>
        </p:txBody>
      </p:sp>
      <p:sp>
        <p:nvSpPr>
          <p:cNvPr id="20" name="TextBox 14"/>
          <p:cNvSpPr txBox="1">
            <a:spLocks noChangeArrowheads="1"/>
          </p:cNvSpPr>
          <p:nvPr/>
        </p:nvSpPr>
        <p:spPr bwMode="auto">
          <a:xfrm>
            <a:off x="3013563" y="4481512"/>
            <a:ext cx="1138132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0.64 (</a:t>
            </a:r>
            <a:r>
              <a:rPr lang="en-US" sz="23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p</a:t>
            </a:r>
            <a:r>
              <a:rPr lang="en-US" sz="2300" b="1" baseline="30000" dirty="0">
                <a:solidFill>
                  <a:srgbClr val="000000"/>
                </a:solidFill>
                <a:latin typeface="Arial"/>
                <a:ea typeface="ＭＳ Ｐゴシック" charset="0"/>
              </a:rPr>
              <a:t>2</a:t>
            </a:r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)</a:t>
            </a:r>
          </a:p>
        </p:txBody>
      </p:sp>
      <p:sp>
        <p:nvSpPr>
          <p:cNvPr id="21" name="TextBox 15"/>
          <p:cNvSpPr txBox="1">
            <a:spLocks noChangeArrowheads="1"/>
          </p:cNvSpPr>
          <p:nvPr/>
        </p:nvSpPr>
        <p:spPr bwMode="auto">
          <a:xfrm>
            <a:off x="3235813" y="4929187"/>
            <a:ext cx="711733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3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C</a:t>
            </a:r>
            <a:r>
              <a:rPr lang="en-US" sz="2300" b="1" i="1" baseline="30000" dirty="0">
                <a:solidFill>
                  <a:srgbClr val="FF0000"/>
                </a:solidFill>
                <a:latin typeface="Arial"/>
                <a:ea typeface="ＭＳ Ｐゴシック" charset="0"/>
              </a:rPr>
              <a:t>R</a:t>
            </a:r>
            <a:r>
              <a:rPr lang="en-US" sz="23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C</a:t>
            </a:r>
            <a:r>
              <a:rPr lang="en-US" sz="2300" b="1" i="1" baseline="30000" dirty="0">
                <a:solidFill>
                  <a:srgbClr val="FF0000"/>
                </a:solidFill>
                <a:latin typeface="Arial"/>
                <a:ea typeface="ＭＳ Ｐゴシック" charset="0"/>
              </a:rPr>
              <a:t>R</a:t>
            </a:r>
          </a:p>
        </p:txBody>
      </p:sp>
      <p:sp>
        <p:nvSpPr>
          <p:cNvPr id="22" name="TextBox 16"/>
          <p:cNvSpPr txBox="1">
            <a:spLocks noChangeArrowheads="1"/>
          </p:cNvSpPr>
          <p:nvPr/>
        </p:nvSpPr>
        <p:spPr bwMode="auto">
          <a:xfrm>
            <a:off x="3961300" y="5597525"/>
            <a:ext cx="1208664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0.16 (</a:t>
            </a:r>
            <a:r>
              <a:rPr lang="en-US" sz="2300" b="1" i="1" dirty="0" err="1">
                <a:solidFill>
                  <a:srgbClr val="000000"/>
                </a:solidFill>
                <a:latin typeface="Arial"/>
                <a:ea typeface="ＭＳ Ｐゴシック" charset="0"/>
              </a:rPr>
              <a:t>qp</a:t>
            </a:r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)</a:t>
            </a:r>
          </a:p>
        </p:txBody>
      </p:sp>
      <p:sp>
        <p:nvSpPr>
          <p:cNvPr id="23" name="TextBox 17"/>
          <p:cNvSpPr txBox="1">
            <a:spLocks noChangeArrowheads="1"/>
          </p:cNvSpPr>
          <p:nvPr/>
        </p:nvSpPr>
        <p:spPr bwMode="auto">
          <a:xfrm>
            <a:off x="4169263" y="6045200"/>
            <a:ext cx="75501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3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C</a:t>
            </a:r>
            <a:r>
              <a:rPr lang="en-US" sz="2300" b="1" i="1" baseline="30000" dirty="0">
                <a:solidFill>
                  <a:srgbClr val="FF0000"/>
                </a:solidFill>
                <a:latin typeface="Arial"/>
                <a:ea typeface="ＭＳ Ｐゴシック" charset="0"/>
              </a:rPr>
              <a:t>R</a:t>
            </a:r>
            <a:r>
              <a:rPr lang="en-US" sz="23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C</a:t>
            </a:r>
            <a:r>
              <a:rPr lang="en-US" sz="2300" b="1" i="1" baseline="30000" dirty="0">
                <a:solidFill>
                  <a:srgbClr val="000000"/>
                </a:solidFill>
                <a:latin typeface="Arial"/>
                <a:ea typeface="ＭＳ Ｐゴシック" charset="0"/>
              </a:rPr>
              <a:t>W</a:t>
            </a:r>
          </a:p>
        </p:txBody>
      </p:sp>
      <p:sp>
        <p:nvSpPr>
          <p:cNvPr id="24" name="TextBox 18"/>
          <p:cNvSpPr txBox="1">
            <a:spLocks noChangeArrowheads="1"/>
          </p:cNvSpPr>
          <p:nvPr/>
        </p:nvSpPr>
        <p:spPr bwMode="auto">
          <a:xfrm>
            <a:off x="5453550" y="4481512"/>
            <a:ext cx="1208664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0.16 (</a:t>
            </a:r>
            <a:r>
              <a:rPr lang="en-US" sz="2300" b="1" i="1" dirty="0" err="1">
                <a:solidFill>
                  <a:srgbClr val="000000"/>
                </a:solidFill>
                <a:latin typeface="Arial"/>
                <a:ea typeface="ＭＳ Ｐゴシック" charset="0"/>
              </a:rPr>
              <a:t>pq</a:t>
            </a:r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)</a:t>
            </a:r>
          </a:p>
        </p:txBody>
      </p:sp>
      <p:sp>
        <p:nvSpPr>
          <p:cNvPr id="25" name="TextBox 19"/>
          <p:cNvSpPr txBox="1">
            <a:spLocks noChangeArrowheads="1"/>
          </p:cNvSpPr>
          <p:nvPr/>
        </p:nvSpPr>
        <p:spPr bwMode="auto">
          <a:xfrm>
            <a:off x="5661513" y="4929187"/>
            <a:ext cx="75501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3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C</a:t>
            </a:r>
            <a:r>
              <a:rPr lang="en-US" sz="2300" b="1" i="1" baseline="30000" dirty="0">
                <a:solidFill>
                  <a:srgbClr val="FF0000"/>
                </a:solidFill>
                <a:latin typeface="Arial"/>
                <a:ea typeface="ＭＳ Ｐゴシック" charset="0"/>
              </a:rPr>
              <a:t>R</a:t>
            </a:r>
            <a:r>
              <a:rPr lang="en-US" sz="23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C</a:t>
            </a:r>
            <a:r>
              <a:rPr lang="en-US" sz="2300" b="1" i="1" baseline="30000" dirty="0">
                <a:solidFill>
                  <a:srgbClr val="000000"/>
                </a:solidFill>
                <a:latin typeface="Arial"/>
                <a:ea typeface="ＭＳ Ｐゴシック" charset="0"/>
              </a:rPr>
              <a:t>W</a:t>
            </a:r>
          </a:p>
        </p:txBody>
      </p:sp>
      <p:sp>
        <p:nvSpPr>
          <p:cNvPr id="26" name="TextBox 20"/>
          <p:cNvSpPr txBox="1">
            <a:spLocks noChangeArrowheads="1"/>
          </p:cNvSpPr>
          <p:nvPr/>
        </p:nvSpPr>
        <p:spPr bwMode="auto">
          <a:xfrm>
            <a:off x="6896588" y="5597525"/>
            <a:ext cx="1138132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0.04 (</a:t>
            </a:r>
            <a:r>
              <a:rPr lang="en-US" sz="23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q</a:t>
            </a:r>
            <a:r>
              <a:rPr lang="en-US" sz="2300" b="1" baseline="30000" dirty="0">
                <a:solidFill>
                  <a:srgbClr val="000000"/>
                </a:solidFill>
                <a:latin typeface="Arial"/>
                <a:ea typeface="ＭＳ Ｐゴシック" charset="0"/>
              </a:rPr>
              <a:t>2</a:t>
            </a:r>
            <a:r>
              <a:rPr lang="en-US" sz="2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)</a:t>
            </a:r>
          </a:p>
        </p:txBody>
      </p:sp>
      <p:sp>
        <p:nvSpPr>
          <p:cNvPr id="27" name="TextBox 21"/>
          <p:cNvSpPr txBox="1">
            <a:spLocks noChangeArrowheads="1"/>
          </p:cNvSpPr>
          <p:nvPr/>
        </p:nvSpPr>
        <p:spPr bwMode="auto">
          <a:xfrm>
            <a:off x="7020413" y="6045200"/>
            <a:ext cx="798295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23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C</a:t>
            </a:r>
            <a:r>
              <a:rPr lang="en-US" sz="2300" b="1" i="1" baseline="30000" dirty="0">
                <a:solidFill>
                  <a:srgbClr val="000000"/>
                </a:solidFill>
                <a:latin typeface="Arial"/>
                <a:ea typeface="ＭＳ Ｐゴシック" charset="0"/>
              </a:rPr>
              <a:t>W</a:t>
            </a:r>
            <a:r>
              <a:rPr lang="en-US" sz="23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C</a:t>
            </a:r>
            <a:r>
              <a:rPr lang="en-US" sz="2300" b="1" i="1" baseline="30000" dirty="0">
                <a:solidFill>
                  <a:srgbClr val="000000"/>
                </a:solidFill>
                <a:latin typeface="Arial"/>
                <a:ea typeface="ＭＳ Ｐゴシック" charset="0"/>
              </a:rPr>
              <a:t>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33600" y="259080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64%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0" y="259080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16%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33600" y="5391090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16%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0" y="5391090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4%</a:t>
            </a:r>
          </a:p>
        </p:txBody>
      </p:sp>
    </p:spTree>
    <p:extLst>
      <p:ext uri="{BB962C8B-B14F-4D97-AF65-F5344CB8AC3E}">
        <p14:creationId xmlns:p14="http://schemas.microsoft.com/office/powerpoint/2010/main" val="2558166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76200" y="152400"/>
            <a:ext cx="8991600" cy="3810000"/>
          </a:xfrm>
        </p:spPr>
        <p:txBody>
          <a:bodyPr/>
          <a:lstStyle/>
          <a:p>
            <a:r>
              <a:rPr lang="en-US" altLang="en-US" dirty="0"/>
              <a:t>If </a:t>
            </a:r>
            <a:r>
              <a:rPr lang="en-US" altLang="en-US" i="1" dirty="0"/>
              <a:t>p</a:t>
            </a:r>
            <a:r>
              <a:rPr lang="en-US" altLang="en-US" dirty="0"/>
              <a:t> and </a:t>
            </a:r>
            <a:r>
              <a:rPr lang="en-US" altLang="en-US" i="1" dirty="0"/>
              <a:t>q</a:t>
            </a:r>
            <a:r>
              <a:rPr lang="en-US" altLang="en-US" dirty="0"/>
              <a:t> represent the relative frequencies of the only two possible alleles in a population at a particular locus, then </a:t>
            </a:r>
          </a:p>
          <a:p>
            <a:pPr lvl="1"/>
            <a:r>
              <a:rPr lang="en-US" altLang="en-US" i="1" dirty="0"/>
              <a:t>p</a:t>
            </a:r>
            <a:r>
              <a:rPr lang="en-US" altLang="en-US" baseline="30000" dirty="0"/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altLang="en-US" dirty="0"/>
              <a:t>2</a:t>
            </a:r>
            <a:r>
              <a:rPr lang="en-US" altLang="en-US" i="1" dirty="0"/>
              <a:t>pq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altLang="en-US" i="1" dirty="0"/>
              <a:t>q</a:t>
            </a:r>
            <a:r>
              <a:rPr lang="en-US" altLang="en-US" baseline="30000" dirty="0"/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dirty="0"/>
              <a:t>1</a:t>
            </a:r>
          </a:p>
          <a:p>
            <a:pPr lvl="1"/>
            <a:r>
              <a:rPr lang="en-US" altLang="en-US" i="1" dirty="0"/>
              <a:t>p</a:t>
            </a:r>
            <a:r>
              <a:rPr lang="en-US" altLang="en-US" baseline="30000" dirty="0"/>
              <a:t>2</a:t>
            </a:r>
            <a:r>
              <a:rPr lang="en-US" altLang="en-US" dirty="0"/>
              <a:t> = frequency of the </a:t>
            </a:r>
          </a:p>
          <a:p>
            <a:pPr lvl="1"/>
            <a:r>
              <a:rPr lang="en-US" altLang="en-US" i="1" dirty="0"/>
              <a:t>q</a:t>
            </a:r>
            <a:r>
              <a:rPr lang="en-US" altLang="en-US" baseline="30000" dirty="0"/>
              <a:t>2</a:t>
            </a:r>
            <a:r>
              <a:rPr lang="en-US" altLang="en-US" dirty="0"/>
              <a:t> = frequency of the </a:t>
            </a:r>
          </a:p>
          <a:p>
            <a:pPr lvl="1"/>
            <a:r>
              <a:rPr lang="en-US" altLang="en-US" dirty="0"/>
              <a:t>2</a:t>
            </a:r>
            <a:r>
              <a:rPr lang="en-US" altLang="en-US" i="1" dirty="0"/>
              <a:t>pq</a:t>
            </a:r>
            <a:r>
              <a:rPr lang="en-US" altLang="en-US" dirty="0"/>
              <a:t> = frequency of the </a:t>
            </a:r>
          </a:p>
        </p:txBody>
      </p:sp>
      <p:pic>
        <p:nvPicPr>
          <p:cNvPr id="3" name="Picture 2" descr="Figure 23.8d Hardy-Weinberg equilibrium (part 4: Hardy-Weinberg equation)&#10;" title="Figure 23.8d Hardy-Weinberg equilibrium (part 4: Hardy-Weinberg equation)">
            <a:extLst>
              <a:ext uri="{FF2B5EF4-FFF2-40B4-BE49-F238E27FC236}">
                <a16:creationId xmlns:a16="http://schemas.microsoft.com/office/drawing/2014/main" id="{D0F66661-469A-4D1E-A928-75FDC90A1F36}"/>
              </a:ext>
            </a:extLst>
          </p:cNvPr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123"/>
          <a:stretch>
            <a:fillRect/>
          </a:stretch>
        </p:blipFill>
        <p:spPr>
          <a:xfrm>
            <a:off x="298703" y="4191000"/>
            <a:ext cx="8546592" cy="1987296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344822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0" y="-4012"/>
            <a:ext cx="9144000" cy="60016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HW problem walk through</a:t>
            </a:r>
          </a:p>
        </p:txBody>
      </p:sp>
      <p:sp>
        <p:nvSpPr>
          <p:cNvPr id="12302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9C10"/>
              </a:buClr>
              <a:buFont typeface="Wingdings" pitchFamily="2" charset="2"/>
              <a:buChar char="§"/>
              <a:defRPr sz="3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400" b="1">
                <a:latin typeface="Tahoma" pitchFamily="34" charset="0"/>
              </a:rPr>
              <a:t>0</a:t>
            </a:r>
          </a:p>
        </p:txBody>
      </p:sp>
      <p:pic>
        <p:nvPicPr>
          <p:cNvPr id="5" name="Picture 4" descr="HW problem walk-through" title="HW problem walk-throug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"/>
            <a:ext cx="9144000" cy="685800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0" y="6172200"/>
            <a:ext cx="5486400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GRADED HOMEWORK on MOODLE</a:t>
            </a:r>
          </a:p>
        </p:txBody>
      </p:sp>
    </p:spTree>
    <p:extLst>
      <p:ext uri="{BB962C8B-B14F-4D97-AF65-F5344CB8AC3E}">
        <p14:creationId xmlns:p14="http://schemas.microsoft.com/office/powerpoint/2010/main" val="246328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/>
          <a:p>
            <a:r>
              <a:rPr lang="en-US" altLang="en-US" i="1"/>
              <a:t>Conditions for Hardy-Weinberg Equilibrium</a:t>
            </a:r>
            <a:endParaRPr lang="en-US" altLang="en-US"/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>
          <a:xfrm>
            <a:off x="16933" y="685800"/>
            <a:ext cx="9127067" cy="6172199"/>
          </a:xfrm>
        </p:spPr>
        <p:txBody>
          <a:bodyPr/>
          <a:lstStyle/>
          <a:p>
            <a:r>
              <a:rPr lang="en-US" altLang="en-US" dirty="0"/>
              <a:t>The HW approach describes a population that is </a:t>
            </a:r>
          </a:p>
          <a:p>
            <a:endParaRPr lang="en-US" altLang="en-US" dirty="0"/>
          </a:p>
          <a:p>
            <a:r>
              <a:rPr lang="en-US" altLang="en-US" dirty="0"/>
              <a:t>In </a:t>
            </a:r>
            <a:r>
              <a:rPr lang="en-US" altLang="en-US" b="1" i="1" dirty="0">
                <a:solidFill>
                  <a:srgbClr val="00B050"/>
                </a:solidFill>
              </a:rPr>
              <a:t>real</a:t>
            </a:r>
            <a:r>
              <a:rPr lang="en-US" altLang="en-US" dirty="0"/>
              <a:t> populations, allele and genotype frequencies often </a:t>
            </a:r>
          </a:p>
          <a:p>
            <a:r>
              <a:rPr lang="en-US" altLang="en-US" dirty="0"/>
              <a:t>Changes occur when one or more of the conditions for HW equilibrium are </a:t>
            </a:r>
          </a:p>
          <a:p>
            <a:r>
              <a:rPr lang="en-US" altLang="en-US" dirty="0"/>
              <a:t>Natural populations can evolve at some loci while being in HW equilibrium </a:t>
            </a:r>
          </a:p>
          <a:p>
            <a:r>
              <a:rPr lang="en-US" altLang="en-US" dirty="0"/>
              <a:t>The HW equation can be used to test whether evolution is </a:t>
            </a:r>
          </a:p>
          <a:p>
            <a:r>
              <a:rPr lang="en-US" altLang="en-US" dirty="0"/>
              <a:t>It is also used to determine the percentage of a population </a:t>
            </a:r>
          </a:p>
          <a:p>
            <a:pPr lvl="3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909370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042" y="28074"/>
            <a:ext cx="9144000" cy="60016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HW conditions needed</a:t>
            </a:r>
          </a:p>
        </p:txBody>
      </p:sp>
      <p:pic>
        <p:nvPicPr>
          <p:cNvPr id="2" name="Picture 1" descr="Table 23.1 Conditions for Hardy-Weinberg equilibrium&#10;" title="Table 23.1 Conditions for Hardy-Weinberg equilibrium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810768" y="213360"/>
            <a:ext cx="7522464" cy="6431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 rot="5400000">
            <a:off x="6349290" y="3198167"/>
            <a:ext cx="46794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KNOW THESE FOR THE EXAM</a:t>
            </a:r>
          </a:p>
        </p:txBody>
      </p:sp>
    </p:spTree>
    <p:extLst>
      <p:ext uri="{BB962C8B-B14F-4D97-AF65-F5344CB8AC3E}">
        <p14:creationId xmlns:p14="http://schemas.microsoft.com/office/powerpoint/2010/main" val="39155863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016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PKU example</a:t>
            </a:r>
          </a:p>
        </p:txBody>
      </p:sp>
      <p:sp>
        <p:nvSpPr>
          <p:cNvPr id="9625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152400" y="60325"/>
            <a:ext cx="8991600" cy="6797675"/>
          </a:xfrm>
        </p:spPr>
        <p:txBody>
          <a:bodyPr/>
          <a:lstStyle/>
          <a:p>
            <a:r>
              <a:rPr lang="en-US" altLang="en-US" dirty="0"/>
              <a:t>EX: We can assume that the locus that causes phenylketonuria (PKU) is in HW equilibrium because:</a:t>
            </a:r>
          </a:p>
          <a:p>
            <a:r>
              <a:rPr lang="en-US" altLang="en-US" dirty="0"/>
              <a:t>PKU is caused by a defect in a gene that helps create the enzyme needed to break down the amino acid </a:t>
            </a:r>
          </a:p>
          <a:p>
            <a:endParaRPr lang="en-US" alt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/>
              <a:t>The PKU gene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/>
              <a:t>Mate selection is random with respect to whether or not an individual is a </a:t>
            </a:r>
          </a:p>
          <a:p>
            <a:pPr marL="971550" lvl="1" indent="-514350">
              <a:buFont typeface="+mj-lt"/>
              <a:buAutoNum type="arabicPeriod" startAt="3"/>
            </a:pPr>
            <a:r>
              <a:rPr lang="en-US" altLang="en-US" dirty="0"/>
              <a:t>Natural selection can only act on rare homozygous individuals who do not </a:t>
            </a:r>
          </a:p>
          <a:p>
            <a:pPr marL="971550" lvl="1" indent="-514350">
              <a:buFont typeface="+mj-lt"/>
              <a:buAutoNum type="arabicPeriod" startAt="3"/>
            </a:pPr>
            <a:r>
              <a:rPr lang="en-US" altLang="en-US" dirty="0"/>
              <a:t>The population is </a:t>
            </a:r>
          </a:p>
          <a:p>
            <a:pPr marL="971550" lvl="1" indent="-514350">
              <a:buFont typeface="+mj-lt"/>
              <a:buAutoNum type="arabicPeriod" startAt="3"/>
            </a:pPr>
            <a:r>
              <a:rPr lang="en-US" altLang="en-US" dirty="0"/>
              <a:t>Migration has no effect, as many other populations have 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51488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33338"/>
            <a:ext cx="9144000" cy="600164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PKU example more</a:t>
            </a:r>
          </a:p>
        </p:txBody>
      </p:sp>
      <p:sp>
        <p:nvSpPr>
          <p:cNvPr id="100354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2400" y="33338"/>
            <a:ext cx="8839200" cy="3951287"/>
          </a:xfrm>
        </p:spPr>
        <p:txBody>
          <a:bodyPr/>
          <a:lstStyle/>
          <a:p>
            <a:r>
              <a:rPr lang="en-US" altLang="en-US" dirty="0"/>
              <a:t>The occurrence of PKU is one per 10,000 births</a:t>
            </a:r>
          </a:p>
          <a:p>
            <a:pPr lvl="1"/>
            <a:r>
              <a:rPr lang="en-US" altLang="en-US" i="1" dirty="0"/>
              <a:t>q</a:t>
            </a:r>
            <a:r>
              <a:rPr lang="en-US" altLang="en-US" baseline="30000" dirty="0"/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dirty="0"/>
              <a:t>0.0001, so </a:t>
            </a:r>
            <a:r>
              <a:rPr lang="en-US" altLang="en-US" i="1" dirty="0"/>
              <a:t>q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endParaRPr lang="en-US" altLang="en-US" dirty="0"/>
          </a:p>
          <a:p>
            <a:r>
              <a:rPr lang="en-US" altLang="en-US" dirty="0"/>
              <a:t>The frequency of normal alleles is</a:t>
            </a:r>
          </a:p>
          <a:p>
            <a:pPr lvl="1"/>
            <a:r>
              <a:rPr lang="en-US" altLang="en-US" i="1" dirty="0"/>
              <a:t>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dirty="0"/>
              <a:t>1 </a:t>
            </a:r>
            <a:r>
              <a:rPr lang="en-US" altLang="en-US" dirty="0">
                <a:latin typeface="+mj-lt"/>
              </a:rPr>
              <a:t>–</a:t>
            </a:r>
            <a:r>
              <a:rPr lang="en-US" altLang="en-US" dirty="0"/>
              <a:t> </a:t>
            </a:r>
            <a:r>
              <a:rPr lang="en-US" altLang="en-US" i="1" dirty="0"/>
              <a:t>q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dirty="0"/>
              <a:t>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− </a:t>
            </a:r>
            <a:r>
              <a:rPr lang="en-US" altLang="en-US" dirty="0"/>
              <a:t>0.01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endParaRPr lang="en-US" altLang="en-US" dirty="0"/>
          </a:p>
          <a:p>
            <a:r>
              <a:rPr lang="en-US" altLang="en-US" dirty="0"/>
              <a:t>The frequency of carriers is</a:t>
            </a:r>
          </a:p>
          <a:p>
            <a:pPr lvl="1"/>
            <a:r>
              <a:rPr lang="en-US" altLang="en-US" dirty="0"/>
              <a:t>2</a:t>
            </a:r>
            <a:r>
              <a:rPr lang="en-US" altLang="en-US" i="1" dirty="0"/>
              <a:t>pq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en-US" dirty="0"/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× </a:t>
            </a:r>
            <a:r>
              <a:rPr lang="en-US" altLang="en-US" dirty="0"/>
              <a:t>0.99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× </a:t>
            </a:r>
            <a:r>
              <a:rPr lang="en-US" altLang="en-US" dirty="0"/>
              <a:t>0.01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= </a:t>
            </a:r>
            <a:endParaRPr lang="en-US" altLang="en-US" dirty="0"/>
          </a:p>
          <a:p>
            <a:pPr lvl="1"/>
            <a:r>
              <a:rPr lang="en-US" altLang="en-US" dirty="0"/>
              <a:t>or approximately </a:t>
            </a:r>
          </a:p>
        </p:txBody>
      </p:sp>
      <p:pic>
        <p:nvPicPr>
          <p:cNvPr id="4" name="Picture 3" descr="Blood sample from baby foot" title="Blood sample from baby foot">
            <a:extLst>
              <a:ext uri="{FF2B5EF4-FFF2-40B4-BE49-F238E27FC236}">
                <a16:creationId xmlns:a16="http://schemas.microsoft.com/office/drawing/2014/main" id="{035F3FDC-904E-4F12-A5C1-C1474FFC0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299" y="3864426"/>
            <a:ext cx="7391400" cy="26734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7BEC68-A100-4476-879D-FF0482E626BA}"/>
              </a:ext>
            </a:extLst>
          </p:cNvPr>
          <p:cNvSpPr txBox="1"/>
          <p:nvPr/>
        </p:nvSpPr>
        <p:spPr>
          <a:xfrm>
            <a:off x="0" y="6519446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The blood sample for PKU is usually taken from a baby's heel (called a heel stick).</a:t>
            </a:r>
          </a:p>
        </p:txBody>
      </p:sp>
    </p:spTree>
    <p:extLst>
      <p:ext uri="{BB962C8B-B14F-4D97-AF65-F5344CB8AC3E}">
        <p14:creationId xmlns:p14="http://schemas.microsoft.com/office/powerpoint/2010/main" val="27302705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5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56966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Concept 23.3: Natural selection, genetic drift, and gene flow can alter allele frequencies in a population</a:t>
            </a:r>
          </a:p>
        </p:txBody>
      </p:sp>
      <p:sp>
        <p:nvSpPr>
          <p:cNvPr id="102403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Three major factors alter allele frequencies and bring about most evolutionary change: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/>
              <a:t>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/>
              <a:t>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35522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1. Natural Selection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Selection results in alleles being passed to the next generation in proportions that differ from </a:t>
            </a:r>
          </a:p>
          <a:p>
            <a:endParaRPr lang="en-US" altLang="en-US" dirty="0"/>
          </a:p>
          <a:p>
            <a:r>
              <a:rPr lang="en-US" altLang="en-US" dirty="0"/>
              <a:t>EX: An allele that confers resistance to DDT in fruit flies increased in frequency after </a:t>
            </a:r>
          </a:p>
          <a:p>
            <a:endParaRPr lang="en-US" altLang="en-US" dirty="0"/>
          </a:p>
          <a:p>
            <a:r>
              <a:rPr lang="en-US" altLang="en-US" dirty="0"/>
              <a:t>Natural selection can cause </a:t>
            </a:r>
            <a:r>
              <a:rPr lang="en-US" altLang="en-US" b="1" dirty="0"/>
              <a:t>adaptive evolution</a:t>
            </a:r>
            <a:r>
              <a:rPr lang="en-US" altLang="en-US" dirty="0"/>
              <a:t>, a process in which traits that enhance survival or reproduction </a:t>
            </a:r>
          </a:p>
        </p:txBody>
      </p:sp>
    </p:spTree>
    <p:extLst>
      <p:ext uri="{BB962C8B-B14F-4D97-AF65-F5344CB8AC3E}">
        <p14:creationId xmlns:p14="http://schemas.microsoft.com/office/powerpoint/2010/main" val="170997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2. Genetic Drift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b="1" dirty="0">
                <a:solidFill>
                  <a:srgbClr val="FF0000"/>
                </a:solidFill>
              </a:rPr>
              <a:t>smaller</a:t>
            </a:r>
            <a:r>
              <a:rPr lang="en-US" altLang="en-US" dirty="0"/>
              <a:t> a sample, the greater the chance of random </a:t>
            </a:r>
          </a:p>
          <a:p>
            <a:r>
              <a:rPr lang="en-US" altLang="en-US" b="1" dirty="0"/>
              <a:t>Genetic drift </a:t>
            </a:r>
            <a:r>
              <a:rPr lang="en-US" altLang="en-US" dirty="0"/>
              <a:t>describes how allele frequencies fluctuate unpredictably from </a:t>
            </a:r>
          </a:p>
          <a:p>
            <a:endParaRPr lang="en-US" altLang="en-US" dirty="0"/>
          </a:p>
          <a:p>
            <a:r>
              <a:rPr lang="en-US" altLang="en-US" dirty="0"/>
              <a:t>Genetic drift tends to reduce genetic variation through the </a:t>
            </a:r>
          </a:p>
          <a:p>
            <a:r>
              <a:rPr lang="en-US" altLang="en-US" dirty="0"/>
              <a:t>Two main types of genetic drift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/>
              <a:t>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dirty="0"/>
              <a:t> 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152724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370B9B-C1AB-5BD3-15E4-33B57DEF4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192" y="2865231"/>
            <a:ext cx="2302748" cy="23291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8F0176-A10F-FED4-0BC7-ADFB1598F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878435"/>
            <a:ext cx="2371407" cy="23291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1205C4-D890-2224-A6BA-E37A73222F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5344" y="0"/>
            <a:ext cx="2302748" cy="23185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FF61B2-67CE-0502-2065-63AE6FCA7F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443" y="5130870"/>
            <a:ext cx="1203319" cy="10241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ABC4FF-28EE-2CC3-81C4-5DA0D0AD8F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70340" y="5130870"/>
            <a:ext cx="1203319" cy="10241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09AFC2B-0FC8-18F0-8FD7-E07C137150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8906" y="5130870"/>
            <a:ext cx="1203319" cy="102416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935190E-3639-7643-02B5-1C783C41133B}"/>
              </a:ext>
            </a:extLst>
          </p:cNvPr>
          <p:cNvSpPr txBox="1"/>
          <p:nvPr/>
        </p:nvSpPr>
        <p:spPr>
          <a:xfrm>
            <a:off x="1369487" y="6167735"/>
            <a:ext cx="699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218F6A-0683-FDDD-2D9E-A56D5B082CEF}"/>
              </a:ext>
            </a:extLst>
          </p:cNvPr>
          <p:cNvSpPr txBox="1"/>
          <p:nvPr/>
        </p:nvSpPr>
        <p:spPr>
          <a:xfrm>
            <a:off x="4131342" y="6167735"/>
            <a:ext cx="8707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$100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74FEA5-60D5-BF2B-C9DB-330F52AEBDB4}"/>
              </a:ext>
            </a:extLst>
          </p:cNvPr>
          <p:cNvSpPr txBox="1"/>
          <p:nvPr/>
        </p:nvSpPr>
        <p:spPr>
          <a:xfrm>
            <a:off x="6869428" y="6167735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$1000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D181382-0A53-84A2-146D-C7C59D2000D7}"/>
              </a:ext>
            </a:extLst>
          </p:cNvPr>
          <p:cNvCxnSpPr>
            <a:stCxn id="11" idx="1"/>
            <a:endCxn id="9" idx="0"/>
          </p:cNvCxnSpPr>
          <p:nvPr/>
        </p:nvCxnSpPr>
        <p:spPr bwMode="auto">
          <a:xfrm flipH="1">
            <a:off x="1719104" y="1159260"/>
            <a:ext cx="1696240" cy="1719175"/>
          </a:xfrm>
          <a:prstGeom prst="straightConnector1">
            <a:avLst/>
          </a:prstGeom>
          <a:solidFill>
            <a:schemeClr val="accent1"/>
          </a:solidFill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77C1800-0A20-6995-291F-AAED68CCEE73}"/>
              </a:ext>
            </a:extLst>
          </p:cNvPr>
          <p:cNvCxnSpPr>
            <a:cxnSpLocks/>
            <a:stCxn id="11" idx="3"/>
            <a:endCxn id="5" idx="0"/>
          </p:cNvCxnSpPr>
          <p:nvPr/>
        </p:nvCxnSpPr>
        <p:spPr bwMode="auto">
          <a:xfrm>
            <a:off x="5718092" y="1159260"/>
            <a:ext cx="1672474" cy="1705971"/>
          </a:xfrm>
          <a:prstGeom prst="straightConnector1">
            <a:avLst/>
          </a:prstGeom>
          <a:solidFill>
            <a:schemeClr val="accent1"/>
          </a:solidFill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005FE16-1918-0CA0-CBBC-DCBA8505F327}"/>
              </a:ext>
            </a:extLst>
          </p:cNvPr>
          <p:cNvCxnSpPr>
            <a:cxnSpLocks/>
            <a:stCxn id="11" idx="2"/>
          </p:cNvCxnSpPr>
          <p:nvPr/>
        </p:nvCxnSpPr>
        <p:spPr bwMode="auto">
          <a:xfrm>
            <a:off x="4566718" y="2318520"/>
            <a:ext cx="5282" cy="559915"/>
          </a:xfrm>
          <a:prstGeom prst="straightConnector1">
            <a:avLst/>
          </a:prstGeom>
          <a:solidFill>
            <a:schemeClr val="accent1"/>
          </a:solidFill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31" name="Speech Bubble: Oval 30">
            <a:extLst>
              <a:ext uri="{FF2B5EF4-FFF2-40B4-BE49-F238E27FC236}">
                <a16:creationId xmlns:a16="http://schemas.microsoft.com/office/drawing/2014/main" id="{50E885AB-A585-2C03-8322-0487A4BF7071}"/>
              </a:ext>
            </a:extLst>
          </p:cNvPr>
          <p:cNvSpPr/>
          <p:nvPr/>
        </p:nvSpPr>
        <p:spPr bwMode="auto">
          <a:xfrm>
            <a:off x="5562599" y="76200"/>
            <a:ext cx="2429626" cy="1083060"/>
          </a:xfrm>
          <a:prstGeom prst="wedgeEllipseCallout">
            <a:avLst>
              <a:gd name="adj1" fmla="val -70125"/>
              <a:gd name="adj2" fmla="val 55162"/>
            </a:avLst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Hey, can I borrow $5?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CA47C7-8CF7-243C-31FF-5075E1BF7F0B}"/>
              </a:ext>
            </a:extLst>
          </p:cNvPr>
          <p:cNvSpPr txBox="1"/>
          <p:nvPr/>
        </p:nvSpPr>
        <p:spPr>
          <a:xfrm>
            <a:off x="919002" y="4410284"/>
            <a:ext cx="16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50% of net worth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4B6CB36-1750-7F45-6825-69D039981D34}"/>
              </a:ext>
            </a:extLst>
          </p:cNvPr>
          <p:cNvSpPr txBox="1"/>
          <p:nvPr/>
        </p:nvSpPr>
        <p:spPr>
          <a:xfrm>
            <a:off x="6624798" y="4422984"/>
            <a:ext cx="16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0.5% of net worth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D498EFC1-95B4-F504-C975-B70AE482DA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3655" y="2903946"/>
            <a:ext cx="2304437" cy="2278131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14EACA1C-08B1-48BD-DFFE-B7BFC396E45D}"/>
              </a:ext>
            </a:extLst>
          </p:cNvPr>
          <p:cNvSpPr txBox="1"/>
          <p:nvPr/>
        </p:nvSpPr>
        <p:spPr>
          <a:xfrm>
            <a:off x="3805396" y="4410284"/>
            <a:ext cx="16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5% of net worth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95C6ABF-119A-0A04-F31F-6A3B014B6CDB}"/>
              </a:ext>
            </a:extLst>
          </p:cNvPr>
          <p:cNvSpPr txBox="1"/>
          <p:nvPr/>
        </p:nvSpPr>
        <p:spPr>
          <a:xfrm>
            <a:off x="-8096" y="-19018"/>
            <a:ext cx="33762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Size of the population</a:t>
            </a:r>
          </a:p>
          <a:p>
            <a:r>
              <a:rPr lang="en-US" b="1" dirty="0"/>
              <a:t>is very important…</a:t>
            </a:r>
          </a:p>
        </p:txBody>
      </p:sp>
    </p:spTree>
    <p:extLst>
      <p:ext uri="{BB962C8B-B14F-4D97-AF65-F5344CB8AC3E}">
        <p14:creationId xmlns:p14="http://schemas.microsoft.com/office/powerpoint/2010/main" val="322663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2" grpId="0"/>
      <p:bldP spid="31" grpId="0" animBg="1"/>
      <p:bldP spid="32" grpId="0"/>
      <p:bldP spid="37" grpId="0"/>
      <p:bldP spid="3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gure 23.9_3 Genetic drift&#10;" title="Figure 23.9_3 Genetic drif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1147762"/>
            <a:ext cx="8610600" cy="4562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6399" y="233651"/>
            <a:ext cx="44438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Genetic Drift Overall Process</a:t>
            </a:r>
          </a:p>
        </p:txBody>
      </p:sp>
    </p:spTree>
    <p:extLst>
      <p:ext uri="{BB962C8B-B14F-4D97-AF65-F5344CB8AC3E}">
        <p14:creationId xmlns:p14="http://schemas.microsoft.com/office/powerpoint/2010/main" val="24405759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ounder effect" title="Founder effec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412067"/>
            <a:ext cx="8686800" cy="3205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dirty="0"/>
              <a:t>Founder Effect</a:t>
            </a:r>
            <a:endParaRPr lang="en-US" altLang="en-US" dirty="0"/>
          </a:p>
        </p:txBody>
      </p:sp>
      <p:sp>
        <p:nvSpPr>
          <p:cNvPr id="11673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626533"/>
            <a:ext cx="8839199" cy="2895600"/>
          </a:xfrm>
        </p:spPr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b="1" dirty="0"/>
              <a:t>founder effect </a:t>
            </a:r>
            <a:r>
              <a:rPr lang="en-US" altLang="en-US" dirty="0"/>
              <a:t>occurs when a few individuals become </a:t>
            </a:r>
            <a:r>
              <a:rPr lang="en-US" altLang="en-US" b="1" i="1" dirty="0">
                <a:solidFill>
                  <a:srgbClr val="FF0000"/>
                </a:solidFill>
              </a:rPr>
              <a:t>isolated</a:t>
            </a:r>
            <a:r>
              <a:rPr lang="en-US" altLang="en-US" dirty="0"/>
              <a:t> from a larger population or </a:t>
            </a:r>
          </a:p>
          <a:p>
            <a:endParaRPr lang="en-US" altLang="en-US" dirty="0"/>
          </a:p>
          <a:p>
            <a:r>
              <a:rPr lang="en-US" altLang="en-US" dirty="0"/>
              <a:t>Allele frequencies in the small founder population can be different from </a:t>
            </a:r>
          </a:p>
        </p:txBody>
      </p:sp>
    </p:spTree>
    <p:extLst>
      <p:ext uri="{BB962C8B-B14F-4D97-AF65-F5344CB8AC3E}">
        <p14:creationId xmlns:p14="http://schemas.microsoft.com/office/powerpoint/2010/main" val="14885061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dirty="0"/>
              <a:t>Bottleneck Effect</a:t>
            </a:r>
            <a:endParaRPr lang="en-US" altLang="en-US" dirty="0"/>
          </a:p>
        </p:txBody>
      </p:sp>
      <p:sp>
        <p:nvSpPr>
          <p:cNvPr id="118787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914400"/>
            <a:ext cx="8839199" cy="5575696"/>
          </a:xfrm>
        </p:spPr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b="1" dirty="0"/>
              <a:t>bottleneck effect </a:t>
            </a:r>
            <a:r>
              <a:rPr lang="en-US" altLang="en-US" dirty="0"/>
              <a:t>occurs when there is a drastic </a:t>
            </a:r>
            <a:r>
              <a:rPr lang="en-US" altLang="en-US" b="1" i="1" dirty="0">
                <a:solidFill>
                  <a:srgbClr val="FF0000"/>
                </a:solidFill>
              </a:rPr>
              <a:t>reduction</a:t>
            </a:r>
            <a:r>
              <a:rPr lang="en-US" altLang="en-US" dirty="0"/>
              <a:t> in population size due to </a:t>
            </a:r>
          </a:p>
          <a:p>
            <a:endParaRPr lang="en-US" altLang="en-US" dirty="0"/>
          </a:p>
          <a:p>
            <a:r>
              <a:rPr lang="en-US" altLang="en-US" dirty="0"/>
              <a:t>The resulting gene pool may no longer be reflective of the </a:t>
            </a:r>
            <a:endParaRPr lang="en-US" altLang="ja-JP" dirty="0"/>
          </a:p>
          <a:p>
            <a:r>
              <a:rPr lang="en-US" altLang="en-US" dirty="0"/>
              <a:t>If the population remains small, it may be further affected by </a:t>
            </a:r>
          </a:p>
          <a:p>
            <a:r>
              <a:rPr lang="en-US" altLang="en-US" dirty="0"/>
              <a:t>Understanding the bottleneck effect can increase understanding of how </a:t>
            </a:r>
          </a:p>
        </p:txBody>
      </p:sp>
    </p:spTree>
    <p:extLst>
      <p:ext uri="{BB962C8B-B14F-4D97-AF65-F5344CB8AC3E}">
        <p14:creationId xmlns:p14="http://schemas.microsoft.com/office/powerpoint/2010/main" val="9635749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 23.10_3 The bottleneck effect&#10;" title="Figure 23.10_3 The bottleneck effect"/>
          <p:cNvPicPr>
            <a:picLocks noChangeAspect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51"/>
          <a:stretch>
            <a:fillRect/>
          </a:stretch>
        </p:blipFill>
        <p:spPr>
          <a:xfrm>
            <a:off x="298704" y="832104"/>
            <a:ext cx="8546592" cy="5193792"/>
          </a:xfrm>
          <a:prstGeom prst="rect">
            <a:avLst/>
          </a:prstGeom>
        </p:spPr>
      </p:pic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317754" y="5372100"/>
            <a:ext cx="1447512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400"/>
              </a:lnSpc>
            </a:pPr>
            <a:r>
              <a:rPr lang="en-US" sz="2200" b="1">
                <a:solidFill>
                  <a:srgbClr val="000000"/>
                </a:solidFill>
                <a:latin typeface="Arial"/>
                <a:ea typeface="ＭＳ Ｐゴシック" charset="0"/>
              </a:rPr>
              <a:t>Original</a:t>
            </a:r>
          </a:p>
          <a:p>
            <a:pPr algn="ctr">
              <a:lnSpc>
                <a:spcPts val="2400"/>
              </a:lnSpc>
            </a:pPr>
            <a:r>
              <a:rPr lang="en-US" sz="2200" b="1">
                <a:solidFill>
                  <a:srgbClr val="000000"/>
                </a:solidFill>
                <a:latin typeface="Arial"/>
                <a:ea typeface="ＭＳ Ｐゴシック" charset="0"/>
              </a:rPr>
              <a:t>population</a:t>
            </a:r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3677947" y="5438775"/>
            <a:ext cx="1870704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400"/>
              </a:lnSpc>
            </a:pPr>
            <a:r>
              <a:rPr lang="en-US" sz="2200" b="1">
                <a:solidFill>
                  <a:srgbClr val="000000"/>
                </a:solidFill>
                <a:latin typeface="Arial"/>
                <a:ea typeface="ＭＳ Ｐゴシック" charset="0"/>
              </a:rPr>
              <a:t>Bottlenecking</a:t>
            </a:r>
          </a:p>
          <a:p>
            <a:pPr algn="ctr">
              <a:lnSpc>
                <a:spcPts val="2400"/>
              </a:lnSpc>
            </a:pPr>
            <a:r>
              <a:rPr lang="en-US" sz="2200" b="1">
                <a:solidFill>
                  <a:srgbClr val="000000"/>
                </a:solidFill>
                <a:latin typeface="Arial"/>
                <a:ea typeface="ＭＳ Ｐゴシック" charset="0"/>
              </a:rPr>
              <a:t>event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7380036" y="5378450"/>
            <a:ext cx="1447511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400"/>
              </a:lnSpc>
            </a:pPr>
            <a:r>
              <a:rPr lang="en-US" sz="2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Surviving</a:t>
            </a:r>
          </a:p>
          <a:p>
            <a:pPr algn="ctr">
              <a:lnSpc>
                <a:spcPts val="2400"/>
              </a:lnSpc>
            </a:pPr>
            <a:r>
              <a:rPr lang="en-US" sz="2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population</a:t>
            </a:r>
          </a:p>
        </p:txBody>
      </p:sp>
    </p:spTree>
    <p:extLst>
      <p:ext uri="{BB962C8B-B14F-4D97-AF65-F5344CB8AC3E}">
        <p14:creationId xmlns:p14="http://schemas.microsoft.com/office/powerpoint/2010/main" val="30422857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/>
          <a:p>
            <a:r>
              <a:rPr lang="en-US" altLang="en-US"/>
              <a:t>Effects of Genetic Drift: </a:t>
            </a:r>
            <a:r>
              <a:rPr lang="en-US" altLang="en-US" i="1"/>
              <a:t>A Summary</a:t>
            </a:r>
            <a:endParaRPr lang="en-US" altLang="en-US"/>
          </a:p>
        </p:txBody>
      </p:sp>
      <p:sp>
        <p:nvSpPr>
          <p:cNvPr id="131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en-US" dirty="0"/>
              <a:t>Genetic drift is 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/>
              <a:t>Genetic drift can cause allele frequencies to </a:t>
            </a:r>
          </a:p>
          <a:p>
            <a:pPr marL="514350" indent="-514350">
              <a:buFont typeface="+mj-lt"/>
              <a:buAutoNum type="arabicPeriod"/>
            </a:pPr>
            <a:endParaRPr lang="en-US" altLang="en-US" dirty="0"/>
          </a:p>
          <a:p>
            <a:pPr marL="514350" indent="-514350">
              <a:buFont typeface="+mj-lt"/>
              <a:buAutoNum type="arabicPeriod"/>
            </a:pPr>
            <a:r>
              <a:rPr lang="en-US" altLang="en-US" dirty="0"/>
              <a:t>Genetic drift can lead to a </a:t>
            </a:r>
          </a:p>
          <a:p>
            <a:pPr marL="514350" indent="-514350">
              <a:buFont typeface="+mj-lt"/>
              <a:buAutoNum type="arabicPeriod"/>
            </a:pPr>
            <a:endParaRPr lang="en-US" altLang="en-US" dirty="0"/>
          </a:p>
          <a:p>
            <a:pPr marL="514350" indent="-514350">
              <a:buFont typeface="+mj-lt"/>
              <a:buAutoNum type="arabicPeriod"/>
            </a:pPr>
            <a:r>
              <a:rPr lang="en-US" altLang="en-US" dirty="0"/>
              <a:t>Genetic drift can cause </a:t>
            </a:r>
          </a:p>
        </p:txBody>
      </p:sp>
    </p:spTree>
    <p:extLst>
      <p:ext uri="{BB962C8B-B14F-4D97-AF65-F5344CB8AC3E}">
        <p14:creationId xmlns:p14="http://schemas.microsoft.com/office/powerpoint/2010/main" val="26907635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3. Gene Flow</a:t>
            </a:r>
          </a:p>
        </p:txBody>
      </p:sp>
      <p:sp>
        <p:nvSpPr>
          <p:cNvPr id="133123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696684"/>
            <a:ext cx="9067800" cy="6161316"/>
          </a:xfrm>
        </p:spPr>
        <p:txBody>
          <a:bodyPr/>
          <a:lstStyle/>
          <a:p>
            <a:r>
              <a:rPr lang="en-US" altLang="en-US" dirty="0"/>
              <a:t>Consists of alleles moving </a:t>
            </a:r>
          </a:p>
          <a:p>
            <a:r>
              <a:rPr lang="en-US" altLang="en-US" dirty="0"/>
              <a:t>Alleles can be transferred through the movement of fertile individuals or </a:t>
            </a:r>
          </a:p>
          <a:p>
            <a:r>
              <a:rPr lang="en-US" altLang="en-US" dirty="0"/>
              <a:t>Gene flow can reduce population variation over time and </a:t>
            </a:r>
          </a:p>
          <a:p>
            <a:r>
              <a:rPr lang="en-US" altLang="en-US" dirty="0"/>
              <a:t>EX: Spread of alleles for </a:t>
            </a:r>
          </a:p>
          <a:p>
            <a:pPr lvl="1"/>
            <a:r>
              <a:rPr lang="en-US" altLang="en-US" dirty="0"/>
              <a:t>Insecticides have been used to target mosquitoes that carry </a:t>
            </a:r>
          </a:p>
          <a:p>
            <a:pPr lvl="1"/>
            <a:r>
              <a:rPr lang="en-US" altLang="en-US" dirty="0"/>
              <a:t>Alleles for resistance have </a:t>
            </a:r>
          </a:p>
          <a:p>
            <a:pPr lvl="1"/>
            <a:r>
              <a:rPr lang="en-US" altLang="en-US" dirty="0"/>
              <a:t>Resistance alleles can </a:t>
            </a:r>
          </a:p>
          <a:p>
            <a:r>
              <a:rPr lang="en-US" altLang="en-US" dirty="0"/>
              <a:t>Gene flow is an important agent of evolutionary change in </a:t>
            </a:r>
          </a:p>
        </p:txBody>
      </p:sp>
    </p:spTree>
    <p:extLst>
      <p:ext uri="{BB962C8B-B14F-4D97-AF65-F5344CB8AC3E}">
        <p14:creationId xmlns:p14="http://schemas.microsoft.com/office/powerpoint/2010/main" val="29374393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5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56966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Concept 23.4: Natural selection is the only mechanism that consistently causes adaptive evolution</a:t>
            </a:r>
          </a:p>
        </p:txBody>
      </p:sp>
      <p:sp>
        <p:nvSpPr>
          <p:cNvPr id="143363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1554236"/>
            <a:ext cx="8839199" cy="5236032"/>
          </a:xfrm>
        </p:spPr>
        <p:txBody>
          <a:bodyPr/>
          <a:lstStyle/>
          <a:p>
            <a:r>
              <a:rPr lang="en-US" altLang="en-US" dirty="0"/>
              <a:t>Evolution by natural selection involves both chance and </a:t>
            </a:r>
            <a:r>
              <a:rPr lang="ja-JP" altLang="en-US" dirty="0"/>
              <a:t>“</a:t>
            </a:r>
            <a:endParaRPr lang="en-US" altLang="ja-JP" dirty="0"/>
          </a:p>
          <a:p>
            <a:pPr lvl="1"/>
            <a:r>
              <a:rPr lang="en-US" altLang="en-US" dirty="0"/>
              <a:t>New genetic variations arise </a:t>
            </a:r>
          </a:p>
          <a:p>
            <a:pPr lvl="1"/>
            <a:r>
              <a:rPr lang="en-US" altLang="en-US" dirty="0"/>
              <a:t>Beneficial alleles are </a:t>
            </a:r>
            <a:r>
              <a:rPr lang="ja-JP" altLang="en-US" dirty="0"/>
              <a:t>“</a:t>
            </a:r>
            <a:r>
              <a:rPr lang="en-US" altLang="ja-JP" dirty="0"/>
              <a:t>sorted</a:t>
            </a:r>
            <a:r>
              <a:rPr lang="ja-JP" altLang="en-US" dirty="0"/>
              <a:t>”</a:t>
            </a:r>
            <a:r>
              <a:rPr lang="en-US" altLang="ja-JP" dirty="0"/>
              <a:t> and favored by </a:t>
            </a:r>
          </a:p>
          <a:p>
            <a:pPr lvl="1"/>
            <a:endParaRPr lang="en-US" altLang="ja-JP" dirty="0"/>
          </a:p>
          <a:p>
            <a:r>
              <a:rPr lang="en-US" altLang="en-US" dirty="0"/>
              <a:t>Only natural selection consistently increases the frequencies of alleles that provide </a:t>
            </a:r>
          </a:p>
          <a:p>
            <a:endParaRPr lang="en-US" altLang="en-US" dirty="0"/>
          </a:p>
          <a:p>
            <a:r>
              <a:rPr lang="en-US" altLang="en-US" dirty="0"/>
              <a:t>Natural selection brings about adaptive evolution by acting on </a:t>
            </a:r>
          </a:p>
        </p:txBody>
      </p:sp>
    </p:spTree>
    <p:extLst>
      <p:ext uri="{BB962C8B-B14F-4D97-AF65-F5344CB8AC3E}">
        <p14:creationId xmlns:p14="http://schemas.microsoft.com/office/powerpoint/2010/main" val="21948148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Relative Fitness</a:t>
            </a:r>
            <a:endParaRPr lang="en-US" altLang="en-US"/>
          </a:p>
        </p:txBody>
      </p:sp>
      <p:sp>
        <p:nvSpPr>
          <p:cNvPr id="14745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662373"/>
            <a:ext cx="8839200" cy="6195627"/>
          </a:xfrm>
        </p:spPr>
        <p:txBody>
          <a:bodyPr/>
          <a:lstStyle/>
          <a:p>
            <a:r>
              <a:rPr lang="en-US" altLang="en-US" dirty="0"/>
              <a:t>The phrases </a:t>
            </a:r>
            <a:r>
              <a:rPr lang="ja-JP" altLang="en-US" dirty="0"/>
              <a:t>“</a:t>
            </a:r>
            <a:r>
              <a:rPr lang="en-US" altLang="ja-JP" dirty="0"/>
              <a:t>struggle for existence</a:t>
            </a:r>
            <a:r>
              <a:rPr lang="ja-JP" altLang="en-US" dirty="0"/>
              <a:t>”</a:t>
            </a:r>
            <a:r>
              <a:rPr lang="en-US" altLang="ja-JP" dirty="0"/>
              <a:t> and </a:t>
            </a:r>
            <a:r>
              <a:rPr lang="ja-JP" altLang="en-US" dirty="0"/>
              <a:t>“</a:t>
            </a:r>
            <a:r>
              <a:rPr lang="en-US" altLang="ja-JP" dirty="0"/>
              <a:t>survival of the fittest</a:t>
            </a:r>
            <a:r>
              <a:rPr lang="ja-JP" altLang="en-US" dirty="0"/>
              <a:t>”</a:t>
            </a:r>
            <a:r>
              <a:rPr lang="en-US" altLang="ja-JP" dirty="0"/>
              <a:t> are misleading, as they imply </a:t>
            </a:r>
          </a:p>
          <a:p>
            <a:endParaRPr lang="en-US" altLang="ja-JP" dirty="0"/>
          </a:p>
          <a:p>
            <a:r>
              <a:rPr lang="en-US" altLang="en-US" dirty="0"/>
              <a:t>Reproductive success is generally more </a:t>
            </a:r>
          </a:p>
          <a:p>
            <a:endParaRPr lang="en-US" altLang="en-US" dirty="0"/>
          </a:p>
          <a:p>
            <a:r>
              <a:rPr lang="en-US" altLang="en-US" b="1" dirty="0"/>
              <a:t>Relative fitness </a:t>
            </a:r>
            <a:r>
              <a:rPr lang="en-US" altLang="en-US" dirty="0"/>
              <a:t>is the contribution an individual makes to the gene pool of the next </a:t>
            </a:r>
          </a:p>
          <a:p>
            <a:endParaRPr lang="en-US" altLang="en-US" i="1" dirty="0">
              <a:solidFill>
                <a:srgbClr val="FF0000"/>
              </a:solidFill>
            </a:endParaRPr>
          </a:p>
          <a:p>
            <a:pPr lvl="1"/>
            <a:r>
              <a:rPr lang="en-US" altLang="en-US" dirty="0"/>
              <a:t>Higher fitness values = favored by natural selection, tend to </a:t>
            </a:r>
          </a:p>
          <a:p>
            <a:pPr lvl="1"/>
            <a:r>
              <a:rPr lang="en-US" altLang="en-US" dirty="0"/>
              <a:t>Lower fitness values = natural selection is removing it from the population at a faster rate, tend to</a:t>
            </a:r>
            <a:endParaRPr lang="en-US" altLang="en-US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9892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/>
          <a:p>
            <a:r>
              <a:rPr lang="en-US" dirty="0"/>
              <a:t>EXAMPLE 1: Calculation of Relative Fitness</a:t>
            </a:r>
          </a:p>
        </p:txBody>
      </p:sp>
      <p:pic>
        <p:nvPicPr>
          <p:cNvPr id="7" name="Picture 6" title="EXAMPLE 1: Calculation of Relative Fitness using blue eyed and green eyed cat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199"/>
            <a:ext cx="9144000" cy="5282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6926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dirty="0"/>
              <a:t>EXAMPLE 2: Calculation of Relative Fitness  With Probability of Factored In</a:t>
            </a:r>
          </a:p>
        </p:txBody>
      </p:sp>
      <p:pic>
        <p:nvPicPr>
          <p:cNvPr id="5" name="Picture 4" title="white ro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196" y="1447800"/>
            <a:ext cx="1095375" cy="2171700"/>
          </a:xfrm>
          <a:prstGeom prst="rect">
            <a:avLst/>
          </a:prstGeom>
        </p:spPr>
      </p:pic>
      <p:pic>
        <p:nvPicPr>
          <p:cNvPr id="6" name="Picture 5" title="pink rose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04178" y="1447800"/>
            <a:ext cx="1143000" cy="2114550"/>
          </a:xfrm>
          <a:prstGeom prst="rect">
            <a:avLst/>
          </a:prstGeom>
        </p:spPr>
      </p:pic>
      <p:pic>
        <p:nvPicPr>
          <p:cNvPr id="7" name="Picture 6" title="red rose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6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74685" y="1476375"/>
            <a:ext cx="1133475" cy="2085975"/>
          </a:xfrm>
          <a:prstGeom prst="rect">
            <a:avLst/>
          </a:prstGeom>
        </p:spPr>
      </p:pic>
      <p:graphicFrame>
        <p:nvGraphicFramePr>
          <p:cNvPr id="8" name="Table 7" title="Table of survival probability, number of offspring, absolute fitness, and relative fitness valu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510551"/>
              </p:ext>
            </p:extLst>
          </p:nvPr>
        </p:nvGraphicFramePr>
        <p:xfrm>
          <a:off x="533400" y="3548063"/>
          <a:ext cx="7961219" cy="266957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990305">
                  <a:extLst>
                    <a:ext uri="{9D8B030D-6E8A-4147-A177-3AD203B41FA5}">
                      <a16:colId xmlns:a16="http://schemas.microsoft.com/office/drawing/2014/main" val="2426515303"/>
                    </a:ext>
                  </a:extLst>
                </a:gridCol>
                <a:gridCol w="1990305">
                  <a:extLst>
                    <a:ext uri="{9D8B030D-6E8A-4147-A177-3AD203B41FA5}">
                      <a16:colId xmlns:a16="http://schemas.microsoft.com/office/drawing/2014/main" val="1339311772"/>
                    </a:ext>
                  </a:extLst>
                </a:gridCol>
                <a:gridCol w="1990305">
                  <a:extLst>
                    <a:ext uri="{9D8B030D-6E8A-4147-A177-3AD203B41FA5}">
                      <a16:colId xmlns:a16="http://schemas.microsoft.com/office/drawing/2014/main" val="1336629243"/>
                    </a:ext>
                  </a:extLst>
                </a:gridCol>
                <a:gridCol w="1990304">
                  <a:extLst>
                    <a:ext uri="{9D8B030D-6E8A-4147-A177-3AD203B41FA5}">
                      <a16:colId xmlns:a16="http://schemas.microsoft.com/office/drawing/2014/main" val="1216796909"/>
                    </a:ext>
                  </a:extLst>
                </a:gridCol>
              </a:tblGrid>
              <a:tr h="463138">
                <a:tc>
                  <a:txBody>
                    <a:bodyPr/>
                    <a:lstStyle/>
                    <a:p>
                      <a:pPr algn="l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RED</a:t>
                      </a:r>
                      <a:r>
                        <a:rPr lang="en-US" baseline="0" dirty="0"/>
                        <a:t> ROSES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PINK ROSES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WHITE ROSES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6722572"/>
                  </a:ext>
                </a:extLst>
              </a:tr>
              <a:tr h="463138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Probability of</a:t>
                      </a:r>
                      <a:r>
                        <a:rPr lang="en-US" baseline="0" dirty="0"/>
                        <a:t> Survival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85.0%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3108428"/>
                  </a:ext>
                </a:extLst>
              </a:tr>
              <a:tr h="463138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Number</a:t>
                      </a:r>
                      <a:r>
                        <a:rPr lang="en-US" baseline="0" dirty="0"/>
                        <a:t> of Offspring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4670917"/>
                  </a:ext>
                </a:extLst>
              </a:tr>
              <a:tr h="46313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Absolute</a:t>
                      </a:r>
                      <a:r>
                        <a:rPr lang="en-US" dirty="0"/>
                        <a:t> Fitness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(0.90 * 3) = </a:t>
                      </a:r>
                      <a:r>
                        <a:rPr lang="en-US" b="0" dirty="0">
                          <a:highlight>
                            <a:srgbClr val="FF0000"/>
                          </a:highlight>
                        </a:rPr>
                        <a:t>2.70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(0.85 * 4)</a:t>
                      </a:r>
                      <a:r>
                        <a:rPr lang="en-US" baseline="0" dirty="0"/>
                        <a:t> = </a:t>
                      </a:r>
                      <a:r>
                        <a:rPr lang="en-US" baseline="0" dirty="0" smtClean="0">
                          <a:highlight>
                            <a:srgbClr val="FF66FF"/>
                          </a:highlight>
                        </a:rPr>
                        <a:t>3.40</a:t>
                      </a:r>
                      <a:endParaRPr lang="en-US" dirty="0">
                        <a:highlight>
                          <a:srgbClr val="FF66FF"/>
                        </a:highlight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(0.80 * 5) = </a:t>
                      </a:r>
                      <a:r>
                        <a:rPr lang="en-US" dirty="0">
                          <a:highlight>
                            <a:srgbClr val="B9B9B9"/>
                          </a:highlight>
                        </a:rPr>
                        <a:t>4.00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4906398"/>
                  </a:ext>
                </a:extLst>
              </a:tr>
              <a:tr h="463138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rgbClr val="00B050"/>
                          </a:solidFill>
                        </a:rPr>
                        <a:t>Relative</a:t>
                      </a:r>
                      <a:r>
                        <a:rPr lang="en-US" baseline="0" dirty="0"/>
                        <a:t> Fitness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FF0000"/>
                          </a:highlight>
                        </a:rPr>
                        <a:t>2.70</a:t>
                      </a:r>
                      <a:r>
                        <a:rPr lang="en-US" dirty="0"/>
                        <a:t>/</a:t>
                      </a:r>
                      <a:r>
                        <a:rPr lang="en-US" dirty="0">
                          <a:highlight>
                            <a:srgbClr val="B9B9B9"/>
                          </a:highlight>
                        </a:rPr>
                        <a:t>4.00</a:t>
                      </a:r>
                      <a:r>
                        <a:rPr lang="en-US" baseline="0" dirty="0"/>
                        <a:t> = 0.68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highlight>
                            <a:srgbClr val="FF66FF"/>
                          </a:highlight>
                        </a:rPr>
                        <a:t>3.40</a:t>
                      </a:r>
                      <a:r>
                        <a:rPr lang="en-US" dirty="0" smtClean="0"/>
                        <a:t>/</a:t>
                      </a:r>
                      <a:r>
                        <a:rPr lang="en-US" dirty="0" smtClean="0">
                          <a:highlight>
                            <a:srgbClr val="B9B9B9"/>
                          </a:highlight>
                        </a:rPr>
                        <a:t>4.00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/>
                        <a:t>= </a:t>
                      </a:r>
                      <a:r>
                        <a:rPr lang="en-US" baseline="0" dirty="0" smtClean="0"/>
                        <a:t>0.85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B9B9B9"/>
                          </a:highlight>
                        </a:rPr>
                        <a:t>4.00</a:t>
                      </a:r>
                      <a:r>
                        <a:rPr lang="en-US" dirty="0"/>
                        <a:t>/</a:t>
                      </a:r>
                      <a:r>
                        <a:rPr lang="en-US" dirty="0">
                          <a:highlight>
                            <a:srgbClr val="B9B9B9"/>
                          </a:highlight>
                        </a:rPr>
                        <a:t>4.00</a:t>
                      </a:r>
                      <a:r>
                        <a:rPr lang="en-US" dirty="0"/>
                        <a:t> = 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614213"/>
                  </a:ext>
                </a:extLst>
              </a:tr>
            </a:tbl>
          </a:graphicData>
        </a:graphic>
      </p:graphicFrame>
      <p:sp>
        <p:nvSpPr>
          <p:cNvPr id="9" name="Rectangle 8" title="Absolute fitness for red roses"/>
          <p:cNvSpPr/>
          <p:nvPr/>
        </p:nvSpPr>
        <p:spPr bwMode="auto">
          <a:xfrm>
            <a:off x="2514600" y="5293894"/>
            <a:ext cx="1993232" cy="465222"/>
          </a:xfrm>
          <a:prstGeom prst="rect">
            <a:avLst/>
          </a:prstGeom>
          <a:noFill/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tangle 9" title="Absolute fitness for pink roses"/>
          <p:cNvSpPr/>
          <p:nvPr/>
        </p:nvSpPr>
        <p:spPr bwMode="auto">
          <a:xfrm>
            <a:off x="4507993" y="5293893"/>
            <a:ext cx="1993232" cy="463467"/>
          </a:xfrm>
          <a:prstGeom prst="rect">
            <a:avLst/>
          </a:prstGeom>
          <a:noFill/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Rectangle 10" title="Absolute fitness for white roses"/>
          <p:cNvSpPr/>
          <p:nvPr/>
        </p:nvSpPr>
        <p:spPr bwMode="auto">
          <a:xfrm>
            <a:off x="6501225" y="5293893"/>
            <a:ext cx="1993232" cy="463467"/>
          </a:xfrm>
          <a:prstGeom prst="rect">
            <a:avLst/>
          </a:prstGeom>
          <a:noFill/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tangle 11" title="Relative fitness for red roses"/>
          <p:cNvSpPr/>
          <p:nvPr/>
        </p:nvSpPr>
        <p:spPr bwMode="auto">
          <a:xfrm>
            <a:off x="2514600" y="5761268"/>
            <a:ext cx="1993232" cy="465222"/>
          </a:xfrm>
          <a:prstGeom prst="rect">
            <a:avLst/>
          </a:prstGeom>
          <a:noFill/>
          <a:ln w="666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Rectangle 12" title="Relative fitness for pink roses"/>
          <p:cNvSpPr/>
          <p:nvPr/>
        </p:nvSpPr>
        <p:spPr bwMode="auto">
          <a:xfrm>
            <a:off x="4507993" y="5761267"/>
            <a:ext cx="1993232" cy="463467"/>
          </a:xfrm>
          <a:prstGeom prst="rect">
            <a:avLst/>
          </a:prstGeom>
          <a:noFill/>
          <a:ln w="666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tangle 13" title="Relative fitness for white roses"/>
          <p:cNvSpPr/>
          <p:nvPr/>
        </p:nvSpPr>
        <p:spPr bwMode="auto">
          <a:xfrm>
            <a:off x="6501225" y="5761267"/>
            <a:ext cx="1993232" cy="463467"/>
          </a:xfrm>
          <a:prstGeom prst="rect">
            <a:avLst/>
          </a:prstGeom>
          <a:noFill/>
          <a:ln w="666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3B7CAF-FC1D-4769-B0E2-B791649A8515}"/>
              </a:ext>
            </a:extLst>
          </p:cNvPr>
          <p:cNvSpPr txBox="1"/>
          <p:nvPr/>
        </p:nvSpPr>
        <p:spPr>
          <a:xfrm>
            <a:off x="553453" y="6442432"/>
            <a:ext cx="78213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Relative fitness = absolute fitness of genotype “X” / absolute fitness of most successful genotype</a:t>
            </a:r>
          </a:p>
        </p:txBody>
      </p:sp>
    </p:spTree>
    <p:extLst>
      <p:ext uri="{BB962C8B-B14F-4D97-AF65-F5344CB8AC3E}">
        <p14:creationId xmlns:p14="http://schemas.microsoft.com/office/powerpoint/2010/main" val="19901405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altLang="en-US" i="1"/>
              <a:t>Directional, Disruptive, and Stabilizing Selection</a:t>
            </a:r>
            <a:endParaRPr lang="en-US" altLang="en-US"/>
          </a:p>
        </p:txBody>
      </p:sp>
      <p:sp>
        <p:nvSpPr>
          <p:cNvPr id="151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There are three modes of selection: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altLang="en-US" b="1" dirty="0"/>
              <a:t>Directional selection </a:t>
            </a:r>
            <a:r>
              <a:rPr lang="en-US" altLang="en-US" dirty="0"/>
              <a:t>favors individuals at one </a:t>
            </a:r>
          </a:p>
          <a:p>
            <a:pPr marL="971550" lvl="1" indent="-514350">
              <a:buFont typeface="+mj-lt"/>
              <a:buAutoNum type="arabicPeriod"/>
            </a:pPr>
            <a:endParaRPr lang="en-US" alt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altLang="en-US" b="1" dirty="0"/>
              <a:t>Disruptive selection </a:t>
            </a:r>
            <a:r>
              <a:rPr lang="en-US" altLang="en-US" dirty="0"/>
              <a:t>favors individuals at </a:t>
            </a:r>
          </a:p>
          <a:p>
            <a:pPr marL="971550" lvl="1" indent="-514350">
              <a:buFont typeface="+mj-lt"/>
              <a:buAutoNum type="arabicPeriod"/>
            </a:pPr>
            <a:endParaRPr lang="en-US" alt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altLang="en-US" b="1" dirty="0"/>
              <a:t>Stabilizing selection </a:t>
            </a:r>
            <a:r>
              <a:rPr lang="en-US" altLang="en-US" dirty="0"/>
              <a:t>favors intermediate variants and acts </a:t>
            </a:r>
          </a:p>
        </p:txBody>
      </p:sp>
    </p:spTree>
    <p:extLst>
      <p:ext uri="{BB962C8B-B14F-4D97-AF65-F5344CB8AC3E}">
        <p14:creationId xmlns:p14="http://schemas.microsoft.com/office/powerpoint/2010/main" val="8407293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igure 23.13 Modes of selection&#10;" title="Figure 23.13 Modes of selec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62" y="657225"/>
            <a:ext cx="8753475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7184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ADFC3E8-271F-4F34-8476-6DD4946E2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745" y="3679720"/>
            <a:ext cx="2957797" cy="28875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E899B8-9DBE-4E29-8371-BCFF399CA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3" y="3679720"/>
            <a:ext cx="2931466" cy="287880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7C0526-E286-4639-A775-BD653FE1E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3758" y="3679720"/>
            <a:ext cx="2773483" cy="28788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C3EE6E5-0BF3-4C5D-9956-B66B74215F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63" y="457200"/>
            <a:ext cx="9119937" cy="246729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398EFC9-B660-418C-9E56-6477AA76B138}"/>
              </a:ext>
            </a:extLst>
          </p:cNvPr>
          <p:cNvSpPr txBox="1"/>
          <p:nvPr/>
        </p:nvSpPr>
        <p:spPr>
          <a:xfrm>
            <a:off x="3505545" y="3073798"/>
            <a:ext cx="20681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 examples…</a:t>
            </a:r>
          </a:p>
        </p:txBody>
      </p:sp>
    </p:spTree>
    <p:extLst>
      <p:ext uri="{BB962C8B-B14F-4D97-AF65-F5344CB8AC3E}">
        <p14:creationId xmlns:p14="http://schemas.microsoft.com/office/powerpoint/2010/main" val="5294812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altLang="en-US" dirty="0"/>
              <a:t>The Key Role of Natural Selection in Adaptive Evolution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272910"/>
            <a:ext cx="5105399" cy="5432690"/>
          </a:xfrm>
        </p:spPr>
        <p:txBody>
          <a:bodyPr/>
          <a:lstStyle/>
          <a:p>
            <a:r>
              <a:rPr lang="en-US" altLang="en-US" dirty="0"/>
              <a:t>Striking adaptations have arisen by </a:t>
            </a:r>
          </a:p>
          <a:p>
            <a:pPr lvl="1"/>
            <a:r>
              <a:rPr lang="en-US" altLang="en-US" dirty="0"/>
              <a:t>EX: certain </a:t>
            </a:r>
            <a:r>
              <a:rPr lang="en-US" altLang="en-US" dirty="0">
                <a:hlinkClick r:id="rId3"/>
              </a:rPr>
              <a:t>octopuses</a:t>
            </a:r>
            <a:r>
              <a:rPr lang="en-US" altLang="en-US" dirty="0"/>
              <a:t> can change </a:t>
            </a:r>
            <a:br>
              <a:rPr lang="en-US" altLang="en-US" dirty="0"/>
            </a:br>
            <a:endParaRPr lang="en-US" altLang="en-US" dirty="0"/>
          </a:p>
          <a:p>
            <a:pPr lvl="1"/>
            <a:r>
              <a:rPr lang="en-US" altLang="en-US" dirty="0"/>
              <a:t>EX: the jaws of snakes allow them to 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Because the environment can change, adaptive evolution is </a:t>
            </a:r>
          </a:p>
        </p:txBody>
      </p:sp>
      <p:pic>
        <p:nvPicPr>
          <p:cNvPr id="5" name="Picture 4" descr="snake jaws" title="snake jaws">
            <a:extLst>
              <a:ext uri="{FF2B5EF4-FFF2-40B4-BE49-F238E27FC236}">
                <a16:creationId xmlns:a16="http://schemas.microsoft.com/office/drawing/2014/main" id="{FCA32494-BCE6-4FE7-94C3-6D53B2B9A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1934217"/>
            <a:ext cx="3699069" cy="411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3216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Sexual Selection</a:t>
            </a:r>
          </a:p>
        </p:txBody>
      </p:sp>
      <p:sp>
        <p:nvSpPr>
          <p:cNvPr id="163843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668007"/>
            <a:ext cx="8839199" cy="2913393"/>
          </a:xfrm>
        </p:spPr>
        <p:txBody>
          <a:bodyPr/>
          <a:lstStyle/>
          <a:p>
            <a:r>
              <a:rPr lang="en-US" altLang="en-US" dirty="0"/>
              <a:t>Process in which individuals with certain inherited characteristics are more likely to acquire mates than other </a:t>
            </a:r>
          </a:p>
          <a:p>
            <a:r>
              <a:rPr lang="en-US" altLang="en-US" dirty="0"/>
              <a:t>It can result in </a:t>
            </a:r>
            <a:r>
              <a:rPr lang="en-US" altLang="en-US" b="1" dirty="0"/>
              <a:t>sexual dimorphism</a:t>
            </a:r>
            <a:r>
              <a:rPr lang="en-US" altLang="en-US" dirty="0"/>
              <a:t>, marked differences between the sexes in </a:t>
            </a:r>
          </a:p>
        </p:txBody>
      </p:sp>
      <p:pic>
        <p:nvPicPr>
          <p:cNvPr id="4" name="Picture 3" descr="Figure 23.15 Sexual dimorphism and sexual selection&#10;" title="Figure 23.15 Sexual dimorphism and sexual selection">
            <a:extLst>
              <a:ext uri="{FF2B5EF4-FFF2-40B4-BE49-F238E27FC236}">
                <a16:creationId xmlns:a16="http://schemas.microsoft.com/office/drawing/2014/main" id="{57435F45-B92F-4FE5-A58D-04ABB246CA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781" y="3494316"/>
            <a:ext cx="4838437" cy="323305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2DD590-AECE-49C6-9A90-A5F63B34E02A}"/>
              </a:ext>
            </a:extLst>
          </p:cNvPr>
          <p:cNvSpPr txBox="1"/>
          <p:nvPr/>
        </p:nvSpPr>
        <p:spPr>
          <a:xfrm>
            <a:off x="1299662" y="4880011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990F9A-2C2C-4136-BC0A-790EF2743058}"/>
              </a:ext>
            </a:extLst>
          </p:cNvPr>
          <p:cNvSpPr txBox="1"/>
          <p:nvPr/>
        </p:nvSpPr>
        <p:spPr>
          <a:xfrm>
            <a:off x="6991218" y="5976468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Female</a:t>
            </a:r>
          </a:p>
        </p:txBody>
      </p:sp>
    </p:spTree>
    <p:extLst>
      <p:ext uri="{BB962C8B-B14F-4D97-AF65-F5344CB8AC3E}">
        <p14:creationId xmlns:p14="http://schemas.microsoft.com/office/powerpoint/2010/main" val="38378805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5400" y="0"/>
            <a:ext cx="9144000" cy="600164"/>
          </a:xfrm>
        </p:spPr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</a:rPr>
              <a:t>Sexual Selection more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7938" name="Rectangle 2"/>
          <p:cNvSpPr>
            <a:spLocks noGrp="1" noChangeArrowheads="1"/>
          </p:cNvSpPr>
          <p:nvPr>
            <p:ph idx="4294967295"/>
          </p:nvPr>
        </p:nvSpPr>
        <p:spPr>
          <a:xfrm>
            <a:off x="152400" y="87313"/>
            <a:ext cx="8839200" cy="6770687"/>
          </a:xfrm>
        </p:spPr>
        <p:txBody>
          <a:bodyPr/>
          <a:lstStyle/>
          <a:p>
            <a:r>
              <a:rPr lang="en-US" altLang="en-US" b="1" dirty="0"/>
              <a:t>Intra-sexual selection</a:t>
            </a:r>
            <a:r>
              <a:rPr lang="en-US" altLang="en-US" dirty="0"/>
              <a:t> is direct competition among individuals of one sex (often males) for </a:t>
            </a:r>
          </a:p>
          <a:p>
            <a:endParaRPr lang="en-US" altLang="en-US" dirty="0"/>
          </a:p>
          <a:p>
            <a:r>
              <a:rPr lang="en-US" altLang="en-US" b="1" dirty="0"/>
              <a:t>Inter-sexual selection</a:t>
            </a:r>
            <a:r>
              <a:rPr lang="en-US" altLang="en-US" dirty="0"/>
              <a:t>, often called mate choice, occurs when individuals of one sex (usually females) are </a:t>
            </a:r>
          </a:p>
          <a:p>
            <a:r>
              <a:rPr lang="en-US" altLang="en-US" dirty="0"/>
              <a:t>Showiness of male appearance can increase a male</a:t>
            </a:r>
            <a:r>
              <a:rPr lang="ja-JP" altLang="en-US" dirty="0"/>
              <a:t>’</a:t>
            </a:r>
            <a:r>
              <a:rPr lang="en-US" altLang="ja-JP" dirty="0"/>
              <a:t>s chances of attracting a female while decreasing </a:t>
            </a:r>
          </a:p>
          <a:p>
            <a:r>
              <a:rPr lang="en-US" altLang="en-US" dirty="0"/>
              <a:t>How do female preferences evolve?</a:t>
            </a:r>
          </a:p>
          <a:p>
            <a:r>
              <a:rPr lang="en-US" altLang="en-US" dirty="0"/>
              <a:t>The </a:t>
            </a:r>
            <a:r>
              <a:rPr lang="ja-JP" altLang="en-US" dirty="0"/>
              <a:t>“</a:t>
            </a:r>
            <a:r>
              <a:rPr lang="en-US" altLang="ja-JP" dirty="0"/>
              <a:t>good genes</a:t>
            </a:r>
            <a:r>
              <a:rPr lang="ja-JP" altLang="en-US" dirty="0"/>
              <a:t>”</a:t>
            </a:r>
            <a:r>
              <a:rPr lang="en-US" altLang="ja-JP" dirty="0"/>
              <a:t> hypothesis suggests that if a trait is related to male genetic quality, both the male trait and female preference for that trait should 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569930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Balancing Selection</a:t>
            </a:r>
          </a:p>
        </p:txBody>
      </p:sp>
      <p:sp>
        <p:nvSpPr>
          <p:cNvPr id="2467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Diploidy</a:t>
            </a:r>
            <a:r>
              <a:rPr lang="en-US" dirty="0"/>
              <a:t> maintains genetic variation in the form of recessive alleles hidden from </a:t>
            </a:r>
          </a:p>
          <a:p>
            <a:endParaRPr lang="en-US" dirty="0"/>
          </a:p>
          <a:p>
            <a:r>
              <a:rPr lang="en-US" b="1" dirty="0"/>
              <a:t>Balancing selection</a:t>
            </a:r>
            <a:r>
              <a:rPr lang="en-US" dirty="0"/>
              <a:t> occurs when natural selection maintains stable frequencies of two or more </a:t>
            </a:r>
          </a:p>
          <a:p>
            <a:endParaRPr lang="en-US" dirty="0"/>
          </a:p>
          <a:p>
            <a:r>
              <a:rPr lang="en-US" dirty="0"/>
              <a:t>Balancing selection includes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0101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Mouth position of fish" title="Mouth position of fis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746" y="2286000"/>
            <a:ext cx="4845254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613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/>
          <a:p>
            <a:r>
              <a:rPr lang="en-US" altLang="en-US" i="1"/>
              <a:t>Frequency-Dependent Selection</a:t>
            </a:r>
            <a:endParaRPr lang="en-US" altLang="en-US"/>
          </a:p>
        </p:txBody>
      </p:sp>
      <p:sp>
        <p:nvSpPr>
          <p:cNvPr id="176131" name="Rectangle 2"/>
          <p:cNvSpPr>
            <a:spLocks noGrp="1" noChangeArrowheads="1"/>
          </p:cNvSpPr>
          <p:nvPr>
            <p:ph idx="1"/>
          </p:nvPr>
        </p:nvSpPr>
        <p:spPr>
          <a:xfrm>
            <a:off x="76201" y="770465"/>
            <a:ext cx="4648199" cy="6019800"/>
          </a:xfrm>
        </p:spPr>
        <p:txBody>
          <a:bodyPr/>
          <a:lstStyle/>
          <a:p>
            <a:r>
              <a:rPr lang="en-US" altLang="en-US" dirty="0"/>
              <a:t>In </a:t>
            </a:r>
            <a:r>
              <a:rPr lang="en-US" altLang="en-US" b="1" dirty="0"/>
              <a:t>frequency-dependent selection</a:t>
            </a:r>
            <a:r>
              <a:rPr lang="en-US" altLang="en-US" dirty="0"/>
              <a:t>, the fitness of a phenotype depends on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EX: frequency-dependent selection results in approximately equal numbers of </a:t>
            </a:r>
            <a:r>
              <a:rPr lang="ja-JP" altLang="en-US" dirty="0"/>
              <a:t>“</a:t>
            </a:r>
            <a:r>
              <a:rPr lang="en-US" altLang="ja-JP" dirty="0"/>
              <a:t>right-mouthed</a:t>
            </a:r>
            <a:r>
              <a:rPr lang="ja-JP" altLang="en-US" dirty="0"/>
              <a:t>”</a:t>
            </a:r>
            <a:r>
              <a:rPr lang="en-US" altLang="ja-JP" dirty="0"/>
              <a:t> and </a:t>
            </a:r>
            <a:r>
              <a:rPr lang="ja-JP" altLang="en-US" dirty="0"/>
              <a:t>“</a:t>
            </a:r>
            <a:r>
              <a:rPr lang="en-US" altLang="ja-JP" dirty="0"/>
              <a:t>left-mouthed</a:t>
            </a:r>
            <a:r>
              <a:rPr lang="ja-JP" altLang="en-US" dirty="0"/>
              <a:t>” 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278096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Heterozygote Advantage</a:t>
            </a:r>
            <a:endParaRPr lang="en-US" altLang="en-US"/>
          </a:p>
        </p:txBody>
      </p:sp>
      <p:sp>
        <p:nvSpPr>
          <p:cNvPr id="180227" name="Rectangle 2"/>
          <p:cNvSpPr>
            <a:spLocks noGrp="1" noChangeArrowheads="1"/>
          </p:cNvSpPr>
          <p:nvPr>
            <p:ph idx="1"/>
          </p:nvPr>
        </p:nvSpPr>
        <p:spPr>
          <a:xfrm>
            <a:off x="50802" y="600975"/>
            <a:ext cx="8991600" cy="6206226"/>
          </a:xfrm>
        </p:spPr>
        <p:txBody>
          <a:bodyPr/>
          <a:lstStyle/>
          <a:p>
            <a:r>
              <a:rPr lang="en-US" altLang="en-US" b="1" dirty="0"/>
              <a:t>Heterozygote advantage</a:t>
            </a:r>
            <a:r>
              <a:rPr lang="en-US" altLang="en-US" dirty="0"/>
              <a:t> occurs when heterozygotes have a higher </a:t>
            </a:r>
          </a:p>
          <a:p>
            <a:endParaRPr lang="en-US" altLang="en-US" dirty="0"/>
          </a:p>
          <a:p>
            <a:r>
              <a:rPr lang="en-US" altLang="en-US" dirty="0"/>
              <a:t>Natural selection will tend to maintain two or more </a:t>
            </a:r>
          </a:p>
          <a:p>
            <a:endParaRPr lang="en-US" altLang="en-US" dirty="0"/>
          </a:p>
          <a:p>
            <a:r>
              <a:rPr lang="en-US" altLang="en-US" dirty="0"/>
              <a:t>Heterozygote advantage can result from stabilizing or</a:t>
            </a:r>
          </a:p>
          <a:p>
            <a:endParaRPr lang="en-US" altLang="en-US" dirty="0"/>
          </a:p>
          <a:p>
            <a:r>
              <a:rPr lang="en-US" altLang="en-US" dirty="0"/>
              <a:t>A mutation in an allele that codes for part of the hemoglobin protein causes sickle-cell disease, but also </a:t>
            </a:r>
          </a:p>
          <a:p>
            <a:r>
              <a:rPr lang="en-US" altLang="en-US" dirty="0"/>
              <a:t>In regions where the malaria parasite is common, selection favors individuals </a:t>
            </a:r>
          </a:p>
        </p:txBody>
      </p:sp>
    </p:spTree>
    <p:extLst>
      <p:ext uri="{BB962C8B-B14F-4D97-AF65-F5344CB8AC3E}">
        <p14:creationId xmlns:p14="http://schemas.microsoft.com/office/powerpoint/2010/main" val="35785822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 23.18a Make connections: the sickle-cell allele (part 1: molecular events and consequences)&#10;" title="Figure 23.18a Make connections: the sickle-cell allele (part 1: molecular events and consequences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7" y="114300"/>
            <a:ext cx="8772525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3345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title="Figure 23.18b Make connections: the sickle-cell allele (part 2: evolution in populations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23862"/>
            <a:ext cx="8686800" cy="60102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792C14-A93D-D3D9-1FBB-64E39DCC3E39}"/>
              </a:ext>
            </a:extLst>
          </p:cNvPr>
          <p:cNvSpPr txBox="1"/>
          <p:nvPr/>
        </p:nvSpPr>
        <p:spPr>
          <a:xfrm>
            <a:off x="5157572" y="2099846"/>
            <a:ext cx="3895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treatment: </a:t>
            </a:r>
            <a:r>
              <a:rPr lang="en-US" dirty="0">
                <a:hlinkClick r:id="rId4"/>
              </a:rPr>
              <a:t>CLICK ME!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6889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altLang="en-US"/>
              <a:t>Why Natural Selection Cannot Fashion Perfect Organisms</a:t>
            </a:r>
          </a:p>
        </p:txBody>
      </p:sp>
      <p:sp>
        <p:nvSpPr>
          <p:cNvPr id="180226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107996"/>
            <a:ext cx="8991600" cy="53821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Selection can act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Evolution is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Adaptations are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Chance, natural selection, and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0144" y="3501192"/>
            <a:ext cx="4856112" cy="328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462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mpbell11e_LectureDesign">
  <a:themeElements>
    <a:clrScheme name="1_CC4eActiveLectureQuestions 15">
      <a:dk1>
        <a:srgbClr val="000000"/>
      </a:dk1>
      <a:lt1>
        <a:srgbClr val="FFFFFF"/>
      </a:lt1>
      <a:dk2>
        <a:srgbClr val="0060AF"/>
      </a:dk2>
      <a:lt2>
        <a:srgbClr val="000000"/>
      </a:lt2>
      <a:accent1>
        <a:srgbClr val="F7955A"/>
      </a:accent1>
      <a:accent2>
        <a:srgbClr val="009247"/>
      </a:accent2>
      <a:accent3>
        <a:srgbClr val="FFFFFF"/>
      </a:accent3>
      <a:accent4>
        <a:srgbClr val="000000"/>
      </a:accent4>
      <a:accent5>
        <a:srgbClr val="FAC8B5"/>
      </a:accent5>
      <a:accent6>
        <a:srgbClr val="00843F"/>
      </a:accent6>
      <a:hlink>
        <a:srgbClr val="009999"/>
      </a:hlink>
      <a:folHlink>
        <a:srgbClr val="99CC00"/>
      </a:folHlink>
    </a:clrScheme>
    <a:fontScheme name="1_CC4eActiveLectureQuestions">
      <a:majorFont>
        <a:latin typeface="Times New Roman"/>
        <a:ea typeface="Arial"/>
        <a:cs typeface="Arial"/>
      </a:majorFont>
      <a:minorFont>
        <a:latin typeface="Tahoma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C4eActiveLectureQuestion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3">
        <a:dk1>
          <a:srgbClr val="000000"/>
        </a:dk1>
        <a:lt1>
          <a:srgbClr val="FFFFFF"/>
        </a:lt1>
        <a:dk2>
          <a:srgbClr val="005472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14">
        <a:dk1>
          <a:srgbClr val="000000"/>
        </a:dk1>
        <a:lt1>
          <a:srgbClr val="FFFFFF"/>
        </a:lt1>
        <a:dk2>
          <a:srgbClr val="333399"/>
        </a:dk2>
        <a:lt2>
          <a:srgbClr val="000000"/>
        </a:lt2>
        <a:accent1>
          <a:srgbClr val="B7DAB8"/>
        </a:accent1>
        <a:accent2>
          <a:srgbClr val="005472"/>
        </a:accent2>
        <a:accent3>
          <a:srgbClr val="FFFFFF"/>
        </a:accent3>
        <a:accent4>
          <a:srgbClr val="000000"/>
        </a:accent4>
        <a:accent5>
          <a:srgbClr val="D8EAD8"/>
        </a:accent5>
        <a:accent6>
          <a:srgbClr val="004B67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15">
        <a:dk1>
          <a:srgbClr val="000000"/>
        </a:dk1>
        <a:lt1>
          <a:srgbClr val="FFFFFF"/>
        </a:lt1>
        <a:dk2>
          <a:srgbClr val="0060AF"/>
        </a:dk2>
        <a:lt2>
          <a:srgbClr val="000000"/>
        </a:lt2>
        <a:accent1>
          <a:srgbClr val="F7955A"/>
        </a:accent1>
        <a:accent2>
          <a:srgbClr val="009247"/>
        </a:accent2>
        <a:accent3>
          <a:srgbClr val="FFFFFF"/>
        </a:accent3>
        <a:accent4>
          <a:srgbClr val="000000"/>
        </a:accent4>
        <a:accent5>
          <a:srgbClr val="FAC8B5"/>
        </a:accent5>
        <a:accent6>
          <a:srgbClr val="00843F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ampbell11e_LectureDesign" id="{1E29558D-F693-462F-BFE8-09589E69881C}" vid="{70B05F25-2FB3-4FD4-980B-A633ABC17E0B}"/>
    </a:ext>
  </a:extLst>
</a:theme>
</file>

<file path=ppt/theme/theme2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rtlCol="0" anchor="ctr"/>
      <a:lstStyle>
        <a:defPPr algn="ctr">
          <a:defRPr/>
        </a:defPPr>
      </a:lst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5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1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4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34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Campbell11e_LectureDesign</Template>
  <TotalTime>6589</TotalTime>
  <Words>2615</Words>
  <Application>Microsoft Office PowerPoint</Application>
  <PresentationFormat>On-screen Show (4:3)</PresentationFormat>
  <Paragraphs>421</Paragraphs>
  <Slides>54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54</vt:i4>
      </vt:variant>
    </vt:vector>
  </HeadingPairs>
  <TitlesOfParts>
    <vt:vector size="69" baseType="lpstr">
      <vt:lpstr>ＭＳ Ｐゴシック</vt:lpstr>
      <vt:lpstr>Arial</vt:lpstr>
      <vt:lpstr>Geneva</vt:lpstr>
      <vt:lpstr>Symbol</vt:lpstr>
      <vt:lpstr>Tahoma</vt:lpstr>
      <vt:lpstr>Times</vt:lpstr>
      <vt:lpstr>Times New Roman</vt:lpstr>
      <vt:lpstr>Wingdings</vt:lpstr>
      <vt:lpstr>ヒラギノ角ゴ Pro W3</vt:lpstr>
      <vt:lpstr>Campbell11e_LectureDesign</vt:lpstr>
      <vt:lpstr>Blank</vt:lpstr>
      <vt:lpstr>5_Blank</vt:lpstr>
      <vt:lpstr>21_Blank</vt:lpstr>
      <vt:lpstr>24_Blank</vt:lpstr>
      <vt:lpstr>34_Blank</vt:lpstr>
      <vt:lpstr>CH 23</vt:lpstr>
      <vt:lpstr>CH 23 Learning Objectives</vt:lpstr>
      <vt:lpstr>The Smallest Unit of Evolution</vt:lpstr>
      <vt:lpstr>The Smallest Unit of Evolution more</vt:lpstr>
      <vt:lpstr>Concept 23.1: Genetic variation makes evolution possible</vt:lpstr>
      <vt:lpstr>Concept 23.1: Genetic variation makes evolution possible cont.</vt:lpstr>
      <vt:lpstr>PowerPoint Presentation</vt:lpstr>
      <vt:lpstr>8</vt:lpstr>
      <vt:lpstr>Formation of New Alleles</vt:lpstr>
      <vt:lpstr>Formation of New Alleles contd.</vt:lpstr>
      <vt:lpstr>Altering Gene Number or Position</vt:lpstr>
      <vt:lpstr>Rapid Reproduction</vt:lpstr>
      <vt:lpstr>Sexual Reproduction</vt:lpstr>
      <vt:lpstr>Concept 23.2: The Hardy-Weinberg equation can be used to test whether a population is evolving</vt:lpstr>
      <vt:lpstr>Gene Pools and Allele Frequencies</vt:lpstr>
      <vt:lpstr>Gene Pools and Allele Frequencies contd.</vt:lpstr>
      <vt:lpstr>Gene Pools and Allele Frequencies continued</vt:lpstr>
      <vt:lpstr>Gene Pools and Allele Frequencies continued more</vt:lpstr>
      <vt:lpstr>The Hardy-Weinberg Equation</vt:lpstr>
      <vt:lpstr>Hardy-Weinberg Equilibrium</vt:lpstr>
      <vt:lpstr>HWE</vt:lpstr>
      <vt:lpstr>PowerPoint Presentation</vt:lpstr>
      <vt:lpstr>PowerPoint Presentation</vt:lpstr>
      <vt:lpstr>HW problem walk through</vt:lpstr>
      <vt:lpstr>Conditions for Hardy-Weinberg Equilibrium</vt:lpstr>
      <vt:lpstr>HW conditions needed</vt:lpstr>
      <vt:lpstr>PKU example</vt:lpstr>
      <vt:lpstr>PKU example more</vt:lpstr>
      <vt:lpstr>Concept 23.3: Natural selection, genetic drift, and gene flow can alter allele frequencies in a population</vt:lpstr>
      <vt:lpstr>1. Natural Selection</vt:lpstr>
      <vt:lpstr>2. Genetic Drift</vt:lpstr>
      <vt:lpstr>PowerPoint Presentation</vt:lpstr>
      <vt:lpstr>PowerPoint Presentation</vt:lpstr>
      <vt:lpstr>Founder Effect</vt:lpstr>
      <vt:lpstr>Bottleneck Effect</vt:lpstr>
      <vt:lpstr>PowerPoint Presentation</vt:lpstr>
      <vt:lpstr>Effects of Genetic Drift: A Summary</vt:lpstr>
      <vt:lpstr>3. Gene Flow</vt:lpstr>
      <vt:lpstr>Concept 23.4: Natural selection is the only mechanism that consistently causes adaptive evolution</vt:lpstr>
      <vt:lpstr>Relative Fitness</vt:lpstr>
      <vt:lpstr>EXAMPLE 1: Calculation of Relative Fitness</vt:lpstr>
      <vt:lpstr>EXAMPLE 2: Calculation of Relative Fitness  With Probability of Factored In</vt:lpstr>
      <vt:lpstr>Directional, Disruptive, and Stabilizing Selection</vt:lpstr>
      <vt:lpstr>PowerPoint Presentation</vt:lpstr>
      <vt:lpstr>PowerPoint Presentation</vt:lpstr>
      <vt:lpstr>The Key Role of Natural Selection in Adaptive Evolution</vt:lpstr>
      <vt:lpstr>Sexual Selection</vt:lpstr>
      <vt:lpstr>Sexual Selection more</vt:lpstr>
      <vt:lpstr>Balancing Selection</vt:lpstr>
      <vt:lpstr>Frequency-Dependent Selection</vt:lpstr>
      <vt:lpstr>Heterozygote Advantage</vt:lpstr>
      <vt:lpstr>PowerPoint Presentation</vt:lpstr>
      <vt:lpstr>PowerPoint Presentation</vt:lpstr>
      <vt:lpstr>Why Natural Selection Cannot Fashion Perfect Organisms</vt:lpstr>
    </vt:vector>
  </TitlesOfParts>
  <Company>Jerome Burg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Adam W. Hrincevich</dc:creator>
  <cp:lastModifiedBy>Adam Hrincevich</cp:lastModifiedBy>
  <cp:revision>275</cp:revision>
  <dcterms:created xsi:type="dcterms:W3CDTF">2010-08-06T18:35:02Z</dcterms:created>
  <dcterms:modified xsi:type="dcterms:W3CDTF">2026-08-29T19:52:51Z</dcterms:modified>
</cp:coreProperties>
</file>